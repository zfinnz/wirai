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Bắt đầu tầng một, Instructions. Anh chị để ý, mỗi lần mở chat mới, ChatGPT không biết mình là ai, làm ở đâu, bán sản phẩm gì, và mình lại phải gõ lại từ đầu. Giống một nhân viên sáng nào đi làm cũng quên sạch chuyện hôm qua. Instructions là cách nói một lần để ChatGPT nhớ mãi. Học xong tầng này, anh chị sẽ phân biệt được Custom Instructions, Project và Memory,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Trong ChatGPT có ba nơi đặt Instructions, mỗi nơi giữ một loại thông tin.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Điều quan trọng nhất: trong Project, Project instructions ghi đè Custom Instructions, nên luật nghiệp vụ của phòng phải đặt trong Project. Tên menu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Bây giờ là demo. Cùng một câu lệnh "Viết bài Facebook bán Elasten". Khi chưa có Instructions, ChatGPT thường viết kiểu "Elasten, collagen số một, điều trị nếp nhăn, trẻ ra chỉ sau bảy ngày": dùng từ cấm "điều trị" cho thực phẩm bảo vệ sức khỏe, dùng "số một" mà không có nguồn, và tự bịa kết quả bảy ngày.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"Thực phẩm này không phải là thuốc và không có tác dụng thay thế thuốc chữa bệnh", và giá bán lẻ chưa có trong hồ sơ thì ghi CẦN ĐIỀN thay vì tự bịa. Không phải ChatGPT giỏi lên, mà lần này nó đã đọc hồ sơ nhập môn. Hai đoạn kết quả trên trang là ví dụ minh hoạ, giảng viên nên chạy thử trước buổi học vì mỗi lần ChatGPT trả lời một khác.</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hai, Prompt, là phiếu giao việc mỗi ngày. Prompt một dòng thường cho kết quả chung chung và anh chị phải hỏi lại bốn, năm lượt.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cho AI hỏi lại và chia nhiều bước; phân tích file số liệu mà không để AI bịa;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hai cách giao cùng một việc. Prompt tồi chỉ có một dòng "Trả lời spa hỏi giá sỉ Elasten", và kết quả thường tự bịa giá, hứa chiết khấu vượt bảng, thậm chí nói Elasten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nguy hiểm?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Thêm ba kỹ thuật để nâng chất lượng. Một, đưa một mẫu tốt: một mẫu tốt đáng giá hơn mười dòng mô tả, dán một bài hoặc một tin chuẩn cũ của phòng và bảo AI học đúng bố cục và giọng văn của mẫu đó. Hai, cho AI hỏi lại: thêm câu "Nếu thiếu thông tin, hỏi lại tôi tối đa ba câu trước khi làm", khi đó AI sẽ hỏi thay vì tự bịa.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Với số liệu, AI nguy hiểm nhất không phải lúc tính sai, mà là lúc nó tự bịa ra một chiều phân tích mà file không có, rồi trình bày rất đẹp. Có bốn quy tắc: đếm trước, phân tích sau, bắt AI báo số dòng và các cột trước; chỉ phân tích theo chiều file có; đối chiếu tổng với file gốc trước khi dùng; và nguyên nhân là suy đoán, viết dạng "nghi do, cần kiểm chứng bằng". Demo bẫy: tải file đơn hàng demo của Wir, file có sáu cột là ngày, kênh, sản phẩm, số lượng, đơn giá và thành tiền, không có cột nhân viên bán hàng. Gõ "Phân tích doanh số theo từng nhân viên bán hàng", nhiều khả năng ChatGPT vẫn lập ra bảng theo nhân viên, và bảng đó bịa hoàn toàn. Nếu ChatGPT từ chối, hãy khen nó và vẫn giải thích cái bẫy cho lớp. Sau đó chạy lại đúng cách và đối chiếu với đáp án: bốn mươi dòng, tổng một trăm bốn mươi bảy triệu ba trăm nghìn đồng, riêng Elasten tám mươi lăm triệu bảy trăm nghìn đồng.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Kiểm chứng tốn vài phút, rẻ hơn rất nhiều so với hậu quả của một con số sai. Cách một, Ctrl F trích dẫn: copy câu AI nói là trích nguyên văn rồi tìm trong tài liệu gốc, mất khoảng năm giây mỗi câu. Cách hai, rà ngẫu nhiên số liệu: chọn hai, ba con số và tự đối chiếu với nguồn, mất khoảng một phút. Cách ba, phép thử đổi tên: thay tên mình bằng tên đối thủ, câu vẫn đúng tức là chưa đủ cụ thể, mất ba mươi giây. Cách bốn, bắt AI tự khai bằng câu hỏi "Chỗ nào bạn tự suy đoán mà tài liệu không nói?", chỉ mất một lượt chat.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bịa, và anh chị tự kiểm chứng được ít nhất hai con số hoặc hai trích dẫn. Câu hỏi chốt: file không có cột nhân viên bán hàng mà sếp muốn xem doanh số theo nhân viên, ta nói rõ file không có dữ liệu này, đề xuất lấy thêm nguồn và không ép AI.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Mỗi app trong ChatGPT có bốn mức quyền trong Settings, Plugins, Permissions: Always ask hỏi trước mọi hành động và là mặc định cho Gmail khi học; Allow read tự đọc, muốn ghi hoặc gửi thì hỏi; Allow low-risk tự làm việc rủi ro thấp, việc rủi ro cao thì hỏi; còn Allow all làm hết không hỏi, không dùng cho Gmail và các kênh gửi ra ngoài.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chat mới, ChatGPT lại quên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và Memory;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New project → ••• →</a:t>
              </a:r>
              <a:br/>
              <a:r>
                <a:rPr lang="vi-VN" sz="1200" dirty="0">
                  <a:solidFill>
                    <a:srgbClr val="5B6675"/>
                  </a:solidFill>
                  <a:latin typeface="+mn-lt"/>
                  <a:ea typeface="+mn-ea"/>
                  <a:cs typeface="+mn-cs"/>
                </a:rPr>
                <a:t>Project settings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a:t>
              </a:r>
              <a:br/>
              <a:r>
                <a:rPr lang="vi-VN" sz="1650" dirty="0">
                  <a:solidFill>
                    <a:schemeClr val="dk1"/>
                  </a:solidFill>
                  <a:latin typeface="+mn-lt"/>
                  <a:ea typeface="+mn-ea"/>
                  <a:cs typeface="+mn-cs"/>
                </a:rPr>
                <a:t>báo cáo dạng bảng”</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9" name="TextBox 29"/>
            <p:cNvSpPr txBox="1"/>
            <p:nvPr/>
          </p:nvSpPr>
          <p:spPr>
            <a:xfrm>
              <a:off x="944118" y="2974658"/>
              <a:ext cx="2491992"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a:t>
              </a:r>
            </a:p>
          </p:txBody>
        </p:sp>
        <p:sp>
          <p:nvSpPr>
            <p:cNvPr id="30" name="TextBox 30"/>
            <p:cNvSpPr txBox="1"/>
            <p:nvPr/>
          </p:nvSpPr>
          <p:spPr>
            <a:xfrm>
              <a:off x="601218" y="3422332"/>
              <a:ext cx="4459224"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“Elasten — collagen SỐ 1, điều trị nếp nhăn,</a:t>
              </a:r>
              <a:br/>
              <a:r>
                <a:rPr lang="vi-VN" sz="1650" i="1" dirty="0">
                  <a:solidFill>
                    <a:schemeClr val="dk1"/>
                  </a:solidFill>
                  <a:latin typeface="+mn-lt"/>
                  <a:ea typeface="+mn-ea"/>
                  <a:cs typeface="+mn-cs"/>
                </a:rPr>
                <a:t>trẻ ra chỉ sau 7 ngày!!!”</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sp>
        <p:sp>
          <p:nvSpPr>
            <p:cNvPr id="32" name="Ellipse 32"/>
            <p:cNvSpPr/>
            <p:nvPr/>
          </p:nvSpPr>
          <p:spPr>
            <a:xfrm>
              <a:off x="647700" y="4905375"/>
              <a:ext cx="76200" cy="76200"/>
            </a:xfrm>
            <a:prstGeom prst="ellipse">
              <a:avLst/>
            </a:prstGeom>
            <a:solidFill>
              <a:srgbClr val="C0392B"/>
            </a:solidFill>
            <a:ln>
              <a:noFill/>
            </a:ln>
          </p:spPr>
        </p:sp>
        <p:sp>
          <p:nvSpPr>
            <p:cNvPr id="33" name="TextBox 33"/>
            <p:cNvSpPr txBox="1"/>
            <p:nvPr/>
          </p:nvSpPr>
          <p:spPr>
            <a:xfrm>
              <a:off x="830580" y="4848225"/>
              <a:ext cx="31836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Dùng từ cấm “điều trị” cho TPCN</a:t>
              </a:r>
            </a:p>
          </p:txBody>
        </p:sp>
        <p:sp>
          <p:nvSpPr>
            <p:cNvPr id="34" name="Ellipse 34"/>
            <p:cNvSpPr/>
            <p:nvPr/>
          </p:nvSpPr>
          <p:spPr>
            <a:xfrm>
              <a:off x="647700" y="5191125"/>
              <a:ext cx="76200" cy="76200"/>
            </a:xfrm>
            <a:prstGeom prst="ellipse">
              <a:avLst/>
            </a:prstGeom>
            <a:solidFill>
              <a:srgbClr val="C0392B"/>
            </a:solidFill>
            <a:ln>
              <a:noFill/>
            </a:ln>
          </p:spPr>
        </p:sp>
        <p:sp>
          <p:nvSpPr>
            <p:cNvPr id="35" name="TextBox 35"/>
            <p:cNvSpPr txBox="1"/>
            <p:nvPr/>
          </p:nvSpPr>
          <p:spPr>
            <a:xfrm>
              <a:off x="830580" y="5133975"/>
              <a:ext cx="215421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1” không có nguồn</a:t>
              </a:r>
            </a:p>
          </p:txBody>
        </p:sp>
        <p:sp>
          <p:nvSpPr>
            <p:cNvPr id="36" name="Ellipse 36"/>
            <p:cNvSpPr/>
            <p:nvPr/>
          </p:nvSpPr>
          <p:spPr>
            <a:xfrm>
              <a:off x="647700" y="5476875"/>
              <a:ext cx="76200" cy="76200"/>
            </a:xfrm>
            <a:prstGeom prst="ellipse">
              <a:avLst/>
            </a:prstGeom>
            <a:solidFill>
              <a:srgbClr val="C0392B"/>
            </a:solidFill>
            <a:ln>
              <a:noFill/>
            </a:ln>
          </p:spPr>
        </p:sp>
        <p:sp>
          <p:nvSpPr>
            <p:cNvPr id="37" name="TextBox 37"/>
            <p:cNvSpPr txBox="1"/>
            <p:nvPr/>
          </p:nvSpPr>
          <p:spPr>
            <a:xfrm>
              <a:off x="830580" y="5419725"/>
              <a:ext cx="23259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Tự bịa kết quả “7 ngày”</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sp>
        <p:sp>
          <p:nvSpPr>
            <p:cNvPr id="46" name="Ellipse 46"/>
            <p:cNvSpPr/>
            <p:nvPr/>
          </p:nvSpPr>
          <p:spPr>
            <a:xfrm>
              <a:off x="6553200" y="4905375"/>
              <a:ext cx="76200" cy="76200"/>
            </a:xfrm>
            <a:prstGeom prst="ellipse">
              <a:avLst/>
            </a:prstGeom>
            <a:solidFill>
              <a:srgbClr val="2E8B57"/>
            </a:solidFill>
            <a:ln>
              <a:noFill/>
            </a:ln>
          </p:spPr>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7092202" y="6554152"/>
            <a:ext cx="4057382"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cho kết quả chung chung, phải hỏi lại 4–5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Dùng 3 kỹ thuật: đưa mẫu, cho AI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Tự bịa giá</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Hứa chiết khấu vượt bảng</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Nói “tốt cho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cho AI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Cho AI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AI hỏi thay vì tự bịa.</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lại tôi tối đa 3 câu</a:t>
              </a:r>
              <a:br/>
              <a:r>
                <a:rPr lang="vi-VN" sz="1500" dirty="0">
                  <a:solidFill>
                    <a:schemeClr val="accent1"/>
                  </a:solidFill>
                  <a:latin typeface="Consolas"/>
                  <a:ea typeface="Consolas"/>
                  <a:cs typeface="Consolas"/>
                </a:rPr>
                <a:t>trước khi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đếm trước, phân tích sau</a:t>
            </a:r>
            <a:br/>
            <a:r>
              <a:rPr lang="vi-VN" sz="3150" b="1" dirty="0">
                <a:solidFill>
                  <a:schemeClr val="accent1"/>
                </a:solidFill>
                <a:latin typeface="+mn-lt"/>
                <a:ea typeface="+mn-ea"/>
                <a:cs typeface="+mn-cs"/>
              </a:rPr>
              <a:t>và chỉ tách theo chiều file thực sự có</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phân tích sau</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rồi mới phân tích</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có cột thì cấm tách theo chiều đó</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tổng phải khớp file gốc trước khi dùng</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FILE ĐƠN HÀNG WIR (6 CỘT)</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33909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3150313"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Không có cột “nhân viên bán hàng”</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Phân tích doanh số theo từng</a:t>
              </a:r>
              <a:br/>
              <a:r>
                <a:rPr lang="vi-VN" sz="1500" dirty="0">
                  <a:solidFill>
                    <a:schemeClr val="accent1"/>
                  </a:solidFill>
                  <a:latin typeface="Consolas"/>
                  <a:ea typeface="Consolas"/>
                  <a:cs typeface="Consolas"/>
                </a:rPr>
                <a:t>nhân viên bán hàng.</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ChatGPT vẫn lập bảng theo từng nhân viên</a:t>
              </a:r>
            </a:p>
          </p:txBody>
        </p:sp>
        <p:sp>
          <p:nvSpPr>
            <p:cNvPr id="70" name="TextBox 70"/>
            <p:cNvSpPr txBox="1"/>
            <p:nvPr/>
          </p:nvSpPr>
          <p:spPr>
            <a:xfrm>
              <a:off x="6277356" y="4796790"/>
              <a:ext cx="1366296"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Bịa 100%</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Đáp án đối chiếu:</a:t>
              </a:r>
              <a:r>
                <a:rPr lang="vi-VN" sz="1350" dirty="0">
                  <a:solidFill>
                    <a:schemeClr val="dk1"/>
                  </a:solidFill>
                  <a:latin typeface="+mn-lt"/>
                  <a:ea typeface="+mn-ea"/>
                  <a:cs typeface="+mn-cs"/>
                </a:rPr>
                <a:t> 40 dòng · tổng 147.300.000 đ</a:t>
              </a:r>
            </a:p>
            <a:p>
              <a:pPr marL="145732" indent="-145732" algn="l">
                <a:lnSpc>
                  <a:spcPts val="1800"/>
                </a:lnSpc>
                <a:buClr>
                  <a:schemeClr val="dk1"/>
                </a:buClr>
                <a:buSzTx/>
                <a:buFontTx/>
                <a:buChar char="•"/>
              </a:pPr>
              <a:r>
                <a:rPr lang="vi-VN" sz="1350" dirty="0">
                  <a:solidFill>
                    <a:schemeClr val="dk1"/>
                  </a:solidFill>
                  <a:latin typeface="+mn-lt"/>
                  <a:ea typeface="+mn-ea"/>
                  <a:cs typeface="+mn-cs"/>
                </a:rPr>
                <a:t>riêng Elasten 85.700.000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 · số liệu minh hoạ</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Ctrl+F trích dẫn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Copy câu AI “trích nguyên văn”, tìm trong</a:t>
              </a:r>
              <a:br/>
              <a:r>
                <a:rPr lang="vi-VN" sz="1650" dirty="0">
                  <a:solidFill>
                    <a:schemeClr val="dk1"/>
                  </a:solidFill>
                  <a:latin typeface="+mn-lt"/>
                  <a:ea typeface="+mn-ea"/>
                  <a:cs typeface="+mn-cs"/>
                </a:rPr>
                <a:t>tài liệu gốc</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nguồn</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File không có cột nhân viên bán hàng,</a:t>
              </a:r>
              <a:br/>
              <a:r>
                <a:rPr lang="vi-VN" sz="1500" b="1" dirty="0">
                  <a:solidFill>
                    <a:schemeClr val="accent1"/>
                  </a:solidFill>
                  <a:latin typeface="+mn-lt"/>
                  <a:ea typeface="+mn-ea"/>
                  <a:cs typeface="+mn-cs"/>
                </a:rPr>
                <a:t>sếp muốn xem doanh số theo nhân viên?</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Nói rõ file không có; đề xuất lấy</a:t>
              </a:r>
              <a:br/>
              <a:r>
                <a:rPr lang="vi-VN" sz="1500" dirty="0">
                  <a:solidFill>
                    <a:schemeClr val="dk1"/>
                  </a:solidFill>
                  <a:latin typeface="+mn-lt"/>
                  <a:ea typeface="+mn-ea"/>
                  <a:cs typeface="+mn-cs"/>
                </a:rPr>
                <a:t>thêm nguồn, không ép AI</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APP · SETTINGS → PLUGINS → PERMISSIONS</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Tự làm việc rủi ro thấp,</a:t>
              </a:r>
              <a:br/>
              <a:r>
                <a:rPr lang="vi-VN" sz="1350" dirty="0">
                  <a:solidFill>
                    <a:schemeClr val="dk1"/>
                  </a:solidFill>
                  <a:latin typeface="+mn-lt"/>
                  <a:ea typeface="+mn-ea"/>
                  <a:cs typeface="+mn-cs"/>
                </a:rPr>
                <a:t>việc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strike="sngStrike" dirty="0">
                  <a:solidFill>
                    <a:srgbClr val="C0392B"/>
                  </a:solidFill>
                  <a:latin typeface="+mn-lt"/>
                  <a:ea typeface="+mn-ea"/>
                  <a:cs typeface="+mn-cs"/>
                </a:rPr>
                <a:t>Allow all</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a:t>
              </a:r>
              <a:br/>
              <a:r>
                <a:rPr lang="vi-VN" sz="1350" dirty="0">
                  <a:solidFill>
                    <a:schemeClr val="dk1"/>
                  </a:solidFill>
                  <a:latin typeface="+mn-lt"/>
                  <a:ea typeface="+mn-ea"/>
                  <a:cs typeface="+mn-cs"/>
                </a:rPr>
                <a:t>không dùng cho Gmail,</a:t>
              </a:r>
              <a:br/>
              <a:r>
                <a:rPr lang="vi-VN" sz="1350" dirty="0">
                  <a:solidFill>
                    <a:schemeClr val="dk1"/>
                  </a:solidFill>
                  <a:latin typeface="+mn-lt"/>
                  <a:ea typeface="+mn-ea"/>
                  <a:cs typeface="+mn-cs"/>
                </a:rPr>
                <a:t>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