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8981"/>
  </p:normalViewPr>
  <p:slideViewPr>
    <p:cSldViewPr snapToGrid="0" snapToObjects="1">
      <p:cViewPr varScale="1">
        <p:scale>
          <a:sx n="102" d="100"/>
          <a:sy n="102" d="100"/>
        </p:scale>
        <p:origin x="114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vi-VN"/>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vi-VN"/>
          </a:p>
        </p:txBody>
      </p:sp>
    </p:spTree>
  </p:cSld>
  <p:clrMap bg1="lt1" tx1="dk1" bg2="lt2" tx2="dk2" accent1="accent1" accent2="accent2" accent3="accent3" accent4="accent4" accent5="accent5" accent6="accent6" hlink="hlink" folHlink="folHlink"/>
  <p:hf/>
  <p:notesStyle>
    <a:lvl1pPr marL="0" algn="l">
      <a:defRPr lang="vi-VN"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vi-VN" dirty="0"/>
              <a:t>Chào anh chị. Hôm nay chúng ta bắt đầu khóa đào tạo AI nội bộ của Wir Group, học trên ChatGPT. Hãy coi ChatGPT là một nhân viên mới rất giỏi: đọc nhanh, viết nhanh, nhưng chưa biết gì về công ty mình. Cả khóa này là quy trình đào tạo nhân viên đó, đi đúng bốn bậc Instructions, Prompt, Skill, Plugin, rồi mới tới phần nâng cao. Khóa học dành cho toàn bộ nhân sự Wir, gồm bốn buổi, mỗi buổi một trăm năm mươi phút.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vi-VN" dirty="0"/>
              <a:t>Đây là bản đồ của cả khóa, mỗi tầng thêm cho ChatGPT một năng lực mới. Tầng một là Instructions: ChatGPT biết mình là ai và luật chung, không phải dặn lại; tính năng dùng là Custom Instructions, Project và Memory. Tầng hai là Prompt: giao đúng từng việc và kiểm chứng được kết quả, qua chat, tải file và phân tích dữ liệu. Tầng ba là Skill: biến việc lặp lại thành quy trình chuẩn, gọi lại được. Tầng bốn là Plugin: nối ChatGPT vào ứng dụng có sẵn và đóng gói thành bộ công cụ của phòng, dùng Plugins, ChatGPT Work và Scheduled tasks. Mỗi tầng là một buổi một trăm năm mươi phút, cả lớp học chung, và mọi ví dụ đều chạy trên sản phẩm và dữ liệu của Wir. Sau bốn tầng có phần nâng cao về AI tự thao tác, gồm Browser extension, Computer use và Dots, phần này chỉ giới thiệu, không thực hành. Mỗi buổi chia như sau: mở đầu mười phút, lời giảng hai mươi lăm phút, demo ba mươi phút, thực hành một trên dữ liệu mẫu ba mươi phút, nghỉ mười phút, thực hành hai trên việc thật của anh chị ba mươi phút, và chốt mười lăm phút.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Cả khóa đi đúng bốn bước như khi anh chị nhận một người mới vào phòng. Ngày đầu, ta phát hồ sơ nhập môn và nội quy; với ChatGPT, đó là khai báo một lần tôi là ai và luật chung. Mỗi ngày, ta giao việc bằng phiếu rõ ràng; với ChatGPT, đó là giao việc theo công thức bốn phần. Với việc lặp lại, ta dán tờ quy trình chuẩn lên tường; với ChatGPT, đó là đóng gói quy trình thành skill. Cuối cùng, ta cấp chìa khóa và bàn giao thùng đồ nghề; với ChatGPT, đó là nối Gmail, Drive và đóng gói thành plugin. Nguyên tắc là đừng nhảy cóc: Instructions viết kém thì prompt nào cũng phải dặn lại từ đầu, prompt chưa vững thì không biết nên đóng gói gì vào skill, và skill chưa chuẩn thì plugin chỉ nhân bản cái sai nhanh hơn.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Bắt đầu tầng một, Instructions. Với một tài khoản mới tinh, chưa khai báo gì, ChatGPT không biết mình là ai, làm ở đâu, bán sản phẩm gì, và mình phải gõ lại từ đầu ở mỗi việc. Nhưng ChatGPT bản hiện nay có Memory và Library: khai báo một lần đúng chỗ thì mọi chat mới đều nhớ. Chạy thử ngày 09/10/2026 trên tài khoản đã khai báo: hỏi "Tôi làm ở công ty nào, phụ trách khách nào, bán sản phẩm gì?" trong chat mới, ChatGPT trả lời đúng Wir Group, khách đại lý và nhà phân phối miền Bắc, tám nhãn hàng, và trích nguồn từ file ho-so-sale.md trong Library. Vấn đề vì thế không còn là ChatGPT quên, mà là mình khai báo cái gì, ở đâu, để nó nhớ đúng thứ cần nhớ và không nhớ thứ nhạy cảm. Học xong tầng này, anh chị sẽ phân biệt được Custom Instructions, Project, Memory và Library, biết thông tin nào đặt ở đâu; viết được Instructions cho phòng mình; kiểm tra được ChatGPT có tuân thủ luật bằng phép thử chống bịa; và tự cài đặt bảo mật cho tài khoản.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Trong ChatGPT có ba nơi đặt Instructions, mỗi nơi giữ một loại thông tin, cộng thêm một kho file. Custom Instructions áp dụng cho mọi cuộc chat, giống danh thiếp của chính mình, nên đặt chức danh, cách xưng hô và văn phong; mở trong Settings, Personalization, Custom instructions. Project instructions chỉ áp dụng cho các chat nằm trong Project đó, giống hồ sơ nhập môn của phòng, nên đặt đơn vị, sản phẩm, thuật ngữ, luật riêng và kèm file tham chiếu; tạo New project rồi vào Project settings. Memory là phần ChatGPT tự ghi qua các cuộc chat, giống sổ giao ca, dành cho thói quen nhỏ như thích báo cáo dạng bảng; xem trong Settings, Personalization, Memory và nhớ kiểm tra định kỳ. Thứ tư là Library ở thanh bên: mọi file anh chị đã tải lên và file từ Google Drive đã nối đều nằm đó, ChatGPT tự tìm trong Library để trả lời khi cần, kể cả ở chat mới. Vì vậy file nào đã tải lên là ChatGPT có thể nhớ mãi, đừng tải file nhạy cảm. Điều quan trọng nhất: trong Project, Project instructions ghi đè Custom Instructions, đã đối chiếu tài liệu chính thức của OpenAI, nên luật nghiệp vụ của phòng phải đặt trong Project. Tên menu tra ngày 09/10/2026, có thể thay đổi theo phiên bản, giảng viên nên mở thử trước buổi học.</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vi-VN" dirty="0"/>
              <a:t>Instructions giống bảng nội quy dán ở cửa phòng: chỉ ghi điều đúng cho mọi việc, nhét quy trình chi tiết vào thì bảng nội quy dài ba trang và không ai đọc. Anh chị đoán thử từng dòng trước khi tôi mở đáp án. Câu "Tôi là nhân viên Sale của Wir Group, phụ trách khách sỉ" đặt ở Instructions vì đúng cho mọi việc. Luật "TPCN không dùng từ điều trị, không bịa số" cũng đặt ở Instructions vì là luật chung của phòng. Các bước viết lịch nội dung mười bốn ngày thuộc Skill ở tầng ba, vì chỉ đúng cho một việc. Số liệu đơn hàng tháng này đưa vào Prompt ở tầng hai, vì chỉ dùng một lần. Hộp thư và file trên Drive thuộc Plugin ở tầng bốn, vì dữ liệu nằm ngoài ChatGPT. Còn câu "Tôi thích bảng hơn đoạn văn" là thói quen nhỏ, để Memory tự nhớ.</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Chữ "chuyên nghiệp" với anh là một kiểu, với chị là kiểu khác, với ChatGPT lại là kiểu thứ ba. Muốn ChatGPT viết đúng giọng thì phải tả bằng thứ đếm được, nhìn thấy được. Thay vì "viết chuyên nghiệp", hãy ghi: câu dưới hai mươi chữ, không emoji, xưng Wir Group, gọi đối tác là Quý đối tác. Thay vì "thân thiện", hãy ghi: gọi khách là anh chị, xưng em, mở bài bằng một tình huống da cụ thể. Thay vì "ngắn gọn", hãy ghi: tin nhắn dưới một trăm năm mươi chữ, tối đa năm gạch đầu dòng. Thay vì "cẩn thận số liệu", hãy ghi: không tự bịa số, thiếu thì ghi CẦN ĐIỀN. Cuối cùng là phép thử đổi tên: thay chữ Wir Group bằng tên đối thủ, nếu câu vẫn đúng thì câu đó quá chung chung và phải viết lại.</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vi-VN" dirty="0"/>
              <a:t>Ba nguyên tắc chống bịa phải cài ngay từ tầng một. Một, chỉ dùng dữ liệu được cấp, không tự chế số liệu, tên người, ngày tháng hay điều khoản. Hai, gắn nhãn nguồn: thông tin lấy từ tài liệu ghi DATA THẬT, thông tin tự suy ra ghi SUY LUẬN, chưa có dữ liệu thì ghi CẦN ĐIỀN. Ba, người duyệt cuối: mọi thứ ChatGPT viết là bản nháp, người ký và người bấm gửi chịu trách nhiệm. Câu trả lời "chưa đủ dữ liệu" tốt hơn một con số nghe hợp lý, vì con số bịa mà trơn tru mới là thứ nguy hiểm nhất, không ai nghi ngờ nó.</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Bảo mật là cài đặt một lần cộng với một thói quen. Thứ nhất, tắt huấn luyện: vào Settings, Data controls, tắt Improve the model for everyone. Thứ hai, với nội dung nhạy cảm, dùng Temporary Chat: chat tạm không vào lịch sử và không tạo Memory mới. Có năm loại tuyệt đối không dán vào ChatGPT: giá vốn, giá thành, công thức; hợp đồng có điều khoản bảo mật; lương và CCCD của nhân viên; mật khẩu, tài khoản; và tài liệu đóng dấu MẬT. Trước khi dán, hãy làm sạch: thay tên thật bằng khách hàng A, hợp đồng số X. Và không ghi thông tin nhạy cảm vào Instructions hay Memory, vì hai chỗ này đi theo mọi cuộc chat.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Bây giờ là demo. Cùng một câu lệnh "Viết bài Facebook bán Elasten". Khi chưa có Instructions, ChatGPT có thể viết hai kiểu. Kiểu thứ nhất là vi phạm lộ liễu: "collagen số một, điều trị nếp nhăn, trẻ ra sau bảy ngày". Kiểu thứ hai, và đây là kết quả thật khi chạy thử ngày 08/10/2026, là bài "sạch mà rỗng": không có từ cấm, toàn "hỗ trợ", "góp phần", nhưng thiếu câu bắt buộc "Thực phẩm này không phải là thuốc và không có tác dụng thay thế thuốc chữa bệnh", tự thêm "đến từ Đức" và "báo giá ưu đãi" không có nguồn, không có một con số nào, tràn emoji, và thay tên Elasten bằng collagen bất kỳ thì bài vẫn đúng. Bài này nguy hiểm hơn kiểu thứ nhất vì người duyệt dễ cho qua. Sau khi tạo Project của phòng Marketing và dán Instructions có bộ từ cấm theo tầng pháp lý cùng hồ sơ sản phẩm, ChatGPT viết lại: nêu số liệu có nguồn, độ ẩm da tăng hai mươi tám phần trăm sau mười hai tuần theo nghiên cứu lâm sàng trong tài liệu Wir, kèm câu bắt buộc, tối đa hai emoji, và giá bán lẻ chưa có trong hồ sơ thì ghi CẦN ĐIỀN thay vì tự bịa. Không phải ChatGPT giỏi lên, mà lần này nó đã đọc hồ sơ nhập môn. Giảng viên chạy thử trước buổi học vì mỗi lần ChatGPT trả lời một khác, và chấm theo ba chữ: câu bắt buộc, số liệu có nguồn, emoji không quá hai.</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Đến phần thực hành. Bài một, hai mươi phút, viết Project instructions cho phòng của anh chị; đạt khi đủ mục, tả giọng văn bằng hành vi và có ba luật chống bịa. Bài hai, năm phút, phép thử chống bịa: hỏi ba con số mà hồ sơ không có, ví dụ giá bán lẻ Elasten hay chương trình khuyến mãi đang chạy; đạt khi cả ba lần ChatGPT đều trả lời chưa đủ dữ liệu hoặc hỏi xin thêm. Bài ba, năm phút, mở chat mới trong cùng Project và giao một việc thật; đạt khi ChatGPT dùng đúng thuật ngữ mà không cần nhắc lại luật. Bài bốn, cài bảo mật, tắt Improve the model for everyone, giảng viên đi kiểm từng máy. Câu hỏi chốt: "cấm dùng emoji" đặt ở Instructions vì là luật chung; các bước viết lịch nội dung mười bốn ngày đặt ở Skill vì chỉ đúng cho một việc; và khi hỏi số không có, ChatGPT đạt khi trả lời chưa đủ dữ liệu hoặc hỏi xin thêm.</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Tầng hai, Prompt, là phiếu giao việc mỗi ngày. Với prompt một dòng, ChatGPT bản hiện nay ít bịa hơn trước, nhưng nó phải đoán bối cảnh hoặc hỏi lại mình, và kết quả vẫn chung chung, chưa theo luật của phòng. Giao việc cho ChatGPT giống giao cho một nhân viên mới rất giỏi nhưng chưa biết gì về công ty: anh chị giao cho người mới thế nào thì giao cho ChatGPT y như vậy. Học xong tầng này, anh chị sẽ giao việc theo công thức bốn phần Bối cảnh, Yêu cầu, Tiêu chí, Định dạng; dùng được ba kỹ thuật đưa mẫu, chốt số câu hỏi lại và chia nhiều bước; phân tích file số liệu mà không để AI tính sai; và kiểm chứng đầu ra trước khi dùng.</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Công thức có bốn phần. Bối cảnh trả lời tôi là ai, tình huống gì, có dữ liệu gì, ví dụ "Tôi là nhân viên Sale Wir, Spa Ngọc Anh muốn nhập thử hai mươi hộp Elasten mỗi tháng". Yêu cầu nói rõ AI phải làm việc gì: soạn tin trả lời, báo chiết khấu theo bảng giá sỉ. Tiêu chí nói thế nào là đạt: dưới một trăm năm mươi chữ, không hứa ngoài bảng, không emoji. Định dạng nói trình bày ra sao: tin nhắn Zalo có lời chào, nội dung và chữ ký. Thiếu bối cảnh thì AI trả lời chung chung, thiếu tiêu chí thì AI viết lan man và có thể hứa bừa, thiếu định dạng thì phải sửa lại cách trình bày từ đầu. Phần nào đã có trong Instructions thì prompt không cần nhắc lại, prompt chỉ ghi phần riêng của việc này. Ví dụ Spa Ngọc Anh lấy từ danh sách lead demo của Wir.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hai cách giao cùng một việc. Prompt tồi chỉ có một dòng "Trả lời spa hỏi giá sỉ Elasten". Kết quả thật khi chạy ngày 09/10/2026: ChatGPT không bịa giá, nhưng viết một tin chung chung xưng em chào chị, thêm "collagen Đức" không có trong hồ sơ, thêm emoji trái tim và bông hoa trái luật phòng, không dùng bảng giá sỉ, không trả lời câu hỏi bà bầu, rồi hỏi ngược lại số lượng và giá nhập. Nghĩa là mình mất thêm một lượt và vẫn chưa có tin gửi được. Giảng viên chạy lại trước buổi học, vì mỗi lần ChatGPT trả lời một khác, bản cũ hơn có thể bịa giá hoặc nói tốt cho bà bầu. Prompt tốt đủ bốn phần. Bối cảnh: tôi là Sale Wir, Spa Ngọc Anh có ba chi nhánh muốn nhập thử hai mươi hộp mỗi tháng và hỏi bà bầu dùng được không, kèm kết luận giám định chuyên gia rằng sản phẩm không gây rủi ro cho phụ nữ mang thai và cho con bú. Yêu cầu: soạn tin trả lời. Tiêu chí: chiết khấu đúng bảng sỉ, thiếu giá nền thì ghi CẦN ĐIỀN, nói "không gây rủi ro" chứ không nói "tốt cho thai kỳ", dưới một trăm năm mươi chữ. Định dạng: tin nhắn Zalo có lời chào, nội dung, chữ ký. Hỏi lớp: bản nào gửi khách được, chỗ nào còn thiếu? Không phải ChatGPT giỏi lên, là mình giao việc rõ hơn.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Thêm ba kỹ thuật để nâng chất lượng. Một, đưa một mẫu tốt: một mẫu tốt đáng giá hơn mười dòng mô tả, dán một bài hoặc một tin chuẩn cũ của phòng và bảo AI học đúng bố cục và giọng văn của mẫu đó. Hai, chốt số câu hỏi lại: ChatGPT bản hiện nay thường tự hỏi khi thiếu thông tin, như demo vừa rồi nó hỏi số lượng nhập; vấn đề là nó có thể hỏi lan man hoặc hỏi xong lại tự đoán. Thêm câu "Nếu thiếu thông tin, hỏi tôi tối đa ba câu, rồi mới làm" để chốt số câu và bắt nó hỏi trước khi viết. Ba, chia việc nhiều bước: việc lớn tách thành chuỗi prompt, ví dụ phân tích số liệu, rồi viết Executive Summary, rồi dựng outline slide, và chỉ đi tiếp khi đã kiểm xong bước trước.</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Với số liệu, ChatGPT bản hiện nay đã qua được bẫy cũ: tải file đơn hàng demo lên và gõ "Phân tích doanh số theo từng nhân viên bán hàng", nó đếm đúng bốn mươi dòng, liệt kê sáu cột, nói rõ không có cột nhân viên, chuyển sang phân tích theo kênh với tổng đúng một trăm bốn mươi bảy triệu ba trăm nghìn đồng, rồi đề xuất bổ sung cột. Bẫy mới nằm ở cách đưa dữ liệu vào. Khi tải file, ChatGPT chạy code để tính nên số đúng. Khi dán bốn mươi dòng dạng chữ vào khung chat, nó tính nhẩm: chạy thử ngày 09/10/2026, hỏi "Vì sao Shopee nhiều đơn nhất mà doanh thu thấp", nó trả lời chắc nịch Đại lý sỉ sáu đơn, chín mươi sáu phẩy bảy mốt triệu, Website mười một đơn, trong khi file thật là Đại lý sỉ bảy đơn, một trăm lẻ sáu phẩy bảy mốt triệu, Website mười đơn. Nó còn "đính chính" ngược lại số đúng của lượt trước. Bảng sai nhưng trình bày rất đẹp, đó mới là thứ nguy hiểm. Từ đó có bốn quy tắc: tải file, đừng dán chữ; đếm trước, bắt AI báo số dòng và các cột, và chỉ tách theo chiều file có; đối chiếu tổng và hai ba số lẻ với file gốc trước khi dùng; nguyên nhân là suy đoán, viết dạng "nghi do, cần kiểm chứng bằng". Trong demo, phần nguyên nhân ChatGPT đã tự tách "nguyên nhân cần kiểm chứng thêm" khỏi số liệu, hãy khen nó và chỉ cho lớp thấy. Đây là dữ liệu demo, không phải số liệu kinh doanh thật.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Kiểm chứng tốn vài phút, rẻ hơn rất nhiều so với hậu quả của một con số sai. Cách một, bấm chip nguồn: khi làm việc trong Project có file, ChatGPT gắn một chip tên file ngay sau câu nó trích, ví dụ ho-so-elasten hay du-lieu-san-pham-wir; bấm vào là mở đúng đoạn trong file, mất khoảng năm giây mỗi câu. Câu nào không có chip thì copy câu đó và Ctrl F trong tài liệu gốc. Cách hai, rà ngẫu nhiên số liệu: chọn hai, ba con số và tự đối chiếu với file gốc, mất khoảng một phút; đây là cách bắt được lỗi tính nhẩm ở slide trước. Cách ba, phép thử đổi tên: thay tên mình bằng tên đối thủ, câu vẫn đúng tức là chưa đủ cụ thể, mất ba mươi giây. Cách bốn, bắt AI tự khai bằng câu hỏi "Chỗ nào bạn tự suy đoán mà tài liệu không nói?". Chạy thử ngày 09/10/2026, ChatGPT tự liệt kê bốn chỗ nó suy luận, phân loại DATA THẬT và SUY LUẬN, và chỉ đúng tới dòng trong file. Lưu ý: tự khai chỉ bắt được chỗ nó biết là suy đoán, không bắt được lỗi tính nhẩm, nên vẫn cần cách hai.</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Thực hành tầng hai, mỗi người chọn ít nhất ba việc trên bộ dữ liệu demo của Wir: viết biên bản họp và danh sách đầu việc từ transcript họp thô; làm báo cáo doanh thu từ file đơn hàng bốn mươi dòng; rút năm insight có mã bằng chứng từ ba mươi review và tin nhắn khách; hoặc chấm điểm mười hai lead và soạn tin tiếp cận. Đạt khi prompt đủ bốn phần, kết quả không có số sai, và anh chị tự kiểm chứng được ít nhất hai con số hoặc hai trích dẫn. Câu hỏi chốt: dán bốn mươi dòng vào chat hay tải file lên? Tải file, vì ChatGPT chạy code trên file nên số đúng; dán chữ thì nó tính nhẩm, dễ sai mà vẫn nói chắc. Một đề xuất trong báo cáo cần đủ bốn thứ: việc, người chịu trách nhiệm, hạn, nguồn lực hoặc chi phí. Và nên chuyển từ prompt sang skill khi một việc lặp lại hàng tuần và anh chị thấy mình đang gõ lại cùng một bộ chỉ dẫn.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Tầng ba là Skill. Hình dung skill như tờ quy trình chuẩn dán trên tường: ai vào làm việc đó cũng theo đúng tờ quy trình và ra kết quả giống nhau. Skill là tờ quy trình đó viết cho ChatGPT, viết một lần, dùng mãi, không sót bước. Học xong tầng này, anh chị sẽ phân biệt được Skill với Instructions và Prompt; hiểu vì sao dòng description quyết định skill có được gọi hay không; tự tạo được một skill theo cách làm tay nhiều lượt rồi đóng gói; và qua được phép thử phiên mới, không gọi tên skill.</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So sánh ba thứ đã học. Instructions giống nội quy, áp dụng cho mọi việc, ngắn và chỉ ghi điều luôn đúng, tự động được áp dụng. Prompt giống phiếu giao việc hôm nay, dùng một lần, vừa đủ cho việc này, và do mình gõ. Skill là tờ quy trình chuẩn cho một việc, được dùng mỗi lần gặp đúng loại việc đó, viết chi tiết không sợ dài, và ChatGPT tự chọn khi gặp, hoặc mình gọi bằng dấu a còng.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Skill hoạt động qua bốn bước. Anh chị gõ yêu cầu. ChatGPT chỉ đọc tên và dòng description của mọi skill đang có. Thấy skill nào khớp, nó mới mở toàn bộ file SKILL.md của skill đó. Rồi nó làm đúng từng bước, kể cả bước hỏi lại khi thiếu thông tin. Bước hai là chỗ mấu chốt: ChatGPT không đọc hết mọi skill, nó chỉ đọc dòng mô tả, nên mô tả mơ hồ thì skill viết hay cỡ nào cũng không được gọi ra. Description tồi như "Viết nội dung cho công ty" quá chung, dẫn tới gọi nhầm hoặc không bao giờ được gọi. Description tốt nêu rõ phạm vi: viết bài mạng xã hội cho sản phẩm thực phẩm bảo vệ sức khỏe của Wir như Elasten, CH Alpha Plus, Lactobact Intima; dùng khi cần bài Facebook, Zalo OA, kịch bản video ngắn; không dùng cho Karima là thiết bị tiêm, và không dùng cho tin trả lời khách.</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Một skill là một thư mục chứa file SKILL.md. Đầu file bắt buộc có khối name và description nằm giữa hai dòng ba gạch, sau đó là các mục khi nào dùng, đầu vào, các bước và đầu ra. Cụ thể có sáu phần: tên viết thường, không dấu, nối gạch ngang; mô tả một câu; khi nào dùng với ít nhất ba tình huống và cả khi nào không dùng; đầu vào ghi rõ mục bắt buộc và mục có thì tốt; các bước, trong đó bước một luôn là kiểm tra đủ đầu vào và bước cuối luôn là tự rà lại; và đầu ra kèm một ví dụ mẫu đã điền số liệu.</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Đừng ngồi nghĩ ra skill từ tờ giấy trắng. Hãy làm việc đó bằng tay vài lượt, mỗi lần mình phải dặn thêm chính là một mục trong skill. Demo trên tài liệu CH Alpha Plus của Wir. Lượt một, "Tóm tắt giúp tôi tài liệu này", kết quả chung chung, đó là lý do cần skill. Lượt hai, "Liệt kê theo từng phần", thành mục ý chính chi tiết. Lượt ba, "Bóc mọi con số, mốc thời gian, cam kết", thành mục số liệu, ngày tháng, hạn chót. Lượt bốn, "Có câu nào vượt ranh giới pháp lý hay mâu thuẫn không", thành mục điểm cần lưu ý và rủi ro. Lượt năm, "Chỗ nào bạn tự đoán, rút ba đến năm ý gửi sếp", thành quy tắc chống bịa và tóm tắt nhanh. Ở lượt bốn, ChatGPT bắt được cụm "điều trị thoái hóa sụn khớp" có trong tài liệu gốc, trong khi thực phẩm bảo vệ sức khỏe không được nói điều trị. Sau đó gõ "Hãy đóng gói cách làm vừa rồi thành một skill tên tom-tat-tai-lieu" để ChatGPT tạo skill, rồi mở chat mới, tải một tài liệu khác và chỉ gõ "Tóm tắt tài liệu này" để thấy skill tự chạy.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Skill tốt lên nhờ vòng chạy, soi, sửa: chạy skill trên ba việc thật, ghi lại chỗ phải sửa tay, rồi sửa ngược vào skill và ghi một dòng "Sửa lần N". Sai thì sửa skill, đừng sửa tay kết quả, vì sửa tay thì lần sau lại sai y như cũ. Mỗi skill chỉ làm một việc và nối thành chuỗi, ví dụ skill customer-insight rút insight từ review khách, rồi đầu ra đó trở thành đầu vào cho skill content-engine viết nội dung; còn mục CẦN ĐIỀN thì không chạy sang skill sau. Phép thử cuối của một skill là mở phiên mới, không gọi tên skill, và giao một yêu cầu skill chưa từng làm; skill tự được gọi và làm đúng thì mới đạt.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Thực hành tầng ba. Bài một, mười lăm phút, tạo skill tom-tat-tai-lieu và chạy trên tài liệu Lactobact Intima của Wir; đạt khi bóc đúng các tỷ lệ chín mươi phần trăm, bảy mươi lăm phần trăm, bốn mươi đến bốn mươi lăm phần trăm và năm mươi phần trăm, đồng thời chỉ ra cụm "điều trị" vượt ranh giới thực phẩm bảo vệ sức khỏe. Bài hai, ba mươi phút, tạo skill cho việc lặp lại của chính anh chị bằng cách chat tay ba đến năm lượt rồi đóng gói. Bài về nhà, chạy thử ba lần trên ba việc khác nhau và sửa ngược vào skill. Cuối cùng, vẽ chuỗi skill của phòng, ghi rõ đầu ra của skill trước là đầu vào của skill sau. Câu hỏi chốt: ChatGPT đọc tên và dòng description để quyết định dùng skill; bước một của mọi skill là kiểm tra đủ đầu vào, thiếu thì hỏi lại; và khi skill ra kết quả sai thì sửa trong skill, không sửa tay kết quả.</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Tầng bốn là Plugin. Skill dạy ChatGPT làm đúng, còn plugin cho ChatGPT tay chân để với tới dữ liệu thật như hộp thư, file trên Drive, lịch. Giống cấp cho nhân viên mới thẻ ra vào và chìa khóa tủ hồ sơ, rồi đóng thùng đồ nghề bàn giao cho người kế nhiệm. Đến giờ ChatGPT mới chỉ làm việc trên những gì anh chị dán vào khung chat. Học xong tầng này, anh chị sẽ nối được Gmail và Google Drive, đọc hiểu màn hình cấp quyền và gỡ được quyền; phân biệt ba mức quyền đọc, ghi, gửi ra ngoài; thiết kế được luồng tự động có hai lớp phanh là người duyệt và hẹn giờ; và đóng gói skill, file, app thành plugin của phòng kèm Playbook.</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vi-VN" dirty="0"/>
              <a:t>Có hai loại plugin. Plugin có sẵn là kết nối do nhà cung cấp làm sẵn, bấm Connect là dùng, ví dụ Gmail, Google Drive, Calendar, Notion, Slack, SharePoint. Plugin tự tạo là gói gồm skill, file tham chiếu và app cho một quy trình trọn vẹn, ví dụ Plugin Marketing Wir hay Plugin Sale Wir. Cấp chìa nào thì mở được tủ đó, nên phải cấp đúng và cấp vừa đủ.</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Mở quyền dần từng nấc. Đọc là xem thư, xem file, rủi ro là lộ thông tin nếu nối nhầm tài khoản. Ghi là tạo thư nháp, tạo hoặc sửa file, rủi ro là ghi đè file gốc. Gửi ra ngoài là gửi email, đăng bài, và đây là nấc không rút lại được. Tra ngày 09/10/2026: vào Settings, Plugins, bấm tên plugin, mục Permission, có bốn mức. Always ask hỏi trước khi đọc hay thay đổi bất cứ gì, đây là mức đặt cho Gmail khi học. Allow read-only tools tự đọc, muốn ghi hoặc gửi thì hỏi. Allow low-risk tools tự duyệt việc rủi ro thấp, việc nhạy cảm vẫn hỏi, và đây là mức mặc định khi cài, nên sau khi nối Gmail anh chị phải tự đổi về Always ask. Allow all tools làm hết không hỏi, ChatGPT gắn nhãn rủi ro cao, không dùng cho Gmail và các kênh gửi ra ngoài; mức này chỉ đặt được cho từng plugin, ô Default permission chung không có. ChatGPT có hỏi trước khi gửi hay không là do mình cài đặt. Khi ChatGPT hỏi duyệt, đừng bấm Always allow, vì bấm là bỏ luôn chốt người duyệt cho những lần sau.</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An toàn khi nối plugin nằm ở ba thời điểm. Trước khi nối: đăng xuất tài khoản Google công ty trên trình duyệt, tuyệt đối không nối hộp thư công ty khi đang học vì đây là quy định cứng, và nếu đã nối nhiều tài khoản thì kiểm tra kỹ. Khi cấp quyền: đọc hết danh sách quyền; quyền Gmail gộp cả đọc, soạn và gửi nên không tách riêng được, muốn chặn gửi thì đặt mức Always ask; thấy cảnh báo ứng dụng chưa được xác minh thì dừng lại và gọi giảng viên. Sau buổi học: vào myaccount.google.com/linkedapps, chọn ChatGPT hoặc OpenAI, bấm Remove access, rồi vào ChatGPT, Settings, Plugins để ngắt kết nối. Gỡ quyền ngay tối hôm đó.</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Tự động hóa là nhân bản quy trình: quy trình đang tốt thì nhân ra nhiều cái tốt, quy trình đang loạn thì nhân ra nhiều cái loạn và nhanh hơn. Chỉ tự động khi đủ ba điều kiện: việc lặp lại đều đặn, quy tắc rõ ràng, làm sai thì sửa được. Không tự động việc dính tới tiền, việc cam kết với khách, và quy trình còn loạn. Mỗi luồng có ba lớp kích hoạt, xử lý, đưa ra, và người duyệt đứng ở đầu lớp đưa ra. Ví dụ với Wir: bảy giờ sáng thứ Hai đọc file đơn hàng tuần trên Drive, lập bảng doanh thu theo sản phẩm và đánh dấu cảnh báo, trưởng phòng duyệt rồi mới gửi Ban giám đốc. Luồng nào cũng có hai lớp phanh là người duyệt và hẹn giờ để còn kịp hủy, và phải ghi log lúc chạy, kết quả, ai duyệt. Công cụ gồm Scheduled task chạy theo lịch, task theo sự kiện như có thư Gmail mới hay tin Slack, và ChatGPT Work để giao trọn một mục tiêu nhiều bước. Khi task gặp hành động cần duyệt, nó tạm dừng chờ người duyệt, đó chính là phanh thứ nhất.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Anh chị nghỉ phép hai tuần, đồng nghiệp có làm thay được không? Nếu toàn bộ cách làm nằm trong đầu anh chị thì không. Plugin tự tạo là đóng thùng đồ nghề bàn giao. Ví dụ Plugin Sale Wir gồm các skill cham-diem-lead, soan-tiep-can-sale, xu-ly-tu-choi-sale và tom-tat-tai-lieu lấy từ thư viện skill mẫu của Wir; file tham chiếu gồm dữ liệu sản phẩm Wir, chính sách giá sỉ và playbook; app là Google Drive và Gmail. Tạo không cần code: cài Plugin Creator từ danh mục plugin, rồi gõ a còng plugin-creator và mô tả plugin muốn tạo. Đi kèm là Playbook bảy mục: mục đích, ai dùng, quy trình từng bước, tiêu chuẩn đầu ra, ranh giới, chỉ số đo và cách xử lý khi ra sai. Skill là thứ ChatGPT đọc, Playbook là thứ con người đọc.</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Thực hành tầng bốn có hai phần. Phần bốn A, plugin có sẵn: phân loại hai mươi email gần nhất và soạn thư nháp, rồi đọc file đơn hàng demo trên Drive và ghi bản tóm tắt ngược lên Drive, đối chiếu tổng một trăm bốn mươi bảy triệu ba trăm nghìn đồng. Đạt khi nối đúng tài khoản cá nhân, thư nháp chưa gửi, file gốc còn nguyên và đã gỡ quyền. Phần bốn B, plugin tự tạo: gộp ít nhất hai skill với một file tham chiếu và một app, viết Playbook bảy mục, chạy hai phép thử ngoài bối cảnh gốc và demo năm phút trước lớp. Đạt khi người khác cầm plugin chạy được mà không phải hỏi lại. Câu hỏi chốt: ba mức quyền theo thứ tự là đọc, ghi, gửi, và gửi ra ngoài là mức không rút lại được; hai lớp phanh là người duyệt và hẹn giờ; Gmail đặt mức Always ask, và không bấm Always allow khi được hỏi duyệt.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Phần nâng cao này chỉ giới thiệu, không thực hành. Qua bốn tầng, ChatGPT làm việc trên chữ, trên file và trên dữ liệu mình đưa vào; bước tiếp theo là ChatGPT tự cầm chuột, và càng tự làm được nhiều thì phanh càng phải chắc. Browser extension thao tác trên trang web anh chị đang đăng nhập sẵn, giống nhờ đồng nghiệp lướt web giúp, rủi ro trung bình; chỉ chọn Allow once hoặc Allow for site, và nhớ rằng trang web có thể cài lệnh ẩn. Computer use nhìn màn hình, tự click và gõ trong phần mềm trên máy, giống giao chuột và bàn phím cho người khác, rủi ro cao; phải đóng phần mềm nhạy cảm trước khi dùng và không bấm Always allow. Dots là agent luôn bật trên máy tính đám mây riêng, theo dõi việc nhiều ngày, giống một trợ lý vẫn làm việc khi anh chị vắng mặt, rủi ro cao nhất; hãy đặt luật "cho tôi xem nháp trước khi gửi".</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Sáu nguyên tắc đi cùng mọi buổi, dù dùng công cụ nào. Chống bịa: chỉ dùng dữ liệu được cấp và gắn nhãn DATA THẬT, SUY LUẬN, CẦN ĐIỀN. Người duyệt cuối: AI làm nháp, người ký và người bấm gửi chịu trách nhiệm, không đổ cho AI. Bảo mật: không dán năm loại dữ liệu nhạy cảm và thay tên thật bằng tên chung. Kiểm chứng: đối chiếu số liệu, ngày tháng, tên riêng và trích dẫn với nguồn. Tiêu chuẩn viết bằng số hoặc hành vi, không bằng tính từ. Và lưu kết quả thành file, vì đầu ra buổi trước là đầu vào buổi sau.</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Chúng ta đã đi đủ bốn bậc: Instructions để ChatGPT biết mình là ai, Prompt để giao đúng việc, Skill để có quy trình chuẩn, và Plugin để với tới dữ liệu thật. Công cụ sẽ còn thay đổi nhiều, nhưng có ba điều không đổi: AI làm nháp, con người duyệt; quyền cấp từng nấc đọc, ghi, gửi; và "chưa đủ dữ liệu" tốt hơn một con số bịa. Nắm được những điều đó thì công cụ nào ra sau anh chị cũng dùng an toàn được. Việc tiếp theo: chọn một việc lặp lại của phòng mình và đi lại đủ bốn bậc với chính việc đó. Cảm ơn anh chị đã đồng hành, giờ mời mọi người đặt câu hỏi.</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lo-trinh-chatgp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o-trinh-chatgp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6286500" y="1905000"/>
            <a:ext cx="9525000" cy="9525000"/>
          </a:xfrm>
          <a:prstGeom prst="ellipse">
            <a:avLst/>
          </a:prstGeom>
          <a:solidFill>
            <a:schemeClr val="lt2"/>
          </a:solidFill>
          <a:ln>
            <a:noFill/>
          </a:ln>
        </p:spPr>
      </p:sp>
      <p:grpSp>
        <p:nvGrpSpPr>
          <p:cNvPr id="5" name="Group 5"/>
          <p:cNvGrpSpPr/>
          <p:nvPr/>
        </p:nvGrpSpPr>
        <p:grpSpPr>
          <a:xfrm>
            <a:off x="603504" y="1028700"/>
            <a:ext cx="3718255" cy="467106"/>
            <a:chOff x="603504" y="1028700"/>
            <a:chExt cx="3718255" cy="467106"/>
          </a:xfrm>
        </p:grpSpPr>
        <p:sp>
          <p:nvSpPr>
            <p:cNvPr id="3" name="Rectangle 3"/>
            <p:cNvSpPr/>
            <p:nvPr/>
          </p:nvSpPr>
          <p:spPr>
            <a:xfrm>
              <a:off x="609600" y="1028700"/>
              <a:ext cx="533400" cy="57150"/>
            </a:xfrm>
            <a:prstGeom prst="roundRect">
              <a:avLst>
                <a:gd name="adj" fmla="val 50000"/>
              </a:avLst>
            </a:prstGeom>
            <a:solidFill>
              <a:schemeClr val="accent2"/>
            </a:solidFill>
            <a:ln>
              <a:noFill/>
            </a:ln>
          </p:spPr>
        </p:sp>
        <p:sp>
          <p:nvSpPr>
            <p:cNvPr id="4" name="TextBox 4"/>
            <p:cNvSpPr txBox="1"/>
            <p:nvPr/>
          </p:nvSpPr>
          <p:spPr>
            <a:xfrm>
              <a:off x="603504" y="1261110"/>
              <a:ext cx="3718255" cy="234696"/>
            </a:xfrm>
            <a:prstGeom prst="rect">
              <a:avLst/>
            </a:prstGeom>
            <a:noFill/>
            <a:ln>
              <a:noFill/>
            </a:ln>
          </p:spPr>
          <p:txBody>
            <a:bodyPr wrap="none" lIns="0" tIns="0" rIns="0" bIns="0" anchor="t" anchorCtr="0">
              <a:spAutoFit/>
            </a:bodyPr>
            <a:lstStyle/>
            <a:p>
              <a:pPr algn="l"/>
              <a:r>
                <a:rPr lang="vi-VN" sz="1200" b="1" spc="150" dirty="0">
                  <a:solidFill>
                    <a:schemeClr val="accent1"/>
                  </a:solidFill>
                  <a:latin typeface="+mn-lt"/>
                  <a:ea typeface="+mn-ea"/>
                  <a:cs typeface="+mn-cs"/>
                </a:rPr>
                <a:t>KHÓA ĐÀO TẠO AI NỘI BỘ · WIR GROUP</a:t>
              </a:r>
            </a:p>
          </p:txBody>
        </p:sp>
      </p:grpSp>
      <p:grpSp>
        <p:nvGrpSpPr>
          <p:cNvPr id="7" name="Group 7"/>
          <p:cNvGrpSpPr/>
          <p:nvPr/>
        </p:nvGrpSpPr>
        <p:grpSpPr>
          <a:xfrm>
            <a:off x="590550" y="1618298"/>
            <a:ext cx="6110859" cy="1704975"/>
            <a:chOff x="590550" y="1618298"/>
            <a:chExt cx="6110859" cy="1704975"/>
          </a:xfrm>
        </p:grpSpPr>
        <p:sp>
          <p:nvSpPr>
            <p:cNvPr id="6" name="TextBox 6"/>
            <p:cNvSpPr txBox="1"/>
            <p:nvPr/>
          </p:nvSpPr>
          <p:spPr>
            <a:xfrm>
              <a:off x="590550" y="1618298"/>
              <a:ext cx="6110859" cy="1704975"/>
            </a:xfrm>
            <a:prstGeom prst="rect">
              <a:avLst/>
            </a:prstGeom>
            <a:noFill/>
            <a:ln>
              <a:noFill/>
            </a:ln>
          </p:spPr>
          <p:txBody>
            <a:bodyPr wrap="none" lIns="0" tIns="0" rIns="0" bIns="0" anchor="t" anchorCtr="0">
              <a:spAutoFit/>
            </a:bodyPr>
            <a:lstStyle/>
            <a:p>
              <a:pPr algn="l">
                <a:lnSpc>
                  <a:spcPts val="5850"/>
                </a:lnSpc>
              </a:pPr>
              <a:r>
                <a:rPr lang="vi-VN" sz="4950" b="1" dirty="0">
                  <a:solidFill>
                    <a:schemeClr val="accent1"/>
                  </a:solidFill>
                  <a:latin typeface="+mn-lt"/>
                  <a:ea typeface="+mn-ea"/>
                  <a:cs typeface="+mn-cs"/>
                </a:rPr>
                <a:t>Lộ trình đào tạo AI</a:t>
              </a:r>
              <a:br/>
              <a:r>
                <a:rPr lang="vi-VN" sz="4950" b="1" dirty="0">
                  <a:solidFill>
                    <a:schemeClr val="accent1"/>
                  </a:solidFill>
                  <a:latin typeface="+mn-lt"/>
                  <a:ea typeface="+mn-ea"/>
                  <a:cs typeface="+mn-cs"/>
                </a:rPr>
                <a:t>trên ChatGPT</a:t>
              </a:r>
            </a:p>
          </p:txBody>
        </p:sp>
      </p:grpSp>
      <p:grpSp>
        <p:nvGrpSpPr>
          <p:cNvPr id="9" name="Group 9"/>
          <p:cNvGrpSpPr/>
          <p:nvPr/>
        </p:nvGrpSpPr>
        <p:grpSpPr>
          <a:xfrm>
            <a:off x="597408" y="3360420"/>
            <a:ext cx="6518148" cy="869442"/>
            <a:chOff x="597408" y="3360420"/>
            <a:chExt cx="6518148" cy="869442"/>
          </a:xfrm>
        </p:grpSpPr>
        <p:sp>
          <p:nvSpPr>
            <p:cNvPr id="8" name="TextBox 8"/>
            <p:cNvSpPr txBox="1"/>
            <p:nvPr/>
          </p:nvSpPr>
          <p:spPr>
            <a:xfrm>
              <a:off x="597408" y="3360420"/>
              <a:ext cx="6518148" cy="869442"/>
            </a:xfrm>
            <a:prstGeom prst="rect">
              <a:avLst/>
            </a:prstGeom>
            <a:noFill/>
            <a:ln>
              <a:noFill/>
            </a:ln>
          </p:spPr>
          <p:txBody>
            <a:bodyPr wrap="none" lIns="0" tIns="0" rIns="0" bIns="0" anchor="t" anchorCtr="0">
              <a:spAutoFit/>
            </a:bodyPr>
            <a:lstStyle/>
            <a:p>
              <a:pPr algn="l">
                <a:lnSpc>
                  <a:spcPts val="3150"/>
                </a:lnSpc>
              </a:pPr>
              <a:r>
                <a:rPr lang="vi-VN" sz="2400" dirty="0">
                  <a:solidFill>
                    <a:schemeClr val="dk1"/>
                  </a:solidFill>
                  <a:latin typeface="+mn-lt"/>
                  <a:ea typeface="+mn-ea"/>
                  <a:cs typeface="+mn-cs"/>
                </a:rPr>
                <a:t>Đào tạo ChatGPT như đào tạo</a:t>
              </a:r>
              <a:br>
                <a:rPr dirty="0"/>
              </a:br>
              <a:r>
                <a:rPr lang="vi-VN" sz="2400" dirty="0">
                  <a:solidFill>
                    <a:schemeClr val="dk1"/>
                  </a:solidFill>
                  <a:latin typeface="+mn-lt"/>
                  <a:ea typeface="+mn-ea"/>
                  <a:cs typeface="+mn-cs"/>
                </a:rPr>
                <a:t>một nhân viên mới — </a:t>
              </a:r>
              <a:r>
                <a:rPr lang="vi-VN" sz="2400" b="1" dirty="0">
                  <a:solidFill>
                    <a:schemeClr val="accent1"/>
                  </a:solidFill>
                  <a:latin typeface="+mn-lt"/>
                  <a:ea typeface="+mn-ea"/>
                  <a:cs typeface="+mn-cs"/>
                </a:rPr>
                <a:t>4 bước, không nhảy cóc</a:t>
              </a:r>
            </a:p>
          </p:txBody>
        </p:sp>
      </p:grpSp>
      <p:grpSp>
        <p:nvGrpSpPr>
          <p:cNvPr id="11" name="Group 11"/>
          <p:cNvGrpSpPr/>
          <p:nvPr/>
        </p:nvGrpSpPr>
        <p:grpSpPr>
          <a:xfrm>
            <a:off x="600456" y="5139690"/>
            <a:ext cx="3847207" cy="302583"/>
            <a:chOff x="600456" y="5139690"/>
            <a:chExt cx="3847207" cy="302583"/>
          </a:xfrm>
        </p:grpSpPr>
        <p:sp>
          <p:nvSpPr>
            <p:cNvPr id="10" name="TextBox 10"/>
            <p:cNvSpPr txBox="1"/>
            <p:nvPr/>
          </p:nvSpPr>
          <p:spPr>
            <a:xfrm>
              <a:off x="600456" y="5139690"/>
              <a:ext cx="3847207" cy="302583"/>
            </a:xfrm>
            <a:prstGeom prst="rect">
              <a:avLst/>
            </a:prstGeom>
            <a:noFill/>
            <a:ln>
              <a:noFill/>
            </a:ln>
          </p:spPr>
          <p:txBody>
            <a:bodyPr wrap="none" lIns="0" tIns="0" rIns="0" bIns="0" anchor="t" anchorCtr="0">
              <a:spAutoFit/>
            </a:bodyPr>
            <a:lstStyle/>
            <a:p>
              <a:pPr algn="l">
                <a:lnSpc>
                  <a:spcPts val="2550"/>
                </a:lnSpc>
              </a:pPr>
              <a:r>
                <a:rPr lang="vi-VN" sz="1800" dirty="0">
                  <a:solidFill>
                    <a:srgbClr val="5B6675"/>
                  </a:solidFill>
                  <a:latin typeface="+mn-lt"/>
                  <a:ea typeface="+mn-ea"/>
                  <a:cs typeface="+mn-cs"/>
                </a:rPr>
                <a:t>Dành cho toàn bộ nhân sự Wir Group</a:t>
              </a:r>
            </a:p>
          </p:txBody>
        </p:sp>
      </p:grpSp>
      <p:grpSp>
        <p:nvGrpSpPr>
          <p:cNvPr id="15" name="Group 15"/>
          <p:cNvGrpSpPr/>
          <p:nvPr/>
        </p:nvGrpSpPr>
        <p:grpSpPr>
          <a:xfrm>
            <a:off x="6432042" y="4762500"/>
            <a:ext cx="1245108" cy="1566101"/>
            <a:chOff x="6432042" y="4762500"/>
            <a:chExt cx="1245108" cy="1566101"/>
          </a:xfrm>
        </p:grpSpPr>
        <p:sp>
          <p:nvSpPr>
            <p:cNvPr id="12" name="Rectangle 12"/>
            <p:cNvSpPr/>
            <p:nvPr/>
          </p:nvSpPr>
          <p:spPr>
            <a:xfrm>
              <a:off x="6438900" y="4762500"/>
              <a:ext cx="1238250" cy="1143000"/>
            </a:xfrm>
            <a:prstGeom prst="roundRect">
              <a:avLst>
                <a:gd name="adj" fmla="val 11667"/>
              </a:avLst>
            </a:prstGeom>
            <a:solidFill>
              <a:schemeClr val="accent5"/>
            </a:solidFill>
            <a:ln>
              <a:noFill/>
            </a:ln>
          </p:spPr>
        </p:sp>
        <p:sp>
          <p:nvSpPr>
            <p:cNvPr id="13" name="TextBox 13"/>
            <p:cNvSpPr txBox="1"/>
            <p:nvPr/>
          </p:nvSpPr>
          <p:spPr>
            <a:xfrm>
              <a:off x="6610350" y="4951095"/>
              <a:ext cx="341298" cy="762000"/>
            </a:xfrm>
            <a:prstGeom prst="rect">
              <a:avLst/>
            </a:prstGeom>
            <a:noFill/>
            <a:ln>
              <a:noFill/>
            </a:ln>
          </p:spPr>
          <p:txBody>
            <a:bodyPr wrap="none" lIns="0" tIns="0" rIns="0" bIns="0" anchor="t" anchorCtr="0">
              <a:spAutoFit/>
            </a:bodyPr>
            <a:lstStyle/>
            <a:p>
              <a:pPr algn="l"/>
              <a:r>
                <a:rPr lang="vi-VN" sz="3900" b="1" dirty="0">
                  <a:solidFill>
                    <a:srgbClr val="FFFFFF"/>
                  </a:solidFill>
                  <a:latin typeface="+mn-lt"/>
                  <a:ea typeface="+mn-ea"/>
                  <a:cs typeface="+mn-cs"/>
                </a:rPr>
                <a:t>1</a:t>
              </a:r>
            </a:p>
          </p:txBody>
        </p:sp>
        <p:sp>
          <p:nvSpPr>
            <p:cNvPr id="14" name="TextBox 14"/>
            <p:cNvSpPr txBox="1"/>
            <p:nvPr/>
          </p:nvSpPr>
          <p:spPr>
            <a:xfrm>
              <a:off x="6432042" y="6064568"/>
              <a:ext cx="1183232"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Instructions</a:t>
              </a:r>
            </a:p>
          </p:txBody>
        </p:sp>
      </p:grpSp>
      <p:grpSp>
        <p:nvGrpSpPr>
          <p:cNvPr id="19" name="Group 19"/>
          <p:cNvGrpSpPr/>
          <p:nvPr/>
        </p:nvGrpSpPr>
        <p:grpSpPr>
          <a:xfrm>
            <a:off x="7746492" y="3905250"/>
            <a:ext cx="1245108" cy="2423351"/>
            <a:chOff x="7746492" y="3905250"/>
            <a:chExt cx="1245108" cy="2423351"/>
          </a:xfrm>
        </p:grpSpPr>
        <p:sp>
          <p:nvSpPr>
            <p:cNvPr id="16" name="Rectangle 16"/>
            <p:cNvSpPr/>
            <p:nvPr/>
          </p:nvSpPr>
          <p:spPr>
            <a:xfrm>
              <a:off x="7753350" y="3905250"/>
              <a:ext cx="1238250" cy="2000250"/>
            </a:xfrm>
            <a:prstGeom prst="roundRect">
              <a:avLst>
                <a:gd name="adj" fmla="val 10769"/>
              </a:avLst>
            </a:prstGeom>
            <a:solidFill>
              <a:schemeClr val="accent3"/>
            </a:solidFill>
            <a:ln>
              <a:noFill/>
            </a:ln>
          </p:spPr>
        </p:sp>
        <p:sp>
          <p:nvSpPr>
            <p:cNvPr id="17" name="TextBox 17"/>
            <p:cNvSpPr txBox="1"/>
            <p:nvPr/>
          </p:nvSpPr>
          <p:spPr>
            <a:xfrm>
              <a:off x="7924800" y="4093845"/>
              <a:ext cx="341298" cy="762000"/>
            </a:xfrm>
            <a:prstGeom prst="rect">
              <a:avLst/>
            </a:prstGeom>
            <a:noFill/>
            <a:ln>
              <a:noFill/>
            </a:ln>
          </p:spPr>
          <p:txBody>
            <a:bodyPr wrap="none" lIns="0" tIns="0" rIns="0" bIns="0" anchor="t" anchorCtr="0">
              <a:spAutoFit/>
            </a:bodyPr>
            <a:lstStyle/>
            <a:p>
              <a:pPr algn="l"/>
              <a:r>
                <a:rPr lang="vi-VN" sz="3900" b="1" dirty="0">
                  <a:solidFill>
                    <a:srgbClr val="FFFFFF"/>
                  </a:solidFill>
                  <a:latin typeface="+mn-lt"/>
                  <a:ea typeface="+mn-ea"/>
                  <a:cs typeface="+mn-cs"/>
                </a:rPr>
                <a:t>2</a:t>
              </a:r>
            </a:p>
          </p:txBody>
        </p:sp>
        <p:sp>
          <p:nvSpPr>
            <p:cNvPr id="18" name="TextBox 18"/>
            <p:cNvSpPr txBox="1"/>
            <p:nvPr/>
          </p:nvSpPr>
          <p:spPr>
            <a:xfrm>
              <a:off x="7746492" y="6064568"/>
              <a:ext cx="687900"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Prompt</a:t>
              </a:r>
            </a:p>
          </p:txBody>
        </p:sp>
      </p:grpSp>
      <p:grpSp>
        <p:nvGrpSpPr>
          <p:cNvPr id="23" name="Group 23"/>
          <p:cNvGrpSpPr/>
          <p:nvPr/>
        </p:nvGrpSpPr>
        <p:grpSpPr>
          <a:xfrm>
            <a:off x="9060942" y="3048000"/>
            <a:ext cx="1245108" cy="3280601"/>
            <a:chOff x="9060942" y="3048000"/>
            <a:chExt cx="1245108" cy="3280601"/>
          </a:xfrm>
        </p:grpSpPr>
        <p:sp>
          <p:nvSpPr>
            <p:cNvPr id="20" name="Rectangle 20"/>
            <p:cNvSpPr/>
            <p:nvPr/>
          </p:nvSpPr>
          <p:spPr>
            <a:xfrm>
              <a:off x="9067800" y="3048000"/>
              <a:ext cx="1238250" cy="2857500"/>
            </a:xfrm>
            <a:prstGeom prst="roundRect">
              <a:avLst>
                <a:gd name="adj" fmla="val 10769"/>
              </a:avLst>
            </a:prstGeom>
            <a:solidFill>
              <a:srgbClr val="2E5E91"/>
            </a:solidFill>
            <a:ln>
              <a:noFill/>
            </a:ln>
          </p:spPr>
        </p:sp>
        <p:sp>
          <p:nvSpPr>
            <p:cNvPr id="21" name="TextBox 21"/>
            <p:cNvSpPr txBox="1"/>
            <p:nvPr/>
          </p:nvSpPr>
          <p:spPr>
            <a:xfrm>
              <a:off x="9239250" y="3236595"/>
              <a:ext cx="341298" cy="762000"/>
            </a:xfrm>
            <a:prstGeom prst="rect">
              <a:avLst/>
            </a:prstGeom>
            <a:noFill/>
            <a:ln>
              <a:noFill/>
            </a:ln>
          </p:spPr>
          <p:txBody>
            <a:bodyPr wrap="none" lIns="0" tIns="0" rIns="0" bIns="0" anchor="t" anchorCtr="0">
              <a:spAutoFit/>
            </a:bodyPr>
            <a:lstStyle/>
            <a:p>
              <a:pPr algn="l"/>
              <a:r>
                <a:rPr lang="vi-VN" sz="3900" b="1" dirty="0">
                  <a:solidFill>
                    <a:srgbClr val="FFFFFF"/>
                  </a:solidFill>
                  <a:latin typeface="+mn-lt"/>
                  <a:ea typeface="+mn-ea"/>
                  <a:cs typeface="+mn-cs"/>
                </a:rPr>
                <a:t>3</a:t>
              </a:r>
            </a:p>
          </p:txBody>
        </p:sp>
        <p:sp>
          <p:nvSpPr>
            <p:cNvPr id="22" name="TextBox 22"/>
            <p:cNvSpPr txBox="1"/>
            <p:nvPr/>
          </p:nvSpPr>
          <p:spPr>
            <a:xfrm>
              <a:off x="9060942" y="6064568"/>
              <a:ext cx="399684"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Skill</a:t>
              </a:r>
            </a:p>
          </p:txBody>
        </p:sp>
      </p:grpSp>
      <p:grpSp>
        <p:nvGrpSpPr>
          <p:cNvPr id="27" name="Group 27"/>
          <p:cNvGrpSpPr/>
          <p:nvPr/>
        </p:nvGrpSpPr>
        <p:grpSpPr>
          <a:xfrm>
            <a:off x="10375392" y="2190750"/>
            <a:ext cx="1245108" cy="4137851"/>
            <a:chOff x="10375392" y="2190750"/>
            <a:chExt cx="1245108" cy="4137851"/>
          </a:xfrm>
        </p:grpSpPr>
        <p:sp>
          <p:nvSpPr>
            <p:cNvPr id="24" name="Rectangle 24"/>
            <p:cNvSpPr/>
            <p:nvPr/>
          </p:nvSpPr>
          <p:spPr>
            <a:xfrm>
              <a:off x="10382250" y="2190750"/>
              <a:ext cx="1238250" cy="3714750"/>
            </a:xfrm>
            <a:prstGeom prst="roundRect">
              <a:avLst>
                <a:gd name="adj" fmla="val 10769"/>
              </a:avLst>
            </a:prstGeom>
            <a:solidFill>
              <a:schemeClr val="accent1"/>
            </a:solidFill>
            <a:ln>
              <a:noFill/>
            </a:ln>
          </p:spPr>
        </p:sp>
        <p:sp>
          <p:nvSpPr>
            <p:cNvPr id="25" name="TextBox 25"/>
            <p:cNvSpPr txBox="1"/>
            <p:nvPr/>
          </p:nvSpPr>
          <p:spPr>
            <a:xfrm>
              <a:off x="10553700" y="2379345"/>
              <a:ext cx="341298" cy="762000"/>
            </a:xfrm>
            <a:prstGeom prst="rect">
              <a:avLst/>
            </a:prstGeom>
            <a:noFill/>
            <a:ln>
              <a:noFill/>
            </a:ln>
          </p:spPr>
          <p:txBody>
            <a:bodyPr wrap="none" lIns="0" tIns="0" rIns="0" bIns="0" anchor="t" anchorCtr="0">
              <a:spAutoFit/>
            </a:bodyPr>
            <a:lstStyle/>
            <a:p>
              <a:pPr algn="l"/>
              <a:r>
                <a:rPr lang="vi-VN" sz="3900" b="1" dirty="0">
                  <a:solidFill>
                    <a:srgbClr val="FFFFFF"/>
                  </a:solidFill>
                  <a:latin typeface="+mn-lt"/>
                  <a:ea typeface="+mn-ea"/>
                  <a:cs typeface="+mn-cs"/>
                </a:rPr>
                <a:t>4</a:t>
              </a:r>
            </a:p>
          </p:txBody>
        </p:sp>
        <p:sp>
          <p:nvSpPr>
            <p:cNvPr id="26" name="TextBox 26"/>
            <p:cNvSpPr txBox="1"/>
            <p:nvPr/>
          </p:nvSpPr>
          <p:spPr>
            <a:xfrm>
              <a:off x="10375392" y="6064568"/>
              <a:ext cx="553063"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Plugin</a:t>
              </a:r>
            </a:p>
          </p:txBody>
        </p:sp>
      </p:grpSp>
      <p:grpSp>
        <p:nvGrpSpPr>
          <p:cNvPr id="30" name="Group 30"/>
          <p:cNvGrpSpPr/>
          <p:nvPr/>
        </p:nvGrpSpPr>
        <p:grpSpPr>
          <a:xfrm>
            <a:off x="10382250" y="1638300"/>
            <a:ext cx="1238250" cy="381000"/>
            <a:chOff x="10382250" y="1638300"/>
            <a:chExt cx="1238250" cy="381000"/>
          </a:xfrm>
        </p:grpSpPr>
        <p:sp>
          <p:nvSpPr>
            <p:cNvPr id="28" name="Rectangle 28"/>
            <p:cNvSpPr/>
            <p:nvPr/>
          </p:nvSpPr>
          <p:spPr>
            <a:xfrm>
              <a:off x="10382250" y="1638300"/>
              <a:ext cx="1238250" cy="381000"/>
            </a:xfrm>
            <a:prstGeom prst="roundRect">
              <a:avLst>
                <a:gd name="adj" fmla="val 50000"/>
              </a:avLst>
            </a:prstGeom>
            <a:solidFill>
              <a:srgbClr val="64748B"/>
            </a:solidFill>
            <a:ln>
              <a:noFill/>
            </a:ln>
          </p:spPr>
        </p:sp>
        <p:sp>
          <p:nvSpPr>
            <p:cNvPr id="29" name="TextBox 29"/>
            <p:cNvSpPr txBox="1"/>
            <p:nvPr/>
          </p:nvSpPr>
          <p:spPr>
            <a:xfrm>
              <a:off x="10595356" y="1740218"/>
              <a:ext cx="812039" cy="264033"/>
            </a:xfrm>
            <a:prstGeom prst="rect">
              <a:avLst/>
            </a:prstGeom>
            <a:noFill/>
            <a:ln>
              <a:noFill/>
            </a:ln>
          </p:spPr>
          <p:txBody>
            <a:bodyPr wrap="none" lIns="0" tIns="0" rIns="0" bIns="0" anchor="t" anchorCtr="0">
              <a:spAutoFit/>
            </a:bodyPr>
            <a:lstStyle/>
            <a:p>
              <a:pPr algn="ctr"/>
              <a:r>
                <a:rPr lang="vi-VN" sz="1350" b="1" dirty="0">
                  <a:solidFill>
                    <a:srgbClr val="FFFFFF"/>
                  </a:solidFill>
                  <a:latin typeface="+mn-lt"/>
                  <a:ea typeface="+mn-ea"/>
                  <a:cs typeface="+mn-cs"/>
                </a:rPr>
                <a:t>Nâng cao</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400"/>
                                        <p:tgtEl>
                                          <p:spTgt spid="15"/>
                                        </p:tgtEl>
                                      </p:cBhvr>
                                    </p:animEffect>
                                  </p:childTnLst>
                                </p:cTn>
                              </p:par>
                            </p:childTnLst>
                          </p:cTn>
                        </p:par>
                        <p:par>
                          <p:cTn id="8" fill="hold">
                            <p:stCondLst>
                              <p:cond delay="400"/>
                            </p:stCondLst>
                            <p:childTnLst>
                              <p:par>
                                <p:cTn id="9" presetID="22" presetClass="entr" presetSubtype="1" fill="hold" nodeType="afterEffect">
                                  <p:stCondLst>
                                    <p:cond delay="500"/>
                                  </p:stCondLst>
                                  <p:childTnLst>
                                    <p:set>
                                      <p:cBhvr>
                                        <p:cTn id="10" dur="1" fill="hold">
                                          <p:stCondLst>
                                            <p:cond delay="0"/>
                                          </p:stCondLst>
                                        </p:cTn>
                                        <p:tgtEl>
                                          <p:spTgt spid="19"/>
                                        </p:tgtEl>
                                        <p:attrNameLst>
                                          <p:attrName>style.visibility</p:attrName>
                                        </p:attrNameLst>
                                      </p:cBhvr>
                                      <p:to>
                                        <p:strVal val="visible"/>
                                      </p:to>
                                    </p:set>
                                    <p:animEffect transition="in" filter="wipe(up)">
                                      <p:cBhvr>
                                        <p:cTn id="11" dur="400"/>
                                        <p:tgtEl>
                                          <p:spTgt spid="19"/>
                                        </p:tgtEl>
                                      </p:cBhvr>
                                    </p:animEffect>
                                  </p:childTnLst>
                                </p:cTn>
                              </p:par>
                            </p:childTnLst>
                          </p:cTn>
                        </p:par>
                        <p:par>
                          <p:cTn id="12" fill="hold">
                            <p:stCondLst>
                              <p:cond delay="1300"/>
                            </p:stCondLst>
                            <p:childTnLst>
                              <p:par>
                                <p:cTn id="13" presetID="22" presetClass="entr" presetSubtype="1" fill="hold" nodeType="afterEffect">
                                  <p:stCondLst>
                                    <p:cond delay="500"/>
                                  </p:stCondLst>
                                  <p:childTnLst>
                                    <p:set>
                                      <p:cBhvr>
                                        <p:cTn id="14" dur="1" fill="hold">
                                          <p:stCondLst>
                                            <p:cond delay="0"/>
                                          </p:stCondLst>
                                        </p:cTn>
                                        <p:tgtEl>
                                          <p:spTgt spid="23"/>
                                        </p:tgtEl>
                                        <p:attrNameLst>
                                          <p:attrName>style.visibility</p:attrName>
                                        </p:attrNameLst>
                                      </p:cBhvr>
                                      <p:to>
                                        <p:strVal val="visible"/>
                                      </p:to>
                                    </p:set>
                                    <p:animEffect transition="in" filter="wipe(up)">
                                      <p:cBhvr>
                                        <p:cTn id="15" dur="400"/>
                                        <p:tgtEl>
                                          <p:spTgt spid="23"/>
                                        </p:tgtEl>
                                      </p:cBhvr>
                                    </p:animEffect>
                                  </p:childTnLst>
                                </p:cTn>
                              </p:par>
                            </p:childTnLst>
                          </p:cTn>
                        </p:par>
                        <p:par>
                          <p:cTn id="16" fill="hold">
                            <p:stCondLst>
                              <p:cond delay="2200"/>
                            </p:stCondLst>
                            <p:childTnLst>
                              <p:par>
                                <p:cTn id="17" presetID="22" presetClass="entr" presetSubtype="1" fill="hold" nodeType="afterEffect">
                                  <p:stCondLst>
                                    <p:cond delay="500"/>
                                  </p:stCondLst>
                                  <p:childTnLst>
                                    <p:set>
                                      <p:cBhvr>
                                        <p:cTn id="18" dur="1" fill="hold">
                                          <p:stCondLst>
                                            <p:cond delay="0"/>
                                          </p:stCondLst>
                                        </p:cTn>
                                        <p:tgtEl>
                                          <p:spTgt spid="27"/>
                                        </p:tgtEl>
                                        <p:attrNameLst>
                                          <p:attrName>style.visibility</p:attrName>
                                        </p:attrNameLst>
                                      </p:cBhvr>
                                      <p:to>
                                        <p:strVal val="visible"/>
                                      </p:to>
                                    </p:set>
                                    <p:animEffect transition="in" filter="wipe(up)">
                                      <p:cBhvr>
                                        <p:cTn id="19" dur="400"/>
                                        <p:tgtEl>
                                          <p:spTgt spid="27"/>
                                        </p:tgtEl>
                                      </p:cBhvr>
                                    </p:animEffect>
                                  </p:childTnLst>
                                </p:cTn>
                              </p:par>
                            </p:childTnLst>
                          </p:cTn>
                        </p:par>
                        <p:par>
                          <p:cTn id="20" fill="hold">
                            <p:stCondLst>
                              <p:cond delay="3100"/>
                            </p:stCondLst>
                            <p:childTnLst>
                              <p:par>
                                <p:cTn id="21" presetID="10" presetClass="entr" presetSubtype="0" fill="hold" nodeType="afterEffect">
                                  <p:stCondLst>
                                    <p:cond delay="50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2153239" cy="234696"/>
            <a:chOff x="381000" y="346710"/>
            <a:chExt cx="2153239" cy="234696"/>
          </a:xfrm>
        </p:grpSpPr>
        <p:sp>
          <p:nvSpPr>
            <p:cNvPr id="2" name="Rectangle 2"/>
            <p:cNvSpPr/>
            <p:nvPr/>
          </p:nvSpPr>
          <p:spPr>
            <a:xfrm>
              <a:off x="381000" y="361950"/>
              <a:ext cx="114300" cy="114300"/>
            </a:xfrm>
            <a:prstGeom prst="roundRect">
              <a:avLst>
                <a:gd name="adj" fmla="val 25000"/>
              </a:avLst>
            </a:prstGeom>
            <a:solidFill>
              <a:schemeClr val="accent1"/>
            </a:solidFill>
            <a:ln>
              <a:noFill/>
            </a:ln>
          </p:spPr>
        </p:sp>
        <p:sp>
          <p:nvSpPr>
            <p:cNvPr id="3" name="TextBox 3"/>
            <p:cNvSpPr txBox="1"/>
            <p:nvPr/>
          </p:nvSpPr>
          <p:spPr>
            <a:xfrm>
              <a:off x="584454" y="346710"/>
              <a:ext cx="1949785"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MỞ ĐẦU · TOÀN CẢNH</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chemeClr val="accent5"/>
            </a:solidFill>
            <a:ln>
              <a:noFill/>
            </a:ln>
          </p:spPr>
        </p:sp>
        <p:sp>
          <p:nvSpPr>
            <p:cNvPr id="6" name="Rectangle 6"/>
            <p:cNvSpPr/>
            <p:nvPr/>
          </p:nvSpPr>
          <p:spPr>
            <a:xfrm>
              <a:off x="7010400" y="304800"/>
              <a:ext cx="1143000" cy="114300"/>
            </a:xfrm>
            <a:prstGeom prst="roundRect">
              <a:avLst>
                <a:gd name="adj" fmla="val 25000"/>
              </a:avLst>
            </a:prstGeom>
            <a:solidFill>
              <a:schemeClr val="accent3"/>
            </a:solidFill>
            <a:ln>
              <a:noFill/>
            </a:ln>
          </p:spPr>
        </p:sp>
        <p:sp>
          <p:nvSpPr>
            <p:cNvPr id="7" name="Rectangle 7"/>
            <p:cNvSpPr/>
            <p:nvPr/>
          </p:nvSpPr>
          <p:spPr>
            <a:xfrm>
              <a:off x="8229600" y="266700"/>
              <a:ext cx="1143000" cy="152400"/>
            </a:xfrm>
            <a:prstGeom prst="roundRect">
              <a:avLst>
                <a:gd name="adj" fmla="val 18750"/>
              </a:avLst>
            </a:prstGeom>
            <a:solidFill>
              <a:srgbClr val="2E5E91"/>
            </a:solidFill>
            <a:ln>
              <a:noFill/>
            </a:ln>
          </p:spPr>
        </p:sp>
        <p:sp>
          <p:nvSpPr>
            <p:cNvPr id="8" name="Rectangle 8"/>
            <p:cNvSpPr/>
            <p:nvPr/>
          </p:nvSpPr>
          <p:spPr>
            <a:xfrm>
              <a:off x="9448800" y="228600"/>
              <a:ext cx="1143000" cy="190500"/>
            </a:xfrm>
            <a:prstGeom prst="roundRect">
              <a:avLst>
                <a:gd name="adj" fmla="val 15000"/>
              </a:avLst>
            </a:prstGeom>
            <a:solidFill>
              <a:schemeClr val="accent1"/>
            </a:solidFill>
            <a:ln>
              <a:noFill/>
            </a:ln>
          </p:spPr>
        </p:sp>
        <p:sp>
          <p:nvSpPr>
            <p:cNvPr id="9" name="Rectangle 9"/>
            <p:cNvSpPr/>
            <p:nvPr/>
          </p:nvSpPr>
          <p:spPr>
            <a:xfrm>
              <a:off x="10668000" y="190500"/>
              <a:ext cx="1143000" cy="228600"/>
            </a:xfrm>
            <a:prstGeom prst="roundRect">
              <a:avLst>
                <a:gd name="adj" fmla="val 12500"/>
              </a:avLst>
            </a:prstGeom>
            <a:solidFill>
              <a:srgbClr val="64748B"/>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8622078"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4 tầng, 4 buổi: mỗi tầng thêm cho ChatGPT</a:t>
            </a:r>
            <a:br/>
            <a:r>
              <a:rPr lang="vi-VN" sz="3150" b="1" dirty="0">
                <a:solidFill>
                  <a:schemeClr val="accent1"/>
                </a:solidFill>
                <a:latin typeface="+mn-lt"/>
                <a:ea typeface="+mn-ea"/>
                <a:cs typeface="+mn-cs"/>
              </a:rPr>
              <a:t>một năng lực mới</a:t>
            </a:r>
          </a:p>
        </p:txBody>
      </p:sp>
      <p:grpSp>
        <p:nvGrpSpPr>
          <p:cNvPr id="21" name="Group 21"/>
          <p:cNvGrpSpPr/>
          <p:nvPr/>
        </p:nvGrpSpPr>
        <p:grpSpPr>
          <a:xfrm>
            <a:off x="372618" y="3219450"/>
            <a:ext cx="2694432" cy="2099501"/>
            <a:chOff x="372618" y="3219450"/>
            <a:chExt cx="2694432" cy="2099501"/>
          </a:xfrm>
        </p:grpSpPr>
        <p:sp>
          <p:nvSpPr>
            <p:cNvPr id="17" name="Rectangle 17"/>
            <p:cNvSpPr/>
            <p:nvPr/>
          </p:nvSpPr>
          <p:spPr>
            <a:xfrm>
              <a:off x="381000" y="3219450"/>
              <a:ext cx="2686050" cy="419100"/>
            </a:xfrm>
            <a:prstGeom prst="roundRect">
              <a:avLst>
                <a:gd name="adj" fmla="val 27273"/>
              </a:avLst>
            </a:prstGeom>
            <a:solidFill>
              <a:schemeClr val="accent5"/>
            </a:solidFill>
            <a:ln>
              <a:noFill/>
            </a:ln>
          </p:spPr>
        </p:sp>
        <p:sp>
          <p:nvSpPr>
            <p:cNvPr id="18" name="TextBox 18"/>
            <p:cNvSpPr txBox="1"/>
            <p:nvPr/>
          </p:nvSpPr>
          <p:spPr>
            <a:xfrm>
              <a:off x="562356" y="3310890"/>
              <a:ext cx="1794930" cy="352044"/>
            </a:xfrm>
            <a:prstGeom prst="rect">
              <a:avLst/>
            </a:prstGeom>
            <a:noFill/>
            <a:ln>
              <a:noFill/>
            </a:ln>
          </p:spPr>
          <p:txBody>
            <a:bodyPr wrap="none" lIns="0" tIns="0" rIns="0" bIns="0" anchor="t" anchorCtr="0">
              <a:spAutoFit/>
            </a:bodyPr>
            <a:lstStyle/>
            <a:p>
              <a:pPr algn="l"/>
              <a:r>
                <a:rPr lang="vi-VN" sz="1800" b="1" dirty="0">
                  <a:solidFill>
                    <a:srgbClr val="FFFFFF"/>
                  </a:solidFill>
                  <a:latin typeface="+mn-lt"/>
                  <a:ea typeface="+mn-ea"/>
                  <a:cs typeface="+mn-cs"/>
                </a:rPr>
                <a:t>1 Instructions</a:t>
              </a:r>
            </a:p>
          </p:txBody>
        </p:sp>
        <p:sp>
          <p:nvSpPr>
            <p:cNvPr id="19" name="TextBox 19"/>
            <p:cNvSpPr txBox="1"/>
            <p:nvPr/>
          </p:nvSpPr>
          <p:spPr>
            <a:xfrm>
              <a:off x="372618" y="3822382"/>
              <a:ext cx="2583752"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dk1"/>
                  </a:solidFill>
                  <a:latin typeface="+mn-lt"/>
                  <a:ea typeface="+mn-ea"/>
                  <a:cs typeface="+mn-cs"/>
                </a:rPr>
                <a:t>ChatGPT biết “mình là ai”</a:t>
              </a:r>
              <a:br/>
              <a:r>
                <a:rPr lang="vi-VN" sz="1650" dirty="0">
                  <a:solidFill>
                    <a:schemeClr val="dk1"/>
                  </a:solidFill>
                  <a:latin typeface="+mn-lt"/>
                  <a:ea typeface="+mn-ea"/>
                  <a:cs typeface="+mn-cs"/>
                </a:rPr>
                <a:t>và luật chung, không phải</a:t>
              </a:r>
              <a:br/>
              <a:r>
                <a:rPr lang="vi-VN" sz="1650" dirty="0">
                  <a:solidFill>
                    <a:schemeClr val="dk1"/>
                  </a:solidFill>
                  <a:latin typeface="+mn-lt"/>
                  <a:ea typeface="+mn-ea"/>
                  <a:cs typeface="+mn-cs"/>
                </a:rPr>
                <a:t>dặn lại</a:t>
              </a:r>
            </a:p>
          </p:txBody>
        </p:sp>
        <p:sp>
          <p:nvSpPr>
            <p:cNvPr id="20" name="TextBox 20"/>
            <p:cNvSpPr txBox="1"/>
            <p:nvPr/>
          </p:nvSpPr>
          <p:spPr>
            <a:xfrm>
              <a:off x="374142" y="4826318"/>
              <a:ext cx="1856804" cy="492633"/>
            </a:xfrm>
            <a:prstGeom prst="rect">
              <a:avLst/>
            </a:prstGeom>
            <a:noFill/>
            <a:ln>
              <a:noFill/>
            </a:ln>
          </p:spPr>
          <p:txBody>
            <a:bodyPr wrap="none" lIns="0" tIns="0" rIns="0" bIns="0" anchor="t" anchorCtr="0">
              <a:spAutoFit/>
            </a:bodyPr>
            <a:lstStyle/>
            <a:p>
              <a:pPr algn="l">
                <a:lnSpc>
                  <a:spcPts val="1800"/>
                </a:lnSpc>
              </a:pPr>
              <a:r>
                <a:rPr lang="vi-VN" sz="1350" dirty="0">
                  <a:solidFill>
                    <a:srgbClr val="5B6675"/>
                  </a:solidFill>
                  <a:latin typeface="+mn-lt"/>
                  <a:ea typeface="+mn-ea"/>
                  <a:cs typeface="+mn-cs"/>
                </a:rPr>
                <a:t>Custom Instructions ·</a:t>
              </a:r>
              <a:br>
                <a:rPr dirty="0"/>
              </a:br>
              <a:r>
                <a:rPr lang="vi-VN" sz="1350" dirty="0">
                  <a:solidFill>
                    <a:srgbClr val="5B6675"/>
                  </a:solidFill>
                  <a:latin typeface="+mn-lt"/>
                  <a:ea typeface="+mn-ea"/>
                  <a:cs typeface="+mn-cs"/>
                </a:rPr>
                <a:t>Project · Memory</a:t>
              </a:r>
            </a:p>
          </p:txBody>
        </p:sp>
      </p:grpSp>
      <p:grpSp>
        <p:nvGrpSpPr>
          <p:cNvPr id="26" name="Group 26"/>
          <p:cNvGrpSpPr/>
          <p:nvPr/>
        </p:nvGrpSpPr>
        <p:grpSpPr>
          <a:xfrm>
            <a:off x="3287268" y="2933700"/>
            <a:ext cx="2694432" cy="2385251"/>
            <a:chOff x="3287268" y="2933700"/>
            <a:chExt cx="2694432" cy="2385251"/>
          </a:xfrm>
        </p:grpSpPr>
        <p:sp>
          <p:nvSpPr>
            <p:cNvPr id="22" name="Rectangle 22"/>
            <p:cNvSpPr/>
            <p:nvPr/>
          </p:nvSpPr>
          <p:spPr>
            <a:xfrm>
              <a:off x="3295650" y="2933700"/>
              <a:ext cx="2686050" cy="704850"/>
            </a:xfrm>
            <a:prstGeom prst="roundRect">
              <a:avLst>
                <a:gd name="adj" fmla="val 16216"/>
              </a:avLst>
            </a:prstGeom>
            <a:solidFill>
              <a:schemeClr val="accent3"/>
            </a:solidFill>
            <a:ln>
              <a:noFill/>
            </a:ln>
          </p:spPr>
        </p:sp>
        <p:sp>
          <p:nvSpPr>
            <p:cNvPr id="23" name="TextBox 23"/>
            <p:cNvSpPr txBox="1"/>
            <p:nvPr/>
          </p:nvSpPr>
          <p:spPr>
            <a:xfrm>
              <a:off x="3477006" y="3025140"/>
              <a:ext cx="1135508" cy="352044"/>
            </a:xfrm>
            <a:prstGeom prst="rect">
              <a:avLst/>
            </a:prstGeom>
            <a:noFill/>
            <a:ln>
              <a:noFill/>
            </a:ln>
          </p:spPr>
          <p:txBody>
            <a:bodyPr wrap="none" lIns="0" tIns="0" rIns="0" bIns="0" anchor="t" anchorCtr="0">
              <a:spAutoFit/>
            </a:bodyPr>
            <a:lstStyle/>
            <a:p>
              <a:pPr algn="l"/>
              <a:r>
                <a:rPr lang="vi-VN" sz="1800" b="1" dirty="0">
                  <a:solidFill>
                    <a:srgbClr val="FFFFFF"/>
                  </a:solidFill>
                  <a:latin typeface="+mn-lt"/>
                  <a:ea typeface="+mn-ea"/>
                  <a:cs typeface="+mn-cs"/>
                </a:rPr>
                <a:t>2 Prompt</a:t>
              </a:r>
            </a:p>
          </p:txBody>
        </p:sp>
        <p:sp>
          <p:nvSpPr>
            <p:cNvPr id="24" name="TextBox 24"/>
            <p:cNvSpPr txBox="1"/>
            <p:nvPr/>
          </p:nvSpPr>
          <p:spPr>
            <a:xfrm>
              <a:off x="3287268" y="3822382"/>
              <a:ext cx="2447544"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dk1"/>
                  </a:solidFill>
                  <a:latin typeface="+mn-lt"/>
                  <a:ea typeface="+mn-ea"/>
                  <a:cs typeface="+mn-cs"/>
                </a:rPr>
                <a:t>Giao đúng từng việc và</a:t>
              </a:r>
              <a:br/>
              <a:r>
                <a:rPr lang="vi-VN" sz="1650" dirty="0">
                  <a:solidFill>
                    <a:schemeClr val="dk1"/>
                  </a:solidFill>
                  <a:latin typeface="+mn-lt"/>
                  <a:ea typeface="+mn-ea"/>
                  <a:cs typeface="+mn-cs"/>
                </a:rPr>
                <a:t>kiểm chứng được kết quả</a:t>
              </a:r>
            </a:p>
          </p:txBody>
        </p:sp>
        <p:sp>
          <p:nvSpPr>
            <p:cNvPr id="25" name="TextBox 25"/>
            <p:cNvSpPr txBox="1"/>
            <p:nvPr/>
          </p:nvSpPr>
          <p:spPr>
            <a:xfrm>
              <a:off x="3288792" y="4826318"/>
              <a:ext cx="1402461" cy="492633"/>
            </a:xfrm>
            <a:prstGeom prst="rect">
              <a:avLst/>
            </a:prstGeom>
            <a:noFill/>
            <a:ln>
              <a:noFill/>
            </a:ln>
          </p:spPr>
          <p:txBody>
            <a:bodyPr wrap="none" lIns="0" tIns="0" rIns="0" bIns="0" anchor="t" anchorCtr="0">
              <a:spAutoFit/>
            </a:bodyPr>
            <a:lstStyle/>
            <a:p>
              <a:pPr algn="l">
                <a:lnSpc>
                  <a:spcPts val="1800"/>
                </a:lnSpc>
              </a:pPr>
              <a:r>
                <a:rPr lang="vi-VN" sz="1350" dirty="0">
                  <a:solidFill>
                    <a:srgbClr val="5B6675"/>
                  </a:solidFill>
                  <a:latin typeface="+mn-lt"/>
                  <a:ea typeface="+mn-ea"/>
                  <a:cs typeface="+mn-cs"/>
                </a:rPr>
                <a:t>Chat · tải file ·</a:t>
              </a:r>
              <a:br>
                <a:rPr dirty="0"/>
              </a:br>
              <a:r>
                <a:rPr lang="vi-VN" sz="1350" dirty="0">
                  <a:solidFill>
                    <a:srgbClr val="5B6675"/>
                  </a:solidFill>
                  <a:latin typeface="+mn-lt"/>
                  <a:ea typeface="+mn-ea"/>
                  <a:cs typeface="+mn-cs"/>
                </a:rPr>
                <a:t>phân tích dữ liệu</a:t>
              </a:r>
            </a:p>
          </p:txBody>
        </p:sp>
      </p:grpSp>
      <p:grpSp>
        <p:nvGrpSpPr>
          <p:cNvPr id="31" name="Group 31"/>
          <p:cNvGrpSpPr/>
          <p:nvPr/>
        </p:nvGrpSpPr>
        <p:grpSpPr>
          <a:xfrm>
            <a:off x="6201918" y="2647950"/>
            <a:ext cx="2694432" cy="2442401"/>
            <a:chOff x="6201918" y="2647950"/>
            <a:chExt cx="2694432" cy="2442401"/>
          </a:xfrm>
        </p:grpSpPr>
        <p:sp>
          <p:nvSpPr>
            <p:cNvPr id="27" name="Rectangle 27"/>
            <p:cNvSpPr/>
            <p:nvPr/>
          </p:nvSpPr>
          <p:spPr>
            <a:xfrm>
              <a:off x="6210300" y="2647950"/>
              <a:ext cx="2686050" cy="990600"/>
            </a:xfrm>
            <a:prstGeom prst="roundRect">
              <a:avLst>
                <a:gd name="adj" fmla="val 11538"/>
              </a:avLst>
            </a:prstGeom>
            <a:solidFill>
              <a:srgbClr val="2E5E91"/>
            </a:solidFill>
            <a:ln>
              <a:noFill/>
            </a:ln>
          </p:spPr>
        </p:sp>
        <p:sp>
          <p:nvSpPr>
            <p:cNvPr id="28" name="TextBox 28"/>
            <p:cNvSpPr txBox="1"/>
            <p:nvPr/>
          </p:nvSpPr>
          <p:spPr>
            <a:xfrm>
              <a:off x="6391656" y="2739390"/>
              <a:ext cx="751628" cy="352044"/>
            </a:xfrm>
            <a:prstGeom prst="rect">
              <a:avLst/>
            </a:prstGeom>
            <a:noFill/>
            <a:ln>
              <a:noFill/>
            </a:ln>
          </p:spPr>
          <p:txBody>
            <a:bodyPr wrap="none" lIns="0" tIns="0" rIns="0" bIns="0" anchor="t" anchorCtr="0">
              <a:spAutoFit/>
            </a:bodyPr>
            <a:lstStyle/>
            <a:p>
              <a:pPr algn="l"/>
              <a:r>
                <a:rPr lang="vi-VN" sz="1800" b="1" dirty="0">
                  <a:solidFill>
                    <a:srgbClr val="FFFFFF"/>
                  </a:solidFill>
                  <a:latin typeface="+mn-lt"/>
                  <a:ea typeface="+mn-ea"/>
                  <a:cs typeface="+mn-cs"/>
                </a:rPr>
                <a:t>3 Skill</a:t>
              </a:r>
            </a:p>
          </p:txBody>
        </p:sp>
        <p:sp>
          <p:nvSpPr>
            <p:cNvPr id="29" name="TextBox 29"/>
            <p:cNvSpPr txBox="1"/>
            <p:nvPr/>
          </p:nvSpPr>
          <p:spPr>
            <a:xfrm>
              <a:off x="6201918" y="3822382"/>
              <a:ext cx="2196084"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dk1"/>
                  </a:solidFill>
                  <a:latin typeface="+mn-lt"/>
                  <a:ea typeface="+mn-ea"/>
                  <a:cs typeface="+mn-cs"/>
                </a:rPr>
                <a:t>Biến việc lặp lại thành</a:t>
              </a:r>
              <a:br/>
              <a:r>
                <a:rPr lang="vi-VN" sz="1650" dirty="0">
                  <a:solidFill>
                    <a:schemeClr val="dk1"/>
                  </a:solidFill>
                  <a:latin typeface="+mn-lt"/>
                  <a:ea typeface="+mn-ea"/>
                  <a:cs typeface="+mn-cs"/>
                </a:rPr>
                <a:t>quy trình chuẩn,</a:t>
              </a:r>
              <a:br/>
              <a:r>
                <a:rPr lang="vi-VN" sz="1650" dirty="0">
                  <a:solidFill>
                    <a:schemeClr val="dk1"/>
                  </a:solidFill>
                  <a:latin typeface="+mn-lt"/>
                  <a:ea typeface="+mn-ea"/>
                  <a:cs typeface="+mn-cs"/>
                </a:rPr>
                <a:t>gọi lại được</a:t>
              </a:r>
            </a:p>
          </p:txBody>
        </p:sp>
        <p:sp>
          <p:nvSpPr>
            <p:cNvPr id="30" name="TextBox 30"/>
            <p:cNvSpPr txBox="1"/>
            <p:nvPr/>
          </p:nvSpPr>
          <p:spPr>
            <a:xfrm>
              <a:off x="6203442" y="4826318"/>
              <a:ext cx="481517" cy="264033"/>
            </a:xfrm>
            <a:prstGeom prst="rect">
              <a:avLst/>
            </a:prstGeom>
            <a:noFill/>
            <a:ln>
              <a:noFill/>
            </a:ln>
          </p:spPr>
          <p:txBody>
            <a:bodyPr wrap="none" lIns="0" tIns="0" rIns="0" bIns="0" anchor="t" anchorCtr="0">
              <a:spAutoFit/>
            </a:bodyPr>
            <a:lstStyle/>
            <a:p>
              <a:pPr algn="l"/>
              <a:r>
                <a:rPr lang="vi-VN" sz="1350" dirty="0">
                  <a:solidFill>
                    <a:srgbClr val="5B6675"/>
                  </a:solidFill>
                  <a:latin typeface="+mn-lt"/>
                  <a:ea typeface="+mn-ea"/>
                  <a:cs typeface="+mn-cs"/>
                </a:rPr>
                <a:t>Skills</a:t>
              </a:r>
            </a:p>
          </p:txBody>
        </p:sp>
      </p:grpSp>
      <p:grpSp>
        <p:nvGrpSpPr>
          <p:cNvPr id="36" name="Group 36"/>
          <p:cNvGrpSpPr/>
          <p:nvPr/>
        </p:nvGrpSpPr>
        <p:grpSpPr>
          <a:xfrm>
            <a:off x="9116568" y="2362200"/>
            <a:ext cx="2694432" cy="2956751"/>
            <a:chOff x="9116568" y="2362200"/>
            <a:chExt cx="2694432" cy="2956751"/>
          </a:xfrm>
        </p:grpSpPr>
        <p:sp>
          <p:nvSpPr>
            <p:cNvPr id="32" name="Rectangle 32"/>
            <p:cNvSpPr/>
            <p:nvPr/>
          </p:nvSpPr>
          <p:spPr>
            <a:xfrm>
              <a:off x="9124950" y="2362200"/>
              <a:ext cx="2686050" cy="1276350"/>
            </a:xfrm>
            <a:prstGeom prst="roundRect">
              <a:avLst>
                <a:gd name="adj" fmla="val 8955"/>
              </a:avLst>
            </a:prstGeom>
            <a:solidFill>
              <a:schemeClr val="accent1"/>
            </a:solidFill>
            <a:ln>
              <a:noFill/>
            </a:ln>
          </p:spPr>
        </p:sp>
        <p:sp>
          <p:nvSpPr>
            <p:cNvPr id="33" name="TextBox 33"/>
            <p:cNvSpPr txBox="1"/>
            <p:nvPr/>
          </p:nvSpPr>
          <p:spPr>
            <a:xfrm>
              <a:off x="9306306" y="2453640"/>
              <a:ext cx="955725" cy="352044"/>
            </a:xfrm>
            <a:prstGeom prst="rect">
              <a:avLst/>
            </a:prstGeom>
            <a:noFill/>
            <a:ln>
              <a:noFill/>
            </a:ln>
          </p:spPr>
          <p:txBody>
            <a:bodyPr wrap="none" lIns="0" tIns="0" rIns="0" bIns="0" anchor="t" anchorCtr="0">
              <a:spAutoFit/>
            </a:bodyPr>
            <a:lstStyle/>
            <a:p>
              <a:pPr algn="l"/>
              <a:r>
                <a:rPr lang="vi-VN" sz="1800" b="1" dirty="0">
                  <a:solidFill>
                    <a:srgbClr val="FFFFFF"/>
                  </a:solidFill>
                  <a:latin typeface="+mn-lt"/>
                  <a:ea typeface="+mn-ea"/>
                  <a:cs typeface="+mn-cs"/>
                </a:rPr>
                <a:t>4 Plugin</a:t>
              </a:r>
            </a:p>
          </p:txBody>
        </p:sp>
        <p:sp>
          <p:nvSpPr>
            <p:cNvPr id="34" name="TextBox 34"/>
            <p:cNvSpPr txBox="1"/>
            <p:nvPr/>
          </p:nvSpPr>
          <p:spPr>
            <a:xfrm>
              <a:off x="9116568" y="3822382"/>
              <a:ext cx="2636139"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dk1"/>
                  </a:solidFill>
                  <a:latin typeface="+mn-lt"/>
                  <a:ea typeface="+mn-ea"/>
                  <a:cs typeface="+mn-cs"/>
                </a:rPr>
                <a:t>Nối ChatGPT vào ứng dụng,</a:t>
              </a:r>
              <a:br/>
              <a:r>
                <a:rPr lang="vi-VN" sz="1650" dirty="0">
                  <a:solidFill>
                    <a:schemeClr val="dk1"/>
                  </a:solidFill>
                  <a:latin typeface="+mn-lt"/>
                  <a:ea typeface="+mn-ea"/>
                  <a:cs typeface="+mn-cs"/>
                </a:rPr>
                <a:t>đóng gói bộ công cụ</a:t>
              </a:r>
              <a:br/>
              <a:r>
                <a:rPr lang="vi-VN" sz="1650" dirty="0">
                  <a:solidFill>
                    <a:schemeClr val="dk1"/>
                  </a:solidFill>
                  <a:latin typeface="+mn-lt"/>
                  <a:ea typeface="+mn-ea"/>
                  <a:cs typeface="+mn-cs"/>
                </a:rPr>
                <a:t>của phòng</a:t>
              </a:r>
            </a:p>
          </p:txBody>
        </p:sp>
        <p:sp>
          <p:nvSpPr>
            <p:cNvPr id="35" name="TextBox 35"/>
            <p:cNvSpPr txBox="1"/>
            <p:nvPr/>
          </p:nvSpPr>
          <p:spPr>
            <a:xfrm>
              <a:off x="9118092" y="4826318"/>
              <a:ext cx="2053971" cy="492633"/>
            </a:xfrm>
            <a:prstGeom prst="rect">
              <a:avLst/>
            </a:prstGeom>
            <a:noFill/>
            <a:ln>
              <a:noFill/>
            </a:ln>
          </p:spPr>
          <p:txBody>
            <a:bodyPr wrap="none" lIns="0" tIns="0" rIns="0" bIns="0" anchor="t" anchorCtr="0">
              <a:spAutoFit/>
            </a:bodyPr>
            <a:lstStyle/>
            <a:p>
              <a:pPr algn="l">
                <a:lnSpc>
                  <a:spcPts val="1800"/>
                </a:lnSpc>
              </a:pPr>
              <a:r>
                <a:rPr lang="vi-VN" sz="1350" dirty="0">
                  <a:solidFill>
                    <a:srgbClr val="5B6675"/>
                  </a:solidFill>
                  <a:latin typeface="+mn-lt"/>
                  <a:ea typeface="+mn-ea"/>
                  <a:cs typeface="+mn-cs"/>
                </a:rPr>
                <a:t>Plugins · ChatGPT Work ·</a:t>
              </a:r>
              <a:br>
                <a:rPr dirty="0"/>
              </a:br>
              <a:r>
                <a:rPr lang="vi-VN" sz="1350" dirty="0">
                  <a:solidFill>
                    <a:srgbClr val="5B6675"/>
                  </a:solidFill>
                  <a:latin typeface="+mn-lt"/>
                  <a:ea typeface="+mn-ea"/>
                  <a:cs typeface="+mn-cs"/>
                </a:rPr>
                <a:t>Scheduled tasks</a:t>
              </a:r>
            </a:p>
          </p:txBody>
        </p:sp>
      </p:grpSp>
      <p:grpSp>
        <p:nvGrpSpPr>
          <p:cNvPr id="39" name="Group 39"/>
          <p:cNvGrpSpPr/>
          <p:nvPr/>
        </p:nvGrpSpPr>
        <p:grpSpPr>
          <a:xfrm>
            <a:off x="10382250" y="1943100"/>
            <a:ext cx="1428750" cy="324231"/>
            <a:chOff x="10382250" y="1943100"/>
            <a:chExt cx="1428750" cy="324231"/>
          </a:xfrm>
        </p:grpSpPr>
        <p:sp>
          <p:nvSpPr>
            <p:cNvPr id="37" name="Rectangle 37"/>
            <p:cNvSpPr/>
            <p:nvPr/>
          </p:nvSpPr>
          <p:spPr>
            <a:xfrm>
              <a:off x="10382250" y="1943100"/>
              <a:ext cx="1428750" cy="323850"/>
            </a:xfrm>
            <a:prstGeom prst="roundRect">
              <a:avLst>
                <a:gd name="adj" fmla="val 50000"/>
              </a:avLst>
            </a:prstGeom>
            <a:solidFill>
              <a:srgbClr val="64748B"/>
            </a:solidFill>
            <a:ln>
              <a:noFill/>
            </a:ln>
          </p:spPr>
        </p:sp>
        <p:sp>
          <p:nvSpPr>
            <p:cNvPr id="38" name="TextBox 38"/>
            <p:cNvSpPr txBox="1"/>
            <p:nvPr/>
          </p:nvSpPr>
          <p:spPr>
            <a:xfrm>
              <a:off x="10663047" y="2032635"/>
              <a:ext cx="867156"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mn-lt"/>
                  <a:ea typeface="+mn-ea"/>
                  <a:cs typeface="+mn-cs"/>
                </a:rPr>
                <a:t>+ Nâng cao</a:t>
              </a:r>
            </a:p>
          </p:txBody>
        </p:sp>
      </p:grpSp>
      <p:sp>
        <p:nvSpPr>
          <p:cNvPr id="54" name="TextBox 54"/>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55" name="TextBox 55"/>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02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3401822" cy="234696"/>
            <a:chOff x="381000" y="346710"/>
            <a:chExt cx="3401822" cy="234696"/>
          </a:xfrm>
        </p:grpSpPr>
        <p:sp>
          <p:nvSpPr>
            <p:cNvPr id="2" name="Rectangle 2"/>
            <p:cNvSpPr/>
            <p:nvPr/>
          </p:nvSpPr>
          <p:spPr>
            <a:xfrm>
              <a:off x="381000" y="361950"/>
              <a:ext cx="114300" cy="114300"/>
            </a:xfrm>
            <a:prstGeom prst="roundRect">
              <a:avLst>
                <a:gd name="adj" fmla="val 25000"/>
              </a:avLst>
            </a:prstGeom>
            <a:solidFill>
              <a:schemeClr val="accent1"/>
            </a:solidFill>
            <a:ln>
              <a:noFill/>
            </a:ln>
          </p:spPr>
        </p:sp>
        <p:sp>
          <p:nvSpPr>
            <p:cNvPr id="3" name="TextBox 3"/>
            <p:cNvSpPr txBox="1"/>
            <p:nvPr/>
          </p:nvSpPr>
          <p:spPr>
            <a:xfrm>
              <a:off x="584454" y="346710"/>
              <a:ext cx="3198368"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MỞ ĐẦU · CÂU CHUYỆN XUYÊN SUỐT</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chemeClr val="accent5"/>
            </a:solidFill>
            <a:ln>
              <a:noFill/>
            </a:ln>
          </p:spPr>
        </p:sp>
        <p:sp>
          <p:nvSpPr>
            <p:cNvPr id="6" name="Rectangle 6"/>
            <p:cNvSpPr/>
            <p:nvPr/>
          </p:nvSpPr>
          <p:spPr>
            <a:xfrm>
              <a:off x="7010400" y="304800"/>
              <a:ext cx="1143000" cy="114300"/>
            </a:xfrm>
            <a:prstGeom prst="roundRect">
              <a:avLst>
                <a:gd name="adj" fmla="val 25000"/>
              </a:avLst>
            </a:prstGeom>
            <a:solidFill>
              <a:schemeClr val="accent3"/>
            </a:solidFill>
            <a:ln>
              <a:noFill/>
            </a:ln>
          </p:spPr>
        </p:sp>
        <p:sp>
          <p:nvSpPr>
            <p:cNvPr id="7" name="Rectangle 7"/>
            <p:cNvSpPr/>
            <p:nvPr/>
          </p:nvSpPr>
          <p:spPr>
            <a:xfrm>
              <a:off x="8229600" y="266700"/>
              <a:ext cx="1143000" cy="152400"/>
            </a:xfrm>
            <a:prstGeom prst="roundRect">
              <a:avLst>
                <a:gd name="adj" fmla="val 18750"/>
              </a:avLst>
            </a:prstGeom>
            <a:solidFill>
              <a:srgbClr val="2E5E91"/>
            </a:solidFill>
            <a:ln>
              <a:noFill/>
            </a:ln>
          </p:spPr>
        </p:sp>
        <p:sp>
          <p:nvSpPr>
            <p:cNvPr id="8" name="Rectangle 8"/>
            <p:cNvSpPr/>
            <p:nvPr/>
          </p:nvSpPr>
          <p:spPr>
            <a:xfrm>
              <a:off x="9448800" y="228600"/>
              <a:ext cx="1143000" cy="190500"/>
            </a:xfrm>
            <a:prstGeom prst="roundRect">
              <a:avLst>
                <a:gd name="adj" fmla="val 15000"/>
              </a:avLst>
            </a:prstGeom>
            <a:solidFill>
              <a:schemeClr val="accent1"/>
            </a:solidFill>
            <a:ln>
              <a:noFill/>
            </a:ln>
          </p:spPr>
        </p:sp>
        <p:sp>
          <p:nvSpPr>
            <p:cNvPr id="9" name="Rectangle 9"/>
            <p:cNvSpPr/>
            <p:nvPr/>
          </p:nvSpPr>
          <p:spPr>
            <a:xfrm>
              <a:off x="10668000" y="190500"/>
              <a:ext cx="1143000" cy="228600"/>
            </a:xfrm>
            <a:prstGeom prst="roundRect">
              <a:avLst>
                <a:gd name="adj" fmla="val 12500"/>
              </a:avLst>
            </a:prstGeom>
            <a:solidFill>
              <a:srgbClr val="64748B"/>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9042130"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Coi ChatGPT là nhân viên mới rất giỏi:</a:t>
            </a:r>
            <a:br/>
            <a:r>
              <a:rPr lang="vi-VN" sz="3150" b="1" dirty="0">
                <a:solidFill>
                  <a:schemeClr val="accent1"/>
                </a:solidFill>
                <a:latin typeface="+mn-lt"/>
                <a:ea typeface="+mn-ea"/>
                <a:cs typeface="+mn-cs"/>
              </a:rPr>
              <a:t>dạy đúng 4 bước như khi nhận người vào phòng</a:t>
            </a:r>
          </a:p>
        </p:txBody>
      </p:sp>
      <p:grpSp>
        <p:nvGrpSpPr>
          <p:cNvPr id="19" name="Group 19"/>
          <p:cNvGrpSpPr/>
          <p:nvPr/>
        </p:nvGrpSpPr>
        <p:grpSpPr>
          <a:xfrm>
            <a:off x="870204" y="2156460"/>
            <a:ext cx="4771156" cy="234696"/>
            <a:chOff x="870204" y="2156460"/>
            <a:chExt cx="4771156" cy="234696"/>
          </a:xfrm>
        </p:grpSpPr>
        <p:sp>
          <p:nvSpPr>
            <p:cNvPr id="17" name="TextBox 17"/>
            <p:cNvSpPr txBox="1"/>
            <p:nvPr/>
          </p:nvSpPr>
          <p:spPr>
            <a:xfrm>
              <a:off x="870204" y="2156460"/>
              <a:ext cx="1625620"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VỚI NHÂN VIÊN MỚI</a:t>
              </a:r>
            </a:p>
          </p:txBody>
        </p:sp>
        <p:sp>
          <p:nvSpPr>
            <p:cNvPr id="18" name="TextBox 18"/>
            <p:cNvSpPr txBox="1"/>
            <p:nvPr/>
          </p:nvSpPr>
          <p:spPr>
            <a:xfrm>
              <a:off x="4527804" y="2156460"/>
              <a:ext cx="1113556"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VỚI CHATGPT</a:t>
              </a:r>
            </a:p>
          </p:txBody>
        </p:sp>
      </p:grpSp>
      <p:grpSp>
        <p:nvGrpSpPr>
          <p:cNvPr id="26" name="Group 26"/>
          <p:cNvGrpSpPr/>
          <p:nvPr/>
        </p:nvGrpSpPr>
        <p:grpSpPr>
          <a:xfrm>
            <a:off x="381000" y="2438400"/>
            <a:ext cx="7810500" cy="800100"/>
            <a:chOff x="381000" y="2438400"/>
            <a:chExt cx="7810500" cy="800100"/>
          </a:xfrm>
        </p:grpSpPr>
        <p:sp>
          <p:nvSpPr>
            <p:cNvPr id="20" name="Ellipse 20"/>
            <p:cNvSpPr/>
            <p:nvPr/>
          </p:nvSpPr>
          <p:spPr>
            <a:xfrm>
              <a:off x="381000" y="2647950"/>
              <a:ext cx="381000" cy="381000"/>
            </a:xfrm>
            <a:prstGeom prst="ellipse">
              <a:avLst/>
            </a:prstGeom>
            <a:solidFill>
              <a:schemeClr val="accent5"/>
            </a:solidFill>
            <a:ln>
              <a:noFill/>
            </a:ln>
          </p:spPr>
        </p:sp>
        <p:sp>
          <p:nvSpPr>
            <p:cNvPr id="21" name="TextBox 21"/>
            <p:cNvSpPr txBox="1"/>
            <p:nvPr/>
          </p:nvSpPr>
          <p:spPr>
            <a:xfrm>
              <a:off x="505573" y="274320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1</a:t>
              </a:r>
            </a:p>
          </p:txBody>
        </p:sp>
        <p:sp>
          <p:nvSpPr>
            <p:cNvPr id="22" name="Rectangle 22"/>
            <p:cNvSpPr/>
            <p:nvPr/>
          </p:nvSpPr>
          <p:spPr>
            <a:xfrm>
              <a:off x="876300" y="2438400"/>
              <a:ext cx="3543300" cy="800100"/>
            </a:xfrm>
            <a:prstGeom prst="roundRect">
              <a:avLst>
                <a:gd name="adj" fmla="val 14286"/>
              </a:avLst>
            </a:prstGeom>
            <a:solidFill>
              <a:schemeClr val="lt2"/>
            </a:solidFill>
            <a:ln>
              <a:noFill/>
            </a:ln>
          </p:spPr>
        </p:sp>
        <p:sp>
          <p:nvSpPr>
            <p:cNvPr id="23" name="TextBox 23"/>
            <p:cNvSpPr txBox="1"/>
            <p:nvPr/>
          </p:nvSpPr>
          <p:spPr>
            <a:xfrm>
              <a:off x="1058418" y="2736532"/>
              <a:ext cx="3101460"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Phát hồ sơ nhập môn, nội quy</a:t>
              </a:r>
            </a:p>
          </p:txBody>
        </p:sp>
        <p:sp>
          <p:nvSpPr>
            <p:cNvPr id="24" name="Rectangle 24"/>
            <p:cNvSpPr/>
            <p:nvPr/>
          </p:nvSpPr>
          <p:spPr>
            <a:xfrm>
              <a:off x="4533900" y="2438400"/>
              <a:ext cx="3657600" cy="800100"/>
            </a:xfrm>
            <a:prstGeom prst="roundRect">
              <a:avLst>
                <a:gd name="adj" fmla="val 14286"/>
              </a:avLst>
            </a:prstGeom>
            <a:solidFill>
              <a:schemeClr val="lt1"/>
            </a:solidFill>
            <a:ln w="14288">
              <a:solidFill>
                <a:schemeClr val="accent4"/>
              </a:solidFill>
            </a:ln>
          </p:spPr>
        </p:sp>
        <p:sp>
          <p:nvSpPr>
            <p:cNvPr id="25" name="TextBox 25"/>
            <p:cNvSpPr txBox="1"/>
            <p:nvPr/>
          </p:nvSpPr>
          <p:spPr>
            <a:xfrm>
              <a:off x="4716018" y="2603182"/>
              <a:ext cx="2017967"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dk1"/>
                  </a:solidFill>
                  <a:latin typeface="+mn-lt"/>
                  <a:ea typeface="+mn-ea"/>
                  <a:cs typeface="+mn-cs"/>
                </a:rPr>
                <a:t>Khai báo một lần:</a:t>
              </a:r>
              <a:br/>
              <a:r>
                <a:rPr lang="vi-VN" sz="1650" dirty="0">
                  <a:solidFill>
                    <a:schemeClr val="dk1"/>
                  </a:solidFill>
                  <a:latin typeface="+mn-lt"/>
                  <a:ea typeface="+mn-ea"/>
                  <a:cs typeface="+mn-cs"/>
                </a:rPr>
                <a:t>tôi là ai, luật chung</a:t>
              </a:r>
            </a:p>
          </p:txBody>
        </p:sp>
      </p:grpSp>
      <p:grpSp>
        <p:nvGrpSpPr>
          <p:cNvPr id="33" name="Group 33"/>
          <p:cNvGrpSpPr/>
          <p:nvPr/>
        </p:nvGrpSpPr>
        <p:grpSpPr>
          <a:xfrm>
            <a:off x="381000" y="3333750"/>
            <a:ext cx="7810500" cy="800100"/>
            <a:chOff x="381000" y="3333750"/>
            <a:chExt cx="7810500" cy="800100"/>
          </a:xfrm>
        </p:grpSpPr>
        <p:sp>
          <p:nvSpPr>
            <p:cNvPr id="27" name="Ellipse 27"/>
            <p:cNvSpPr/>
            <p:nvPr/>
          </p:nvSpPr>
          <p:spPr>
            <a:xfrm>
              <a:off x="381000" y="3543300"/>
              <a:ext cx="381000" cy="381000"/>
            </a:xfrm>
            <a:prstGeom prst="ellipse">
              <a:avLst/>
            </a:prstGeom>
            <a:solidFill>
              <a:schemeClr val="accent3"/>
            </a:solidFill>
            <a:ln>
              <a:noFill/>
            </a:ln>
          </p:spPr>
        </p:sp>
        <p:sp>
          <p:nvSpPr>
            <p:cNvPr id="28" name="TextBox 28"/>
            <p:cNvSpPr txBox="1"/>
            <p:nvPr/>
          </p:nvSpPr>
          <p:spPr>
            <a:xfrm>
              <a:off x="505573" y="363855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2</a:t>
              </a:r>
            </a:p>
          </p:txBody>
        </p:sp>
        <p:sp>
          <p:nvSpPr>
            <p:cNvPr id="29" name="Rectangle 29"/>
            <p:cNvSpPr/>
            <p:nvPr/>
          </p:nvSpPr>
          <p:spPr>
            <a:xfrm>
              <a:off x="876300" y="3333750"/>
              <a:ext cx="3543300" cy="800100"/>
            </a:xfrm>
            <a:prstGeom prst="roundRect">
              <a:avLst>
                <a:gd name="adj" fmla="val 14286"/>
              </a:avLst>
            </a:prstGeom>
            <a:solidFill>
              <a:schemeClr val="lt2"/>
            </a:solidFill>
            <a:ln>
              <a:noFill/>
            </a:ln>
          </p:spPr>
        </p:sp>
        <p:sp>
          <p:nvSpPr>
            <p:cNvPr id="30" name="TextBox 30"/>
            <p:cNvSpPr txBox="1"/>
            <p:nvPr/>
          </p:nvSpPr>
          <p:spPr>
            <a:xfrm>
              <a:off x="1058418" y="3631882"/>
              <a:ext cx="3000537"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Giao việc bằng phiếu rõ ràng</a:t>
              </a:r>
            </a:p>
          </p:txBody>
        </p:sp>
        <p:sp>
          <p:nvSpPr>
            <p:cNvPr id="31" name="Rectangle 31"/>
            <p:cNvSpPr/>
            <p:nvPr/>
          </p:nvSpPr>
          <p:spPr>
            <a:xfrm>
              <a:off x="4533900" y="3333750"/>
              <a:ext cx="3657600" cy="800100"/>
            </a:xfrm>
            <a:prstGeom prst="roundRect">
              <a:avLst>
                <a:gd name="adj" fmla="val 14286"/>
              </a:avLst>
            </a:prstGeom>
            <a:solidFill>
              <a:schemeClr val="lt1"/>
            </a:solidFill>
            <a:ln w="14288">
              <a:solidFill>
                <a:schemeClr val="accent4"/>
              </a:solidFill>
            </a:ln>
          </p:spPr>
        </p:sp>
        <p:sp>
          <p:nvSpPr>
            <p:cNvPr id="32" name="TextBox 32"/>
            <p:cNvSpPr txBox="1"/>
            <p:nvPr/>
          </p:nvSpPr>
          <p:spPr>
            <a:xfrm>
              <a:off x="4716018" y="3631882"/>
              <a:ext cx="3367599"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Giao việc theo công thức 4 phần</a:t>
              </a:r>
            </a:p>
          </p:txBody>
        </p:sp>
      </p:grpSp>
      <p:grpSp>
        <p:nvGrpSpPr>
          <p:cNvPr id="40" name="Group 40"/>
          <p:cNvGrpSpPr/>
          <p:nvPr/>
        </p:nvGrpSpPr>
        <p:grpSpPr>
          <a:xfrm>
            <a:off x="381000" y="4229100"/>
            <a:ext cx="7810500" cy="800100"/>
            <a:chOff x="381000" y="4229100"/>
            <a:chExt cx="7810500" cy="800100"/>
          </a:xfrm>
        </p:grpSpPr>
        <p:sp>
          <p:nvSpPr>
            <p:cNvPr id="34" name="Ellipse 34"/>
            <p:cNvSpPr/>
            <p:nvPr/>
          </p:nvSpPr>
          <p:spPr>
            <a:xfrm>
              <a:off x="381000" y="4438650"/>
              <a:ext cx="381000" cy="381000"/>
            </a:xfrm>
            <a:prstGeom prst="ellipse">
              <a:avLst/>
            </a:prstGeom>
            <a:solidFill>
              <a:srgbClr val="2E5E91"/>
            </a:solidFill>
            <a:ln>
              <a:noFill/>
            </a:ln>
          </p:spPr>
        </p:sp>
        <p:sp>
          <p:nvSpPr>
            <p:cNvPr id="35" name="TextBox 35"/>
            <p:cNvSpPr txBox="1"/>
            <p:nvPr/>
          </p:nvSpPr>
          <p:spPr>
            <a:xfrm>
              <a:off x="505573" y="453390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3</a:t>
              </a:r>
            </a:p>
          </p:txBody>
        </p:sp>
        <p:sp>
          <p:nvSpPr>
            <p:cNvPr id="36" name="Rectangle 36"/>
            <p:cNvSpPr/>
            <p:nvPr/>
          </p:nvSpPr>
          <p:spPr>
            <a:xfrm>
              <a:off x="876300" y="4229100"/>
              <a:ext cx="3543300" cy="800100"/>
            </a:xfrm>
            <a:prstGeom prst="roundRect">
              <a:avLst>
                <a:gd name="adj" fmla="val 14286"/>
              </a:avLst>
            </a:prstGeom>
            <a:solidFill>
              <a:schemeClr val="lt2"/>
            </a:solidFill>
            <a:ln>
              <a:noFill/>
            </a:ln>
          </p:spPr>
        </p:sp>
        <p:sp>
          <p:nvSpPr>
            <p:cNvPr id="37" name="TextBox 37"/>
            <p:cNvSpPr txBox="1"/>
            <p:nvPr/>
          </p:nvSpPr>
          <p:spPr>
            <a:xfrm>
              <a:off x="1058418" y="4527232"/>
              <a:ext cx="3234011"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Dán quy trình chuẩn lên tường</a:t>
              </a:r>
            </a:p>
          </p:txBody>
        </p:sp>
        <p:sp>
          <p:nvSpPr>
            <p:cNvPr id="38" name="Rectangle 38"/>
            <p:cNvSpPr/>
            <p:nvPr/>
          </p:nvSpPr>
          <p:spPr>
            <a:xfrm>
              <a:off x="4533900" y="4229100"/>
              <a:ext cx="3657600" cy="800100"/>
            </a:xfrm>
            <a:prstGeom prst="roundRect">
              <a:avLst>
                <a:gd name="adj" fmla="val 14286"/>
              </a:avLst>
            </a:prstGeom>
            <a:solidFill>
              <a:schemeClr val="lt1"/>
            </a:solidFill>
            <a:ln w="14288">
              <a:solidFill>
                <a:schemeClr val="accent4"/>
              </a:solidFill>
            </a:ln>
          </p:spPr>
        </p:sp>
        <p:sp>
          <p:nvSpPr>
            <p:cNvPr id="39" name="TextBox 39"/>
            <p:cNvSpPr txBox="1"/>
            <p:nvPr/>
          </p:nvSpPr>
          <p:spPr>
            <a:xfrm>
              <a:off x="4716018" y="4527232"/>
              <a:ext cx="3189183"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Đóng gói quy trình thành skill</a:t>
              </a:r>
            </a:p>
          </p:txBody>
        </p:sp>
      </p:grpSp>
      <p:grpSp>
        <p:nvGrpSpPr>
          <p:cNvPr id="47" name="Group 47"/>
          <p:cNvGrpSpPr/>
          <p:nvPr/>
        </p:nvGrpSpPr>
        <p:grpSpPr>
          <a:xfrm>
            <a:off x="381000" y="5124450"/>
            <a:ext cx="7810500" cy="800100"/>
            <a:chOff x="381000" y="5124450"/>
            <a:chExt cx="7810500" cy="800100"/>
          </a:xfrm>
        </p:grpSpPr>
        <p:sp>
          <p:nvSpPr>
            <p:cNvPr id="41" name="Ellipse 41"/>
            <p:cNvSpPr/>
            <p:nvPr/>
          </p:nvSpPr>
          <p:spPr>
            <a:xfrm>
              <a:off x="381000" y="5334000"/>
              <a:ext cx="381000" cy="381000"/>
            </a:xfrm>
            <a:prstGeom prst="ellipse">
              <a:avLst/>
            </a:prstGeom>
            <a:solidFill>
              <a:schemeClr val="accent1"/>
            </a:solidFill>
            <a:ln>
              <a:noFill/>
            </a:ln>
          </p:spPr>
        </p:sp>
        <p:sp>
          <p:nvSpPr>
            <p:cNvPr id="42" name="TextBox 42"/>
            <p:cNvSpPr txBox="1"/>
            <p:nvPr/>
          </p:nvSpPr>
          <p:spPr>
            <a:xfrm>
              <a:off x="505573" y="542925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4</a:t>
              </a:r>
            </a:p>
          </p:txBody>
        </p:sp>
        <p:sp>
          <p:nvSpPr>
            <p:cNvPr id="43" name="Rectangle 43"/>
            <p:cNvSpPr/>
            <p:nvPr/>
          </p:nvSpPr>
          <p:spPr>
            <a:xfrm>
              <a:off x="876300" y="5124450"/>
              <a:ext cx="3543300" cy="800100"/>
            </a:xfrm>
            <a:prstGeom prst="roundRect">
              <a:avLst>
                <a:gd name="adj" fmla="val 14286"/>
              </a:avLst>
            </a:prstGeom>
            <a:solidFill>
              <a:schemeClr val="lt2"/>
            </a:solidFill>
            <a:ln>
              <a:noFill/>
            </a:ln>
          </p:spPr>
        </p:sp>
        <p:sp>
          <p:nvSpPr>
            <p:cNvPr id="44" name="TextBox 44"/>
            <p:cNvSpPr txBox="1"/>
            <p:nvPr/>
          </p:nvSpPr>
          <p:spPr>
            <a:xfrm>
              <a:off x="1058418" y="5289232"/>
              <a:ext cx="2405634"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dk1"/>
                  </a:solidFill>
                  <a:latin typeface="+mn-lt"/>
                  <a:ea typeface="+mn-ea"/>
                  <a:cs typeface="+mn-cs"/>
                </a:rPr>
                <a:t>Cấp chìa khóa, bàn giao</a:t>
              </a:r>
              <a:br/>
              <a:r>
                <a:rPr lang="vi-VN" sz="1650" dirty="0">
                  <a:solidFill>
                    <a:schemeClr val="dk1"/>
                  </a:solidFill>
                  <a:latin typeface="+mn-lt"/>
                  <a:ea typeface="+mn-ea"/>
                  <a:cs typeface="+mn-cs"/>
                </a:rPr>
                <a:t>thùng đồ nghề</a:t>
              </a:r>
            </a:p>
          </p:txBody>
        </p:sp>
        <p:sp>
          <p:nvSpPr>
            <p:cNvPr id="45" name="Rectangle 45"/>
            <p:cNvSpPr/>
            <p:nvPr/>
          </p:nvSpPr>
          <p:spPr>
            <a:xfrm>
              <a:off x="4533900" y="5124450"/>
              <a:ext cx="3657600" cy="800100"/>
            </a:xfrm>
            <a:prstGeom prst="roundRect">
              <a:avLst>
                <a:gd name="adj" fmla="val 14286"/>
              </a:avLst>
            </a:prstGeom>
            <a:solidFill>
              <a:schemeClr val="lt1"/>
            </a:solidFill>
            <a:ln w="14288">
              <a:solidFill>
                <a:schemeClr val="accent4"/>
              </a:solidFill>
            </a:ln>
          </p:spPr>
        </p:sp>
        <p:sp>
          <p:nvSpPr>
            <p:cNvPr id="46" name="TextBox 46"/>
            <p:cNvSpPr txBox="1"/>
            <p:nvPr/>
          </p:nvSpPr>
          <p:spPr>
            <a:xfrm>
              <a:off x="4716018" y="5289232"/>
              <a:ext cx="2122742"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dk1"/>
                  </a:solidFill>
                  <a:latin typeface="+mn-lt"/>
                  <a:ea typeface="+mn-ea"/>
                  <a:cs typeface="+mn-cs"/>
                </a:rPr>
                <a:t>Nối Gmail, Drive;</a:t>
              </a:r>
              <a:br/>
              <a:r>
                <a:rPr lang="vi-VN" sz="1650" dirty="0">
                  <a:solidFill>
                    <a:schemeClr val="dk1"/>
                  </a:solidFill>
                  <a:latin typeface="+mn-lt"/>
                  <a:ea typeface="+mn-ea"/>
                  <a:cs typeface="+mn-cs"/>
                </a:rPr>
                <a:t>đóng gói thành plugin</a:t>
              </a:r>
            </a:p>
          </p:txBody>
        </p:sp>
      </p:grpSp>
      <p:grpSp>
        <p:nvGrpSpPr>
          <p:cNvPr id="63" name="Group 63"/>
          <p:cNvGrpSpPr/>
          <p:nvPr/>
        </p:nvGrpSpPr>
        <p:grpSpPr>
          <a:xfrm>
            <a:off x="8420100" y="2152650"/>
            <a:ext cx="3390900" cy="3771900"/>
            <a:chOff x="8420100" y="2152650"/>
            <a:chExt cx="3390900" cy="3771900"/>
          </a:xfrm>
        </p:grpSpPr>
        <p:sp>
          <p:nvSpPr>
            <p:cNvPr id="48" name="Rectangle 48"/>
            <p:cNvSpPr/>
            <p:nvPr/>
          </p:nvSpPr>
          <p:spPr>
            <a:xfrm>
              <a:off x="8420100" y="2152650"/>
              <a:ext cx="3390900" cy="3771900"/>
            </a:xfrm>
            <a:prstGeom prst="roundRect">
              <a:avLst>
                <a:gd name="adj" fmla="val 4494"/>
              </a:avLst>
            </a:prstGeom>
            <a:solidFill>
              <a:srgbClr val="FCEBDD"/>
            </a:solidFill>
            <a:ln>
              <a:noFill/>
            </a:ln>
          </p:spPr>
        </p:sp>
        <p:grpSp>
          <p:nvGrpSpPr>
            <p:cNvPr id="53" name="Group 53"/>
            <p:cNvGrpSpPr/>
            <p:nvPr/>
          </p:nvGrpSpPr>
          <p:grpSpPr>
            <a:xfrm>
              <a:off x="8688178" y="2481262"/>
              <a:ext cx="198647" cy="238130"/>
              <a:chOff x="8688178" y="2481262"/>
              <a:chExt cx="198647" cy="238130"/>
            </a:xfrm>
          </p:grpSpPr>
          <p:sp>
            <p:nvSpPr>
              <p:cNvPr id="49" name="Freeform 49"/>
              <p:cNvSpPr/>
              <p:nvPr/>
            </p:nvSpPr>
            <p:spPr>
              <a:xfrm>
                <a:off x="8743950" y="2505075"/>
                <a:ext cx="35719" cy="107156"/>
              </a:xfrm>
              <a:custGeom>
                <a:avLst/>
                <a:gdLst/>
                <a:ahLst/>
                <a:cxnLst/>
                <a:rect l="l" t="t" r="r" b="b"/>
                <a:pathLst>
                  <a:path w="35719" h="107156">
                    <a:moveTo>
                      <a:pt x="0" y="107156"/>
                    </a:moveTo>
                    <a:lnTo>
                      <a:pt x="0" y="17859"/>
                    </a:lnTo>
                    <a:cubicBezTo>
                      <a:pt x="0" y="7996"/>
                      <a:pt x="7996" y="0"/>
                      <a:pt x="17859" y="0"/>
                    </a:cubicBezTo>
                    <a:cubicBezTo>
                      <a:pt x="27723" y="0"/>
                      <a:pt x="35719" y="7996"/>
                      <a:pt x="35719" y="17859"/>
                    </a:cubicBezTo>
                    <a:lnTo>
                      <a:pt x="35719" y="95250"/>
                    </a:lnTo>
                  </a:path>
                </a:pathLst>
              </a:custGeom>
              <a:noFill/>
              <a:ln w="23812">
                <a:solidFill>
                  <a:schemeClr val="accent1"/>
                </a:solidFill>
              </a:ln>
            </p:spPr>
          </p:sp>
          <p:sp>
            <p:nvSpPr>
              <p:cNvPr id="50" name="Freeform 50"/>
              <p:cNvSpPr/>
              <p:nvPr/>
            </p:nvSpPr>
            <p:spPr>
              <a:xfrm>
                <a:off x="8779669" y="2481262"/>
                <a:ext cx="35719" cy="119062"/>
              </a:xfrm>
              <a:custGeom>
                <a:avLst/>
                <a:gdLst/>
                <a:ahLst/>
                <a:cxnLst/>
                <a:rect l="l" t="t" r="r" b="b"/>
                <a:pathLst>
                  <a:path w="35719" h="119062">
                    <a:moveTo>
                      <a:pt x="0" y="41672"/>
                    </a:moveTo>
                    <a:lnTo>
                      <a:pt x="0" y="17859"/>
                    </a:lnTo>
                    <a:cubicBezTo>
                      <a:pt x="0" y="7996"/>
                      <a:pt x="7996" y="0"/>
                      <a:pt x="17859" y="0"/>
                    </a:cubicBezTo>
                    <a:cubicBezTo>
                      <a:pt x="27723" y="0"/>
                      <a:pt x="35719" y="7996"/>
                      <a:pt x="35719" y="17859"/>
                    </a:cubicBezTo>
                    <a:lnTo>
                      <a:pt x="35719" y="119062"/>
                    </a:lnTo>
                  </a:path>
                </a:pathLst>
              </a:custGeom>
              <a:noFill/>
              <a:ln w="23812">
                <a:solidFill>
                  <a:schemeClr val="accent1"/>
                </a:solidFill>
              </a:ln>
            </p:spPr>
          </p:sp>
          <p:sp>
            <p:nvSpPr>
              <p:cNvPr id="51" name="Freeform 51"/>
              <p:cNvSpPr/>
              <p:nvPr/>
            </p:nvSpPr>
            <p:spPr>
              <a:xfrm>
                <a:off x="8815388" y="2505075"/>
                <a:ext cx="35719" cy="95250"/>
              </a:xfrm>
              <a:custGeom>
                <a:avLst/>
                <a:gdLst/>
                <a:ahLst/>
                <a:cxnLst/>
                <a:rect l="l" t="t" r="r" b="b"/>
                <a:pathLst>
                  <a:path w="35719" h="95250">
                    <a:moveTo>
                      <a:pt x="0" y="17859"/>
                    </a:moveTo>
                    <a:cubicBezTo>
                      <a:pt x="0" y="7996"/>
                      <a:pt x="7996" y="0"/>
                      <a:pt x="17859" y="0"/>
                    </a:cubicBezTo>
                    <a:cubicBezTo>
                      <a:pt x="27723" y="0"/>
                      <a:pt x="35719" y="7996"/>
                      <a:pt x="35719" y="17859"/>
                    </a:cubicBezTo>
                    <a:lnTo>
                      <a:pt x="35719" y="95250"/>
                    </a:lnTo>
                  </a:path>
                </a:pathLst>
              </a:custGeom>
              <a:noFill/>
              <a:ln w="23812">
                <a:solidFill>
                  <a:schemeClr val="accent1"/>
                </a:solidFill>
              </a:ln>
            </p:spPr>
          </p:sp>
          <p:sp>
            <p:nvSpPr>
              <p:cNvPr id="52" name="Freeform 52"/>
              <p:cNvSpPr/>
              <p:nvPr/>
            </p:nvSpPr>
            <p:spPr>
              <a:xfrm>
                <a:off x="8688178" y="2528888"/>
                <a:ext cx="198647" cy="190504"/>
              </a:xfrm>
              <a:custGeom>
                <a:avLst/>
                <a:gdLst/>
                <a:ahLst/>
                <a:cxnLst/>
                <a:rect l="l" t="t" r="r" b="b"/>
                <a:pathLst>
                  <a:path w="198647" h="190504">
                    <a:moveTo>
                      <a:pt x="162929" y="17859"/>
                    </a:moveTo>
                    <a:cubicBezTo>
                      <a:pt x="162929" y="7996"/>
                      <a:pt x="170925" y="0"/>
                      <a:pt x="180788" y="0"/>
                    </a:cubicBezTo>
                    <a:cubicBezTo>
                      <a:pt x="190651" y="0"/>
                      <a:pt x="198647" y="7996"/>
                      <a:pt x="198647" y="17859"/>
                    </a:cubicBezTo>
                    <a:lnTo>
                      <a:pt x="198647" y="119062"/>
                    </a:lnTo>
                    <a:cubicBezTo>
                      <a:pt x="198647" y="158516"/>
                      <a:pt x="166664" y="190500"/>
                      <a:pt x="127210" y="190500"/>
                    </a:cubicBezTo>
                    <a:lnTo>
                      <a:pt x="103397" y="190500"/>
                    </a:lnTo>
                    <a:lnTo>
                      <a:pt x="105874" y="190500"/>
                    </a:lnTo>
                    <a:cubicBezTo>
                      <a:pt x="81842" y="190504"/>
                      <a:pt x="59418" y="178424"/>
                      <a:pt x="46200" y="158353"/>
                    </a:cubicBezTo>
                    <a:cubicBezTo>
                      <a:pt x="45419" y="157165"/>
                      <a:pt x="44641" y="155974"/>
                      <a:pt x="43866" y="154781"/>
                    </a:cubicBezTo>
                    <a:cubicBezTo>
                      <a:pt x="40151" y="149078"/>
                      <a:pt x="27114" y="126349"/>
                      <a:pt x="4742" y="86582"/>
                    </a:cubicBezTo>
                    <a:cubicBezTo>
                      <a:pt x="0" y="78153"/>
                      <a:pt x="2829" y="67481"/>
                      <a:pt x="11124" y="62508"/>
                    </a:cubicBezTo>
                    <a:cubicBezTo>
                      <a:pt x="19866" y="57262"/>
                      <a:pt x="31057" y="58636"/>
                      <a:pt x="38270" y="65842"/>
                    </a:cubicBezTo>
                    <a:lnTo>
                      <a:pt x="55772" y="83344"/>
                    </a:lnTo>
                  </a:path>
                </a:pathLst>
              </a:custGeom>
              <a:noFill/>
              <a:ln w="23812">
                <a:solidFill>
                  <a:schemeClr val="accent1"/>
                </a:solidFill>
              </a:ln>
            </p:spPr>
          </p:sp>
        </p:grpSp>
        <p:sp>
          <p:nvSpPr>
            <p:cNvPr id="54" name="TextBox 54"/>
            <p:cNvSpPr txBox="1"/>
            <p:nvPr/>
          </p:nvSpPr>
          <p:spPr>
            <a:xfrm>
              <a:off x="9019032" y="2468880"/>
              <a:ext cx="2005460" cy="410718"/>
            </a:xfrm>
            <a:prstGeom prst="rect">
              <a:avLst/>
            </a:prstGeom>
            <a:noFill/>
            <a:ln>
              <a:noFill/>
            </a:ln>
          </p:spPr>
          <p:txBody>
            <a:bodyPr wrap="none" lIns="0" tIns="0" rIns="0" bIns="0" anchor="t" anchorCtr="0">
              <a:spAutoFit/>
            </a:bodyPr>
            <a:lstStyle/>
            <a:p>
              <a:pPr algn="l"/>
              <a:r>
                <a:rPr lang="vi-VN" sz="2100" b="1" dirty="0">
                  <a:solidFill>
                    <a:schemeClr val="accent1"/>
                  </a:solidFill>
                  <a:latin typeface="+mn-lt"/>
                  <a:ea typeface="+mn-ea"/>
                  <a:cs typeface="+mn-cs"/>
                </a:rPr>
                <a:t>Đừng nhảy cóc</a:t>
              </a:r>
            </a:p>
          </p:txBody>
        </p:sp>
        <p:sp>
          <p:nvSpPr>
            <p:cNvPr id="55" name="TextBox 55"/>
            <p:cNvSpPr txBox="1"/>
            <p:nvPr/>
          </p:nvSpPr>
          <p:spPr>
            <a:xfrm>
              <a:off x="8641080" y="3076575"/>
              <a:ext cx="1771059"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Instructions kém</a:t>
              </a:r>
            </a:p>
          </p:txBody>
        </p:sp>
        <p:sp>
          <p:nvSpPr>
            <p:cNvPr id="56" name="TextBox 56"/>
            <p:cNvSpPr txBox="1"/>
            <p:nvPr/>
          </p:nvSpPr>
          <p:spPr>
            <a:xfrm>
              <a:off x="8641080" y="3343275"/>
              <a:ext cx="2933129"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 prompt nào cũng phải dặn lại</a:t>
              </a:r>
            </a:p>
          </p:txBody>
        </p:sp>
        <p:sp>
          <p:nvSpPr>
            <p:cNvPr id="57" name="Line 57"/>
            <p:cNvSpPr/>
            <p:nvPr/>
          </p:nvSpPr>
          <p:spPr>
            <a:xfrm>
              <a:off x="8648700" y="3752850"/>
              <a:ext cx="2933700" cy="9525"/>
            </a:xfrm>
            <a:custGeom>
              <a:avLst/>
              <a:gdLst/>
              <a:ahLst/>
              <a:cxnLst/>
              <a:rect l="l" t="t" r="r" b="b"/>
              <a:pathLst>
                <a:path w="2933700" h="9525">
                  <a:moveTo>
                    <a:pt x="0" y="0"/>
                  </a:moveTo>
                  <a:lnTo>
                    <a:pt x="2933700" y="0"/>
                  </a:lnTo>
                </a:path>
              </a:pathLst>
            </a:custGeom>
            <a:noFill/>
            <a:ln w="9525">
              <a:solidFill>
                <a:schemeClr val="accent2">
                  <a:alpha val="50000"/>
                </a:schemeClr>
              </a:solidFill>
            </a:ln>
          </p:spPr>
        </p:sp>
        <p:sp>
          <p:nvSpPr>
            <p:cNvPr id="58" name="TextBox 58"/>
            <p:cNvSpPr txBox="1"/>
            <p:nvPr/>
          </p:nvSpPr>
          <p:spPr>
            <a:xfrm>
              <a:off x="8641080" y="3933825"/>
              <a:ext cx="1824752"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Prompt chưa vững</a:t>
              </a:r>
            </a:p>
          </p:txBody>
        </p:sp>
        <p:sp>
          <p:nvSpPr>
            <p:cNvPr id="59" name="TextBox 59"/>
            <p:cNvSpPr txBox="1"/>
            <p:nvPr/>
          </p:nvSpPr>
          <p:spPr>
            <a:xfrm>
              <a:off x="8641080" y="4200525"/>
              <a:ext cx="2196465" cy="560070"/>
            </a:xfrm>
            <a:prstGeom prst="rect">
              <a:avLst/>
            </a:prstGeom>
            <a:noFill/>
            <a:ln>
              <a:noFill/>
            </a:ln>
          </p:spPr>
          <p:txBody>
            <a:bodyPr wrap="none" lIns="0" tIns="0" rIns="0" bIns="0" anchor="t" anchorCtr="0">
              <a:spAutoFit/>
            </a:bodyPr>
            <a:lstStyle/>
            <a:p>
              <a:pPr algn="l">
                <a:lnSpc>
                  <a:spcPts val="2100"/>
                </a:lnSpc>
              </a:pPr>
              <a:r>
                <a:rPr lang="vi-VN" sz="1500" dirty="0">
                  <a:solidFill>
                    <a:schemeClr val="dk1"/>
                  </a:solidFill>
                  <a:latin typeface="+mn-lt"/>
                  <a:ea typeface="+mn-ea"/>
                  <a:cs typeface="+mn-cs"/>
                </a:rPr>
                <a:t>→ không biết đóng gói gì</a:t>
              </a:r>
              <a:br/>
              <a:r>
                <a:rPr lang="vi-VN" sz="1500" dirty="0">
                  <a:solidFill>
                    <a:schemeClr val="dk1"/>
                  </a:solidFill>
                  <a:latin typeface="+mn-lt"/>
                  <a:ea typeface="+mn-ea"/>
                  <a:cs typeface="+mn-cs"/>
                </a:rPr>
                <a:t>vào skill</a:t>
              </a:r>
            </a:p>
          </p:txBody>
        </p:sp>
        <p:sp>
          <p:nvSpPr>
            <p:cNvPr id="60" name="Line 60"/>
            <p:cNvSpPr/>
            <p:nvPr/>
          </p:nvSpPr>
          <p:spPr>
            <a:xfrm>
              <a:off x="8648700" y="4857750"/>
              <a:ext cx="2933700" cy="9525"/>
            </a:xfrm>
            <a:custGeom>
              <a:avLst/>
              <a:gdLst/>
              <a:ahLst/>
              <a:cxnLst/>
              <a:rect l="l" t="t" r="r" b="b"/>
              <a:pathLst>
                <a:path w="2933700" h="9525">
                  <a:moveTo>
                    <a:pt x="0" y="0"/>
                  </a:moveTo>
                  <a:lnTo>
                    <a:pt x="2933700" y="0"/>
                  </a:lnTo>
                </a:path>
              </a:pathLst>
            </a:custGeom>
            <a:noFill/>
            <a:ln w="9525">
              <a:solidFill>
                <a:schemeClr val="accent2">
                  <a:alpha val="50000"/>
                </a:schemeClr>
              </a:solidFill>
            </a:ln>
          </p:spPr>
        </p:sp>
        <p:sp>
          <p:nvSpPr>
            <p:cNvPr id="61" name="TextBox 61"/>
            <p:cNvSpPr txBox="1"/>
            <p:nvPr/>
          </p:nvSpPr>
          <p:spPr>
            <a:xfrm>
              <a:off x="8641080" y="5038725"/>
              <a:ext cx="1622512"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Skill chưa chuẩn</a:t>
              </a:r>
            </a:p>
          </p:txBody>
        </p:sp>
        <p:sp>
          <p:nvSpPr>
            <p:cNvPr id="62" name="TextBox 62"/>
            <p:cNvSpPr txBox="1"/>
            <p:nvPr/>
          </p:nvSpPr>
          <p:spPr>
            <a:xfrm>
              <a:off x="8641080" y="5305425"/>
              <a:ext cx="2205990" cy="560070"/>
            </a:xfrm>
            <a:prstGeom prst="rect">
              <a:avLst/>
            </a:prstGeom>
            <a:noFill/>
            <a:ln>
              <a:noFill/>
            </a:ln>
          </p:spPr>
          <p:txBody>
            <a:bodyPr wrap="none" lIns="0" tIns="0" rIns="0" bIns="0" anchor="t" anchorCtr="0">
              <a:spAutoFit/>
            </a:bodyPr>
            <a:lstStyle/>
            <a:p>
              <a:pPr algn="l">
                <a:lnSpc>
                  <a:spcPts val="2100"/>
                </a:lnSpc>
              </a:pPr>
              <a:r>
                <a:rPr lang="vi-VN" sz="1500" dirty="0">
                  <a:solidFill>
                    <a:schemeClr val="dk1"/>
                  </a:solidFill>
                  <a:latin typeface="+mn-lt"/>
                  <a:ea typeface="+mn-ea"/>
                  <a:cs typeface="+mn-cs"/>
                </a:rPr>
                <a:t>→ plugin nhân bản cái sai</a:t>
              </a:r>
              <a:br/>
              <a:r>
                <a:rPr lang="vi-VN" sz="1500" dirty="0">
                  <a:solidFill>
                    <a:schemeClr val="dk1"/>
                  </a:solidFill>
                  <a:latin typeface="+mn-lt"/>
                  <a:ea typeface="+mn-ea"/>
                  <a:cs typeface="+mn-cs"/>
                </a:rPr>
                <a:t>nhanh hơn</a:t>
              </a:r>
            </a:p>
          </p:txBody>
        </p:sp>
      </p:grpSp>
      <p:sp>
        <p:nvSpPr>
          <p:cNvPr id="64" name="TextBox 64"/>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65" name="TextBox 65"/>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03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2" name="Group 12"/>
          <p:cNvGrpSpPr/>
          <p:nvPr/>
        </p:nvGrpSpPr>
        <p:grpSpPr>
          <a:xfrm>
            <a:off x="0" y="0"/>
            <a:ext cx="4381500" cy="6858000"/>
            <a:chOff x="0" y="0"/>
            <a:chExt cx="4381500" cy="6858000"/>
          </a:xfrm>
        </p:grpSpPr>
        <p:sp>
          <p:nvSpPr>
            <p:cNvPr id="2" name="Rectangle 2"/>
            <p:cNvSpPr/>
            <p:nvPr/>
          </p:nvSpPr>
          <p:spPr>
            <a:xfrm>
              <a:off x="0" y="0"/>
              <a:ext cx="4381500" cy="6858000"/>
            </a:xfrm>
            <a:prstGeom prst="rect">
              <a:avLst/>
            </a:prstGeom>
            <a:solidFill>
              <a:schemeClr val="accent5"/>
            </a:solidFill>
            <a:ln>
              <a:noFill/>
            </a:ln>
          </p:spPr>
        </p:sp>
        <p:sp>
          <p:nvSpPr>
            <p:cNvPr id="3" name="TextBox 3"/>
            <p:cNvSpPr txBox="1"/>
            <p:nvPr/>
          </p:nvSpPr>
          <p:spPr>
            <a:xfrm>
              <a:off x="522732" y="1106805"/>
              <a:ext cx="1191296" cy="410718"/>
            </a:xfrm>
            <a:prstGeom prst="rect">
              <a:avLst/>
            </a:prstGeom>
            <a:noFill/>
            <a:ln>
              <a:noFill/>
            </a:ln>
          </p:spPr>
          <p:txBody>
            <a:bodyPr wrap="none" lIns="0" tIns="0" rIns="0" bIns="0" anchor="t" anchorCtr="0">
              <a:spAutoFit/>
            </a:bodyPr>
            <a:lstStyle/>
            <a:p>
              <a:pPr algn="l"/>
              <a:r>
                <a:rPr lang="vi-VN" sz="2100" b="1" spc="300" dirty="0">
                  <a:solidFill>
                    <a:srgbClr val="FFFFFF"/>
                  </a:solidFill>
                  <a:latin typeface="+mn-lt"/>
                  <a:ea typeface="+mn-ea"/>
                  <a:cs typeface="+mn-cs"/>
                </a:rPr>
                <a:t>TẦNG 1</a:t>
              </a:r>
            </a:p>
          </p:txBody>
        </p:sp>
        <p:sp>
          <p:nvSpPr>
            <p:cNvPr id="4" name="TextBox 4"/>
            <p:cNvSpPr txBox="1"/>
            <p:nvPr/>
          </p:nvSpPr>
          <p:spPr>
            <a:xfrm>
              <a:off x="438150" y="2190750"/>
              <a:ext cx="1204246" cy="2876550"/>
            </a:xfrm>
            <a:prstGeom prst="rect">
              <a:avLst/>
            </a:prstGeom>
            <a:noFill/>
            <a:ln>
              <a:noFill/>
            </a:ln>
          </p:spPr>
          <p:txBody>
            <a:bodyPr wrap="none" lIns="0" tIns="0" rIns="0" bIns="0" anchor="t" anchorCtr="0">
              <a:spAutoFit/>
            </a:bodyPr>
            <a:lstStyle/>
            <a:p>
              <a:pPr algn="l"/>
              <a:r>
                <a:rPr lang="vi-VN" sz="15000" b="1" dirty="0">
                  <a:solidFill>
                    <a:srgbClr val="FFFFFF"/>
                  </a:solidFill>
                  <a:latin typeface="+mn-lt"/>
                  <a:ea typeface="+mn-ea"/>
                  <a:cs typeface="+mn-cs"/>
                </a:rPr>
                <a:t>1</a:t>
              </a:r>
            </a:p>
          </p:txBody>
        </p:sp>
        <p:sp>
          <p:nvSpPr>
            <p:cNvPr id="5" name="TextBox 5"/>
            <p:cNvSpPr txBox="1"/>
            <p:nvPr/>
          </p:nvSpPr>
          <p:spPr>
            <a:xfrm>
              <a:off x="514350" y="4208145"/>
              <a:ext cx="3416702" cy="762000"/>
            </a:xfrm>
            <a:prstGeom prst="rect">
              <a:avLst/>
            </a:prstGeom>
            <a:noFill/>
            <a:ln>
              <a:noFill/>
            </a:ln>
          </p:spPr>
          <p:txBody>
            <a:bodyPr wrap="none" lIns="0" tIns="0" rIns="0" bIns="0" anchor="t" anchorCtr="0">
              <a:spAutoFit/>
            </a:bodyPr>
            <a:lstStyle/>
            <a:p>
              <a:pPr algn="l"/>
              <a:r>
                <a:rPr lang="vi-VN" sz="3900" b="1" dirty="0">
                  <a:solidFill>
                    <a:srgbClr val="FFFFFF"/>
                  </a:solidFill>
                  <a:latin typeface="+mn-lt"/>
                  <a:ea typeface="+mn-ea"/>
                  <a:cs typeface="+mn-cs"/>
                </a:rPr>
                <a:t>Instructions</a:t>
              </a:r>
            </a:p>
          </p:txBody>
        </p:sp>
        <p:grpSp>
          <p:nvGrpSpPr>
            <p:cNvPr id="11" name="Group 11"/>
            <p:cNvGrpSpPr/>
            <p:nvPr/>
          </p:nvGrpSpPr>
          <p:grpSpPr>
            <a:xfrm>
              <a:off x="609600" y="5410200"/>
              <a:ext cx="457201" cy="431800"/>
              <a:chOff x="609600" y="5410200"/>
              <a:chExt cx="457201" cy="431800"/>
            </a:xfrm>
          </p:grpSpPr>
          <p:sp>
            <p:nvSpPr>
              <p:cNvPr id="6" name="Freeform 6"/>
              <p:cNvSpPr/>
              <p:nvPr/>
            </p:nvSpPr>
            <p:spPr>
              <a:xfrm>
                <a:off x="711200" y="5638800"/>
                <a:ext cx="76200" cy="101600"/>
              </a:xfrm>
              <a:custGeom>
                <a:avLst/>
                <a:gdLst/>
                <a:ahLst/>
                <a:cxnLst/>
                <a:rect l="l" t="t" r="r" b="b"/>
                <a:pathLst>
                  <a:path w="76200" h="101600">
                    <a:moveTo>
                      <a:pt x="0" y="0"/>
                    </a:moveTo>
                    <a:lnTo>
                      <a:pt x="76200" y="0"/>
                    </a:lnTo>
                    <a:lnTo>
                      <a:pt x="76200" y="101600"/>
                    </a:lnTo>
                    <a:lnTo>
                      <a:pt x="0" y="101600"/>
                    </a:lnTo>
                    <a:lnTo>
                      <a:pt x="0" y="0"/>
                    </a:lnTo>
                  </a:path>
                </a:pathLst>
              </a:custGeom>
              <a:noFill/>
              <a:ln w="50800">
                <a:solidFill>
                  <a:srgbClr val="FFFFFF"/>
                </a:solidFill>
              </a:ln>
            </p:spPr>
          </p:sp>
          <p:sp>
            <p:nvSpPr>
              <p:cNvPr id="7" name="Freeform 7"/>
              <p:cNvSpPr/>
              <p:nvPr/>
            </p:nvSpPr>
            <p:spPr>
              <a:xfrm>
                <a:off x="609600" y="5486400"/>
                <a:ext cx="457201" cy="355600"/>
              </a:xfrm>
              <a:custGeom>
                <a:avLst/>
                <a:gdLst/>
                <a:ahLst/>
                <a:cxnLst/>
                <a:rect l="l" t="t" r="r" b="b"/>
                <a:pathLst>
                  <a:path w="457201" h="355600">
                    <a:moveTo>
                      <a:pt x="177800" y="0"/>
                    </a:moveTo>
                    <a:lnTo>
                      <a:pt x="25400" y="0"/>
                    </a:lnTo>
                    <a:cubicBezTo>
                      <a:pt x="11372" y="0"/>
                      <a:pt x="0" y="11372"/>
                      <a:pt x="0" y="25400"/>
                    </a:cubicBezTo>
                    <a:lnTo>
                      <a:pt x="0" y="330200"/>
                    </a:lnTo>
                    <a:cubicBezTo>
                      <a:pt x="0" y="344228"/>
                      <a:pt x="11372" y="355600"/>
                      <a:pt x="25400" y="355600"/>
                    </a:cubicBezTo>
                    <a:lnTo>
                      <a:pt x="431801" y="355600"/>
                    </a:lnTo>
                    <a:cubicBezTo>
                      <a:pt x="445829" y="355600"/>
                      <a:pt x="457201" y="344228"/>
                      <a:pt x="457201" y="330200"/>
                    </a:cubicBezTo>
                    <a:lnTo>
                      <a:pt x="457201" y="25400"/>
                    </a:lnTo>
                    <a:cubicBezTo>
                      <a:pt x="457201" y="11372"/>
                      <a:pt x="445829" y="0"/>
                      <a:pt x="431801" y="0"/>
                    </a:cubicBezTo>
                    <a:lnTo>
                      <a:pt x="279400" y="0"/>
                    </a:lnTo>
                  </a:path>
                </a:pathLst>
              </a:custGeom>
              <a:noFill/>
              <a:ln w="50800">
                <a:solidFill>
                  <a:srgbClr val="FFFFFF"/>
                </a:solidFill>
              </a:ln>
            </p:spPr>
          </p:sp>
          <p:sp>
            <p:nvSpPr>
              <p:cNvPr id="8" name="Freeform 8"/>
              <p:cNvSpPr/>
              <p:nvPr/>
            </p:nvSpPr>
            <p:spPr>
              <a:xfrm>
                <a:off x="787400" y="5410200"/>
                <a:ext cx="101600" cy="127000"/>
              </a:xfrm>
              <a:custGeom>
                <a:avLst/>
                <a:gdLst/>
                <a:ahLst/>
                <a:cxnLst/>
                <a:rect l="l" t="t" r="r" b="b"/>
                <a:pathLst>
                  <a:path w="101600" h="127000">
                    <a:moveTo>
                      <a:pt x="0" y="25400"/>
                    </a:moveTo>
                    <a:cubicBezTo>
                      <a:pt x="0" y="11372"/>
                      <a:pt x="11372" y="0"/>
                      <a:pt x="25400" y="0"/>
                    </a:cubicBezTo>
                    <a:lnTo>
                      <a:pt x="76200" y="0"/>
                    </a:lnTo>
                    <a:cubicBezTo>
                      <a:pt x="90228" y="0"/>
                      <a:pt x="101600" y="11372"/>
                      <a:pt x="101600" y="25400"/>
                    </a:cubicBezTo>
                    <a:lnTo>
                      <a:pt x="101600" y="101600"/>
                    </a:lnTo>
                    <a:cubicBezTo>
                      <a:pt x="101600" y="115628"/>
                      <a:pt x="90228" y="127000"/>
                      <a:pt x="76200" y="127000"/>
                    </a:cubicBezTo>
                    <a:lnTo>
                      <a:pt x="25400" y="127000"/>
                    </a:lnTo>
                    <a:cubicBezTo>
                      <a:pt x="11372" y="127000"/>
                      <a:pt x="0" y="115628"/>
                      <a:pt x="0" y="101600"/>
                    </a:cubicBezTo>
                    <a:lnTo>
                      <a:pt x="0" y="25400"/>
                    </a:lnTo>
                  </a:path>
                </a:pathLst>
              </a:custGeom>
              <a:noFill/>
              <a:ln w="50800">
                <a:solidFill>
                  <a:srgbClr val="FFFFFF"/>
                </a:solidFill>
              </a:ln>
            </p:spPr>
          </p:sp>
          <p:sp>
            <p:nvSpPr>
              <p:cNvPr id="9" name="Freeform 9"/>
              <p:cNvSpPr/>
              <p:nvPr/>
            </p:nvSpPr>
            <p:spPr>
              <a:xfrm>
                <a:off x="889000" y="5740401"/>
                <a:ext cx="50800" cy="9525"/>
              </a:xfrm>
              <a:custGeom>
                <a:avLst/>
                <a:gdLst/>
                <a:ahLst/>
                <a:cxnLst/>
                <a:rect l="l" t="t" r="r" b="b"/>
                <a:pathLst>
                  <a:path w="50800" h="9525">
                    <a:moveTo>
                      <a:pt x="0" y="0"/>
                    </a:moveTo>
                    <a:lnTo>
                      <a:pt x="50800" y="0"/>
                    </a:lnTo>
                  </a:path>
                </a:pathLst>
              </a:custGeom>
              <a:noFill/>
              <a:ln w="50800">
                <a:solidFill>
                  <a:srgbClr val="FFFFFF"/>
                </a:solidFill>
              </a:ln>
            </p:spPr>
          </p:sp>
          <p:sp>
            <p:nvSpPr>
              <p:cNvPr id="10" name="Freeform 10"/>
              <p:cNvSpPr/>
              <p:nvPr/>
            </p:nvSpPr>
            <p:spPr>
              <a:xfrm>
                <a:off x="889000" y="5638800"/>
                <a:ext cx="101600" cy="9525"/>
              </a:xfrm>
              <a:custGeom>
                <a:avLst/>
                <a:gdLst/>
                <a:ahLst/>
                <a:cxnLst/>
                <a:rect l="l" t="t" r="r" b="b"/>
                <a:pathLst>
                  <a:path w="101600" h="9525">
                    <a:moveTo>
                      <a:pt x="0" y="0"/>
                    </a:moveTo>
                    <a:lnTo>
                      <a:pt x="101600" y="0"/>
                    </a:lnTo>
                  </a:path>
                </a:pathLst>
              </a:custGeom>
              <a:noFill/>
              <a:ln w="50800">
                <a:solidFill>
                  <a:srgbClr val="FFFFFF"/>
                </a:solidFill>
              </a:ln>
            </p:spPr>
          </p:sp>
        </p:grpSp>
      </p:grpSp>
      <p:grpSp>
        <p:nvGrpSpPr>
          <p:cNvPr id="23" name="Group 23"/>
          <p:cNvGrpSpPr/>
          <p:nvPr/>
        </p:nvGrpSpPr>
        <p:grpSpPr>
          <a:xfrm>
            <a:off x="5785104" y="190500"/>
            <a:ext cx="6025896" cy="543306"/>
            <a:chOff x="5785104" y="190500"/>
            <a:chExt cx="6025896" cy="543306"/>
          </a:xfrm>
        </p:grpSpPr>
        <p:sp>
          <p:nvSpPr>
            <p:cNvPr id="13" name="Rectangle 13"/>
            <p:cNvSpPr/>
            <p:nvPr/>
          </p:nvSpPr>
          <p:spPr>
            <a:xfrm>
              <a:off x="5791200" y="342900"/>
              <a:ext cx="1143000" cy="76200"/>
            </a:xfrm>
            <a:prstGeom prst="roundRect">
              <a:avLst>
                <a:gd name="adj" fmla="val 37500"/>
              </a:avLst>
            </a:prstGeom>
            <a:solidFill>
              <a:schemeClr val="accent2"/>
            </a:solidFill>
            <a:ln>
              <a:noFill/>
            </a:ln>
          </p:spPr>
        </p:sp>
        <p:sp>
          <p:nvSpPr>
            <p:cNvPr id="14" name="Rectangle 14"/>
            <p:cNvSpPr/>
            <p:nvPr/>
          </p:nvSpPr>
          <p:spPr>
            <a:xfrm>
              <a:off x="7010400" y="304800"/>
              <a:ext cx="1143000" cy="114300"/>
            </a:xfrm>
            <a:prstGeom prst="roundRect">
              <a:avLst>
                <a:gd name="adj" fmla="val 25000"/>
              </a:avLst>
            </a:prstGeom>
            <a:solidFill>
              <a:srgbClr val="E3E9F1"/>
            </a:solidFill>
            <a:ln>
              <a:noFill/>
            </a:ln>
          </p:spPr>
        </p:sp>
        <p:sp>
          <p:nvSpPr>
            <p:cNvPr id="15" name="Rectangle 15"/>
            <p:cNvSpPr/>
            <p:nvPr/>
          </p:nvSpPr>
          <p:spPr>
            <a:xfrm>
              <a:off x="8229600" y="266700"/>
              <a:ext cx="1143000" cy="152400"/>
            </a:xfrm>
            <a:prstGeom prst="roundRect">
              <a:avLst>
                <a:gd name="adj" fmla="val 18750"/>
              </a:avLst>
            </a:prstGeom>
            <a:solidFill>
              <a:srgbClr val="E3E9F1"/>
            </a:solidFill>
            <a:ln>
              <a:noFill/>
            </a:ln>
          </p:spPr>
        </p:sp>
        <p:sp>
          <p:nvSpPr>
            <p:cNvPr id="16" name="Rectangle 16"/>
            <p:cNvSpPr/>
            <p:nvPr/>
          </p:nvSpPr>
          <p:spPr>
            <a:xfrm>
              <a:off x="9448800" y="228600"/>
              <a:ext cx="1143000" cy="190500"/>
            </a:xfrm>
            <a:prstGeom prst="roundRect">
              <a:avLst>
                <a:gd name="adj" fmla="val 15000"/>
              </a:avLst>
            </a:prstGeom>
            <a:solidFill>
              <a:srgbClr val="E3E9F1"/>
            </a:solidFill>
            <a:ln>
              <a:noFill/>
            </a:ln>
          </p:spPr>
        </p:sp>
        <p:sp>
          <p:nvSpPr>
            <p:cNvPr id="17" name="Rectangle 17"/>
            <p:cNvSpPr/>
            <p:nvPr/>
          </p:nvSpPr>
          <p:spPr>
            <a:xfrm>
              <a:off x="10668000" y="190500"/>
              <a:ext cx="1143000" cy="228600"/>
            </a:xfrm>
            <a:prstGeom prst="roundRect">
              <a:avLst>
                <a:gd name="adj" fmla="val 12500"/>
              </a:avLst>
            </a:prstGeom>
            <a:solidFill>
              <a:srgbClr val="E3E9F1"/>
            </a:solidFill>
            <a:ln>
              <a:noFill/>
            </a:ln>
          </p:spPr>
        </p:sp>
        <p:sp>
          <p:nvSpPr>
            <p:cNvPr id="18" name="TextBox 18"/>
            <p:cNvSpPr txBox="1"/>
            <p:nvPr/>
          </p:nvSpPr>
          <p:spPr>
            <a:xfrm>
              <a:off x="5785104" y="499110"/>
              <a:ext cx="119662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1 Instructions</a:t>
              </a:r>
            </a:p>
          </p:txBody>
        </p:sp>
        <p:sp>
          <p:nvSpPr>
            <p:cNvPr id="19" name="TextBox 19"/>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20" name="TextBox 20"/>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21" name="TextBox 21"/>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22" name="TextBox 22"/>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24" name="TextBox 24"/>
          <p:cNvSpPr txBox="1"/>
          <p:nvPr/>
        </p:nvSpPr>
        <p:spPr>
          <a:xfrm>
            <a:off x="4936998" y="1260158"/>
            <a:ext cx="3518440"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Khai báo một lần,</a:t>
            </a:r>
            <a:br/>
            <a:r>
              <a:rPr lang="vi-VN" sz="3150" b="1" dirty="0">
                <a:solidFill>
                  <a:schemeClr val="accent1"/>
                </a:solidFill>
                <a:latin typeface="+mn-lt"/>
                <a:ea typeface="+mn-ea"/>
                <a:cs typeface="+mn-cs"/>
              </a:rPr>
              <a:t>ChatGPT nhớ mãi</a:t>
            </a:r>
          </a:p>
        </p:txBody>
      </p:sp>
      <p:grpSp>
        <p:nvGrpSpPr>
          <p:cNvPr id="33" name="Group 33"/>
          <p:cNvGrpSpPr/>
          <p:nvPr/>
        </p:nvGrpSpPr>
        <p:grpSpPr>
          <a:xfrm>
            <a:off x="4944618" y="2400300"/>
            <a:ext cx="6411294" cy="1020889"/>
            <a:chOff x="4944618" y="2400300"/>
            <a:chExt cx="6411294" cy="1020889"/>
          </a:xfrm>
        </p:grpSpPr>
        <p:sp>
          <p:nvSpPr>
            <p:cNvPr id="25" name="Rectangle 25"/>
            <p:cNvSpPr/>
            <p:nvPr/>
          </p:nvSpPr>
          <p:spPr>
            <a:xfrm>
              <a:off x="4953000" y="2400300"/>
              <a:ext cx="5619750" cy="457200"/>
            </a:xfrm>
            <a:prstGeom prst="roundRect">
              <a:avLst>
                <a:gd name="adj" fmla="val 50000"/>
              </a:avLst>
            </a:prstGeom>
            <a:solidFill>
              <a:schemeClr val="lt2"/>
            </a:solidFill>
            <a:ln>
              <a:noFill/>
            </a:ln>
          </p:spPr>
        </p:sp>
        <p:grpSp>
          <p:nvGrpSpPr>
            <p:cNvPr id="30" name="Group 30"/>
            <p:cNvGrpSpPr/>
            <p:nvPr/>
          </p:nvGrpSpPr>
          <p:grpSpPr>
            <a:xfrm>
              <a:off x="5172075" y="2543175"/>
              <a:ext cx="171450" cy="161925"/>
              <a:chOff x="5172075" y="2543175"/>
              <a:chExt cx="171450" cy="161925"/>
            </a:xfrm>
          </p:grpSpPr>
          <p:sp>
            <p:nvSpPr>
              <p:cNvPr id="26" name="Freeform 26"/>
              <p:cNvSpPr/>
              <p:nvPr/>
            </p:nvSpPr>
            <p:spPr>
              <a:xfrm>
                <a:off x="5172075" y="2581275"/>
                <a:ext cx="171450" cy="123825"/>
              </a:xfrm>
              <a:custGeom>
                <a:avLst/>
                <a:gdLst/>
                <a:ahLst/>
                <a:cxnLst/>
                <a:rect l="l" t="t" r="r" b="b"/>
                <a:pathLst>
                  <a:path w="171450" h="123825">
                    <a:moveTo>
                      <a:pt x="0" y="19050"/>
                    </a:moveTo>
                    <a:cubicBezTo>
                      <a:pt x="0" y="8529"/>
                      <a:pt x="8529" y="0"/>
                      <a:pt x="19050" y="0"/>
                    </a:cubicBezTo>
                    <a:lnTo>
                      <a:pt x="152400" y="0"/>
                    </a:lnTo>
                    <a:cubicBezTo>
                      <a:pt x="162921" y="0"/>
                      <a:pt x="171450" y="8529"/>
                      <a:pt x="171450" y="19050"/>
                    </a:cubicBezTo>
                    <a:lnTo>
                      <a:pt x="171450" y="104775"/>
                    </a:lnTo>
                    <a:cubicBezTo>
                      <a:pt x="171450" y="115296"/>
                      <a:pt x="162921" y="123825"/>
                      <a:pt x="152400" y="123825"/>
                    </a:cubicBezTo>
                    <a:lnTo>
                      <a:pt x="19050" y="123825"/>
                    </a:lnTo>
                    <a:cubicBezTo>
                      <a:pt x="8529" y="123825"/>
                      <a:pt x="0" y="115296"/>
                      <a:pt x="0" y="104775"/>
                    </a:cubicBezTo>
                    <a:lnTo>
                      <a:pt x="0" y="19050"/>
                    </a:lnTo>
                  </a:path>
                </a:pathLst>
              </a:custGeom>
              <a:noFill/>
              <a:ln w="19050">
                <a:solidFill>
                  <a:schemeClr val="accent5"/>
                </a:solidFill>
              </a:ln>
            </p:spPr>
          </p:sp>
          <p:sp>
            <p:nvSpPr>
              <p:cNvPr id="27" name="Freeform 27"/>
              <p:cNvSpPr/>
              <p:nvPr/>
            </p:nvSpPr>
            <p:spPr>
              <a:xfrm>
                <a:off x="5219700" y="2543175"/>
                <a:ext cx="76200" cy="38100"/>
              </a:xfrm>
              <a:custGeom>
                <a:avLst/>
                <a:gdLst/>
                <a:ahLst/>
                <a:cxnLst/>
                <a:rect l="l" t="t" r="r" b="b"/>
                <a:pathLst>
                  <a:path w="76200" h="38100">
                    <a:moveTo>
                      <a:pt x="0" y="38100"/>
                    </a:moveTo>
                    <a:lnTo>
                      <a:pt x="0" y="19050"/>
                    </a:lnTo>
                    <a:cubicBezTo>
                      <a:pt x="0" y="8529"/>
                      <a:pt x="8529" y="0"/>
                      <a:pt x="19050" y="0"/>
                    </a:cubicBezTo>
                    <a:lnTo>
                      <a:pt x="57150" y="0"/>
                    </a:lnTo>
                    <a:cubicBezTo>
                      <a:pt x="67671" y="0"/>
                      <a:pt x="76200" y="8529"/>
                      <a:pt x="76200" y="19050"/>
                    </a:cubicBezTo>
                    <a:lnTo>
                      <a:pt x="76200" y="38100"/>
                    </a:lnTo>
                  </a:path>
                </a:pathLst>
              </a:custGeom>
              <a:noFill/>
              <a:ln w="19050">
                <a:solidFill>
                  <a:schemeClr val="accent5"/>
                </a:solidFill>
              </a:ln>
            </p:spPr>
          </p:sp>
          <p:sp>
            <p:nvSpPr>
              <p:cNvPr id="28" name="Freeform 28"/>
              <p:cNvSpPr/>
              <p:nvPr/>
            </p:nvSpPr>
            <p:spPr>
              <a:xfrm>
                <a:off x="5257800" y="2628900"/>
                <a:ext cx="9525" cy="9525"/>
              </a:xfrm>
              <a:custGeom>
                <a:avLst/>
                <a:gdLst/>
                <a:ahLst/>
                <a:cxnLst/>
                <a:rect l="l" t="t" r="r" b="b"/>
                <a:pathLst>
                  <a:path w="9525" h="9525">
                    <a:moveTo>
                      <a:pt x="0" y="0"/>
                    </a:moveTo>
                    <a:lnTo>
                      <a:pt x="0" y="95"/>
                    </a:lnTo>
                  </a:path>
                </a:pathLst>
              </a:custGeom>
              <a:noFill/>
              <a:ln w="19050">
                <a:solidFill>
                  <a:schemeClr val="accent5"/>
                </a:solidFill>
              </a:ln>
            </p:spPr>
          </p:sp>
          <p:sp>
            <p:nvSpPr>
              <p:cNvPr id="29" name="Freeform 29"/>
              <p:cNvSpPr/>
              <p:nvPr/>
            </p:nvSpPr>
            <p:spPr>
              <a:xfrm>
                <a:off x="5172075" y="2638425"/>
                <a:ext cx="171450" cy="27171"/>
              </a:xfrm>
              <a:custGeom>
                <a:avLst/>
                <a:gdLst/>
                <a:ahLst/>
                <a:cxnLst/>
                <a:rect l="l" t="t" r="r" b="b"/>
                <a:pathLst>
                  <a:path w="171450" h="27171">
                    <a:moveTo>
                      <a:pt x="0" y="0"/>
                    </a:moveTo>
                    <a:cubicBezTo>
                      <a:pt x="53921" y="27171"/>
                      <a:pt x="117529" y="27171"/>
                      <a:pt x="171450" y="0"/>
                    </a:cubicBezTo>
                  </a:path>
                </a:pathLst>
              </a:custGeom>
              <a:noFill/>
              <a:ln w="19050">
                <a:solidFill>
                  <a:schemeClr val="accent5"/>
                </a:solidFill>
              </a:ln>
            </p:spPr>
          </p:sp>
        </p:grpSp>
        <p:sp>
          <p:nvSpPr>
            <p:cNvPr id="31" name="TextBox 31"/>
            <p:cNvSpPr txBox="1"/>
            <p:nvPr/>
          </p:nvSpPr>
          <p:spPr>
            <a:xfrm>
              <a:off x="5478018" y="2526982"/>
              <a:ext cx="5144979" cy="322707"/>
            </a:xfrm>
            <a:prstGeom prst="rect">
              <a:avLst/>
            </a:prstGeom>
            <a:noFill/>
            <a:ln>
              <a:noFill/>
            </a:ln>
          </p:spPr>
          <p:txBody>
            <a:bodyPr wrap="none" lIns="0" tIns="0" rIns="0" bIns="0" anchor="t" anchorCtr="0">
              <a:spAutoFit/>
            </a:bodyPr>
            <a:lstStyle/>
            <a:p>
              <a:pPr algn="l"/>
              <a:r>
                <a:rPr lang="vi-VN" sz="1650" dirty="0">
                  <a:solidFill>
                    <a:schemeClr val="accent1"/>
                  </a:solidFill>
                  <a:latin typeface="+mn-lt"/>
                  <a:ea typeface="+mn-ea"/>
                  <a:cs typeface="+mn-cs"/>
                </a:rPr>
                <a:t>Ngày đầu đi làm — phát hồ sơ nhập môn và nội quy</a:t>
              </a:r>
            </a:p>
          </p:txBody>
        </p:sp>
        <p:sp>
          <p:nvSpPr>
            <p:cNvPr id="32" name="TextBox 32"/>
            <p:cNvSpPr txBox="1"/>
            <p:nvPr/>
          </p:nvSpPr>
          <p:spPr>
            <a:xfrm>
              <a:off x="4944618" y="3098482"/>
              <a:ext cx="6411294" cy="322707"/>
            </a:xfrm>
            <a:prstGeom prst="rect">
              <a:avLst/>
            </a:prstGeom>
            <a:noFill/>
            <a:ln>
              <a:noFill/>
            </a:ln>
          </p:spPr>
          <p:txBody>
            <a:bodyPr wrap="none" lIns="0" tIns="0" rIns="0" bIns="0" anchor="t" anchorCtr="0">
              <a:spAutoFit/>
            </a:bodyPr>
            <a:lstStyle/>
            <a:p>
              <a:pPr algn="l"/>
              <a:r>
                <a:rPr lang="vi-VN" sz="1650" i="1" dirty="0">
                  <a:solidFill>
                    <a:srgbClr val="5B6675"/>
                  </a:solidFill>
                  <a:latin typeface="+mn-lt"/>
                  <a:ea typeface="+mn-ea"/>
                  <a:cs typeface="+mn-cs"/>
                </a:rPr>
                <a:t>Chưa khai báo, ChatGPT không biết bạn là ai, làm ở đâu, bán gì.</a:t>
              </a:r>
            </a:p>
          </p:txBody>
        </p:sp>
      </p:grpSp>
      <p:grpSp>
        <p:nvGrpSpPr>
          <p:cNvPr id="47" name="Group 47"/>
          <p:cNvGrpSpPr/>
          <p:nvPr/>
        </p:nvGrpSpPr>
        <p:grpSpPr>
          <a:xfrm>
            <a:off x="4946904" y="3718560"/>
            <a:ext cx="6777385" cy="2350579"/>
            <a:chOff x="4946904" y="3718560"/>
            <a:chExt cx="6777385" cy="2350579"/>
          </a:xfrm>
        </p:grpSpPr>
        <p:sp>
          <p:nvSpPr>
            <p:cNvPr id="34" name="TextBox 34"/>
            <p:cNvSpPr txBox="1"/>
            <p:nvPr/>
          </p:nvSpPr>
          <p:spPr>
            <a:xfrm>
              <a:off x="4946904" y="3718560"/>
              <a:ext cx="2653589"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HỌC XONG TẦNG NÀY, BẠN SẼ:</a:t>
              </a:r>
            </a:p>
          </p:txBody>
        </p:sp>
        <p:sp>
          <p:nvSpPr>
            <p:cNvPr id="35" name="Ellipse 35"/>
            <p:cNvSpPr/>
            <p:nvPr/>
          </p:nvSpPr>
          <p:spPr>
            <a:xfrm>
              <a:off x="4962525" y="4038600"/>
              <a:ext cx="285750" cy="285750"/>
            </a:xfrm>
            <a:prstGeom prst="ellipse">
              <a:avLst/>
            </a:prstGeom>
            <a:solidFill>
              <a:schemeClr val="accent5"/>
            </a:solidFill>
            <a:ln>
              <a:noFill/>
            </a:ln>
          </p:spPr>
        </p:sp>
        <p:sp>
          <p:nvSpPr>
            <p:cNvPr id="36" name="TextBox 36"/>
            <p:cNvSpPr txBox="1"/>
            <p:nvPr/>
          </p:nvSpPr>
          <p:spPr>
            <a:xfrm>
              <a:off x="5039473" y="408622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1</a:t>
              </a:r>
            </a:p>
          </p:txBody>
        </p:sp>
        <p:sp>
          <p:nvSpPr>
            <p:cNvPr id="37" name="TextBox 37"/>
            <p:cNvSpPr txBox="1"/>
            <p:nvPr/>
          </p:nvSpPr>
          <p:spPr>
            <a:xfrm>
              <a:off x="5382768" y="4070032"/>
              <a:ext cx="5265992"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dk1"/>
                  </a:solidFill>
                  <a:latin typeface="+mn-lt"/>
                  <a:ea typeface="+mn-ea"/>
                  <a:cs typeface="+mn-cs"/>
                </a:rPr>
                <a:t>Phân biệt Custom Instructions, Project, Memory, Library;</a:t>
              </a:r>
              <a:br/>
              <a:r>
                <a:rPr lang="vi-VN" sz="1650" dirty="0">
                  <a:solidFill>
                    <a:schemeClr val="dk1"/>
                  </a:solidFill>
                  <a:latin typeface="+mn-lt"/>
                  <a:ea typeface="+mn-ea"/>
                  <a:cs typeface="+mn-cs"/>
                </a:rPr>
                <a:t>biết thông tin nào đặt ở đâu</a:t>
              </a:r>
            </a:p>
          </p:txBody>
        </p:sp>
        <p:sp>
          <p:nvSpPr>
            <p:cNvPr id="38" name="Ellipse 38"/>
            <p:cNvSpPr/>
            <p:nvPr/>
          </p:nvSpPr>
          <p:spPr>
            <a:xfrm>
              <a:off x="4962525" y="4800600"/>
              <a:ext cx="285750" cy="285750"/>
            </a:xfrm>
            <a:prstGeom prst="ellipse">
              <a:avLst/>
            </a:prstGeom>
            <a:solidFill>
              <a:schemeClr val="accent5"/>
            </a:solidFill>
            <a:ln>
              <a:noFill/>
            </a:ln>
          </p:spPr>
        </p:sp>
        <p:sp>
          <p:nvSpPr>
            <p:cNvPr id="39" name="TextBox 39"/>
            <p:cNvSpPr txBox="1"/>
            <p:nvPr/>
          </p:nvSpPr>
          <p:spPr>
            <a:xfrm>
              <a:off x="5039473" y="484822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2</a:t>
              </a:r>
            </a:p>
          </p:txBody>
        </p:sp>
        <p:sp>
          <p:nvSpPr>
            <p:cNvPr id="40" name="TextBox 40"/>
            <p:cNvSpPr txBox="1"/>
            <p:nvPr/>
          </p:nvSpPr>
          <p:spPr>
            <a:xfrm>
              <a:off x="5382768" y="4832032"/>
              <a:ext cx="5018281"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Viết được Instructions cho phòng ban của mình</a:t>
              </a:r>
            </a:p>
          </p:txBody>
        </p:sp>
        <p:sp>
          <p:nvSpPr>
            <p:cNvPr id="41" name="Ellipse 41"/>
            <p:cNvSpPr/>
            <p:nvPr/>
          </p:nvSpPr>
          <p:spPr>
            <a:xfrm>
              <a:off x="4962525" y="5257800"/>
              <a:ext cx="285750" cy="285750"/>
            </a:xfrm>
            <a:prstGeom prst="ellipse">
              <a:avLst/>
            </a:prstGeom>
            <a:solidFill>
              <a:schemeClr val="accent5"/>
            </a:solidFill>
            <a:ln>
              <a:noFill/>
            </a:ln>
          </p:spPr>
        </p:sp>
        <p:sp>
          <p:nvSpPr>
            <p:cNvPr id="42" name="TextBox 42"/>
            <p:cNvSpPr txBox="1"/>
            <p:nvPr/>
          </p:nvSpPr>
          <p:spPr>
            <a:xfrm>
              <a:off x="5039473" y="530542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3</a:t>
              </a:r>
            </a:p>
          </p:txBody>
        </p:sp>
        <p:sp>
          <p:nvSpPr>
            <p:cNvPr id="43" name="TextBox 43"/>
            <p:cNvSpPr txBox="1"/>
            <p:nvPr/>
          </p:nvSpPr>
          <p:spPr>
            <a:xfrm>
              <a:off x="5382768" y="5289232"/>
              <a:ext cx="6341521"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Kiểm tra ChatGPT có tuân thủ luật bằng phép thử chống bịa</a:t>
              </a:r>
            </a:p>
          </p:txBody>
        </p:sp>
        <p:sp>
          <p:nvSpPr>
            <p:cNvPr id="44" name="Ellipse 44"/>
            <p:cNvSpPr/>
            <p:nvPr/>
          </p:nvSpPr>
          <p:spPr>
            <a:xfrm>
              <a:off x="4962525" y="5715000"/>
              <a:ext cx="285750" cy="285750"/>
            </a:xfrm>
            <a:prstGeom prst="ellipse">
              <a:avLst/>
            </a:prstGeom>
            <a:solidFill>
              <a:schemeClr val="accent5"/>
            </a:solidFill>
            <a:ln>
              <a:noFill/>
            </a:ln>
          </p:spPr>
        </p:sp>
        <p:sp>
          <p:nvSpPr>
            <p:cNvPr id="45" name="TextBox 45"/>
            <p:cNvSpPr txBox="1"/>
            <p:nvPr/>
          </p:nvSpPr>
          <p:spPr>
            <a:xfrm>
              <a:off x="5039473" y="576262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4</a:t>
              </a:r>
            </a:p>
          </p:txBody>
        </p:sp>
        <p:sp>
          <p:nvSpPr>
            <p:cNvPr id="46" name="TextBox 46"/>
            <p:cNvSpPr txBox="1"/>
            <p:nvPr/>
          </p:nvSpPr>
          <p:spPr>
            <a:xfrm>
              <a:off x="5382768" y="5746432"/>
              <a:ext cx="3478597"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Tự cài đặt bảo mật cho tài khoản</a:t>
              </a:r>
            </a:p>
          </p:txBody>
        </p:sp>
      </p:grpSp>
      <p:sp>
        <p:nvSpPr>
          <p:cNvPr id="48" name="TextBox 48"/>
          <p:cNvSpPr txBox="1"/>
          <p:nvPr/>
        </p:nvSpPr>
        <p:spPr>
          <a:xfrm>
            <a:off x="4947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49" name="TextBox 49"/>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04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2416099" cy="234696"/>
            <a:chOff x="381000" y="346710"/>
            <a:chExt cx="2416099" cy="234696"/>
          </a:xfrm>
        </p:grpSpPr>
        <p:sp>
          <p:nvSpPr>
            <p:cNvPr id="2" name="Rectangle 2"/>
            <p:cNvSpPr/>
            <p:nvPr/>
          </p:nvSpPr>
          <p:spPr>
            <a:xfrm>
              <a:off x="381000" y="361950"/>
              <a:ext cx="114300" cy="114300"/>
            </a:xfrm>
            <a:prstGeom prst="roundRect">
              <a:avLst>
                <a:gd name="adj" fmla="val 25000"/>
              </a:avLst>
            </a:prstGeom>
            <a:solidFill>
              <a:schemeClr val="accent5"/>
            </a:solidFill>
            <a:ln>
              <a:noFill/>
            </a:ln>
          </p:spPr>
        </p:sp>
        <p:sp>
          <p:nvSpPr>
            <p:cNvPr id="3" name="TextBox 3"/>
            <p:cNvSpPr txBox="1"/>
            <p:nvPr/>
          </p:nvSpPr>
          <p:spPr>
            <a:xfrm>
              <a:off x="584454" y="346710"/>
              <a:ext cx="2212645"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1 · INSTRUCTIONS</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chemeClr val="accent2"/>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9662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5870734"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Ba nơi đặt Instructions,</a:t>
            </a:r>
            <a:br/>
            <a:r>
              <a:rPr lang="vi-VN" sz="3150" b="1" dirty="0">
                <a:solidFill>
                  <a:schemeClr val="accent1"/>
                </a:solidFill>
                <a:latin typeface="+mn-lt"/>
                <a:ea typeface="+mn-ea"/>
                <a:cs typeface="+mn-cs"/>
              </a:rPr>
              <a:t>mỗi nơi giữ một loại thông tin</a:t>
            </a:r>
          </a:p>
        </p:txBody>
      </p:sp>
      <p:grpSp>
        <p:nvGrpSpPr>
          <p:cNvPr id="34" name="Group 34"/>
          <p:cNvGrpSpPr/>
          <p:nvPr/>
        </p:nvGrpSpPr>
        <p:grpSpPr>
          <a:xfrm>
            <a:off x="381000" y="2114550"/>
            <a:ext cx="3657600" cy="3505200"/>
            <a:chOff x="381000" y="2114550"/>
            <a:chExt cx="3657600" cy="3505200"/>
          </a:xfrm>
        </p:grpSpPr>
        <p:sp>
          <p:nvSpPr>
            <p:cNvPr id="17" name="Rectangle 17"/>
            <p:cNvSpPr/>
            <p:nvPr/>
          </p:nvSpPr>
          <p:spPr>
            <a:xfrm>
              <a:off x="381000" y="2114550"/>
              <a:ext cx="3657600" cy="3505200"/>
            </a:xfrm>
            <a:prstGeom prst="roundRect">
              <a:avLst>
                <a:gd name="adj" fmla="val 4348"/>
              </a:avLst>
            </a:prstGeom>
            <a:solidFill>
              <a:schemeClr val="lt1"/>
            </a:solidFill>
            <a:ln w="14288">
              <a:solidFill>
                <a:schemeClr val="accent4"/>
              </a:solidFill>
            </a:ln>
          </p:spPr>
        </p:sp>
        <p:sp>
          <p:nvSpPr>
            <p:cNvPr id="18" name="Ellipse 18"/>
            <p:cNvSpPr/>
            <p:nvPr/>
          </p:nvSpPr>
          <p:spPr>
            <a:xfrm>
              <a:off x="609600" y="2324100"/>
              <a:ext cx="419100" cy="419100"/>
            </a:xfrm>
            <a:prstGeom prst="ellipse">
              <a:avLst/>
            </a:prstGeom>
            <a:solidFill>
              <a:schemeClr val="lt2"/>
            </a:solidFill>
            <a:ln>
              <a:noFill/>
            </a:ln>
          </p:spPr>
        </p:sp>
        <p:grpSp>
          <p:nvGrpSpPr>
            <p:cNvPr id="24" name="Group 24"/>
            <p:cNvGrpSpPr/>
            <p:nvPr/>
          </p:nvGrpSpPr>
          <p:grpSpPr>
            <a:xfrm>
              <a:off x="719138" y="2433638"/>
              <a:ext cx="200026" cy="188912"/>
              <a:chOff x="719138" y="2433638"/>
              <a:chExt cx="200026" cy="188912"/>
            </a:xfrm>
          </p:grpSpPr>
          <p:sp>
            <p:nvSpPr>
              <p:cNvPr id="19" name="Freeform 19"/>
              <p:cNvSpPr/>
              <p:nvPr/>
            </p:nvSpPr>
            <p:spPr>
              <a:xfrm>
                <a:off x="763588" y="2533650"/>
                <a:ext cx="33338" cy="44450"/>
              </a:xfrm>
              <a:custGeom>
                <a:avLst/>
                <a:gdLst/>
                <a:ahLst/>
                <a:cxnLst/>
                <a:rect l="l" t="t" r="r" b="b"/>
                <a:pathLst>
                  <a:path w="33338" h="44450">
                    <a:moveTo>
                      <a:pt x="0" y="0"/>
                    </a:moveTo>
                    <a:lnTo>
                      <a:pt x="33338" y="0"/>
                    </a:lnTo>
                    <a:lnTo>
                      <a:pt x="33338" y="44450"/>
                    </a:lnTo>
                    <a:lnTo>
                      <a:pt x="0" y="44450"/>
                    </a:lnTo>
                    <a:lnTo>
                      <a:pt x="0" y="0"/>
                    </a:lnTo>
                  </a:path>
                </a:pathLst>
              </a:custGeom>
              <a:noFill/>
              <a:ln w="22225">
                <a:solidFill>
                  <a:schemeClr val="accent5"/>
                </a:solidFill>
              </a:ln>
            </p:spPr>
          </p:sp>
          <p:sp>
            <p:nvSpPr>
              <p:cNvPr id="20" name="Freeform 20"/>
              <p:cNvSpPr/>
              <p:nvPr/>
            </p:nvSpPr>
            <p:spPr>
              <a:xfrm>
                <a:off x="719138" y="2466975"/>
                <a:ext cx="200026" cy="155575"/>
              </a:xfrm>
              <a:custGeom>
                <a:avLst/>
                <a:gdLst/>
                <a:ahLst/>
                <a:cxnLst/>
                <a:rect l="l" t="t" r="r" b="b"/>
                <a:pathLst>
                  <a:path w="200026" h="155575">
                    <a:moveTo>
                      <a:pt x="77788" y="0"/>
                    </a:moveTo>
                    <a:lnTo>
                      <a:pt x="11113" y="0"/>
                    </a:lnTo>
                    <a:cubicBezTo>
                      <a:pt x="4975" y="0"/>
                      <a:pt x="0" y="4975"/>
                      <a:pt x="0" y="11113"/>
                    </a:cubicBezTo>
                    <a:lnTo>
                      <a:pt x="0" y="144463"/>
                    </a:lnTo>
                    <a:cubicBezTo>
                      <a:pt x="0" y="150600"/>
                      <a:pt x="4975" y="155575"/>
                      <a:pt x="11113" y="155575"/>
                    </a:cubicBezTo>
                    <a:lnTo>
                      <a:pt x="188913" y="155575"/>
                    </a:lnTo>
                    <a:cubicBezTo>
                      <a:pt x="195050" y="155575"/>
                      <a:pt x="200026" y="150600"/>
                      <a:pt x="200026" y="144463"/>
                    </a:cubicBezTo>
                    <a:lnTo>
                      <a:pt x="200026" y="11113"/>
                    </a:lnTo>
                    <a:cubicBezTo>
                      <a:pt x="200026" y="4975"/>
                      <a:pt x="195050" y="0"/>
                      <a:pt x="188913" y="0"/>
                    </a:cubicBezTo>
                    <a:lnTo>
                      <a:pt x="122238" y="0"/>
                    </a:lnTo>
                  </a:path>
                </a:pathLst>
              </a:custGeom>
              <a:noFill/>
              <a:ln w="22225">
                <a:solidFill>
                  <a:schemeClr val="accent5"/>
                </a:solidFill>
              </a:ln>
            </p:spPr>
          </p:sp>
          <p:sp>
            <p:nvSpPr>
              <p:cNvPr id="21" name="Freeform 21"/>
              <p:cNvSpPr/>
              <p:nvPr/>
            </p:nvSpPr>
            <p:spPr>
              <a:xfrm>
                <a:off x="796925" y="2433638"/>
                <a:ext cx="44450" cy="55563"/>
              </a:xfrm>
              <a:custGeom>
                <a:avLst/>
                <a:gdLst/>
                <a:ahLst/>
                <a:cxnLst/>
                <a:rect l="l" t="t" r="r" b="b"/>
                <a:pathLst>
                  <a:path w="44450" h="55563">
                    <a:moveTo>
                      <a:pt x="0" y="11113"/>
                    </a:moveTo>
                    <a:cubicBezTo>
                      <a:pt x="0" y="4975"/>
                      <a:pt x="4975" y="0"/>
                      <a:pt x="11113" y="0"/>
                    </a:cubicBezTo>
                    <a:lnTo>
                      <a:pt x="33338" y="0"/>
                    </a:lnTo>
                    <a:cubicBezTo>
                      <a:pt x="39475" y="0"/>
                      <a:pt x="44450" y="4975"/>
                      <a:pt x="44450" y="11113"/>
                    </a:cubicBezTo>
                    <a:lnTo>
                      <a:pt x="44450" y="44450"/>
                    </a:lnTo>
                    <a:cubicBezTo>
                      <a:pt x="44450" y="50587"/>
                      <a:pt x="39475" y="55563"/>
                      <a:pt x="33338" y="55563"/>
                    </a:cubicBezTo>
                    <a:lnTo>
                      <a:pt x="11113" y="55563"/>
                    </a:lnTo>
                    <a:cubicBezTo>
                      <a:pt x="4975" y="55563"/>
                      <a:pt x="0" y="50587"/>
                      <a:pt x="0" y="44450"/>
                    </a:cubicBezTo>
                    <a:lnTo>
                      <a:pt x="0" y="11113"/>
                    </a:lnTo>
                  </a:path>
                </a:pathLst>
              </a:custGeom>
              <a:noFill/>
              <a:ln w="22225">
                <a:solidFill>
                  <a:schemeClr val="accent5"/>
                </a:solidFill>
              </a:ln>
            </p:spPr>
          </p:sp>
          <p:sp>
            <p:nvSpPr>
              <p:cNvPr id="22" name="Freeform 22"/>
              <p:cNvSpPr/>
              <p:nvPr/>
            </p:nvSpPr>
            <p:spPr>
              <a:xfrm>
                <a:off x="841375" y="2578101"/>
                <a:ext cx="22225" cy="9525"/>
              </a:xfrm>
              <a:custGeom>
                <a:avLst/>
                <a:gdLst/>
                <a:ahLst/>
                <a:cxnLst/>
                <a:rect l="l" t="t" r="r" b="b"/>
                <a:pathLst>
                  <a:path w="22225" h="9525">
                    <a:moveTo>
                      <a:pt x="0" y="0"/>
                    </a:moveTo>
                    <a:lnTo>
                      <a:pt x="22225" y="0"/>
                    </a:lnTo>
                  </a:path>
                </a:pathLst>
              </a:custGeom>
              <a:noFill/>
              <a:ln w="22225">
                <a:solidFill>
                  <a:schemeClr val="accent5"/>
                </a:solidFill>
              </a:ln>
            </p:spPr>
          </p:sp>
          <p:sp>
            <p:nvSpPr>
              <p:cNvPr id="23" name="Freeform 23"/>
              <p:cNvSpPr/>
              <p:nvPr/>
            </p:nvSpPr>
            <p:spPr>
              <a:xfrm>
                <a:off x="841375" y="2533650"/>
                <a:ext cx="44450" cy="9525"/>
              </a:xfrm>
              <a:custGeom>
                <a:avLst/>
                <a:gdLst/>
                <a:ahLst/>
                <a:cxnLst/>
                <a:rect l="l" t="t" r="r" b="b"/>
                <a:pathLst>
                  <a:path w="44450" h="9525">
                    <a:moveTo>
                      <a:pt x="0" y="0"/>
                    </a:moveTo>
                    <a:lnTo>
                      <a:pt x="44450" y="0"/>
                    </a:lnTo>
                  </a:path>
                </a:pathLst>
              </a:custGeom>
              <a:noFill/>
              <a:ln w="22225">
                <a:solidFill>
                  <a:schemeClr val="accent5"/>
                </a:solidFill>
              </a:ln>
            </p:spPr>
          </p:sp>
        </p:grpSp>
        <p:sp>
          <p:nvSpPr>
            <p:cNvPr id="25" name="TextBox 25"/>
            <p:cNvSpPr txBox="1"/>
            <p:nvPr/>
          </p:nvSpPr>
          <p:spPr>
            <a:xfrm>
              <a:off x="1133094" y="2408872"/>
              <a:ext cx="2765755"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Custom Instructions</a:t>
              </a:r>
            </a:p>
          </p:txBody>
        </p:sp>
        <p:sp>
          <p:nvSpPr>
            <p:cNvPr id="26" name="Rectangle 26"/>
            <p:cNvSpPr/>
            <p:nvPr/>
          </p:nvSpPr>
          <p:spPr>
            <a:xfrm>
              <a:off x="609600" y="2876550"/>
              <a:ext cx="2114550" cy="304800"/>
            </a:xfrm>
            <a:prstGeom prst="roundRect">
              <a:avLst>
                <a:gd name="adj" fmla="val 50000"/>
              </a:avLst>
            </a:prstGeom>
            <a:solidFill>
              <a:schemeClr val="lt2"/>
            </a:solidFill>
            <a:ln>
              <a:noFill/>
            </a:ln>
          </p:spPr>
        </p:sp>
        <p:sp>
          <p:nvSpPr>
            <p:cNvPr id="27" name="TextBox 27"/>
            <p:cNvSpPr txBox="1"/>
            <p:nvPr/>
          </p:nvSpPr>
          <p:spPr>
            <a:xfrm>
              <a:off x="717042" y="2940368"/>
              <a:ext cx="2028596"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Áp dụng: mọi cuộc chat</a:t>
              </a:r>
            </a:p>
          </p:txBody>
        </p:sp>
        <p:sp>
          <p:nvSpPr>
            <p:cNvPr id="28" name="TextBox 28"/>
            <p:cNvSpPr txBox="1"/>
            <p:nvPr/>
          </p:nvSpPr>
          <p:spPr>
            <a:xfrm>
              <a:off x="603504" y="3413760"/>
              <a:ext cx="612160"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VÍ NHƯ</a:t>
              </a:r>
            </a:p>
          </p:txBody>
        </p:sp>
        <p:sp>
          <p:nvSpPr>
            <p:cNvPr id="29" name="TextBox 29"/>
            <p:cNvSpPr txBox="1"/>
            <p:nvPr/>
          </p:nvSpPr>
          <p:spPr>
            <a:xfrm>
              <a:off x="601218" y="3631882"/>
              <a:ext cx="2845330"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Danh thiếp của chính mình</a:t>
              </a:r>
            </a:p>
          </p:txBody>
        </p:sp>
        <p:sp>
          <p:nvSpPr>
            <p:cNvPr id="30" name="TextBox 30"/>
            <p:cNvSpPr txBox="1"/>
            <p:nvPr/>
          </p:nvSpPr>
          <p:spPr>
            <a:xfrm>
              <a:off x="603504" y="4080510"/>
              <a:ext cx="1040160"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ĐẶT GÌ VÀO</a:t>
              </a:r>
            </a:p>
          </p:txBody>
        </p:sp>
        <p:sp>
          <p:nvSpPr>
            <p:cNvPr id="31" name="TextBox 31"/>
            <p:cNvSpPr txBox="1"/>
            <p:nvPr/>
          </p:nvSpPr>
          <p:spPr>
            <a:xfrm>
              <a:off x="601218" y="4298632"/>
              <a:ext cx="2573274"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dk1"/>
                  </a:solidFill>
                  <a:latin typeface="+mn-lt"/>
                  <a:ea typeface="+mn-ea"/>
                  <a:cs typeface="+mn-cs"/>
                </a:rPr>
                <a:t>Chức danh, cách xưng hô,</a:t>
              </a:r>
              <a:br/>
              <a:r>
                <a:rPr lang="vi-VN" sz="1650" dirty="0">
                  <a:solidFill>
                    <a:schemeClr val="dk1"/>
                  </a:solidFill>
                  <a:latin typeface="+mn-lt"/>
                  <a:ea typeface="+mn-ea"/>
                  <a:cs typeface="+mn-cs"/>
                </a:rPr>
                <a:t>văn phong</a:t>
              </a:r>
            </a:p>
          </p:txBody>
        </p:sp>
        <p:sp>
          <p:nvSpPr>
            <p:cNvPr id="32" name="Line 32"/>
            <p:cNvSpPr/>
            <p:nvPr/>
          </p:nvSpPr>
          <p:spPr>
            <a:xfrm>
              <a:off x="609600" y="4972050"/>
              <a:ext cx="3200400" cy="9525"/>
            </a:xfrm>
            <a:custGeom>
              <a:avLst/>
              <a:gdLst/>
              <a:ahLst/>
              <a:cxnLst/>
              <a:rect l="l" t="t" r="r" b="b"/>
              <a:pathLst>
                <a:path w="3200400" h="9525">
                  <a:moveTo>
                    <a:pt x="0" y="0"/>
                  </a:moveTo>
                  <a:lnTo>
                    <a:pt x="3200400" y="0"/>
                  </a:lnTo>
                </a:path>
              </a:pathLst>
            </a:custGeom>
            <a:noFill/>
            <a:ln w="9525">
              <a:solidFill>
                <a:schemeClr val="accent4"/>
              </a:solidFill>
            </a:ln>
          </p:spPr>
        </p:sp>
        <p:sp>
          <p:nvSpPr>
            <p:cNvPr id="33" name="TextBox 33"/>
            <p:cNvSpPr txBox="1"/>
            <p:nvPr/>
          </p:nvSpPr>
          <p:spPr>
            <a:xfrm>
              <a:off x="603504" y="5109210"/>
              <a:ext cx="2092452" cy="444246"/>
            </a:xfrm>
            <a:prstGeom prst="rect">
              <a:avLst/>
            </a:prstGeom>
            <a:noFill/>
            <a:ln>
              <a:noFill/>
            </a:ln>
          </p:spPr>
          <p:txBody>
            <a:bodyPr wrap="none" lIns="0" tIns="0" rIns="0" bIns="0" anchor="t" anchorCtr="0">
              <a:spAutoFit/>
            </a:bodyPr>
            <a:lstStyle/>
            <a:p>
              <a:pPr algn="l">
                <a:lnSpc>
                  <a:spcPts val="1650"/>
                </a:lnSpc>
              </a:pPr>
              <a:r>
                <a:rPr lang="vi-VN" sz="1200" dirty="0">
                  <a:solidFill>
                    <a:srgbClr val="5B6675"/>
                  </a:solidFill>
                  <a:latin typeface="+mn-lt"/>
                  <a:ea typeface="+mn-ea"/>
                  <a:cs typeface="+mn-cs"/>
                </a:rPr>
                <a:t>Settings → Personalization →</a:t>
              </a:r>
              <a:br/>
              <a:r>
                <a:rPr lang="vi-VN" sz="1200" dirty="0">
                  <a:solidFill>
                    <a:srgbClr val="5B6675"/>
                  </a:solidFill>
                  <a:latin typeface="+mn-lt"/>
                  <a:ea typeface="+mn-ea"/>
                  <a:cs typeface="+mn-cs"/>
                </a:rPr>
                <a:t>Custom instructions</a:t>
              </a:r>
            </a:p>
          </p:txBody>
        </p:sp>
      </p:grpSp>
      <p:grpSp>
        <p:nvGrpSpPr>
          <p:cNvPr id="47" name="Group 47"/>
          <p:cNvGrpSpPr/>
          <p:nvPr/>
        </p:nvGrpSpPr>
        <p:grpSpPr>
          <a:xfrm>
            <a:off x="4267200" y="2114550"/>
            <a:ext cx="3657600" cy="3505200"/>
            <a:chOff x="4267200" y="2114550"/>
            <a:chExt cx="3657600" cy="3505200"/>
          </a:xfrm>
        </p:grpSpPr>
        <p:sp>
          <p:nvSpPr>
            <p:cNvPr id="35" name="Rectangle 35"/>
            <p:cNvSpPr/>
            <p:nvPr/>
          </p:nvSpPr>
          <p:spPr>
            <a:xfrm>
              <a:off x="4267200" y="2114550"/>
              <a:ext cx="3657600" cy="3505200"/>
            </a:xfrm>
            <a:prstGeom prst="roundRect">
              <a:avLst>
                <a:gd name="adj" fmla="val 4348"/>
              </a:avLst>
            </a:prstGeom>
            <a:solidFill>
              <a:schemeClr val="lt1"/>
            </a:solidFill>
            <a:ln w="14288">
              <a:solidFill>
                <a:schemeClr val="accent4"/>
              </a:solidFill>
            </a:ln>
          </p:spPr>
        </p:sp>
        <p:sp>
          <p:nvSpPr>
            <p:cNvPr id="36" name="Ellipse 36"/>
            <p:cNvSpPr/>
            <p:nvPr/>
          </p:nvSpPr>
          <p:spPr>
            <a:xfrm>
              <a:off x="4495800" y="2324100"/>
              <a:ext cx="419100" cy="419100"/>
            </a:xfrm>
            <a:prstGeom prst="ellipse">
              <a:avLst/>
            </a:prstGeom>
            <a:solidFill>
              <a:schemeClr val="lt2"/>
            </a:solidFill>
            <a:ln>
              <a:noFill/>
            </a:ln>
          </p:spPr>
        </p:sp>
        <p:sp>
          <p:nvSpPr>
            <p:cNvPr id="37" name="Freeform 37"/>
            <p:cNvSpPr/>
            <p:nvPr/>
          </p:nvSpPr>
          <p:spPr>
            <a:xfrm>
              <a:off x="4605338" y="2444750"/>
              <a:ext cx="200026" cy="166688"/>
            </a:xfrm>
            <a:custGeom>
              <a:avLst/>
              <a:gdLst/>
              <a:ahLst/>
              <a:cxnLst/>
              <a:rect l="l" t="t" r="r" b="b"/>
              <a:pathLst>
                <a:path w="200026" h="166688">
                  <a:moveTo>
                    <a:pt x="22225" y="0"/>
                  </a:moveTo>
                  <a:lnTo>
                    <a:pt x="66675" y="0"/>
                  </a:lnTo>
                  <a:lnTo>
                    <a:pt x="100013" y="33338"/>
                  </a:lnTo>
                  <a:lnTo>
                    <a:pt x="177801" y="33338"/>
                  </a:lnTo>
                  <a:cubicBezTo>
                    <a:pt x="190075" y="33338"/>
                    <a:pt x="200026" y="43288"/>
                    <a:pt x="200026" y="55563"/>
                  </a:cubicBezTo>
                  <a:lnTo>
                    <a:pt x="200026" y="144463"/>
                  </a:lnTo>
                  <a:cubicBezTo>
                    <a:pt x="200026" y="156737"/>
                    <a:pt x="190075" y="166688"/>
                    <a:pt x="177801" y="166688"/>
                  </a:cubicBezTo>
                  <a:lnTo>
                    <a:pt x="22225" y="166688"/>
                  </a:lnTo>
                  <a:cubicBezTo>
                    <a:pt x="9950" y="166688"/>
                    <a:pt x="0" y="156737"/>
                    <a:pt x="0" y="144463"/>
                  </a:cubicBezTo>
                  <a:lnTo>
                    <a:pt x="0" y="22225"/>
                  </a:lnTo>
                  <a:cubicBezTo>
                    <a:pt x="0" y="9950"/>
                    <a:pt x="9950" y="0"/>
                    <a:pt x="22225" y="0"/>
                  </a:cubicBezTo>
                </a:path>
              </a:pathLst>
            </a:custGeom>
            <a:noFill/>
            <a:ln w="22225">
              <a:solidFill>
                <a:schemeClr val="accent5"/>
              </a:solidFill>
            </a:ln>
          </p:spPr>
        </p:sp>
        <p:sp>
          <p:nvSpPr>
            <p:cNvPr id="38" name="TextBox 38"/>
            <p:cNvSpPr txBox="1"/>
            <p:nvPr/>
          </p:nvSpPr>
          <p:spPr>
            <a:xfrm>
              <a:off x="5019294" y="2408872"/>
              <a:ext cx="2784368"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Project instructions</a:t>
              </a:r>
            </a:p>
          </p:txBody>
        </p:sp>
        <p:sp>
          <p:nvSpPr>
            <p:cNvPr id="39" name="Rectangle 39"/>
            <p:cNvSpPr/>
            <p:nvPr/>
          </p:nvSpPr>
          <p:spPr>
            <a:xfrm>
              <a:off x="4495800" y="2876550"/>
              <a:ext cx="2800350" cy="304800"/>
            </a:xfrm>
            <a:prstGeom prst="roundRect">
              <a:avLst>
                <a:gd name="adj" fmla="val 50000"/>
              </a:avLst>
            </a:prstGeom>
            <a:solidFill>
              <a:schemeClr val="lt2"/>
            </a:solidFill>
            <a:ln>
              <a:noFill/>
            </a:ln>
          </p:spPr>
        </p:sp>
        <p:sp>
          <p:nvSpPr>
            <p:cNvPr id="40" name="TextBox 40"/>
            <p:cNvSpPr txBox="1"/>
            <p:nvPr/>
          </p:nvSpPr>
          <p:spPr>
            <a:xfrm>
              <a:off x="4603242" y="2940368"/>
              <a:ext cx="275263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Áp dụng: chat trong Project đó</a:t>
              </a:r>
            </a:p>
          </p:txBody>
        </p:sp>
        <p:sp>
          <p:nvSpPr>
            <p:cNvPr id="41" name="TextBox 41"/>
            <p:cNvSpPr txBox="1"/>
            <p:nvPr/>
          </p:nvSpPr>
          <p:spPr>
            <a:xfrm>
              <a:off x="4489704" y="3413760"/>
              <a:ext cx="612160"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VÍ NHƯ</a:t>
              </a:r>
            </a:p>
          </p:txBody>
        </p:sp>
        <p:sp>
          <p:nvSpPr>
            <p:cNvPr id="42" name="TextBox 42"/>
            <p:cNvSpPr txBox="1"/>
            <p:nvPr/>
          </p:nvSpPr>
          <p:spPr>
            <a:xfrm>
              <a:off x="4487418" y="3631882"/>
              <a:ext cx="2723599"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Hồ sơ nhập môn của phòng</a:t>
              </a:r>
            </a:p>
          </p:txBody>
        </p:sp>
        <p:sp>
          <p:nvSpPr>
            <p:cNvPr id="43" name="TextBox 43"/>
            <p:cNvSpPr txBox="1"/>
            <p:nvPr/>
          </p:nvSpPr>
          <p:spPr>
            <a:xfrm>
              <a:off x="4489704" y="4080510"/>
              <a:ext cx="1040160"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ĐẶT GÌ VÀO</a:t>
              </a:r>
            </a:p>
          </p:txBody>
        </p:sp>
        <p:sp>
          <p:nvSpPr>
            <p:cNvPr id="44" name="TextBox 44"/>
            <p:cNvSpPr txBox="1"/>
            <p:nvPr/>
          </p:nvSpPr>
          <p:spPr>
            <a:xfrm>
              <a:off x="4487418" y="4298632"/>
              <a:ext cx="3023807"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dk1"/>
                  </a:solidFill>
                  <a:latin typeface="+mn-lt"/>
                  <a:ea typeface="+mn-ea"/>
                  <a:cs typeface="+mn-cs"/>
                </a:rPr>
                <a:t>Đơn vị, sản phẩm, thuật ngữ,</a:t>
              </a:r>
              <a:br/>
              <a:r>
                <a:rPr lang="vi-VN" sz="1650" dirty="0">
                  <a:solidFill>
                    <a:schemeClr val="dk1"/>
                  </a:solidFill>
                  <a:latin typeface="+mn-lt"/>
                  <a:ea typeface="+mn-ea"/>
                  <a:cs typeface="+mn-cs"/>
                </a:rPr>
                <a:t>luật riêng + file tham chiếu</a:t>
              </a:r>
            </a:p>
          </p:txBody>
        </p:sp>
        <p:sp>
          <p:nvSpPr>
            <p:cNvPr id="45" name="Line 45"/>
            <p:cNvSpPr/>
            <p:nvPr/>
          </p:nvSpPr>
          <p:spPr>
            <a:xfrm>
              <a:off x="4495800" y="4972050"/>
              <a:ext cx="3200400" cy="9525"/>
            </a:xfrm>
            <a:custGeom>
              <a:avLst/>
              <a:gdLst/>
              <a:ahLst/>
              <a:cxnLst/>
              <a:rect l="l" t="t" r="r" b="b"/>
              <a:pathLst>
                <a:path w="3200400" h="9525">
                  <a:moveTo>
                    <a:pt x="0" y="0"/>
                  </a:moveTo>
                  <a:lnTo>
                    <a:pt x="3200400" y="0"/>
                  </a:lnTo>
                </a:path>
              </a:pathLst>
            </a:custGeom>
            <a:noFill/>
            <a:ln w="9525">
              <a:solidFill>
                <a:schemeClr val="accent4"/>
              </a:solidFill>
            </a:ln>
          </p:spPr>
        </p:sp>
        <p:sp>
          <p:nvSpPr>
            <p:cNvPr id="46" name="TextBox 46"/>
            <p:cNvSpPr txBox="1"/>
            <p:nvPr/>
          </p:nvSpPr>
          <p:spPr>
            <a:xfrm>
              <a:off x="4489704" y="5109210"/>
              <a:ext cx="1444752" cy="444246"/>
            </a:xfrm>
            <a:prstGeom prst="rect">
              <a:avLst/>
            </a:prstGeom>
            <a:noFill/>
            <a:ln>
              <a:noFill/>
            </a:ln>
          </p:spPr>
          <p:txBody>
            <a:bodyPr wrap="none" lIns="0" tIns="0" rIns="0" bIns="0" anchor="t" anchorCtr="0">
              <a:spAutoFit/>
            </a:bodyPr>
            <a:lstStyle/>
            <a:p>
              <a:pPr algn="l">
                <a:lnSpc>
                  <a:spcPts val="1650"/>
                </a:lnSpc>
              </a:pPr>
              <a:r>
                <a:rPr lang="vi-VN" sz="1200" dirty="0">
                  <a:solidFill>
                    <a:srgbClr val="5B6675"/>
                  </a:solidFill>
                  <a:latin typeface="+mn-lt"/>
                  <a:ea typeface="+mn-ea"/>
                  <a:cs typeface="+mn-cs"/>
                </a:rPr>
                <a:t>Projects + → ••• → Project settings</a:t>
              </a:r>
              <a:br/>
              <a:r>
                <a:rPr lang="vi-VN" sz="1200" dirty="0">
                  <a:solidFill>
                    <a:srgbClr val="5B6675"/>
                  </a:solidFill>
                  <a:latin typeface="+mn-lt"/>
                  <a:ea typeface="+mn-ea"/>
                  <a:cs typeface="+mn-cs"/>
                </a:rPr>
                <a:t>File: tab Sources → Add sources</a:t>
              </a:r>
            </a:p>
          </p:txBody>
        </p:sp>
      </p:grpSp>
      <p:grpSp>
        <p:nvGrpSpPr>
          <p:cNvPr id="66" name="Group 66"/>
          <p:cNvGrpSpPr/>
          <p:nvPr/>
        </p:nvGrpSpPr>
        <p:grpSpPr>
          <a:xfrm>
            <a:off x="8153400" y="2114550"/>
            <a:ext cx="3657600" cy="3505200"/>
            <a:chOff x="8153400" y="2114550"/>
            <a:chExt cx="3657600" cy="3505200"/>
          </a:xfrm>
        </p:grpSpPr>
        <p:sp>
          <p:nvSpPr>
            <p:cNvPr id="48" name="Rectangle 48"/>
            <p:cNvSpPr/>
            <p:nvPr/>
          </p:nvSpPr>
          <p:spPr>
            <a:xfrm>
              <a:off x="8153400" y="2114550"/>
              <a:ext cx="3657600" cy="3505200"/>
            </a:xfrm>
            <a:prstGeom prst="roundRect">
              <a:avLst>
                <a:gd name="adj" fmla="val 4348"/>
              </a:avLst>
            </a:prstGeom>
            <a:solidFill>
              <a:schemeClr val="lt1"/>
            </a:solidFill>
            <a:ln w="14288">
              <a:solidFill>
                <a:schemeClr val="accent4"/>
              </a:solidFill>
            </a:ln>
          </p:spPr>
        </p:sp>
        <p:sp>
          <p:nvSpPr>
            <p:cNvPr id="49" name="Ellipse 49"/>
            <p:cNvSpPr/>
            <p:nvPr/>
          </p:nvSpPr>
          <p:spPr>
            <a:xfrm>
              <a:off x="8382000" y="2324100"/>
              <a:ext cx="419100" cy="419100"/>
            </a:xfrm>
            <a:prstGeom prst="ellipse">
              <a:avLst/>
            </a:prstGeom>
            <a:solidFill>
              <a:schemeClr val="lt2"/>
            </a:solidFill>
            <a:ln>
              <a:noFill/>
            </a:ln>
          </p:spPr>
        </p:sp>
        <p:grpSp>
          <p:nvGrpSpPr>
            <p:cNvPr id="56" name="Group 56"/>
            <p:cNvGrpSpPr/>
            <p:nvPr/>
          </p:nvGrpSpPr>
          <p:grpSpPr>
            <a:xfrm>
              <a:off x="8491538" y="2433638"/>
              <a:ext cx="200025" cy="200025"/>
              <a:chOff x="8491538" y="2433638"/>
              <a:chExt cx="200025" cy="200025"/>
            </a:xfrm>
          </p:grpSpPr>
          <p:sp>
            <p:nvSpPr>
              <p:cNvPr id="50" name="Freeform 50"/>
              <p:cNvSpPr/>
              <p:nvPr/>
            </p:nvSpPr>
            <p:spPr>
              <a:xfrm>
                <a:off x="8591550" y="2544763"/>
                <a:ext cx="77788" cy="88900"/>
              </a:xfrm>
              <a:custGeom>
                <a:avLst/>
                <a:gdLst/>
                <a:ahLst/>
                <a:cxnLst/>
                <a:rect l="l" t="t" r="r" b="b"/>
                <a:pathLst>
                  <a:path w="77788" h="88900">
                    <a:moveTo>
                      <a:pt x="38894" y="0"/>
                    </a:moveTo>
                    <a:cubicBezTo>
                      <a:pt x="17413" y="0"/>
                      <a:pt x="0" y="17413"/>
                      <a:pt x="0" y="38894"/>
                    </a:cubicBezTo>
                    <a:lnTo>
                      <a:pt x="0" y="50006"/>
                    </a:lnTo>
                    <a:cubicBezTo>
                      <a:pt x="0" y="71487"/>
                      <a:pt x="17413" y="88900"/>
                      <a:pt x="38894" y="88900"/>
                    </a:cubicBezTo>
                    <a:cubicBezTo>
                      <a:pt x="60374" y="88900"/>
                      <a:pt x="77788" y="71487"/>
                      <a:pt x="77788" y="50006"/>
                    </a:cubicBezTo>
                    <a:lnTo>
                      <a:pt x="77788" y="30004"/>
                    </a:lnTo>
                  </a:path>
                </a:pathLst>
              </a:custGeom>
              <a:noFill/>
              <a:ln w="22225">
                <a:solidFill>
                  <a:schemeClr val="accent5"/>
                </a:solidFill>
              </a:ln>
            </p:spPr>
          </p:sp>
          <p:sp>
            <p:nvSpPr>
              <p:cNvPr id="51" name="Freeform 51"/>
              <p:cNvSpPr/>
              <p:nvPr/>
            </p:nvSpPr>
            <p:spPr>
              <a:xfrm>
                <a:off x="8513763" y="2544763"/>
                <a:ext cx="77788" cy="88900"/>
              </a:xfrm>
              <a:custGeom>
                <a:avLst/>
                <a:gdLst/>
                <a:ahLst/>
                <a:cxnLst/>
                <a:rect l="l" t="t" r="r" b="b"/>
                <a:pathLst>
                  <a:path w="77788" h="88900">
                    <a:moveTo>
                      <a:pt x="38894" y="0"/>
                    </a:moveTo>
                    <a:cubicBezTo>
                      <a:pt x="60374" y="0"/>
                      <a:pt x="77788" y="17413"/>
                      <a:pt x="77788" y="38894"/>
                    </a:cubicBezTo>
                    <a:lnTo>
                      <a:pt x="77788" y="50006"/>
                    </a:lnTo>
                    <a:cubicBezTo>
                      <a:pt x="77788" y="71487"/>
                      <a:pt x="60374" y="88900"/>
                      <a:pt x="38894" y="88900"/>
                    </a:cubicBezTo>
                    <a:cubicBezTo>
                      <a:pt x="17413" y="88900"/>
                      <a:pt x="0" y="71487"/>
                      <a:pt x="0" y="50006"/>
                    </a:cubicBezTo>
                    <a:lnTo>
                      <a:pt x="0" y="30004"/>
                    </a:lnTo>
                  </a:path>
                </a:pathLst>
              </a:custGeom>
              <a:noFill/>
              <a:ln w="22225">
                <a:solidFill>
                  <a:schemeClr val="accent5"/>
                </a:solidFill>
              </a:ln>
            </p:spPr>
          </p:sp>
          <p:sp>
            <p:nvSpPr>
              <p:cNvPr id="52" name="Freeform 52"/>
              <p:cNvSpPr/>
              <p:nvPr/>
            </p:nvSpPr>
            <p:spPr>
              <a:xfrm>
                <a:off x="8647113" y="2500313"/>
                <a:ext cx="44450" cy="77788"/>
              </a:xfrm>
              <a:custGeom>
                <a:avLst/>
                <a:gdLst/>
                <a:ahLst/>
                <a:cxnLst/>
                <a:rect l="l" t="t" r="r" b="b"/>
                <a:pathLst>
                  <a:path w="44450" h="77788">
                    <a:moveTo>
                      <a:pt x="5556" y="77788"/>
                    </a:moveTo>
                    <a:cubicBezTo>
                      <a:pt x="27037" y="77788"/>
                      <a:pt x="44450" y="60374"/>
                      <a:pt x="44450" y="38894"/>
                    </a:cubicBezTo>
                    <a:cubicBezTo>
                      <a:pt x="44450" y="17413"/>
                      <a:pt x="27037" y="0"/>
                      <a:pt x="5556" y="0"/>
                    </a:cubicBezTo>
                    <a:lnTo>
                      <a:pt x="0" y="0"/>
                    </a:lnTo>
                  </a:path>
                </a:pathLst>
              </a:custGeom>
              <a:noFill/>
              <a:ln w="22225">
                <a:solidFill>
                  <a:schemeClr val="accent5"/>
                </a:solidFill>
              </a:ln>
            </p:spPr>
          </p:sp>
          <p:sp>
            <p:nvSpPr>
              <p:cNvPr id="53" name="Freeform 53"/>
              <p:cNvSpPr/>
              <p:nvPr/>
            </p:nvSpPr>
            <p:spPr>
              <a:xfrm>
                <a:off x="8591550" y="2433638"/>
                <a:ext cx="77788" cy="70009"/>
              </a:xfrm>
              <a:custGeom>
                <a:avLst/>
                <a:gdLst/>
                <a:ahLst/>
                <a:cxnLst/>
                <a:rect l="l" t="t" r="r" b="b"/>
                <a:pathLst>
                  <a:path w="77788" h="70009">
                    <a:moveTo>
                      <a:pt x="77788" y="70009"/>
                    </a:moveTo>
                    <a:lnTo>
                      <a:pt x="77788" y="38894"/>
                    </a:lnTo>
                    <a:cubicBezTo>
                      <a:pt x="77788" y="17413"/>
                      <a:pt x="60374" y="0"/>
                      <a:pt x="38894" y="0"/>
                    </a:cubicBezTo>
                    <a:cubicBezTo>
                      <a:pt x="17413" y="0"/>
                      <a:pt x="0" y="17413"/>
                      <a:pt x="0" y="38894"/>
                    </a:cubicBezTo>
                  </a:path>
                </a:pathLst>
              </a:custGeom>
              <a:noFill/>
              <a:ln w="22225">
                <a:solidFill>
                  <a:schemeClr val="accent5"/>
                </a:solidFill>
              </a:ln>
            </p:spPr>
          </p:sp>
          <p:sp>
            <p:nvSpPr>
              <p:cNvPr id="54" name="Freeform 54"/>
              <p:cNvSpPr/>
              <p:nvPr/>
            </p:nvSpPr>
            <p:spPr>
              <a:xfrm>
                <a:off x="8491538" y="2500313"/>
                <a:ext cx="44450" cy="77788"/>
              </a:xfrm>
              <a:custGeom>
                <a:avLst/>
                <a:gdLst/>
                <a:ahLst/>
                <a:cxnLst/>
                <a:rect l="l" t="t" r="r" b="b"/>
                <a:pathLst>
                  <a:path w="44450" h="77788">
                    <a:moveTo>
                      <a:pt x="38894" y="77788"/>
                    </a:moveTo>
                    <a:cubicBezTo>
                      <a:pt x="17413" y="77788"/>
                      <a:pt x="0" y="60374"/>
                      <a:pt x="0" y="38894"/>
                    </a:cubicBezTo>
                    <a:cubicBezTo>
                      <a:pt x="0" y="17413"/>
                      <a:pt x="17413" y="0"/>
                      <a:pt x="38894" y="0"/>
                    </a:cubicBezTo>
                    <a:lnTo>
                      <a:pt x="44450" y="0"/>
                    </a:lnTo>
                  </a:path>
                </a:pathLst>
              </a:custGeom>
              <a:noFill/>
              <a:ln w="22225">
                <a:solidFill>
                  <a:schemeClr val="accent5"/>
                </a:solidFill>
              </a:ln>
            </p:spPr>
          </p:sp>
          <p:sp>
            <p:nvSpPr>
              <p:cNvPr id="55" name="Freeform 55"/>
              <p:cNvSpPr/>
              <p:nvPr/>
            </p:nvSpPr>
            <p:spPr>
              <a:xfrm>
                <a:off x="8513763" y="2433638"/>
                <a:ext cx="77788" cy="150019"/>
              </a:xfrm>
              <a:custGeom>
                <a:avLst/>
                <a:gdLst/>
                <a:ahLst/>
                <a:cxnLst/>
                <a:rect l="l" t="t" r="r" b="b"/>
                <a:pathLst>
                  <a:path w="77788" h="150019">
                    <a:moveTo>
                      <a:pt x="0" y="70009"/>
                    </a:moveTo>
                    <a:lnTo>
                      <a:pt x="0" y="38894"/>
                    </a:lnTo>
                    <a:cubicBezTo>
                      <a:pt x="0" y="17413"/>
                      <a:pt x="17413" y="0"/>
                      <a:pt x="38894" y="0"/>
                    </a:cubicBezTo>
                    <a:cubicBezTo>
                      <a:pt x="60374" y="0"/>
                      <a:pt x="77788" y="17413"/>
                      <a:pt x="77788" y="38894"/>
                    </a:cubicBezTo>
                    <a:lnTo>
                      <a:pt x="77788" y="150019"/>
                    </a:lnTo>
                  </a:path>
                </a:pathLst>
              </a:custGeom>
              <a:noFill/>
              <a:ln w="22225">
                <a:solidFill>
                  <a:schemeClr val="accent5"/>
                </a:solidFill>
              </a:ln>
            </p:spPr>
          </p:sp>
        </p:grpSp>
        <p:sp>
          <p:nvSpPr>
            <p:cNvPr id="57" name="TextBox 57"/>
            <p:cNvSpPr txBox="1"/>
            <p:nvPr/>
          </p:nvSpPr>
          <p:spPr>
            <a:xfrm>
              <a:off x="8905494" y="2408872"/>
              <a:ext cx="1049281"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Memory</a:t>
              </a:r>
            </a:p>
          </p:txBody>
        </p:sp>
        <p:sp>
          <p:nvSpPr>
            <p:cNvPr id="58" name="Rectangle 58"/>
            <p:cNvSpPr/>
            <p:nvPr/>
          </p:nvSpPr>
          <p:spPr>
            <a:xfrm>
              <a:off x="8382000" y="2876550"/>
              <a:ext cx="2628900" cy="304800"/>
            </a:xfrm>
            <a:prstGeom prst="roundRect">
              <a:avLst>
                <a:gd name="adj" fmla="val 50000"/>
              </a:avLst>
            </a:prstGeom>
            <a:solidFill>
              <a:schemeClr val="lt2"/>
            </a:solidFill>
            <a:ln>
              <a:noFill/>
            </a:ln>
          </p:spPr>
        </p:sp>
        <p:sp>
          <p:nvSpPr>
            <p:cNvPr id="59" name="TextBox 59"/>
            <p:cNvSpPr txBox="1"/>
            <p:nvPr/>
          </p:nvSpPr>
          <p:spPr>
            <a:xfrm>
              <a:off x="8489442" y="2940368"/>
              <a:ext cx="2501113"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Áp dụng: tự ghi qua các chat</a:t>
              </a:r>
            </a:p>
          </p:txBody>
        </p:sp>
        <p:sp>
          <p:nvSpPr>
            <p:cNvPr id="60" name="TextBox 60"/>
            <p:cNvSpPr txBox="1"/>
            <p:nvPr/>
          </p:nvSpPr>
          <p:spPr>
            <a:xfrm>
              <a:off x="8375904" y="3413760"/>
              <a:ext cx="612160"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VÍ NHƯ</a:t>
              </a:r>
            </a:p>
          </p:txBody>
        </p:sp>
        <p:sp>
          <p:nvSpPr>
            <p:cNvPr id="61" name="TextBox 61"/>
            <p:cNvSpPr txBox="1"/>
            <p:nvPr/>
          </p:nvSpPr>
          <p:spPr>
            <a:xfrm>
              <a:off x="8373618" y="3631882"/>
              <a:ext cx="1079313"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Sổ giao ca + tủ hồ sơ</a:t>
              </a:r>
            </a:p>
          </p:txBody>
        </p:sp>
        <p:sp>
          <p:nvSpPr>
            <p:cNvPr id="62" name="TextBox 62"/>
            <p:cNvSpPr txBox="1"/>
            <p:nvPr/>
          </p:nvSpPr>
          <p:spPr>
            <a:xfrm>
              <a:off x="8375904" y="4080510"/>
              <a:ext cx="1040160"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ĐẶT GÌ VÀO</a:t>
              </a:r>
            </a:p>
          </p:txBody>
        </p:sp>
        <p:sp>
          <p:nvSpPr>
            <p:cNvPr id="63" name="TextBox 63"/>
            <p:cNvSpPr txBox="1"/>
            <p:nvPr/>
          </p:nvSpPr>
          <p:spPr>
            <a:xfrm>
              <a:off x="8373618" y="4298632"/>
              <a:ext cx="2636139"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dk1"/>
                  </a:solidFill>
                  <a:latin typeface="+mn-lt"/>
                  <a:ea typeface="+mn-ea"/>
                  <a:cs typeface="+mn-cs"/>
                </a:rPr>
                <a:t>Thói quen nhỏ, như “thích bảng”;</a:t>
              </a:r>
              <a:br/>
              <a:r>
                <a:rPr lang="vi-VN" sz="1650" dirty="0">
                  <a:solidFill>
                    <a:schemeClr val="dk1"/>
                  </a:solidFill>
                  <a:latin typeface="+mn-lt"/>
                  <a:ea typeface="+mn-ea"/>
                  <a:cs typeface="+mn-cs"/>
                </a:rPr>
                <a:t>file đã tải lên nằm ở Library</a:t>
              </a:r>
            </a:p>
          </p:txBody>
        </p:sp>
        <p:sp>
          <p:nvSpPr>
            <p:cNvPr id="64" name="Line 64"/>
            <p:cNvSpPr/>
            <p:nvPr/>
          </p:nvSpPr>
          <p:spPr>
            <a:xfrm>
              <a:off x="8382000" y="4972050"/>
              <a:ext cx="3200400" cy="9525"/>
            </a:xfrm>
            <a:custGeom>
              <a:avLst/>
              <a:gdLst/>
              <a:ahLst/>
              <a:cxnLst/>
              <a:rect l="l" t="t" r="r" b="b"/>
              <a:pathLst>
                <a:path w="3200400" h="9525">
                  <a:moveTo>
                    <a:pt x="0" y="0"/>
                  </a:moveTo>
                  <a:lnTo>
                    <a:pt x="3200400" y="0"/>
                  </a:lnTo>
                </a:path>
              </a:pathLst>
            </a:custGeom>
            <a:noFill/>
            <a:ln w="9525">
              <a:solidFill>
                <a:schemeClr val="accent4"/>
              </a:solidFill>
            </a:ln>
          </p:spPr>
        </p:sp>
        <p:sp>
          <p:nvSpPr>
            <p:cNvPr id="65" name="TextBox 65"/>
            <p:cNvSpPr txBox="1"/>
            <p:nvPr/>
          </p:nvSpPr>
          <p:spPr>
            <a:xfrm>
              <a:off x="8375904" y="5109210"/>
              <a:ext cx="2092452" cy="444246"/>
            </a:xfrm>
            <a:prstGeom prst="rect">
              <a:avLst/>
            </a:prstGeom>
            <a:noFill/>
            <a:ln>
              <a:noFill/>
            </a:ln>
          </p:spPr>
          <p:txBody>
            <a:bodyPr wrap="none" lIns="0" tIns="0" rIns="0" bIns="0" anchor="t" anchorCtr="0">
              <a:spAutoFit/>
            </a:bodyPr>
            <a:lstStyle/>
            <a:p>
              <a:pPr algn="l">
                <a:lnSpc>
                  <a:spcPts val="1650"/>
                </a:lnSpc>
              </a:pPr>
              <a:r>
                <a:rPr lang="vi-VN" sz="1200" dirty="0">
                  <a:solidFill>
                    <a:srgbClr val="5B6675"/>
                  </a:solidFill>
                  <a:latin typeface="+mn-lt"/>
                  <a:ea typeface="+mn-ea"/>
                  <a:cs typeface="+mn-cs"/>
                </a:rPr>
                <a:t>Settings → Personalization →</a:t>
              </a:r>
              <a:br/>
              <a:r>
                <a:rPr lang="vi-VN" sz="1200" dirty="0">
                  <a:solidFill>
                    <a:srgbClr val="5B6675"/>
                  </a:solidFill>
                  <a:latin typeface="+mn-lt"/>
                  <a:ea typeface="+mn-ea"/>
                  <a:cs typeface="+mn-cs"/>
                </a:rPr>
                <a:t>Memory · Thanh bên → Library</a:t>
              </a:r>
            </a:p>
          </p:txBody>
        </p:sp>
      </p:grpSp>
      <p:grpSp>
        <p:nvGrpSpPr>
          <p:cNvPr id="73" name="Group 73"/>
          <p:cNvGrpSpPr/>
          <p:nvPr/>
        </p:nvGrpSpPr>
        <p:grpSpPr>
          <a:xfrm>
            <a:off x="381000" y="5772150"/>
            <a:ext cx="11491249" cy="552450"/>
            <a:chOff x="381000" y="5772150"/>
            <a:chExt cx="11491249" cy="552450"/>
          </a:xfrm>
        </p:grpSpPr>
        <p:sp>
          <p:nvSpPr>
            <p:cNvPr id="67" name="Rectangle 67"/>
            <p:cNvSpPr/>
            <p:nvPr/>
          </p:nvSpPr>
          <p:spPr>
            <a:xfrm>
              <a:off x="381000" y="5772150"/>
              <a:ext cx="11430000" cy="552450"/>
            </a:xfrm>
            <a:prstGeom prst="roundRect">
              <a:avLst>
                <a:gd name="adj" fmla="val 24138"/>
              </a:avLst>
            </a:prstGeom>
            <a:solidFill>
              <a:srgbClr val="FCEBDD"/>
            </a:solidFill>
            <a:ln>
              <a:noFill/>
            </a:ln>
          </p:spPr>
        </p:sp>
        <p:grpSp>
          <p:nvGrpSpPr>
            <p:cNvPr id="71" name="Group 71"/>
            <p:cNvGrpSpPr/>
            <p:nvPr/>
          </p:nvGrpSpPr>
          <p:grpSpPr>
            <a:xfrm>
              <a:off x="569119" y="5941219"/>
              <a:ext cx="214312" cy="214312"/>
              <a:chOff x="569119" y="5941219"/>
              <a:chExt cx="214312" cy="214312"/>
            </a:xfrm>
          </p:grpSpPr>
          <p:sp>
            <p:nvSpPr>
              <p:cNvPr id="68" name="Freeform 68"/>
              <p:cNvSpPr/>
              <p:nvPr/>
            </p:nvSpPr>
            <p:spPr>
              <a:xfrm>
                <a:off x="569119" y="5941219"/>
                <a:ext cx="214312" cy="214312"/>
              </a:xfrm>
              <a:custGeom>
                <a:avLst/>
                <a:gdLst/>
                <a:ahLst/>
                <a:cxnLst/>
                <a:rect l="l" t="t" r="r" b="b"/>
                <a:pathLst>
                  <a:path w="214312" h="214312">
                    <a:moveTo>
                      <a:pt x="0" y="107156"/>
                    </a:moveTo>
                    <a:cubicBezTo>
                      <a:pt x="0" y="166337"/>
                      <a:pt x="47975" y="214312"/>
                      <a:pt x="107156" y="214312"/>
                    </a:cubicBezTo>
                    <a:cubicBezTo>
                      <a:pt x="166337" y="214312"/>
                      <a:pt x="214312" y="166337"/>
                      <a:pt x="214312" y="107156"/>
                    </a:cubicBezTo>
                    <a:cubicBezTo>
                      <a:pt x="214312" y="47975"/>
                      <a:pt x="166337" y="0"/>
                      <a:pt x="107156" y="0"/>
                    </a:cubicBezTo>
                    <a:cubicBezTo>
                      <a:pt x="47975" y="0"/>
                      <a:pt x="0" y="47975"/>
                      <a:pt x="0" y="107156"/>
                    </a:cubicBezTo>
                  </a:path>
                </a:pathLst>
              </a:custGeom>
              <a:noFill/>
              <a:ln w="23812">
                <a:solidFill>
                  <a:schemeClr val="accent1"/>
                </a:solidFill>
              </a:ln>
            </p:spPr>
          </p:sp>
          <p:sp>
            <p:nvSpPr>
              <p:cNvPr id="69" name="Freeform 69"/>
              <p:cNvSpPr/>
              <p:nvPr/>
            </p:nvSpPr>
            <p:spPr>
              <a:xfrm>
                <a:off x="676275" y="6012656"/>
                <a:ext cx="9525" cy="9525"/>
              </a:xfrm>
              <a:custGeom>
                <a:avLst/>
                <a:gdLst/>
                <a:ahLst/>
                <a:cxnLst/>
                <a:rect l="l" t="t" r="r" b="b"/>
                <a:pathLst>
                  <a:path w="9525" h="9525">
                    <a:moveTo>
                      <a:pt x="0" y="0"/>
                    </a:moveTo>
                    <a:lnTo>
                      <a:pt x="119" y="0"/>
                    </a:lnTo>
                  </a:path>
                </a:pathLst>
              </a:custGeom>
              <a:noFill/>
              <a:ln w="23812">
                <a:solidFill>
                  <a:schemeClr val="accent1"/>
                </a:solidFill>
              </a:ln>
            </p:spPr>
          </p:sp>
          <p:sp>
            <p:nvSpPr>
              <p:cNvPr id="70" name="Freeform 70"/>
              <p:cNvSpPr/>
              <p:nvPr/>
            </p:nvSpPr>
            <p:spPr>
              <a:xfrm>
                <a:off x="664369" y="6048375"/>
                <a:ext cx="23812" cy="47625"/>
              </a:xfrm>
              <a:custGeom>
                <a:avLst/>
                <a:gdLst/>
                <a:ahLst/>
                <a:cxnLst/>
                <a:rect l="l" t="t" r="r" b="b"/>
                <a:pathLst>
                  <a:path w="23812" h="47625">
                    <a:moveTo>
                      <a:pt x="0" y="0"/>
                    </a:moveTo>
                    <a:lnTo>
                      <a:pt x="11906" y="0"/>
                    </a:lnTo>
                    <a:lnTo>
                      <a:pt x="11906" y="47625"/>
                    </a:lnTo>
                    <a:lnTo>
                      <a:pt x="23812" y="47625"/>
                    </a:lnTo>
                  </a:path>
                </a:pathLst>
              </a:custGeom>
              <a:noFill/>
              <a:ln w="23812">
                <a:solidFill>
                  <a:schemeClr val="accent1"/>
                </a:solidFill>
              </a:ln>
            </p:spPr>
          </p:sp>
        </p:grpSp>
        <p:sp>
          <p:nvSpPr>
            <p:cNvPr id="72" name="TextBox 72"/>
            <p:cNvSpPr txBox="1"/>
            <p:nvPr/>
          </p:nvSpPr>
          <p:spPr>
            <a:xfrm>
              <a:off x="906018" y="5946458"/>
              <a:ext cx="10966231"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Trong Project, Project instructions ghi đè Custom Instructions</a:t>
              </a:r>
              <a:r>
                <a:rPr lang="vi-VN" sz="1650" dirty="0">
                  <a:solidFill>
                    <a:schemeClr val="dk1"/>
                  </a:solidFill>
                  <a:latin typeface="+mn-lt"/>
                  <a:ea typeface="+mn-ea"/>
                  <a:cs typeface="+mn-cs"/>
                </a:rPr>
                <a:t> → luật nghiệp vụ đặt trong Project</a:t>
              </a:r>
            </a:p>
          </p:txBody>
        </p:sp>
      </p:grpSp>
      <p:sp>
        <p:nvSpPr>
          <p:cNvPr id="74" name="TextBox 74"/>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75" name="TextBox 75"/>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05 / 35</a:t>
            </a:r>
          </a:p>
        </p:txBody>
      </p:sp>
      <p:sp>
        <p:nvSpPr>
          <p:cNvPr id="76" name="demo-flag"/>
          <p:cNvSpPr/>
          <p:nvPr/>
        </p:nvSpPr>
        <p:spPr>
          <a:xfrm>
            <a:off x="3810000" y="304800"/>
            <a:ext cx="1638300" cy="228600"/>
          </a:xfrm>
          <a:prstGeom prst="roundRect">
            <a:avLst>
              <a:gd name="adj" fmla="val 50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00" b="1">
                <a:solidFill>
                  <a:srgbClr val="FFFFFF"/>
                </a:solidFill>
              </a:rPr>
              <a:t>▶ CÓ HƯỚNG DẪN DEMO</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2416099" cy="234696"/>
            <a:chOff x="381000" y="346710"/>
            <a:chExt cx="2416099" cy="234696"/>
          </a:xfrm>
        </p:grpSpPr>
        <p:sp>
          <p:nvSpPr>
            <p:cNvPr id="2" name="Rectangle 2"/>
            <p:cNvSpPr/>
            <p:nvPr/>
          </p:nvSpPr>
          <p:spPr>
            <a:xfrm>
              <a:off x="381000" y="361950"/>
              <a:ext cx="114300" cy="114300"/>
            </a:xfrm>
            <a:prstGeom prst="roundRect">
              <a:avLst>
                <a:gd name="adj" fmla="val 25000"/>
              </a:avLst>
            </a:prstGeom>
            <a:solidFill>
              <a:schemeClr val="accent5"/>
            </a:solidFill>
            <a:ln>
              <a:noFill/>
            </a:ln>
          </p:spPr>
        </p:sp>
        <p:sp>
          <p:nvSpPr>
            <p:cNvPr id="3" name="TextBox 3"/>
            <p:cNvSpPr txBox="1"/>
            <p:nvPr/>
          </p:nvSpPr>
          <p:spPr>
            <a:xfrm>
              <a:off x="584454" y="346710"/>
              <a:ext cx="2212645"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1 · INSTRUCTIONS</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chemeClr val="accent2"/>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9662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9819227"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Chỉ điều đúng cho mọi việc mới vào Instructions,</a:t>
            </a:r>
            <a:br/>
            <a:r>
              <a:rPr lang="vi-VN" sz="3150" b="1" dirty="0">
                <a:solidFill>
                  <a:schemeClr val="accent1"/>
                </a:solidFill>
                <a:latin typeface="+mn-lt"/>
                <a:ea typeface="+mn-ea"/>
                <a:cs typeface="+mn-cs"/>
              </a:rPr>
              <a:t>phần còn lại thuộc tầng khác</a:t>
            </a:r>
          </a:p>
        </p:txBody>
      </p:sp>
      <p:grpSp>
        <p:nvGrpSpPr>
          <p:cNvPr id="21" name="Group 21"/>
          <p:cNvGrpSpPr/>
          <p:nvPr/>
        </p:nvGrpSpPr>
        <p:grpSpPr>
          <a:xfrm>
            <a:off x="381000" y="2137410"/>
            <a:ext cx="8001000" cy="253365"/>
            <a:chOff x="381000" y="2137410"/>
            <a:chExt cx="8001000" cy="253365"/>
          </a:xfrm>
        </p:grpSpPr>
        <p:sp>
          <p:nvSpPr>
            <p:cNvPr id="17" name="TextBox 17"/>
            <p:cNvSpPr txBox="1"/>
            <p:nvPr/>
          </p:nvSpPr>
          <p:spPr>
            <a:xfrm>
              <a:off x="527304" y="2137410"/>
              <a:ext cx="895076"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THÔNG TIN</a:t>
              </a:r>
            </a:p>
          </p:txBody>
        </p:sp>
        <p:sp>
          <p:nvSpPr>
            <p:cNvPr id="18" name="TextBox 18"/>
            <p:cNvSpPr txBox="1"/>
            <p:nvPr/>
          </p:nvSpPr>
          <p:spPr>
            <a:xfrm>
              <a:off x="4261104" y="2137410"/>
              <a:ext cx="502920"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ĐẶT Ở</a:t>
              </a:r>
            </a:p>
          </p:txBody>
        </p:sp>
        <p:sp>
          <p:nvSpPr>
            <p:cNvPr id="19" name="TextBox 19"/>
            <p:cNvSpPr txBox="1"/>
            <p:nvPr/>
          </p:nvSpPr>
          <p:spPr>
            <a:xfrm>
              <a:off x="6089904" y="2137410"/>
              <a:ext cx="648005"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VÌ SAO</a:t>
              </a:r>
            </a:p>
          </p:txBody>
        </p:sp>
        <p:sp>
          <p:nvSpPr>
            <p:cNvPr id="20" name="Line 20"/>
            <p:cNvSpPr/>
            <p:nvPr/>
          </p:nvSpPr>
          <p:spPr>
            <a:xfrm>
              <a:off x="381000" y="2381250"/>
              <a:ext cx="8001000" cy="9525"/>
            </a:xfrm>
            <a:custGeom>
              <a:avLst/>
              <a:gdLst/>
              <a:ahLst/>
              <a:cxnLst/>
              <a:rect l="l" t="t" r="r" b="b"/>
              <a:pathLst>
                <a:path w="8001000" h="9525">
                  <a:moveTo>
                    <a:pt x="0" y="0"/>
                  </a:moveTo>
                  <a:lnTo>
                    <a:pt x="8001000" y="0"/>
                  </a:lnTo>
                </a:path>
              </a:pathLst>
            </a:custGeom>
            <a:noFill/>
            <a:ln w="14288">
              <a:solidFill>
                <a:schemeClr val="accent1"/>
              </a:solidFill>
            </a:ln>
          </p:spPr>
        </p:sp>
      </p:grpSp>
      <p:grpSp>
        <p:nvGrpSpPr>
          <p:cNvPr id="27" name="Group 27"/>
          <p:cNvGrpSpPr/>
          <p:nvPr/>
        </p:nvGrpSpPr>
        <p:grpSpPr>
          <a:xfrm>
            <a:off x="381000" y="2488882"/>
            <a:ext cx="8001000" cy="579882"/>
            <a:chOff x="381000" y="2488882"/>
            <a:chExt cx="8001000" cy="579882"/>
          </a:xfrm>
        </p:grpSpPr>
        <p:sp>
          <p:nvSpPr>
            <p:cNvPr id="22" name="TextBox 22"/>
            <p:cNvSpPr txBox="1"/>
            <p:nvPr/>
          </p:nvSpPr>
          <p:spPr>
            <a:xfrm>
              <a:off x="525018" y="2488882"/>
              <a:ext cx="3694366" cy="579882"/>
            </a:xfrm>
            <a:prstGeom prst="rect">
              <a:avLst/>
            </a:prstGeom>
            <a:noFill/>
            <a:ln>
              <a:noFill/>
            </a:ln>
          </p:spPr>
          <p:txBody>
            <a:bodyPr wrap="none" lIns="0" tIns="0" rIns="0" bIns="0" anchor="t" anchorCtr="0">
              <a:spAutoFit/>
            </a:bodyPr>
            <a:lstStyle/>
            <a:p>
              <a:pPr algn="l">
                <a:lnSpc>
                  <a:spcPts val="2025"/>
                </a:lnSpc>
              </a:pPr>
              <a:r>
                <a:rPr lang="vi-VN" sz="1650" dirty="0">
                  <a:solidFill>
                    <a:schemeClr val="dk1"/>
                  </a:solidFill>
                  <a:latin typeface="+mn-lt"/>
                  <a:ea typeface="+mn-ea"/>
                  <a:cs typeface="+mn-cs"/>
                </a:rPr>
                <a:t>“Tôi là nhân viên Sale của Wir Group,</a:t>
              </a:r>
              <a:br/>
              <a:r>
                <a:rPr lang="vi-VN" sz="1650" dirty="0">
                  <a:solidFill>
                    <a:schemeClr val="dk1"/>
                  </a:solidFill>
                  <a:latin typeface="+mn-lt"/>
                  <a:ea typeface="+mn-ea"/>
                  <a:cs typeface="+mn-cs"/>
                </a:rPr>
                <a:t>phụ trách khách sỉ”</a:t>
              </a:r>
            </a:p>
          </p:txBody>
        </p:sp>
        <p:sp>
          <p:nvSpPr>
            <p:cNvPr id="23" name="Rectangle 23"/>
            <p:cNvSpPr/>
            <p:nvPr/>
          </p:nvSpPr>
          <p:spPr>
            <a:xfrm>
              <a:off x="4267200" y="2543175"/>
              <a:ext cx="1676400" cy="323850"/>
            </a:xfrm>
            <a:prstGeom prst="roundRect">
              <a:avLst>
                <a:gd name="adj" fmla="val 50000"/>
              </a:avLst>
            </a:prstGeom>
            <a:solidFill>
              <a:schemeClr val="accent5"/>
            </a:solidFill>
            <a:ln>
              <a:noFill/>
            </a:ln>
          </p:spPr>
        </p:sp>
        <p:sp>
          <p:nvSpPr>
            <p:cNvPr id="24" name="TextBox 24"/>
            <p:cNvSpPr txBox="1"/>
            <p:nvPr/>
          </p:nvSpPr>
          <p:spPr>
            <a:xfrm>
              <a:off x="4448049" y="2609850"/>
              <a:ext cx="1314702"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Instructions</a:t>
              </a:r>
            </a:p>
          </p:txBody>
        </p:sp>
        <p:sp>
          <p:nvSpPr>
            <p:cNvPr id="25" name="TextBox 25"/>
            <p:cNvSpPr txBox="1"/>
            <p:nvPr/>
          </p:nvSpPr>
          <p:spPr>
            <a:xfrm>
              <a:off x="6087618" y="2603182"/>
              <a:ext cx="1860385"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đúng cho mọi việc</a:t>
              </a:r>
            </a:p>
          </p:txBody>
        </p:sp>
        <p:sp>
          <p:nvSpPr>
            <p:cNvPr id="26" name="Line 26"/>
            <p:cNvSpPr/>
            <p:nvPr/>
          </p:nvSpPr>
          <p:spPr>
            <a:xfrm>
              <a:off x="381000" y="3028950"/>
              <a:ext cx="8001000" cy="9525"/>
            </a:xfrm>
            <a:custGeom>
              <a:avLst/>
              <a:gdLst/>
              <a:ahLst/>
              <a:cxnLst/>
              <a:rect l="l" t="t" r="r" b="b"/>
              <a:pathLst>
                <a:path w="8001000" h="9525">
                  <a:moveTo>
                    <a:pt x="0" y="0"/>
                  </a:moveTo>
                  <a:lnTo>
                    <a:pt x="8001000" y="0"/>
                  </a:lnTo>
                </a:path>
              </a:pathLst>
            </a:custGeom>
            <a:noFill/>
            <a:ln w="9525">
              <a:solidFill>
                <a:schemeClr val="accent4"/>
              </a:solidFill>
            </a:ln>
          </p:spPr>
        </p:sp>
      </p:grpSp>
      <p:grpSp>
        <p:nvGrpSpPr>
          <p:cNvPr id="33" name="Group 33"/>
          <p:cNvGrpSpPr/>
          <p:nvPr/>
        </p:nvGrpSpPr>
        <p:grpSpPr>
          <a:xfrm>
            <a:off x="381000" y="3117532"/>
            <a:ext cx="8001000" cy="579882"/>
            <a:chOff x="381000" y="3117532"/>
            <a:chExt cx="8001000" cy="579882"/>
          </a:xfrm>
        </p:grpSpPr>
        <p:sp>
          <p:nvSpPr>
            <p:cNvPr id="28" name="TextBox 28"/>
            <p:cNvSpPr txBox="1"/>
            <p:nvPr/>
          </p:nvSpPr>
          <p:spPr>
            <a:xfrm>
              <a:off x="525018" y="3117532"/>
              <a:ext cx="3275266" cy="579882"/>
            </a:xfrm>
            <a:prstGeom prst="rect">
              <a:avLst/>
            </a:prstGeom>
            <a:noFill/>
            <a:ln>
              <a:noFill/>
            </a:ln>
          </p:spPr>
          <p:txBody>
            <a:bodyPr wrap="none" lIns="0" tIns="0" rIns="0" bIns="0" anchor="t" anchorCtr="0">
              <a:spAutoFit/>
            </a:bodyPr>
            <a:lstStyle/>
            <a:p>
              <a:pPr algn="l">
                <a:lnSpc>
                  <a:spcPts val="2025"/>
                </a:lnSpc>
              </a:pPr>
              <a:r>
                <a:rPr lang="vi-VN" sz="1650" dirty="0">
                  <a:solidFill>
                    <a:schemeClr val="dk1"/>
                  </a:solidFill>
                  <a:latin typeface="+mn-lt"/>
                  <a:ea typeface="+mn-ea"/>
                  <a:cs typeface="+mn-cs"/>
                </a:rPr>
                <a:t>“TPCN không dùng từ ‘điều trị’;</a:t>
              </a:r>
              <a:br/>
              <a:r>
                <a:rPr lang="vi-VN" sz="1650" dirty="0">
                  <a:solidFill>
                    <a:schemeClr val="dk1"/>
                  </a:solidFill>
                  <a:latin typeface="+mn-lt"/>
                  <a:ea typeface="+mn-ea"/>
                  <a:cs typeface="+mn-cs"/>
                </a:rPr>
                <a:t>không bịa số”</a:t>
              </a:r>
            </a:p>
          </p:txBody>
        </p:sp>
        <p:sp>
          <p:nvSpPr>
            <p:cNvPr id="29" name="Rectangle 29"/>
            <p:cNvSpPr/>
            <p:nvPr/>
          </p:nvSpPr>
          <p:spPr>
            <a:xfrm>
              <a:off x="4267200" y="3171825"/>
              <a:ext cx="1676400" cy="323850"/>
            </a:xfrm>
            <a:prstGeom prst="roundRect">
              <a:avLst>
                <a:gd name="adj" fmla="val 50000"/>
              </a:avLst>
            </a:prstGeom>
            <a:solidFill>
              <a:schemeClr val="accent5"/>
            </a:solidFill>
            <a:ln>
              <a:noFill/>
            </a:ln>
          </p:spPr>
        </p:sp>
        <p:sp>
          <p:nvSpPr>
            <p:cNvPr id="30" name="TextBox 30"/>
            <p:cNvSpPr txBox="1"/>
            <p:nvPr/>
          </p:nvSpPr>
          <p:spPr>
            <a:xfrm>
              <a:off x="4448049" y="3238500"/>
              <a:ext cx="1314702"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Instructions</a:t>
              </a:r>
            </a:p>
          </p:txBody>
        </p:sp>
        <p:sp>
          <p:nvSpPr>
            <p:cNvPr id="31" name="TextBox 31"/>
            <p:cNvSpPr txBox="1"/>
            <p:nvPr/>
          </p:nvSpPr>
          <p:spPr>
            <a:xfrm>
              <a:off x="6087618" y="3231832"/>
              <a:ext cx="2237994"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luật chung của phòng</a:t>
              </a:r>
            </a:p>
          </p:txBody>
        </p:sp>
        <p:sp>
          <p:nvSpPr>
            <p:cNvPr id="32" name="Line 32"/>
            <p:cNvSpPr/>
            <p:nvPr/>
          </p:nvSpPr>
          <p:spPr>
            <a:xfrm>
              <a:off x="381000" y="3657600"/>
              <a:ext cx="8001000" cy="9525"/>
            </a:xfrm>
            <a:custGeom>
              <a:avLst/>
              <a:gdLst/>
              <a:ahLst/>
              <a:cxnLst/>
              <a:rect l="l" t="t" r="r" b="b"/>
              <a:pathLst>
                <a:path w="8001000" h="9525">
                  <a:moveTo>
                    <a:pt x="0" y="0"/>
                  </a:moveTo>
                  <a:lnTo>
                    <a:pt x="8001000" y="0"/>
                  </a:lnTo>
                </a:path>
              </a:pathLst>
            </a:custGeom>
            <a:noFill/>
            <a:ln w="9525">
              <a:solidFill>
                <a:schemeClr val="accent4"/>
              </a:solidFill>
            </a:ln>
          </p:spPr>
        </p:sp>
      </p:grpSp>
      <p:grpSp>
        <p:nvGrpSpPr>
          <p:cNvPr id="39" name="Group 39"/>
          <p:cNvGrpSpPr/>
          <p:nvPr/>
        </p:nvGrpSpPr>
        <p:grpSpPr>
          <a:xfrm>
            <a:off x="381000" y="3800475"/>
            <a:ext cx="8001000" cy="495300"/>
            <a:chOff x="381000" y="3800475"/>
            <a:chExt cx="8001000" cy="495300"/>
          </a:xfrm>
        </p:grpSpPr>
        <p:sp>
          <p:nvSpPr>
            <p:cNvPr id="34" name="TextBox 34"/>
            <p:cNvSpPr txBox="1"/>
            <p:nvPr/>
          </p:nvSpPr>
          <p:spPr>
            <a:xfrm>
              <a:off x="525018" y="3860482"/>
              <a:ext cx="3745424"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Các bước viết lịch nội dung 14 ngày</a:t>
              </a:r>
            </a:p>
          </p:txBody>
        </p:sp>
        <p:sp>
          <p:nvSpPr>
            <p:cNvPr id="35" name="Rectangle 35"/>
            <p:cNvSpPr/>
            <p:nvPr/>
          </p:nvSpPr>
          <p:spPr>
            <a:xfrm>
              <a:off x="4267200" y="3800475"/>
              <a:ext cx="1676400" cy="323850"/>
            </a:xfrm>
            <a:prstGeom prst="roundRect">
              <a:avLst>
                <a:gd name="adj" fmla="val 50000"/>
              </a:avLst>
            </a:prstGeom>
            <a:solidFill>
              <a:srgbClr val="2E5E91"/>
            </a:solidFill>
            <a:ln>
              <a:noFill/>
            </a:ln>
          </p:spPr>
        </p:sp>
        <p:sp>
          <p:nvSpPr>
            <p:cNvPr id="36" name="TextBox 36"/>
            <p:cNvSpPr txBox="1"/>
            <p:nvPr/>
          </p:nvSpPr>
          <p:spPr>
            <a:xfrm>
              <a:off x="4436364" y="3867150"/>
              <a:ext cx="1338072"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Skill · tầng 3</a:t>
              </a:r>
            </a:p>
          </p:txBody>
        </p:sp>
        <p:sp>
          <p:nvSpPr>
            <p:cNvPr id="37" name="TextBox 37"/>
            <p:cNvSpPr txBox="1"/>
            <p:nvPr/>
          </p:nvSpPr>
          <p:spPr>
            <a:xfrm>
              <a:off x="6087618" y="3860482"/>
              <a:ext cx="2060296"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chỉ đúng cho 1 việc</a:t>
              </a:r>
            </a:p>
          </p:txBody>
        </p:sp>
        <p:sp>
          <p:nvSpPr>
            <p:cNvPr id="38" name="Line 38"/>
            <p:cNvSpPr/>
            <p:nvPr/>
          </p:nvSpPr>
          <p:spPr>
            <a:xfrm>
              <a:off x="381000" y="4286250"/>
              <a:ext cx="8001000" cy="9525"/>
            </a:xfrm>
            <a:custGeom>
              <a:avLst/>
              <a:gdLst/>
              <a:ahLst/>
              <a:cxnLst/>
              <a:rect l="l" t="t" r="r" b="b"/>
              <a:pathLst>
                <a:path w="8001000" h="9525">
                  <a:moveTo>
                    <a:pt x="0" y="0"/>
                  </a:moveTo>
                  <a:lnTo>
                    <a:pt x="8001000" y="0"/>
                  </a:lnTo>
                </a:path>
              </a:pathLst>
            </a:custGeom>
            <a:noFill/>
            <a:ln w="9525">
              <a:solidFill>
                <a:schemeClr val="accent4"/>
              </a:solidFill>
            </a:ln>
          </p:spPr>
        </p:sp>
      </p:grpSp>
      <p:grpSp>
        <p:nvGrpSpPr>
          <p:cNvPr id="45" name="Group 45"/>
          <p:cNvGrpSpPr/>
          <p:nvPr/>
        </p:nvGrpSpPr>
        <p:grpSpPr>
          <a:xfrm>
            <a:off x="381000" y="4429125"/>
            <a:ext cx="8001000" cy="495300"/>
            <a:chOff x="381000" y="4429125"/>
            <a:chExt cx="8001000" cy="495300"/>
          </a:xfrm>
        </p:grpSpPr>
        <p:sp>
          <p:nvSpPr>
            <p:cNvPr id="40" name="TextBox 40"/>
            <p:cNvSpPr txBox="1"/>
            <p:nvPr/>
          </p:nvSpPr>
          <p:spPr>
            <a:xfrm>
              <a:off x="525018" y="4489132"/>
              <a:ext cx="2811922"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Số liệu đơn hàng tháng này</a:t>
              </a:r>
            </a:p>
          </p:txBody>
        </p:sp>
        <p:sp>
          <p:nvSpPr>
            <p:cNvPr id="41" name="Rectangle 41"/>
            <p:cNvSpPr/>
            <p:nvPr/>
          </p:nvSpPr>
          <p:spPr>
            <a:xfrm>
              <a:off x="4267200" y="4429125"/>
              <a:ext cx="1676400" cy="323850"/>
            </a:xfrm>
            <a:prstGeom prst="roundRect">
              <a:avLst>
                <a:gd name="adj" fmla="val 50000"/>
              </a:avLst>
            </a:prstGeom>
            <a:solidFill>
              <a:schemeClr val="accent3"/>
            </a:solidFill>
            <a:ln>
              <a:noFill/>
            </a:ln>
          </p:spPr>
        </p:sp>
        <p:sp>
          <p:nvSpPr>
            <p:cNvPr id="42" name="TextBox 42"/>
            <p:cNvSpPr txBox="1"/>
            <p:nvPr/>
          </p:nvSpPr>
          <p:spPr>
            <a:xfrm>
              <a:off x="4276857" y="4495800"/>
              <a:ext cx="165708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Prompt · tầng 2</a:t>
              </a:r>
            </a:p>
          </p:txBody>
        </p:sp>
        <p:sp>
          <p:nvSpPr>
            <p:cNvPr id="43" name="TextBox 43"/>
            <p:cNvSpPr txBox="1"/>
            <p:nvPr/>
          </p:nvSpPr>
          <p:spPr>
            <a:xfrm>
              <a:off x="6087618" y="4489132"/>
              <a:ext cx="1504988"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chỉ dùng 1 lần</a:t>
              </a:r>
            </a:p>
          </p:txBody>
        </p:sp>
        <p:sp>
          <p:nvSpPr>
            <p:cNvPr id="44" name="Line 44"/>
            <p:cNvSpPr/>
            <p:nvPr/>
          </p:nvSpPr>
          <p:spPr>
            <a:xfrm>
              <a:off x="381000" y="4914900"/>
              <a:ext cx="8001000" cy="9525"/>
            </a:xfrm>
            <a:custGeom>
              <a:avLst/>
              <a:gdLst/>
              <a:ahLst/>
              <a:cxnLst/>
              <a:rect l="l" t="t" r="r" b="b"/>
              <a:pathLst>
                <a:path w="8001000" h="9525">
                  <a:moveTo>
                    <a:pt x="0" y="0"/>
                  </a:moveTo>
                  <a:lnTo>
                    <a:pt x="8001000" y="0"/>
                  </a:lnTo>
                </a:path>
              </a:pathLst>
            </a:custGeom>
            <a:noFill/>
            <a:ln w="9525">
              <a:solidFill>
                <a:schemeClr val="accent4"/>
              </a:solidFill>
            </a:ln>
          </p:spPr>
        </p:sp>
      </p:grpSp>
      <p:grpSp>
        <p:nvGrpSpPr>
          <p:cNvPr id="51" name="Group 51"/>
          <p:cNvGrpSpPr/>
          <p:nvPr/>
        </p:nvGrpSpPr>
        <p:grpSpPr>
          <a:xfrm>
            <a:off x="381000" y="5003482"/>
            <a:ext cx="8001000" cy="579882"/>
            <a:chOff x="381000" y="5003482"/>
            <a:chExt cx="8001000" cy="579882"/>
          </a:xfrm>
        </p:grpSpPr>
        <p:sp>
          <p:nvSpPr>
            <p:cNvPr id="46" name="TextBox 46"/>
            <p:cNvSpPr txBox="1"/>
            <p:nvPr/>
          </p:nvSpPr>
          <p:spPr>
            <a:xfrm>
              <a:off x="525018" y="5117782"/>
              <a:ext cx="2575226"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Hộp thư, file trên Drive</a:t>
              </a:r>
            </a:p>
          </p:txBody>
        </p:sp>
        <p:sp>
          <p:nvSpPr>
            <p:cNvPr id="47" name="Rectangle 47"/>
            <p:cNvSpPr/>
            <p:nvPr/>
          </p:nvSpPr>
          <p:spPr>
            <a:xfrm>
              <a:off x="4267200" y="5057775"/>
              <a:ext cx="1676400" cy="323850"/>
            </a:xfrm>
            <a:prstGeom prst="roundRect">
              <a:avLst>
                <a:gd name="adj" fmla="val 50000"/>
              </a:avLst>
            </a:prstGeom>
            <a:solidFill>
              <a:schemeClr val="accent1"/>
            </a:solidFill>
            <a:ln>
              <a:noFill/>
            </a:ln>
          </p:spPr>
        </p:sp>
        <p:sp>
          <p:nvSpPr>
            <p:cNvPr id="48" name="TextBox 48"/>
            <p:cNvSpPr txBox="1"/>
            <p:nvPr/>
          </p:nvSpPr>
          <p:spPr>
            <a:xfrm>
              <a:off x="4351487" y="5124450"/>
              <a:ext cx="1507827"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Plugin · tầng 4</a:t>
              </a:r>
            </a:p>
          </p:txBody>
        </p:sp>
        <p:sp>
          <p:nvSpPr>
            <p:cNvPr id="49" name="TextBox 49"/>
            <p:cNvSpPr txBox="1"/>
            <p:nvPr/>
          </p:nvSpPr>
          <p:spPr>
            <a:xfrm>
              <a:off x="6087618" y="5003482"/>
              <a:ext cx="1703642" cy="579882"/>
            </a:xfrm>
            <a:prstGeom prst="rect">
              <a:avLst/>
            </a:prstGeom>
            <a:noFill/>
            <a:ln>
              <a:noFill/>
            </a:ln>
          </p:spPr>
          <p:txBody>
            <a:bodyPr wrap="none" lIns="0" tIns="0" rIns="0" bIns="0" anchor="t" anchorCtr="0">
              <a:spAutoFit/>
            </a:bodyPr>
            <a:lstStyle/>
            <a:p>
              <a:pPr algn="l">
                <a:lnSpc>
                  <a:spcPts val="2025"/>
                </a:lnSpc>
              </a:pPr>
              <a:r>
                <a:rPr lang="vi-VN" sz="1650" dirty="0">
                  <a:solidFill>
                    <a:schemeClr val="dk1"/>
                  </a:solidFill>
                  <a:latin typeface="+mn-lt"/>
                  <a:ea typeface="+mn-ea"/>
                  <a:cs typeface="+mn-cs"/>
                </a:rPr>
                <a:t>dữ liệu nằm ngoài</a:t>
              </a:r>
              <a:br/>
              <a:r>
                <a:rPr lang="vi-VN" sz="1650" dirty="0">
                  <a:solidFill>
                    <a:schemeClr val="dk1"/>
                  </a:solidFill>
                  <a:latin typeface="+mn-lt"/>
                  <a:ea typeface="+mn-ea"/>
                  <a:cs typeface="+mn-cs"/>
                </a:rPr>
                <a:t>ChatGPT</a:t>
              </a:r>
            </a:p>
          </p:txBody>
        </p:sp>
        <p:sp>
          <p:nvSpPr>
            <p:cNvPr id="50" name="Line 50"/>
            <p:cNvSpPr/>
            <p:nvPr/>
          </p:nvSpPr>
          <p:spPr>
            <a:xfrm>
              <a:off x="381000" y="5543550"/>
              <a:ext cx="8001000" cy="9525"/>
            </a:xfrm>
            <a:custGeom>
              <a:avLst/>
              <a:gdLst/>
              <a:ahLst/>
              <a:cxnLst/>
              <a:rect l="l" t="t" r="r" b="b"/>
              <a:pathLst>
                <a:path w="8001000" h="9525">
                  <a:moveTo>
                    <a:pt x="0" y="0"/>
                  </a:moveTo>
                  <a:lnTo>
                    <a:pt x="8001000" y="0"/>
                  </a:lnTo>
                </a:path>
              </a:pathLst>
            </a:custGeom>
            <a:noFill/>
            <a:ln w="9525">
              <a:solidFill>
                <a:schemeClr val="accent4"/>
              </a:solidFill>
            </a:ln>
          </p:spPr>
        </p:sp>
      </p:grpSp>
      <p:grpSp>
        <p:nvGrpSpPr>
          <p:cNvPr id="56" name="Group 56"/>
          <p:cNvGrpSpPr/>
          <p:nvPr/>
        </p:nvGrpSpPr>
        <p:grpSpPr>
          <a:xfrm>
            <a:off x="525018" y="5632132"/>
            <a:ext cx="7088124" cy="579882"/>
            <a:chOff x="525018" y="5632132"/>
            <a:chExt cx="7088124" cy="579882"/>
          </a:xfrm>
        </p:grpSpPr>
        <p:sp>
          <p:nvSpPr>
            <p:cNvPr id="52" name="TextBox 52"/>
            <p:cNvSpPr txBox="1"/>
            <p:nvPr/>
          </p:nvSpPr>
          <p:spPr>
            <a:xfrm>
              <a:off x="525018" y="5746432"/>
              <a:ext cx="3234700"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“Tôi thích bảng hơn đoạn văn”</a:t>
              </a:r>
            </a:p>
          </p:txBody>
        </p:sp>
        <p:sp>
          <p:nvSpPr>
            <p:cNvPr id="53" name="Rectangle 53"/>
            <p:cNvSpPr/>
            <p:nvPr/>
          </p:nvSpPr>
          <p:spPr>
            <a:xfrm>
              <a:off x="4267200" y="5686425"/>
              <a:ext cx="1676400" cy="323850"/>
            </a:xfrm>
            <a:prstGeom prst="roundRect">
              <a:avLst>
                <a:gd name="adj" fmla="val 50000"/>
              </a:avLst>
            </a:prstGeom>
            <a:solidFill>
              <a:srgbClr val="5B6675"/>
            </a:solidFill>
            <a:ln>
              <a:noFill/>
            </a:ln>
          </p:spPr>
        </p:sp>
        <p:sp>
          <p:nvSpPr>
            <p:cNvPr id="54" name="TextBox 54"/>
            <p:cNvSpPr txBox="1"/>
            <p:nvPr/>
          </p:nvSpPr>
          <p:spPr>
            <a:xfrm>
              <a:off x="4701831" y="5753100"/>
              <a:ext cx="807139"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Memory</a:t>
              </a:r>
            </a:p>
          </p:txBody>
        </p:sp>
        <p:sp>
          <p:nvSpPr>
            <p:cNvPr id="55" name="TextBox 55"/>
            <p:cNvSpPr txBox="1"/>
            <p:nvPr/>
          </p:nvSpPr>
          <p:spPr>
            <a:xfrm>
              <a:off x="6087618" y="5632132"/>
              <a:ext cx="1525524" cy="579882"/>
            </a:xfrm>
            <a:prstGeom prst="rect">
              <a:avLst/>
            </a:prstGeom>
            <a:noFill/>
            <a:ln>
              <a:noFill/>
            </a:ln>
          </p:spPr>
          <p:txBody>
            <a:bodyPr wrap="none" lIns="0" tIns="0" rIns="0" bIns="0" anchor="t" anchorCtr="0">
              <a:spAutoFit/>
            </a:bodyPr>
            <a:lstStyle/>
            <a:p>
              <a:pPr algn="l">
                <a:lnSpc>
                  <a:spcPts val="2025"/>
                </a:lnSpc>
              </a:pPr>
              <a:r>
                <a:rPr lang="vi-VN" sz="1650" dirty="0">
                  <a:solidFill>
                    <a:schemeClr val="dk1"/>
                  </a:solidFill>
                  <a:latin typeface="+mn-lt"/>
                  <a:ea typeface="+mn-ea"/>
                  <a:cs typeface="+mn-cs"/>
                </a:rPr>
                <a:t>thói quen nhỏ,</a:t>
              </a:r>
              <a:br/>
              <a:r>
                <a:rPr lang="vi-VN" sz="1650" dirty="0">
                  <a:solidFill>
                    <a:schemeClr val="dk1"/>
                  </a:solidFill>
                  <a:latin typeface="+mn-lt"/>
                  <a:ea typeface="+mn-ea"/>
                  <a:cs typeface="+mn-cs"/>
                </a:rPr>
                <a:t>ChatGPT tự nhớ</a:t>
              </a:r>
            </a:p>
          </p:txBody>
        </p:sp>
      </p:grpSp>
      <p:grpSp>
        <p:nvGrpSpPr>
          <p:cNvPr id="60" name="Group 60"/>
          <p:cNvGrpSpPr/>
          <p:nvPr/>
        </p:nvGrpSpPr>
        <p:grpSpPr>
          <a:xfrm>
            <a:off x="8610600" y="2400300"/>
            <a:ext cx="3007614" cy="1905000"/>
            <a:chOff x="8610600" y="2400300"/>
            <a:chExt cx="3007614" cy="1905000"/>
          </a:xfrm>
        </p:grpSpPr>
        <p:sp>
          <p:nvSpPr>
            <p:cNvPr id="57" name="Rectangle 57"/>
            <p:cNvSpPr/>
            <p:nvPr/>
          </p:nvSpPr>
          <p:spPr>
            <a:xfrm>
              <a:off x="8610600" y="2400300"/>
              <a:ext cx="47625" cy="1905000"/>
            </a:xfrm>
            <a:prstGeom prst="roundRect">
              <a:avLst>
                <a:gd name="adj" fmla="val 40000"/>
              </a:avLst>
            </a:prstGeom>
            <a:solidFill>
              <a:schemeClr val="accent5"/>
            </a:solidFill>
            <a:ln>
              <a:noFill/>
            </a:ln>
          </p:spPr>
        </p:sp>
        <p:sp>
          <p:nvSpPr>
            <p:cNvPr id="58" name="TextBox 58"/>
            <p:cNvSpPr txBox="1"/>
            <p:nvPr/>
          </p:nvSpPr>
          <p:spPr>
            <a:xfrm>
              <a:off x="8868156" y="2567940"/>
              <a:ext cx="2750058" cy="1323594"/>
            </a:xfrm>
            <a:prstGeom prst="rect">
              <a:avLst/>
            </a:prstGeom>
            <a:noFill/>
            <a:ln>
              <a:noFill/>
            </a:ln>
          </p:spPr>
          <p:txBody>
            <a:bodyPr wrap="none" lIns="0" tIns="0" rIns="0" bIns="0" anchor="t" anchorCtr="0">
              <a:spAutoFit/>
            </a:bodyPr>
            <a:lstStyle/>
            <a:p>
              <a:pPr algn="l">
                <a:lnSpc>
                  <a:spcPts val="2550"/>
                </a:lnSpc>
              </a:pPr>
              <a:r>
                <a:rPr lang="vi-VN" sz="1800" i="1" dirty="0">
                  <a:solidFill>
                    <a:schemeClr val="accent1"/>
                  </a:solidFill>
                  <a:latin typeface="+mn-lt"/>
                  <a:ea typeface="+mn-ea"/>
                  <a:cs typeface="+mn-cs"/>
                </a:rPr>
                <a:t>“Instructions giống bảng</a:t>
              </a:r>
              <a:br/>
              <a:r>
                <a:rPr lang="vi-VN" sz="1800" i="1" dirty="0">
                  <a:solidFill>
                    <a:schemeClr val="accent1"/>
                  </a:solidFill>
                  <a:latin typeface="+mn-lt"/>
                  <a:ea typeface="+mn-ea"/>
                  <a:cs typeface="+mn-cs"/>
                </a:rPr>
                <a:t>nội quy dán ở cửa phòng:</a:t>
              </a:r>
              <a:br/>
              <a:r>
                <a:rPr lang="vi-VN" sz="1800" i="1" dirty="0">
                  <a:solidFill>
                    <a:schemeClr val="accent1"/>
                  </a:solidFill>
                  <a:latin typeface="+mn-lt"/>
                  <a:ea typeface="+mn-ea"/>
                  <a:cs typeface="+mn-cs"/>
                </a:rPr>
                <a:t>chỉ ghi điều đúng</a:t>
              </a:r>
              <a:br/>
              <a:r>
                <a:rPr lang="vi-VN" sz="1800" i="1" dirty="0">
                  <a:solidFill>
                    <a:schemeClr val="accent1"/>
                  </a:solidFill>
                  <a:latin typeface="+mn-lt"/>
                  <a:ea typeface="+mn-ea"/>
                  <a:cs typeface="+mn-cs"/>
                </a:rPr>
                <a:t>cho mọi việc.”</a:t>
              </a:r>
            </a:p>
          </p:txBody>
        </p:sp>
      </p:grpSp>
      <p:sp>
        <p:nvSpPr>
          <p:cNvPr id="61" name="TextBox 61"/>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62" name="TextBox 62"/>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06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4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4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fade">
                                      <p:cBhvr>
                                        <p:cTn id="22" dur="400"/>
                                        <p:tgtEl>
                                          <p:spTgt spid="4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400"/>
                                        <p:tgtEl>
                                          <p:spTgt spid="5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fade">
                                      <p:cBhvr>
                                        <p:cTn id="32"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2416099" cy="234696"/>
            <a:chOff x="381000" y="346710"/>
            <a:chExt cx="2416099" cy="234696"/>
          </a:xfrm>
        </p:grpSpPr>
        <p:sp>
          <p:nvSpPr>
            <p:cNvPr id="2" name="Rectangle 2"/>
            <p:cNvSpPr/>
            <p:nvPr/>
          </p:nvSpPr>
          <p:spPr>
            <a:xfrm>
              <a:off x="381000" y="361950"/>
              <a:ext cx="114300" cy="114300"/>
            </a:xfrm>
            <a:prstGeom prst="roundRect">
              <a:avLst>
                <a:gd name="adj" fmla="val 25000"/>
              </a:avLst>
            </a:prstGeom>
            <a:solidFill>
              <a:schemeClr val="accent5"/>
            </a:solidFill>
            <a:ln>
              <a:noFill/>
            </a:ln>
          </p:spPr>
        </p:sp>
        <p:sp>
          <p:nvSpPr>
            <p:cNvPr id="3" name="TextBox 3"/>
            <p:cNvSpPr txBox="1"/>
            <p:nvPr/>
          </p:nvSpPr>
          <p:spPr>
            <a:xfrm>
              <a:off x="584454" y="346710"/>
              <a:ext cx="2212645"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1 · INSTRUCTIONS</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chemeClr val="accent2"/>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9662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7256907"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Tả giọng văn bằng hành vi đếm được,</a:t>
            </a:r>
            <a:br/>
            <a:r>
              <a:rPr lang="vi-VN" sz="3150" b="1" dirty="0">
                <a:solidFill>
                  <a:schemeClr val="accent1"/>
                </a:solidFill>
                <a:latin typeface="+mn-lt"/>
                <a:ea typeface="+mn-ea"/>
                <a:cs typeface="+mn-cs"/>
              </a:rPr>
              <a:t>không bằng tính từ</a:t>
            </a:r>
          </a:p>
        </p:txBody>
      </p:sp>
      <p:grpSp>
        <p:nvGrpSpPr>
          <p:cNvPr id="25" name="Group 25"/>
          <p:cNvGrpSpPr/>
          <p:nvPr/>
        </p:nvGrpSpPr>
        <p:grpSpPr>
          <a:xfrm>
            <a:off x="381000" y="2114550"/>
            <a:ext cx="11430000" cy="781050"/>
            <a:chOff x="381000" y="2114550"/>
            <a:chExt cx="11430000" cy="781050"/>
          </a:xfrm>
        </p:grpSpPr>
        <p:sp>
          <p:nvSpPr>
            <p:cNvPr id="17" name="Rectangle 17"/>
            <p:cNvSpPr/>
            <p:nvPr/>
          </p:nvSpPr>
          <p:spPr>
            <a:xfrm>
              <a:off x="381000" y="2114550"/>
              <a:ext cx="3048000" cy="781050"/>
            </a:xfrm>
            <a:prstGeom prst="roundRect">
              <a:avLst>
                <a:gd name="adj" fmla="val 17073"/>
              </a:avLst>
            </a:prstGeom>
            <a:solidFill>
              <a:schemeClr val="lt2"/>
            </a:solidFill>
            <a:ln>
              <a:noFill/>
            </a:ln>
          </p:spPr>
        </p:sp>
        <p:grpSp>
          <p:nvGrpSpPr>
            <p:cNvPr id="20" name="Group 20"/>
            <p:cNvGrpSpPr/>
            <p:nvPr/>
          </p:nvGrpSpPr>
          <p:grpSpPr>
            <a:xfrm>
              <a:off x="581025" y="2419350"/>
              <a:ext cx="171450" cy="171450"/>
              <a:chOff x="581025" y="2419350"/>
              <a:chExt cx="171450" cy="171450"/>
            </a:xfrm>
          </p:grpSpPr>
          <p:sp>
            <p:nvSpPr>
              <p:cNvPr id="18" name="Freeform 18"/>
              <p:cNvSpPr/>
              <p:nvPr/>
            </p:nvSpPr>
            <p:spPr>
              <a:xfrm>
                <a:off x="581025" y="2419350"/>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5B6675"/>
                </a:solidFill>
              </a:ln>
            </p:spPr>
          </p:sp>
          <p:sp>
            <p:nvSpPr>
              <p:cNvPr id="19" name="Freeform 19"/>
              <p:cNvSpPr/>
              <p:nvPr/>
            </p:nvSpPr>
            <p:spPr>
              <a:xfrm>
                <a:off x="647700" y="2486025"/>
                <a:ext cx="38100" cy="38100"/>
              </a:xfrm>
              <a:custGeom>
                <a:avLst/>
                <a:gdLst/>
                <a:ahLst/>
                <a:cxnLst/>
                <a:rect l="l" t="t" r="r" b="b"/>
                <a:pathLst>
                  <a:path w="38100" h="38100">
                    <a:moveTo>
                      <a:pt x="0" y="0"/>
                    </a:moveTo>
                    <a:lnTo>
                      <a:pt x="38100" y="38100"/>
                    </a:lnTo>
                    <a:moveTo>
                      <a:pt x="38100" y="0"/>
                    </a:moveTo>
                    <a:lnTo>
                      <a:pt x="0" y="38100"/>
                    </a:lnTo>
                  </a:path>
                </a:pathLst>
              </a:custGeom>
              <a:noFill/>
              <a:ln w="19050">
                <a:solidFill>
                  <a:srgbClr val="5B6675"/>
                </a:solidFill>
              </a:ln>
            </p:spPr>
          </p:sp>
        </p:grpSp>
        <p:sp>
          <p:nvSpPr>
            <p:cNvPr id="21" name="TextBox 21"/>
            <p:cNvSpPr txBox="1"/>
            <p:nvPr/>
          </p:nvSpPr>
          <p:spPr>
            <a:xfrm>
              <a:off x="886206" y="2386965"/>
              <a:ext cx="2182530" cy="352044"/>
            </a:xfrm>
            <a:prstGeom prst="rect">
              <a:avLst/>
            </a:prstGeom>
            <a:noFill/>
            <a:ln>
              <a:noFill/>
            </a:ln>
          </p:spPr>
          <p:txBody>
            <a:bodyPr wrap="none" lIns="0" tIns="0" rIns="0" bIns="0" anchor="t" anchorCtr="0">
              <a:spAutoFit/>
            </a:bodyPr>
            <a:lstStyle/>
            <a:p>
              <a:pPr algn="l"/>
              <a:r>
                <a:rPr lang="vi-VN" sz="1800" strike="sngStrike" dirty="0">
                  <a:solidFill>
                    <a:srgbClr val="5B6675"/>
                  </a:solidFill>
                  <a:latin typeface="+mn-lt"/>
                  <a:ea typeface="+mn-ea"/>
                  <a:cs typeface="+mn-cs"/>
                </a:rPr>
                <a:t>Viết chuyên nghiệp</a:t>
              </a:r>
            </a:p>
          </p:txBody>
        </p:sp>
        <p:sp>
          <p:nvSpPr>
            <p:cNvPr id="22" name="Line 22"/>
            <p:cNvSpPr/>
            <p:nvPr/>
          </p:nvSpPr>
          <p:spPr>
            <a:xfrm>
              <a:off x="3524250" y="2505075"/>
              <a:ext cx="361950" cy="1"/>
            </a:xfrm>
            <a:prstGeom prst="line">
              <a:avLst/>
            </a:prstGeom>
            <a:noFill/>
            <a:ln w="19050">
              <a:solidFill>
                <a:srgbClr val="5B6675"/>
              </a:solidFill>
              <a:tailEnd type="triangle" w="lg" len="lg"/>
            </a:ln>
          </p:spPr>
        </p:sp>
        <p:sp>
          <p:nvSpPr>
            <p:cNvPr id="23" name="Rectangle 23"/>
            <p:cNvSpPr/>
            <p:nvPr/>
          </p:nvSpPr>
          <p:spPr>
            <a:xfrm>
              <a:off x="4000500" y="2114550"/>
              <a:ext cx="7810500" cy="781050"/>
            </a:xfrm>
            <a:prstGeom prst="roundRect">
              <a:avLst>
                <a:gd name="adj" fmla="val 17073"/>
              </a:avLst>
            </a:prstGeom>
            <a:solidFill>
              <a:schemeClr val="lt1"/>
            </a:solidFill>
            <a:ln w="14288">
              <a:solidFill>
                <a:schemeClr val="accent5"/>
              </a:solidFill>
            </a:ln>
          </p:spPr>
        </p:sp>
        <p:sp>
          <p:nvSpPr>
            <p:cNvPr id="24" name="TextBox 24"/>
            <p:cNvSpPr txBox="1"/>
            <p:nvPr/>
          </p:nvSpPr>
          <p:spPr>
            <a:xfrm>
              <a:off x="4220718" y="2260282"/>
              <a:ext cx="4784026"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dk1"/>
                  </a:solidFill>
                  <a:latin typeface="+mn-lt"/>
                  <a:ea typeface="+mn-ea"/>
                  <a:cs typeface="+mn-cs"/>
                </a:rPr>
                <a:t>Câu dưới 20 chữ. Không emoji.</a:t>
              </a:r>
              <a:br/>
              <a:r>
                <a:rPr lang="vi-VN" sz="1650" dirty="0">
                  <a:solidFill>
                    <a:schemeClr val="dk1"/>
                  </a:solidFill>
                  <a:latin typeface="+mn-lt"/>
                  <a:ea typeface="+mn-ea"/>
                  <a:cs typeface="+mn-cs"/>
                </a:rPr>
                <a:t>Xưng “Wir Group”, gọi đối tác là “Quý đối tác”.</a:t>
              </a:r>
            </a:p>
          </p:txBody>
        </p:sp>
      </p:grpSp>
      <p:grpSp>
        <p:nvGrpSpPr>
          <p:cNvPr id="34" name="Group 34"/>
          <p:cNvGrpSpPr/>
          <p:nvPr/>
        </p:nvGrpSpPr>
        <p:grpSpPr>
          <a:xfrm>
            <a:off x="381000" y="3009900"/>
            <a:ext cx="11430000" cy="781050"/>
            <a:chOff x="381000" y="3009900"/>
            <a:chExt cx="11430000" cy="781050"/>
          </a:xfrm>
        </p:grpSpPr>
        <p:sp>
          <p:nvSpPr>
            <p:cNvPr id="26" name="Rectangle 26"/>
            <p:cNvSpPr/>
            <p:nvPr/>
          </p:nvSpPr>
          <p:spPr>
            <a:xfrm>
              <a:off x="381000" y="3009900"/>
              <a:ext cx="3048000" cy="781050"/>
            </a:xfrm>
            <a:prstGeom prst="roundRect">
              <a:avLst>
                <a:gd name="adj" fmla="val 17073"/>
              </a:avLst>
            </a:prstGeom>
            <a:solidFill>
              <a:schemeClr val="lt2"/>
            </a:solidFill>
            <a:ln>
              <a:noFill/>
            </a:ln>
          </p:spPr>
        </p:sp>
        <p:grpSp>
          <p:nvGrpSpPr>
            <p:cNvPr id="29" name="Group 29"/>
            <p:cNvGrpSpPr/>
            <p:nvPr/>
          </p:nvGrpSpPr>
          <p:grpSpPr>
            <a:xfrm>
              <a:off x="581025" y="3314700"/>
              <a:ext cx="171450" cy="171450"/>
              <a:chOff x="581025" y="3314700"/>
              <a:chExt cx="171450" cy="171450"/>
            </a:xfrm>
          </p:grpSpPr>
          <p:sp>
            <p:nvSpPr>
              <p:cNvPr id="27" name="Freeform 27"/>
              <p:cNvSpPr/>
              <p:nvPr/>
            </p:nvSpPr>
            <p:spPr>
              <a:xfrm>
                <a:off x="581025" y="3314700"/>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5B6675"/>
                </a:solidFill>
              </a:ln>
            </p:spPr>
          </p:sp>
          <p:sp>
            <p:nvSpPr>
              <p:cNvPr id="28" name="Freeform 28"/>
              <p:cNvSpPr/>
              <p:nvPr/>
            </p:nvSpPr>
            <p:spPr>
              <a:xfrm>
                <a:off x="647700" y="3381375"/>
                <a:ext cx="38100" cy="38100"/>
              </a:xfrm>
              <a:custGeom>
                <a:avLst/>
                <a:gdLst/>
                <a:ahLst/>
                <a:cxnLst/>
                <a:rect l="l" t="t" r="r" b="b"/>
                <a:pathLst>
                  <a:path w="38100" h="38100">
                    <a:moveTo>
                      <a:pt x="0" y="0"/>
                    </a:moveTo>
                    <a:lnTo>
                      <a:pt x="38100" y="38100"/>
                    </a:lnTo>
                    <a:moveTo>
                      <a:pt x="38100" y="0"/>
                    </a:moveTo>
                    <a:lnTo>
                      <a:pt x="0" y="38100"/>
                    </a:lnTo>
                  </a:path>
                </a:pathLst>
              </a:custGeom>
              <a:noFill/>
              <a:ln w="19050">
                <a:solidFill>
                  <a:srgbClr val="5B6675"/>
                </a:solidFill>
              </a:ln>
            </p:spPr>
          </p:sp>
        </p:grpSp>
        <p:sp>
          <p:nvSpPr>
            <p:cNvPr id="30" name="TextBox 30"/>
            <p:cNvSpPr txBox="1"/>
            <p:nvPr/>
          </p:nvSpPr>
          <p:spPr>
            <a:xfrm>
              <a:off x="886206" y="3282315"/>
              <a:ext cx="2256008" cy="352044"/>
            </a:xfrm>
            <a:prstGeom prst="rect">
              <a:avLst/>
            </a:prstGeom>
            <a:noFill/>
            <a:ln>
              <a:noFill/>
            </a:ln>
          </p:spPr>
          <p:txBody>
            <a:bodyPr wrap="none" lIns="0" tIns="0" rIns="0" bIns="0" anchor="t" anchorCtr="0">
              <a:spAutoFit/>
            </a:bodyPr>
            <a:lstStyle/>
            <a:p>
              <a:pPr algn="l"/>
              <a:r>
                <a:rPr lang="vi-VN" sz="1800" strike="sngStrike" dirty="0">
                  <a:solidFill>
                    <a:srgbClr val="5B6675"/>
                  </a:solidFill>
                  <a:latin typeface="+mn-lt"/>
                  <a:ea typeface="+mn-ea"/>
                  <a:cs typeface="+mn-cs"/>
                </a:rPr>
                <a:t>Thân thiện, gần gũi</a:t>
              </a:r>
            </a:p>
          </p:txBody>
        </p:sp>
        <p:sp>
          <p:nvSpPr>
            <p:cNvPr id="31" name="Line 31"/>
            <p:cNvSpPr/>
            <p:nvPr/>
          </p:nvSpPr>
          <p:spPr>
            <a:xfrm>
              <a:off x="3524250" y="3400425"/>
              <a:ext cx="361950" cy="1"/>
            </a:xfrm>
            <a:prstGeom prst="line">
              <a:avLst/>
            </a:prstGeom>
            <a:noFill/>
            <a:ln w="19050">
              <a:solidFill>
                <a:srgbClr val="5B6675"/>
              </a:solidFill>
              <a:tailEnd type="triangle" w="lg" len="lg"/>
            </a:ln>
          </p:spPr>
        </p:sp>
        <p:sp>
          <p:nvSpPr>
            <p:cNvPr id="32" name="Rectangle 32"/>
            <p:cNvSpPr/>
            <p:nvPr/>
          </p:nvSpPr>
          <p:spPr>
            <a:xfrm>
              <a:off x="4000500" y="3009900"/>
              <a:ext cx="7810500" cy="781050"/>
            </a:xfrm>
            <a:prstGeom prst="roundRect">
              <a:avLst>
                <a:gd name="adj" fmla="val 17073"/>
              </a:avLst>
            </a:prstGeom>
            <a:solidFill>
              <a:schemeClr val="lt1"/>
            </a:solidFill>
            <a:ln w="14288">
              <a:solidFill>
                <a:schemeClr val="accent5"/>
              </a:solidFill>
            </a:ln>
          </p:spPr>
        </p:sp>
        <p:sp>
          <p:nvSpPr>
            <p:cNvPr id="33" name="TextBox 33"/>
            <p:cNvSpPr txBox="1"/>
            <p:nvPr/>
          </p:nvSpPr>
          <p:spPr>
            <a:xfrm>
              <a:off x="4220718" y="3155632"/>
              <a:ext cx="3893439"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dk1"/>
                  </a:solidFill>
                  <a:latin typeface="+mn-lt"/>
                  <a:ea typeface="+mn-ea"/>
                  <a:cs typeface="+mn-cs"/>
                </a:rPr>
                <a:t>Gọi khách là “anh/chị”, xưng “em”.</a:t>
              </a:r>
              <a:br/>
              <a:r>
                <a:rPr lang="vi-VN" sz="1650" dirty="0">
                  <a:solidFill>
                    <a:schemeClr val="dk1"/>
                  </a:solidFill>
                  <a:latin typeface="+mn-lt"/>
                  <a:ea typeface="+mn-ea"/>
                  <a:cs typeface="+mn-cs"/>
                </a:rPr>
                <a:t>Mở bài bằng một tình huống da cụ thể.</a:t>
              </a:r>
            </a:p>
          </p:txBody>
        </p:sp>
      </p:grpSp>
      <p:grpSp>
        <p:nvGrpSpPr>
          <p:cNvPr id="43" name="Group 43"/>
          <p:cNvGrpSpPr/>
          <p:nvPr/>
        </p:nvGrpSpPr>
        <p:grpSpPr>
          <a:xfrm>
            <a:off x="381000" y="3905250"/>
            <a:ext cx="11430000" cy="609600"/>
            <a:chOff x="381000" y="3905250"/>
            <a:chExt cx="11430000" cy="609600"/>
          </a:xfrm>
        </p:grpSpPr>
        <p:sp>
          <p:nvSpPr>
            <p:cNvPr id="35" name="Rectangle 35"/>
            <p:cNvSpPr/>
            <p:nvPr/>
          </p:nvSpPr>
          <p:spPr>
            <a:xfrm>
              <a:off x="381000" y="3905250"/>
              <a:ext cx="3048000" cy="609600"/>
            </a:xfrm>
            <a:prstGeom prst="roundRect">
              <a:avLst>
                <a:gd name="adj" fmla="val 21875"/>
              </a:avLst>
            </a:prstGeom>
            <a:solidFill>
              <a:schemeClr val="lt2"/>
            </a:solidFill>
            <a:ln>
              <a:noFill/>
            </a:ln>
          </p:spPr>
        </p:sp>
        <p:grpSp>
          <p:nvGrpSpPr>
            <p:cNvPr id="38" name="Group 38"/>
            <p:cNvGrpSpPr/>
            <p:nvPr/>
          </p:nvGrpSpPr>
          <p:grpSpPr>
            <a:xfrm>
              <a:off x="581025" y="4124325"/>
              <a:ext cx="171450" cy="171450"/>
              <a:chOff x="581025" y="4124325"/>
              <a:chExt cx="171450" cy="171450"/>
            </a:xfrm>
          </p:grpSpPr>
          <p:sp>
            <p:nvSpPr>
              <p:cNvPr id="36" name="Freeform 36"/>
              <p:cNvSpPr/>
              <p:nvPr/>
            </p:nvSpPr>
            <p:spPr>
              <a:xfrm>
                <a:off x="581025" y="412432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5B6675"/>
                </a:solidFill>
              </a:ln>
            </p:spPr>
          </p:sp>
          <p:sp>
            <p:nvSpPr>
              <p:cNvPr id="37" name="Freeform 37"/>
              <p:cNvSpPr/>
              <p:nvPr/>
            </p:nvSpPr>
            <p:spPr>
              <a:xfrm>
                <a:off x="647700" y="4191000"/>
                <a:ext cx="38100" cy="38100"/>
              </a:xfrm>
              <a:custGeom>
                <a:avLst/>
                <a:gdLst/>
                <a:ahLst/>
                <a:cxnLst/>
                <a:rect l="l" t="t" r="r" b="b"/>
                <a:pathLst>
                  <a:path w="38100" h="38100">
                    <a:moveTo>
                      <a:pt x="0" y="0"/>
                    </a:moveTo>
                    <a:lnTo>
                      <a:pt x="38100" y="38100"/>
                    </a:lnTo>
                    <a:moveTo>
                      <a:pt x="38100" y="0"/>
                    </a:moveTo>
                    <a:lnTo>
                      <a:pt x="0" y="38100"/>
                    </a:lnTo>
                  </a:path>
                </a:pathLst>
              </a:custGeom>
              <a:noFill/>
              <a:ln w="19050">
                <a:solidFill>
                  <a:srgbClr val="5B6675"/>
                </a:solidFill>
              </a:ln>
            </p:spPr>
          </p:sp>
        </p:grpSp>
        <p:sp>
          <p:nvSpPr>
            <p:cNvPr id="39" name="TextBox 39"/>
            <p:cNvSpPr txBox="1"/>
            <p:nvPr/>
          </p:nvSpPr>
          <p:spPr>
            <a:xfrm>
              <a:off x="886206" y="4091940"/>
              <a:ext cx="1032031" cy="352044"/>
            </a:xfrm>
            <a:prstGeom prst="rect">
              <a:avLst/>
            </a:prstGeom>
            <a:noFill/>
            <a:ln>
              <a:noFill/>
            </a:ln>
          </p:spPr>
          <p:txBody>
            <a:bodyPr wrap="none" lIns="0" tIns="0" rIns="0" bIns="0" anchor="t" anchorCtr="0">
              <a:spAutoFit/>
            </a:bodyPr>
            <a:lstStyle/>
            <a:p>
              <a:pPr algn="l"/>
              <a:r>
                <a:rPr lang="vi-VN" sz="1800" strike="sngStrike" dirty="0">
                  <a:solidFill>
                    <a:srgbClr val="5B6675"/>
                  </a:solidFill>
                  <a:latin typeface="+mn-lt"/>
                  <a:ea typeface="+mn-ea"/>
                  <a:cs typeface="+mn-cs"/>
                </a:rPr>
                <a:t>Ngắn gọn</a:t>
              </a:r>
            </a:p>
          </p:txBody>
        </p:sp>
        <p:sp>
          <p:nvSpPr>
            <p:cNvPr id="40" name="Line 40"/>
            <p:cNvSpPr/>
            <p:nvPr/>
          </p:nvSpPr>
          <p:spPr>
            <a:xfrm>
              <a:off x="3524250" y="4210050"/>
              <a:ext cx="361950" cy="1"/>
            </a:xfrm>
            <a:prstGeom prst="line">
              <a:avLst/>
            </a:prstGeom>
            <a:noFill/>
            <a:ln w="19050">
              <a:solidFill>
                <a:srgbClr val="5B6675"/>
              </a:solidFill>
              <a:tailEnd type="triangle" w="lg" len="lg"/>
            </a:ln>
          </p:spPr>
        </p:sp>
        <p:sp>
          <p:nvSpPr>
            <p:cNvPr id="41" name="Rectangle 41"/>
            <p:cNvSpPr/>
            <p:nvPr/>
          </p:nvSpPr>
          <p:spPr>
            <a:xfrm>
              <a:off x="4000500" y="3905250"/>
              <a:ext cx="7810500" cy="609600"/>
            </a:xfrm>
            <a:prstGeom prst="roundRect">
              <a:avLst>
                <a:gd name="adj" fmla="val 21875"/>
              </a:avLst>
            </a:prstGeom>
            <a:solidFill>
              <a:schemeClr val="lt1"/>
            </a:solidFill>
            <a:ln w="14288">
              <a:solidFill>
                <a:schemeClr val="accent5"/>
              </a:solidFill>
            </a:ln>
          </p:spPr>
        </p:sp>
        <p:sp>
          <p:nvSpPr>
            <p:cNvPr id="42" name="TextBox 42"/>
            <p:cNvSpPr txBox="1"/>
            <p:nvPr/>
          </p:nvSpPr>
          <p:spPr>
            <a:xfrm>
              <a:off x="4220718" y="4108132"/>
              <a:ext cx="4933058"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Tin nhắn dưới 150 chữ. Tối đa 5 gạch đầu dòng.</a:t>
              </a:r>
            </a:p>
          </p:txBody>
        </p:sp>
      </p:grpSp>
      <p:grpSp>
        <p:nvGrpSpPr>
          <p:cNvPr id="52" name="Group 52"/>
          <p:cNvGrpSpPr/>
          <p:nvPr/>
        </p:nvGrpSpPr>
        <p:grpSpPr>
          <a:xfrm>
            <a:off x="381000" y="4629150"/>
            <a:ext cx="11430000" cy="609600"/>
            <a:chOff x="381000" y="4629150"/>
            <a:chExt cx="11430000" cy="609600"/>
          </a:xfrm>
        </p:grpSpPr>
        <p:sp>
          <p:nvSpPr>
            <p:cNvPr id="44" name="Rectangle 44"/>
            <p:cNvSpPr/>
            <p:nvPr/>
          </p:nvSpPr>
          <p:spPr>
            <a:xfrm>
              <a:off x="381000" y="4629150"/>
              <a:ext cx="3048000" cy="609600"/>
            </a:xfrm>
            <a:prstGeom prst="roundRect">
              <a:avLst>
                <a:gd name="adj" fmla="val 21875"/>
              </a:avLst>
            </a:prstGeom>
            <a:solidFill>
              <a:schemeClr val="lt2"/>
            </a:solidFill>
            <a:ln>
              <a:noFill/>
            </a:ln>
          </p:spPr>
        </p:sp>
        <p:grpSp>
          <p:nvGrpSpPr>
            <p:cNvPr id="47" name="Group 47"/>
            <p:cNvGrpSpPr/>
            <p:nvPr/>
          </p:nvGrpSpPr>
          <p:grpSpPr>
            <a:xfrm>
              <a:off x="581025" y="4848225"/>
              <a:ext cx="171450" cy="171450"/>
              <a:chOff x="581025" y="4848225"/>
              <a:chExt cx="171450" cy="171450"/>
            </a:xfrm>
          </p:grpSpPr>
          <p:sp>
            <p:nvSpPr>
              <p:cNvPr id="45" name="Freeform 45"/>
              <p:cNvSpPr/>
              <p:nvPr/>
            </p:nvSpPr>
            <p:spPr>
              <a:xfrm>
                <a:off x="581025" y="484822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5B6675"/>
                </a:solidFill>
              </a:ln>
            </p:spPr>
          </p:sp>
          <p:sp>
            <p:nvSpPr>
              <p:cNvPr id="46" name="Freeform 46"/>
              <p:cNvSpPr/>
              <p:nvPr/>
            </p:nvSpPr>
            <p:spPr>
              <a:xfrm>
                <a:off x="647700" y="4914900"/>
                <a:ext cx="38100" cy="38100"/>
              </a:xfrm>
              <a:custGeom>
                <a:avLst/>
                <a:gdLst/>
                <a:ahLst/>
                <a:cxnLst/>
                <a:rect l="l" t="t" r="r" b="b"/>
                <a:pathLst>
                  <a:path w="38100" h="38100">
                    <a:moveTo>
                      <a:pt x="0" y="0"/>
                    </a:moveTo>
                    <a:lnTo>
                      <a:pt x="38100" y="38100"/>
                    </a:lnTo>
                    <a:moveTo>
                      <a:pt x="38100" y="0"/>
                    </a:moveTo>
                    <a:lnTo>
                      <a:pt x="0" y="38100"/>
                    </a:lnTo>
                  </a:path>
                </a:pathLst>
              </a:custGeom>
              <a:noFill/>
              <a:ln w="19050">
                <a:solidFill>
                  <a:srgbClr val="5B6675"/>
                </a:solidFill>
              </a:ln>
            </p:spPr>
          </p:sp>
        </p:grpSp>
        <p:sp>
          <p:nvSpPr>
            <p:cNvPr id="48" name="TextBox 48"/>
            <p:cNvSpPr txBox="1"/>
            <p:nvPr/>
          </p:nvSpPr>
          <p:spPr>
            <a:xfrm>
              <a:off x="886206" y="4815840"/>
              <a:ext cx="1855740" cy="352044"/>
            </a:xfrm>
            <a:prstGeom prst="rect">
              <a:avLst/>
            </a:prstGeom>
            <a:noFill/>
            <a:ln>
              <a:noFill/>
            </a:ln>
          </p:spPr>
          <p:txBody>
            <a:bodyPr wrap="none" lIns="0" tIns="0" rIns="0" bIns="0" anchor="t" anchorCtr="0">
              <a:spAutoFit/>
            </a:bodyPr>
            <a:lstStyle/>
            <a:p>
              <a:pPr algn="l"/>
              <a:r>
                <a:rPr lang="vi-VN" sz="1800" strike="sngStrike" dirty="0">
                  <a:solidFill>
                    <a:srgbClr val="5B6675"/>
                  </a:solidFill>
                  <a:latin typeface="+mn-lt"/>
                  <a:ea typeface="+mn-ea"/>
                  <a:cs typeface="+mn-cs"/>
                </a:rPr>
                <a:t>Cẩn thận số liệu</a:t>
              </a:r>
            </a:p>
          </p:txBody>
        </p:sp>
        <p:sp>
          <p:nvSpPr>
            <p:cNvPr id="49" name="Line 49"/>
            <p:cNvSpPr/>
            <p:nvPr/>
          </p:nvSpPr>
          <p:spPr>
            <a:xfrm>
              <a:off x="3524250" y="4933950"/>
              <a:ext cx="361950" cy="1"/>
            </a:xfrm>
            <a:prstGeom prst="line">
              <a:avLst/>
            </a:prstGeom>
            <a:noFill/>
            <a:ln w="19050">
              <a:solidFill>
                <a:srgbClr val="5B6675"/>
              </a:solidFill>
              <a:tailEnd type="triangle" w="lg" len="lg"/>
            </a:ln>
          </p:spPr>
        </p:sp>
        <p:sp>
          <p:nvSpPr>
            <p:cNvPr id="50" name="Rectangle 50"/>
            <p:cNvSpPr/>
            <p:nvPr/>
          </p:nvSpPr>
          <p:spPr>
            <a:xfrm>
              <a:off x="4000500" y="4629150"/>
              <a:ext cx="7810500" cy="609600"/>
            </a:xfrm>
            <a:prstGeom prst="roundRect">
              <a:avLst>
                <a:gd name="adj" fmla="val 21875"/>
              </a:avLst>
            </a:prstGeom>
            <a:solidFill>
              <a:schemeClr val="lt1"/>
            </a:solidFill>
            <a:ln w="14288">
              <a:solidFill>
                <a:schemeClr val="accent5"/>
              </a:solidFill>
            </a:ln>
          </p:spPr>
        </p:sp>
        <p:sp>
          <p:nvSpPr>
            <p:cNvPr id="51" name="TextBox 51"/>
            <p:cNvSpPr txBox="1"/>
            <p:nvPr/>
          </p:nvSpPr>
          <p:spPr>
            <a:xfrm>
              <a:off x="4220718" y="4832032"/>
              <a:ext cx="4674687"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Không tự bịa số. Thiếu thì ghi </a:t>
              </a:r>
              <a:r>
                <a:rPr lang="vi-VN" sz="1650" b="1" dirty="0">
                  <a:solidFill>
                    <a:schemeClr val="accent1"/>
                  </a:solidFill>
                  <a:latin typeface="Consolas"/>
                  <a:ea typeface="Consolas"/>
                  <a:cs typeface="Consolas"/>
                </a:rPr>
                <a:t>[CẦN ĐIỀN]</a:t>
              </a:r>
              <a:r>
                <a:rPr lang="vi-VN" sz="1650" dirty="0">
                  <a:solidFill>
                    <a:schemeClr val="dk1"/>
                  </a:solidFill>
                  <a:latin typeface="+mn-lt"/>
                  <a:ea typeface="+mn-ea"/>
                  <a:cs typeface="+mn-cs"/>
                </a:rPr>
                <a:t>.</a:t>
              </a:r>
            </a:p>
          </p:txBody>
        </p:sp>
      </p:grpSp>
      <p:grpSp>
        <p:nvGrpSpPr>
          <p:cNvPr id="58" name="Group 58"/>
          <p:cNvGrpSpPr/>
          <p:nvPr/>
        </p:nvGrpSpPr>
        <p:grpSpPr>
          <a:xfrm>
            <a:off x="381000" y="5448300"/>
            <a:ext cx="11430000" cy="742950"/>
            <a:chOff x="381000" y="5448300"/>
            <a:chExt cx="11430000" cy="742950"/>
          </a:xfrm>
        </p:grpSpPr>
        <p:sp>
          <p:nvSpPr>
            <p:cNvPr id="53" name="Rectangle 53"/>
            <p:cNvSpPr/>
            <p:nvPr/>
          </p:nvSpPr>
          <p:spPr>
            <a:xfrm>
              <a:off x="381000" y="5448300"/>
              <a:ext cx="11430000" cy="742950"/>
            </a:xfrm>
            <a:prstGeom prst="roundRect">
              <a:avLst>
                <a:gd name="adj" fmla="val 17949"/>
              </a:avLst>
            </a:prstGeom>
            <a:solidFill>
              <a:srgbClr val="FCEBDD"/>
            </a:solidFill>
            <a:ln>
              <a:noFill/>
            </a:ln>
          </p:spPr>
        </p:sp>
        <p:grpSp>
          <p:nvGrpSpPr>
            <p:cNvPr id="56" name="Group 56"/>
            <p:cNvGrpSpPr/>
            <p:nvPr/>
          </p:nvGrpSpPr>
          <p:grpSpPr>
            <a:xfrm>
              <a:off x="619125" y="5719931"/>
              <a:ext cx="190500" cy="199688"/>
              <a:chOff x="619125" y="5719931"/>
              <a:chExt cx="190500" cy="199688"/>
            </a:xfrm>
          </p:grpSpPr>
          <p:sp>
            <p:nvSpPr>
              <p:cNvPr id="54" name="Freeform 54"/>
              <p:cNvSpPr/>
              <p:nvPr/>
            </p:nvSpPr>
            <p:spPr>
              <a:xfrm>
                <a:off x="619125" y="5719931"/>
                <a:ext cx="190500" cy="87938"/>
              </a:xfrm>
              <a:custGeom>
                <a:avLst/>
                <a:gdLst/>
                <a:ahLst/>
                <a:cxnLst/>
                <a:rect l="l" t="t" r="r" b="b"/>
                <a:pathLst>
                  <a:path w="190500" h="87938">
                    <a:moveTo>
                      <a:pt x="190500" y="87938"/>
                    </a:moveTo>
                    <a:cubicBezTo>
                      <a:pt x="184514" y="44867"/>
                      <a:pt x="150446" y="11129"/>
                      <a:pt x="107319" y="5565"/>
                    </a:cubicBezTo>
                    <a:cubicBezTo>
                      <a:pt x="64192" y="0"/>
                      <a:pt x="22676" y="23985"/>
                      <a:pt x="5953" y="64125"/>
                    </a:cubicBezTo>
                    <a:moveTo>
                      <a:pt x="0" y="16500"/>
                    </a:moveTo>
                    <a:lnTo>
                      <a:pt x="0" y="64125"/>
                    </a:lnTo>
                    <a:lnTo>
                      <a:pt x="47625" y="64125"/>
                    </a:lnTo>
                  </a:path>
                </a:pathLst>
              </a:custGeom>
              <a:noFill/>
              <a:ln w="23812">
                <a:solidFill>
                  <a:schemeClr val="accent1"/>
                </a:solidFill>
              </a:ln>
            </p:spPr>
          </p:sp>
          <p:sp>
            <p:nvSpPr>
              <p:cNvPr id="55" name="Freeform 55"/>
              <p:cNvSpPr/>
              <p:nvPr/>
            </p:nvSpPr>
            <p:spPr>
              <a:xfrm>
                <a:off x="619125" y="5831681"/>
                <a:ext cx="190500" cy="87938"/>
              </a:xfrm>
              <a:custGeom>
                <a:avLst/>
                <a:gdLst/>
                <a:ahLst/>
                <a:cxnLst/>
                <a:rect l="l" t="t" r="r" b="b"/>
                <a:pathLst>
                  <a:path w="190500" h="87938">
                    <a:moveTo>
                      <a:pt x="0" y="0"/>
                    </a:moveTo>
                    <a:cubicBezTo>
                      <a:pt x="5986" y="43070"/>
                      <a:pt x="40054" y="76808"/>
                      <a:pt x="83181" y="82373"/>
                    </a:cubicBezTo>
                    <a:cubicBezTo>
                      <a:pt x="126308" y="87938"/>
                      <a:pt x="167824" y="63953"/>
                      <a:pt x="184547" y="23812"/>
                    </a:cubicBezTo>
                    <a:moveTo>
                      <a:pt x="190500" y="71438"/>
                    </a:moveTo>
                    <a:lnTo>
                      <a:pt x="190500" y="23812"/>
                    </a:lnTo>
                    <a:lnTo>
                      <a:pt x="142875" y="23812"/>
                    </a:lnTo>
                  </a:path>
                </a:pathLst>
              </a:custGeom>
              <a:noFill/>
              <a:ln w="23812">
                <a:solidFill>
                  <a:schemeClr val="accent1"/>
                </a:solidFill>
              </a:ln>
            </p:spPr>
          </p:sp>
        </p:grpSp>
        <p:sp>
          <p:nvSpPr>
            <p:cNvPr id="57" name="TextBox 57"/>
            <p:cNvSpPr txBox="1"/>
            <p:nvPr/>
          </p:nvSpPr>
          <p:spPr>
            <a:xfrm>
              <a:off x="982218" y="5565458"/>
              <a:ext cx="5458254" cy="608457"/>
            </a:xfrm>
            <a:prstGeom prst="rect">
              <a:avLst/>
            </a:prstGeom>
            <a:noFill/>
            <a:ln>
              <a:noFill/>
            </a:ln>
          </p:spPr>
          <p:txBody>
            <a:bodyPr wrap="none" lIns="0" tIns="0" rIns="0" bIns="0" anchor="t" anchorCtr="0">
              <a:spAutoFit/>
            </a:bodyPr>
            <a:lstStyle/>
            <a:p>
              <a:pPr algn="l">
                <a:lnSpc>
                  <a:spcPts val="2250"/>
                </a:lnSpc>
              </a:pPr>
              <a:r>
                <a:rPr lang="vi-VN" sz="1650" b="1" dirty="0">
                  <a:solidFill>
                    <a:schemeClr val="accent1"/>
                  </a:solidFill>
                  <a:latin typeface="+mn-lt"/>
                  <a:ea typeface="+mn-ea"/>
                  <a:cs typeface="+mn-cs"/>
                </a:rPr>
                <a:t>Phép thử đổi tên:</a:t>
              </a:r>
              <a:r>
                <a:rPr lang="vi-VN" sz="1650" dirty="0">
                  <a:solidFill>
                    <a:schemeClr val="dk1"/>
                  </a:solidFill>
                  <a:latin typeface="+mn-lt"/>
                  <a:ea typeface="+mn-ea"/>
                  <a:cs typeface="+mn-cs"/>
                </a:rPr>
                <a:t> thay “Wir Group” bằng tên đối thủ.</a:t>
              </a:r>
              <a:br/>
              <a:r>
                <a:rPr lang="vi-VN" sz="1650" dirty="0">
                  <a:solidFill>
                    <a:schemeClr val="dk1"/>
                  </a:solidFill>
                  <a:latin typeface="+mn-lt"/>
                  <a:ea typeface="+mn-ea"/>
                  <a:cs typeface="+mn-cs"/>
                </a:rPr>
                <a:t>Câu vẫn đúng tức là quá chung chung — phải viết lại.</a:t>
              </a:r>
            </a:p>
          </p:txBody>
        </p:sp>
      </p:grpSp>
      <p:sp>
        <p:nvSpPr>
          <p:cNvPr id="59" name="TextBox 59"/>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60" name="TextBox 60"/>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07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2416099" cy="234696"/>
            <a:chOff x="381000" y="346710"/>
            <a:chExt cx="2416099" cy="234696"/>
          </a:xfrm>
        </p:grpSpPr>
        <p:sp>
          <p:nvSpPr>
            <p:cNvPr id="2" name="Rectangle 2"/>
            <p:cNvSpPr/>
            <p:nvPr/>
          </p:nvSpPr>
          <p:spPr>
            <a:xfrm>
              <a:off x="381000" y="361950"/>
              <a:ext cx="114300" cy="114300"/>
            </a:xfrm>
            <a:prstGeom prst="roundRect">
              <a:avLst>
                <a:gd name="adj" fmla="val 25000"/>
              </a:avLst>
            </a:prstGeom>
            <a:solidFill>
              <a:schemeClr val="accent5"/>
            </a:solidFill>
            <a:ln>
              <a:noFill/>
            </a:ln>
          </p:spPr>
        </p:sp>
        <p:sp>
          <p:nvSpPr>
            <p:cNvPr id="3" name="TextBox 3"/>
            <p:cNvSpPr txBox="1"/>
            <p:nvPr/>
          </p:nvSpPr>
          <p:spPr>
            <a:xfrm>
              <a:off x="584454" y="346710"/>
              <a:ext cx="2212645"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1 · INSTRUCTIONS</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chemeClr val="accent2"/>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9662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8916114"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Cài ba nguyên tắc chống bịa ngay từ tầng 1:</a:t>
            </a:r>
            <a:br/>
            <a:r>
              <a:rPr lang="vi-VN" sz="3150" b="1" dirty="0">
                <a:solidFill>
                  <a:schemeClr val="accent1"/>
                </a:solidFill>
                <a:latin typeface="+mn-lt"/>
                <a:ea typeface="+mn-ea"/>
                <a:cs typeface="+mn-cs"/>
              </a:rPr>
              <a:t>“chưa đủ dữ liệu” tốt hơn một con số bịa</a:t>
            </a:r>
          </a:p>
        </p:txBody>
      </p:sp>
      <p:grpSp>
        <p:nvGrpSpPr>
          <p:cNvPr id="21" name="Group 21"/>
          <p:cNvGrpSpPr/>
          <p:nvPr/>
        </p:nvGrpSpPr>
        <p:grpSpPr>
          <a:xfrm>
            <a:off x="370332" y="2266950"/>
            <a:ext cx="3593462" cy="1744789"/>
            <a:chOff x="370332" y="2266950"/>
            <a:chExt cx="3593462" cy="1744789"/>
          </a:xfrm>
        </p:grpSpPr>
        <p:sp>
          <p:nvSpPr>
            <p:cNvPr id="17" name="Ellipse 17"/>
            <p:cNvSpPr/>
            <p:nvPr/>
          </p:nvSpPr>
          <p:spPr>
            <a:xfrm>
              <a:off x="381000" y="2266950"/>
              <a:ext cx="533400" cy="533400"/>
            </a:xfrm>
            <a:prstGeom prst="ellipse">
              <a:avLst/>
            </a:prstGeom>
            <a:solidFill>
              <a:schemeClr val="accent5"/>
            </a:solidFill>
            <a:ln>
              <a:noFill/>
            </a:ln>
          </p:spPr>
        </p:sp>
        <p:sp>
          <p:nvSpPr>
            <p:cNvPr id="18" name="TextBox 18"/>
            <p:cNvSpPr txBox="1"/>
            <p:nvPr/>
          </p:nvSpPr>
          <p:spPr>
            <a:xfrm>
              <a:off x="555402" y="2402205"/>
              <a:ext cx="184596" cy="410718"/>
            </a:xfrm>
            <a:prstGeom prst="rect">
              <a:avLst/>
            </a:prstGeom>
            <a:noFill/>
            <a:ln>
              <a:noFill/>
            </a:ln>
          </p:spPr>
          <p:txBody>
            <a:bodyPr wrap="none" lIns="0" tIns="0" rIns="0" bIns="0" anchor="t" anchorCtr="0">
              <a:spAutoFit/>
            </a:bodyPr>
            <a:lstStyle/>
            <a:p>
              <a:pPr algn="ctr"/>
              <a:r>
                <a:rPr lang="vi-VN" sz="2100" b="1" dirty="0">
                  <a:solidFill>
                    <a:srgbClr val="FFFFFF"/>
                  </a:solidFill>
                  <a:latin typeface="+mn-lt"/>
                  <a:ea typeface="+mn-ea"/>
                  <a:cs typeface="+mn-cs"/>
                </a:rPr>
                <a:t>1</a:t>
              </a:r>
            </a:p>
          </p:txBody>
        </p:sp>
        <p:sp>
          <p:nvSpPr>
            <p:cNvPr id="19" name="TextBox 19"/>
            <p:cNvSpPr txBox="1"/>
            <p:nvPr/>
          </p:nvSpPr>
          <p:spPr>
            <a:xfrm>
              <a:off x="370332" y="2973705"/>
              <a:ext cx="3593462" cy="410718"/>
            </a:xfrm>
            <a:prstGeom prst="rect">
              <a:avLst/>
            </a:prstGeom>
            <a:noFill/>
            <a:ln>
              <a:noFill/>
            </a:ln>
          </p:spPr>
          <p:txBody>
            <a:bodyPr wrap="none" lIns="0" tIns="0" rIns="0" bIns="0" anchor="t" anchorCtr="0">
              <a:spAutoFit/>
            </a:bodyPr>
            <a:lstStyle/>
            <a:p>
              <a:pPr algn="l"/>
              <a:r>
                <a:rPr lang="vi-VN" sz="2100" b="1" dirty="0">
                  <a:solidFill>
                    <a:schemeClr val="accent1"/>
                  </a:solidFill>
                  <a:latin typeface="+mn-lt"/>
                  <a:ea typeface="+mn-ea"/>
                  <a:cs typeface="+mn-cs"/>
                </a:rPr>
                <a:t>Chỉ dùng dữ liệu được cấp</a:t>
              </a:r>
            </a:p>
          </p:txBody>
        </p:sp>
        <p:sp>
          <p:nvSpPr>
            <p:cNvPr id="20" name="TextBox 20"/>
            <p:cNvSpPr txBox="1"/>
            <p:nvPr/>
          </p:nvSpPr>
          <p:spPr>
            <a:xfrm>
              <a:off x="372618" y="3403282"/>
              <a:ext cx="3233357"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dk1"/>
                  </a:solidFill>
                  <a:latin typeface="+mn-lt"/>
                  <a:ea typeface="+mn-ea"/>
                  <a:cs typeface="+mn-cs"/>
                </a:rPr>
                <a:t>Không tự chế số liệu, tên người,</a:t>
              </a:r>
              <a:br/>
              <a:r>
                <a:rPr lang="vi-VN" sz="1650" dirty="0">
                  <a:solidFill>
                    <a:schemeClr val="dk1"/>
                  </a:solidFill>
                  <a:latin typeface="+mn-lt"/>
                  <a:ea typeface="+mn-ea"/>
                  <a:cs typeface="+mn-cs"/>
                </a:rPr>
                <a:t>ngày tháng, điều khoản.</a:t>
              </a:r>
            </a:p>
          </p:txBody>
        </p:sp>
      </p:grpSp>
      <p:sp>
        <p:nvSpPr>
          <p:cNvPr id="22" name="Line 22"/>
          <p:cNvSpPr/>
          <p:nvPr/>
        </p:nvSpPr>
        <p:spPr>
          <a:xfrm>
            <a:off x="4114800" y="2286000"/>
            <a:ext cx="9525" cy="2286000"/>
          </a:xfrm>
          <a:custGeom>
            <a:avLst/>
            <a:gdLst/>
            <a:ahLst/>
            <a:cxnLst/>
            <a:rect l="l" t="t" r="r" b="b"/>
            <a:pathLst>
              <a:path w="9525" h="2286000">
                <a:moveTo>
                  <a:pt x="0" y="0"/>
                </a:moveTo>
                <a:lnTo>
                  <a:pt x="0" y="2286000"/>
                </a:lnTo>
              </a:path>
            </a:pathLst>
          </a:custGeom>
          <a:noFill/>
          <a:ln w="9525">
            <a:solidFill>
              <a:schemeClr val="accent4"/>
            </a:solidFill>
          </a:ln>
        </p:spPr>
      </p:sp>
      <p:grpSp>
        <p:nvGrpSpPr>
          <p:cNvPr id="35" name="Group 35"/>
          <p:cNvGrpSpPr/>
          <p:nvPr/>
        </p:nvGrpSpPr>
        <p:grpSpPr>
          <a:xfrm>
            <a:off x="4332732" y="2266950"/>
            <a:ext cx="3136011" cy="2297239"/>
            <a:chOff x="4332732" y="2266950"/>
            <a:chExt cx="3136011" cy="2297239"/>
          </a:xfrm>
        </p:grpSpPr>
        <p:sp>
          <p:nvSpPr>
            <p:cNvPr id="23" name="Ellipse 23"/>
            <p:cNvSpPr/>
            <p:nvPr/>
          </p:nvSpPr>
          <p:spPr>
            <a:xfrm>
              <a:off x="4343400" y="2266950"/>
              <a:ext cx="533400" cy="533400"/>
            </a:xfrm>
            <a:prstGeom prst="ellipse">
              <a:avLst/>
            </a:prstGeom>
            <a:solidFill>
              <a:schemeClr val="accent5"/>
            </a:solidFill>
            <a:ln>
              <a:noFill/>
            </a:ln>
          </p:spPr>
        </p:sp>
        <p:sp>
          <p:nvSpPr>
            <p:cNvPr id="24" name="TextBox 24"/>
            <p:cNvSpPr txBox="1"/>
            <p:nvPr/>
          </p:nvSpPr>
          <p:spPr>
            <a:xfrm>
              <a:off x="4517802" y="2402205"/>
              <a:ext cx="184596" cy="410718"/>
            </a:xfrm>
            <a:prstGeom prst="rect">
              <a:avLst/>
            </a:prstGeom>
            <a:noFill/>
            <a:ln>
              <a:noFill/>
            </a:ln>
          </p:spPr>
          <p:txBody>
            <a:bodyPr wrap="none" lIns="0" tIns="0" rIns="0" bIns="0" anchor="t" anchorCtr="0">
              <a:spAutoFit/>
            </a:bodyPr>
            <a:lstStyle/>
            <a:p>
              <a:pPr algn="ctr"/>
              <a:r>
                <a:rPr lang="vi-VN" sz="2100" b="1" dirty="0">
                  <a:solidFill>
                    <a:srgbClr val="FFFFFF"/>
                  </a:solidFill>
                  <a:latin typeface="+mn-lt"/>
                  <a:ea typeface="+mn-ea"/>
                  <a:cs typeface="+mn-cs"/>
                </a:rPr>
                <a:t>2</a:t>
              </a:r>
            </a:p>
          </p:txBody>
        </p:sp>
        <p:sp>
          <p:nvSpPr>
            <p:cNvPr id="25" name="TextBox 25"/>
            <p:cNvSpPr txBox="1"/>
            <p:nvPr/>
          </p:nvSpPr>
          <p:spPr>
            <a:xfrm>
              <a:off x="4332732" y="2973705"/>
              <a:ext cx="2168644" cy="410718"/>
            </a:xfrm>
            <a:prstGeom prst="rect">
              <a:avLst/>
            </a:prstGeom>
            <a:noFill/>
            <a:ln>
              <a:noFill/>
            </a:ln>
          </p:spPr>
          <p:txBody>
            <a:bodyPr wrap="none" lIns="0" tIns="0" rIns="0" bIns="0" anchor="t" anchorCtr="0">
              <a:spAutoFit/>
            </a:bodyPr>
            <a:lstStyle/>
            <a:p>
              <a:pPr algn="l"/>
              <a:r>
                <a:rPr lang="vi-VN" sz="2100" b="1" dirty="0">
                  <a:solidFill>
                    <a:schemeClr val="accent1"/>
                  </a:solidFill>
                  <a:latin typeface="+mn-lt"/>
                  <a:ea typeface="+mn-ea"/>
                  <a:cs typeface="+mn-cs"/>
                </a:rPr>
                <a:t>Gắn nhãn nguồn</a:t>
              </a:r>
            </a:p>
          </p:txBody>
        </p:sp>
        <p:sp>
          <p:nvSpPr>
            <p:cNvPr id="26" name="Rectangle 26"/>
            <p:cNvSpPr/>
            <p:nvPr/>
          </p:nvSpPr>
          <p:spPr>
            <a:xfrm>
              <a:off x="4343400" y="3390900"/>
              <a:ext cx="1409700" cy="304800"/>
            </a:xfrm>
            <a:prstGeom prst="roundRect">
              <a:avLst>
                <a:gd name="adj" fmla="val 25000"/>
              </a:avLst>
            </a:prstGeom>
            <a:solidFill>
              <a:schemeClr val="lt2"/>
            </a:solidFill>
            <a:ln>
              <a:noFill/>
            </a:ln>
          </p:spPr>
        </p:sp>
        <p:sp>
          <p:nvSpPr>
            <p:cNvPr id="27" name="TextBox 27"/>
            <p:cNvSpPr txBox="1"/>
            <p:nvPr/>
          </p:nvSpPr>
          <p:spPr>
            <a:xfrm>
              <a:off x="4450080" y="3448050"/>
              <a:ext cx="1314602" cy="293370"/>
            </a:xfrm>
            <a:prstGeom prst="rect">
              <a:avLst/>
            </a:prstGeom>
            <a:noFill/>
            <a:ln>
              <a:noFill/>
            </a:ln>
          </p:spPr>
          <p:txBody>
            <a:bodyPr wrap="none" lIns="0" tIns="0" rIns="0" bIns="0" anchor="t" anchorCtr="0">
              <a:spAutoFit/>
            </a:bodyPr>
            <a:lstStyle/>
            <a:p>
              <a:pPr algn="l"/>
              <a:r>
                <a:rPr lang="vi-VN" sz="1500" b="1" dirty="0">
                  <a:solidFill>
                    <a:srgbClr val="2E8B57"/>
                  </a:solidFill>
                  <a:latin typeface="Consolas"/>
                  <a:ea typeface="Consolas"/>
                  <a:cs typeface="Consolas"/>
                </a:rPr>
                <a:t>[DATA THẬT]</a:t>
              </a:r>
            </a:p>
          </p:txBody>
        </p:sp>
        <p:sp>
          <p:nvSpPr>
            <p:cNvPr id="28" name="TextBox 28"/>
            <p:cNvSpPr txBox="1"/>
            <p:nvPr/>
          </p:nvSpPr>
          <p:spPr>
            <a:xfrm>
              <a:off x="5897118" y="3441382"/>
              <a:ext cx="1460564"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lấy từ tài liệu</a:t>
              </a:r>
            </a:p>
          </p:txBody>
        </p:sp>
        <p:sp>
          <p:nvSpPr>
            <p:cNvPr id="29" name="Rectangle 29"/>
            <p:cNvSpPr/>
            <p:nvPr/>
          </p:nvSpPr>
          <p:spPr>
            <a:xfrm>
              <a:off x="4343400" y="3790950"/>
              <a:ext cx="1409700" cy="304800"/>
            </a:xfrm>
            <a:prstGeom prst="roundRect">
              <a:avLst>
                <a:gd name="adj" fmla="val 25000"/>
              </a:avLst>
            </a:prstGeom>
            <a:solidFill>
              <a:schemeClr val="lt2"/>
            </a:solidFill>
            <a:ln>
              <a:noFill/>
            </a:ln>
          </p:spPr>
        </p:sp>
        <p:sp>
          <p:nvSpPr>
            <p:cNvPr id="30" name="TextBox 30"/>
            <p:cNvSpPr txBox="1"/>
            <p:nvPr/>
          </p:nvSpPr>
          <p:spPr>
            <a:xfrm>
              <a:off x="4450080" y="3848100"/>
              <a:ext cx="1191387" cy="293370"/>
            </a:xfrm>
            <a:prstGeom prst="rect">
              <a:avLst/>
            </a:prstGeom>
            <a:noFill/>
            <a:ln>
              <a:noFill/>
            </a:ln>
          </p:spPr>
          <p:txBody>
            <a:bodyPr wrap="none" lIns="0" tIns="0" rIns="0" bIns="0" anchor="t" anchorCtr="0">
              <a:spAutoFit/>
            </a:bodyPr>
            <a:lstStyle/>
            <a:p>
              <a:pPr algn="l"/>
              <a:r>
                <a:rPr lang="vi-VN" sz="1500" b="1" dirty="0">
                  <a:solidFill>
                    <a:srgbClr val="2E5E91"/>
                  </a:solidFill>
                  <a:latin typeface="Consolas"/>
                  <a:ea typeface="Consolas"/>
                  <a:cs typeface="Consolas"/>
                </a:rPr>
                <a:t>[SUY LUẬN]</a:t>
              </a:r>
            </a:p>
          </p:txBody>
        </p:sp>
        <p:sp>
          <p:nvSpPr>
            <p:cNvPr id="31" name="TextBox 31"/>
            <p:cNvSpPr txBox="1"/>
            <p:nvPr/>
          </p:nvSpPr>
          <p:spPr>
            <a:xfrm>
              <a:off x="5897118" y="3841432"/>
              <a:ext cx="1005211"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tự suy ra</a:t>
              </a:r>
            </a:p>
          </p:txBody>
        </p:sp>
        <p:sp>
          <p:nvSpPr>
            <p:cNvPr id="32" name="Rectangle 32"/>
            <p:cNvSpPr/>
            <p:nvPr/>
          </p:nvSpPr>
          <p:spPr>
            <a:xfrm>
              <a:off x="4343400" y="4191000"/>
              <a:ext cx="1409700" cy="304800"/>
            </a:xfrm>
            <a:prstGeom prst="roundRect">
              <a:avLst>
                <a:gd name="adj" fmla="val 25000"/>
              </a:avLst>
            </a:prstGeom>
            <a:solidFill>
              <a:schemeClr val="lt2"/>
            </a:solidFill>
            <a:ln>
              <a:noFill/>
            </a:ln>
          </p:spPr>
        </p:sp>
        <p:sp>
          <p:nvSpPr>
            <p:cNvPr id="33" name="TextBox 33"/>
            <p:cNvSpPr txBox="1"/>
            <p:nvPr/>
          </p:nvSpPr>
          <p:spPr>
            <a:xfrm>
              <a:off x="4450080" y="4248150"/>
              <a:ext cx="1135380" cy="293370"/>
            </a:xfrm>
            <a:prstGeom prst="rect">
              <a:avLst/>
            </a:prstGeom>
            <a:noFill/>
            <a:ln>
              <a:noFill/>
            </a:ln>
          </p:spPr>
          <p:txBody>
            <a:bodyPr wrap="none" lIns="0" tIns="0" rIns="0" bIns="0" anchor="t" anchorCtr="0">
              <a:spAutoFit/>
            </a:bodyPr>
            <a:lstStyle/>
            <a:p>
              <a:pPr algn="l"/>
              <a:r>
                <a:rPr lang="vi-VN" sz="1500" b="1" dirty="0">
                  <a:solidFill>
                    <a:srgbClr val="C0392B"/>
                  </a:solidFill>
                  <a:latin typeface="Consolas"/>
                  <a:ea typeface="Consolas"/>
                  <a:cs typeface="Consolas"/>
                </a:rPr>
                <a:t>[CẦN ĐIỀN]</a:t>
              </a:r>
            </a:p>
          </p:txBody>
        </p:sp>
        <p:sp>
          <p:nvSpPr>
            <p:cNvPr id="34" name="TextBox 34"/>
            <p:cNvSpPr txBox="1"/>
            <p:nvPr/>
          </p:nvSpPr>
          <p:spPr>
            <a:xfrm>
              <a:off x="5897118" y="4241482"/>
              <a:ext cx="1571625"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chưa có dữ liệu</a:t>
              </a:r>
            </a:p>
          </p:txBody>
        </p:sp>
      </p:grpSp>
      <p:sp>
        <p:nvSpPr>
          <p:cNvPr id="36" name="Line 36"/>
          <p:cNvSpPr/>
          <p:nvPr/>
        </p:nvSpPr>
        <p:spPr>
          <a:xfrm>
            <a:off x="8001000" y="2286000"/>
            <a:ext cx="9525" cy="2286000"/>
          </a:xfrm>
          <a:custGeom>
            <a:avLst/>
            <a:gdLst/>
            <a:ahLst/>
            <a:cxnLst/>
            <a:rect l="l" t="t" r="r" b="b"/>
            <a:pathLst>
              <a:path w="9525" h="2286000">
                <a:moveTo>
                  <a:pt x="0" y="0"/>
                </a:moveTo>
                <a:lnTo>
                  <a:pt x="0" y="2286000"/>
                </a:lnTo>
              </a:path>
            </a:pathLst>
          </a:custGeom>
          <a:noFill/>
          <a:ln w="9525">
            <a:solidFill>
              <a:schemeClr val="accent4"/>
            </a:solidFill>
          </a:ln>
        </p:spPr>
      </p:sp>
      <p:grpSp>
        <p:nvGrpSpPr>
          <p:cNvPr id="41" name="Group 41"/>
          <p:cNvGrpSpPr/>
          <p:nvPr/>
        </p:nvGrpSpPr>
        <p:grpSpPr>
          <a:xfrm>
            <a:off x="8218932" y="2266950"/>
            <a:ext cx="3392805" cy="2030539"/>
            <a:chOff x="8218932" y="2266950"/>
            <a:chExt cx="3392805" cy="2030539"/>
          </a:xfrm>
        </p:grpSpPr>
        <p:sp>
          <p:nvSpPr>
            <p:cNvPr id="37" name="Ellipse 37"/>
            <p:cNvSpPr/>
            <p:nvPr/>
          </p:nvSpPr>
          <p:spPr>
            <a:xfrm>
              <a:off x="8229600" y="2266950"/>
              <a:ext cx="533400" cy="533400"/>
            </a:xfrm>
            <a:prstGeom prst="ellipse">
              <a:avLst/>
            </a:prstGeom>
            <a:solidFill>
              <a:schemeClr val="accent5"/>
            </a:solidFill>
            <a:ln>
              <a:noFill/>
            </a:ln>
          </p:spPr>
        </p:sp>
        <p:sp>
          <p:nvSpPr>
            <p:cNvPr id="38" name="TextBox 38"/>
            <p:cNvSpPr txBox="1"/>
            <p:nvPr/>
          </p:nvSpPr>
          <p:spPr>
            <a:xfrm>
              <a:off x="8404002" y="2402205"/>
              <a:ext cx="184596" cy="410718"/>
            </a:xfrm>
            <a:prstGeom prst="rect">
              <a:avLst/>
            </a:prstGeom>
            <a:noFill/>
            <a:ln>
              <a:noFill/>
            </a:ln>
          </p:spPr>
          <p:txBody>
            <a:bodyPr wrap="none" lIns="0" tIns="0" rIns="0" bIns="0" anchor="t" anchorCtr="0">
              <a:spAutoFit/>
            </a:bodyPr>
            <a:lstStyle/>
            <a:p>
              <a:pPr algn="ctr"/>
              <a:r>
                <a:rPr lang="vi-VN" sz="2100" b="1" dirty="0">
                  <a:solidFill>
                    <a:srgbClr val="FFFFFF"/>
                  </a:solidFill>
                  <a:latin typeface="+mn-lt"/>
                  <a:ea typeface="+mn-ea"/>
                  <a:cs typeface="+mn-cs"/>
                </a:rPr>
                <a:t>3</a:t>
              </a:r>
            </a:p>
          </p:txBody>
        </p:sp>
        <p:sp>
          <p:nvSpPr>
            <p:cNvPr id="39" name="TextBox 39"/>
            <p:cNvSpPr txBox="1"/>
            <p:nvPr/>
          </p:nvSpPr>
          <p:spPr>
            <a:xfrm>
              <a:off x="8218932" y="2973705"/>
              <a:ext cx="2346027" cy="410718"/>
            </a:xfrm>
            <a:prstGeom prst="rect">
              <a:avLst/>
            </a:prstGeom>
            <a:noFill/>
            <a:ln>
              <a:noFill/>
            </a:ln>
          </p:spPr>
          <p:txBody>
            <a:bodyPr wrap="none" lIns="0" tIns="0" rIns="0" bIns="0" anchor="t" anchorCtr="0">
              <a:spAutoFit/>
            </a:bodyPr>
            <a:lstStyle/>
            <a:p>
              <a:pPr algn="l"/>
              <a:r>
                <a:rPr lang="vi-VN" sz="2100" b="1" dirty="0">
                  <a:solidFill>
                    <a:schemeClr val="accent1"/>
                  </a:solidFill>
                  <a:latin typeface="+mn-lt"/>
                  <a:ea typeface="+mn-ea"/>
                  <a:cs typeface="+mn-cs"/>
                </a:rPr>
                <a:t>Người duyệt cuối</a:t>
              </a:r>
            </a:p>
          </p:txBody>
        </p:sp>
        <p:sp>
          <p:nvSpPr>
            <p:cNvPr id="40" name="TextBox 40"/>
            <p:cNvSpPr txBox="1"/>
            <p:nvPr/>
          </p:nvSpPr>
          <p:spPr>
            <a:xfrm>
              <a:off x="8221218" y="3403282"/>
              <a:ext cx="3390519"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dk1"/>
                  </a:solidFill>
                  <a:latin typeface="+mn-lt"/>
                  <a:ea typeface="+mn-ea"/>
                  <a:cs typeface="+mn-cs"/>
                </a:rPr>
                <a:t>Mọi thứ ChatGPT viết là bản nháp.</a:t>
              </a:r>
              <a:br/>
              <a:r>
                <a:rPr lang="vi-VN" sz="1650" dirty="0">
                  <a:solidFill>
                    <a:schemeClr val="dk1"/>
                  </a:solidFill>
                  <a:latin typeface="+mn-lt"/>
                  <a:ea typeface="+mn-ea"/>
                  <a:cs typeface="+mn-cs"/>
                </a:rPr>
                <a:t>Người ký, người bấm gửi</a:t>
              </a:r>
              <a:br/>
              <a:r>
                <a:rPr lang="vi-VN" sz="1650" dirty="0">
                  <a:solidFill>
                    <a:schemeClr val="dk1"/>
                  </a:solidFill>
                  <a:latin typeface="+mn-lt"/>
                  <a:ea typeface="+mn-ea"/>
                  <a:cs typeface="+mn-cs"/>
                </a:rPr>
                <a:t>chịu trách nhiệm.</a:t>
              </a:r>
            </a:p>
          </p:txBody>
        </p:sp>
      </p:grpSp>
      <p:grpSp>
        <p:nvGrpSpPr>
          <p:cNvPr id="45" name="Group 45"/>
          <p:cNvGrpSpPr/>
          <p:nvPr/>
        </p:nvGrpSpPr>
        <p:grpSpPr>
          <a:xfrm>
            <a:off x="381000" y="5067300"/>
            <a:ext cx="6876288" cy="926973"/>
            <a:chOff x="381000" y="5067300"/>
            <a:chExt cx="6876288" cy="926973"/>
          </a:xfrm>
        </p:grpSpPr>
        <p:sp>
          <p:nvSpPr>
            <p:cNvPr id="42" name="Rectangle 42"/>
            <p:cNvSpPr/>
            <p:nvPr/>
          </p:nvSpPr>
          <p:spPr>
            <a:xfrm>
              <a:off x="381000" y="5067300"/>
              <a:ext cx="57150" cy="914400"/>
            </a:xfrm>
            <a:prstGeom prst="roundRect">
              <a:avLst>
                <a:gd name="adj" fmla="val 50000"/>
              </a:avLst>
            </a:prstGeom>
            <a:solidFill>
              <a:schemeClr val="accent2"/>
            </a:solidFill>
            <a:ln>
              <a:noFill/>
            </a:ln>
          </p:spPr>
        </p:sp>
        <p:sp>
          <p:nvSpPr>
            <p:cNvPr id="43" name="TextBox 43"/>
            <p:cNvSpPr txBox="1"/>
            <p:nvPr/>
          </p:nvSpPr>
          <p:spPr>
            <a:xfrm>
              <a:off x="675132" y="5221605"/>
              <a:ext cx="6582156" cy="772668"/>
            </a:xfrm>
            <a:prstGeom prst="rect">
              <a:avLst/>
            </a:prstGeom>
            <a:noFill/>
            <a:ln>
              <a:noFill/>
            </a:ln>
          </p:spPr>
          <p:txBody>
            <a:bodyPr wrap="none" lIns="0" tIns="0" rIns="0" bIns="0" anchor="t" anchorCtr="0">
              <a:spAutoFit/>
            </a:bodyPr>
            <a:lstStyle/>
            <a:p>
              <a:pPr algn="l">
                <a:lnSpc>
                  <a:spcPts val="2850"/>
                </a:lnSpc>
              </a:pPr>
              <a:r>
                <a:rPr lang="vi-VN" sz="2100" i="1" dirty="0">
                  <a:solidFill>
                    <a:schemeClr val="accent1"/>
                  </a:solidFill>
                  <a:latin typeface="+mn-lt"/>
                  <a:ea typeface="+mn-ea"/>
                  <a:cs typeface="+mn-cs"/>
                </a:rPr>
                <a:t>“Con số bịa mà trơn tru mới là thứ nguy hiểm nhất,</a:t>
              </a:r>
              <a:br/>
              <a:r>
                <a:rPr lang="vi-VN" sz="2100" i="1" dirty="0">
                  <a:solidFill>
                    <a:schemeClr val="accent1"/>
                  </a:solidFill>
                  <a:latin typeface="+mn-lt"/>
                  <a:ea typeface="+mn-ea"/>
                  <a:cs typeface="+mn-cs"/>
                </a:rPr>
                <a:t>vì không ai nghi ngờ nó.”</a:t>
              </a:r>
            </a:p>
          </p:txBody>
        </p:sp>
      </p:grpSp>
      <p:sp>
        <p:nvSpPr>
          <p:cNvPr id="46" name="TextBox 46"/>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47" name="TextBox 47"/>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08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2416099" cy="234696"/>
            <a:chOff x="381000" y="346710"/>
            <a:chExt cx="2416099" cy="234696"/>
          </a:xfrm>
        </p:grpSpPr>
        <p:sp>
          <p:nvSpPr>
            <p:cNvPr id="2" name="Rectangle 2"/>
            <p:cNvSpPr/>
            <p:nvPr/>
          </p:nvSpPr>
          <p:spPr>
            <a:xfrm>
              <a:off x="381000" y="361950"/>
              <a:ext cx="114300" cy="114300"/>
            </a:xfrm>
            <a:prstGeom prst="roundRect">
              <a:avLst>
                <a:gd name="adj" fmla="val 25000"/>
              </a:avLst>
            </a:prstGeom>
            <a:solidFill>
              <a:schemeClr val="accent5"/>
            </a:solidFill>
            <a:ln>
              <a:noFill/>
            </a:ln>
          </p:spPr>
        </p:sp>
        <p:sp>
          <p:nvSpPr>
            <p:cNvPr id="3" name="TextBox 3"/>
            <p:cNvSpPr txBox="1"/>
            <p:nvPr/>
          </p:nvSpPr>
          <p:spPr>
            <a:xfrm>
              <a:off x="584454" y="346710"/>
              <a:ext cx="2212645"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1 · INSTRUCTIONS</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chemeClr val="accent2"/>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9662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7865983"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Cài bảo mật một lần: tắt huấn luyện,</a:t>
            </a:r>
            <a:br/>
            <a:r>
              <a:rPr lang="vi-VN" sz="3150" b="1" dirty="0">
                <a:solidFill>
                  <a:schemeClr val="accent1"/>
                </a:solidFill>
                <a:latin typeface="+mn-lt"/>
                <a:ea typeface="+mn-ea"/>
                <a:cs typeface="+mn-cs"/>
              </a:rPr>
              <a:t>dùng chat tạm, không dán 5 loại dữ liệu</a:t>
            </a:r>
          </a:p>
        </p:txBody>
      </p:sp>
      <p:grpSp>
        <p:nvGrpSpPr>
          <p:cNvPr id="25" name="Group 25"/>
          <p:cNvGrpSpPr/>
          <p:nvPr/>
        </p:nvGrpSpPr>
        <p:grpSpPr>
          <a:xfrm>
            <a:off x="381000" y="2114550"/>
            <a:ext cx="5524500" cy="1238250"/>
            <a:chOff x="381000" y="2114550"/>
            <a:chExt cx="5524500" cy="1238250"/>
          </a:xfrm>
        </p:grpSpPr>
        <p:sp>
          <p:nvSpPr>
            <p:cNvPr id="17" name="Rectangle 17"/>
            <p:cNvSpPr/>
            <p:nvPr/>
          </p:nvSpPr>
          <p:spPr>
            <a:xfrm>
              <a:off x="381000" y="2114550"/>
              <a:ext cx="5524500" cy="1238250"/>
            </a:xfrm>
            <a:prstGeom prst="roundRect">
              <a:avLst>
                <a:gd name="adj" fmla="val 12308"/>
              </a:avLst>
            </a:prstGeom>
            <a:solidFill>
              <a:schemeClr val="lt2"/>
            </a:solidFill>
            <a:ln>
              <a:noFill/>
            </a:ln>
          </p:spPr>
        </p:sp>
        <p:sp>
          <p:nvSpPr>
            <p:cNvPr id="18" name="Ellipse 18"/>
            <p:cNvSpPr/>
            <p:nvPr/>
          </p:nvSpPr>
          <p:spPr>
            <a:xfrm>
              <a:off x="590550" y="2305050"/>
              <a:ext cx="457200" cy="457200"/>
            </a:xfrm>
            <a:prstGeom prst="ellipse">
              <a:avLst/>
            </a:prstGeom>
            <a:solidFill>
              <a:schemeClr val="lt1"/>
            </a:solidFill>
            <a:ln>
              <a:noFill/>
            </a:ln>
          </p:spPr>
        </p:sp>
        <p:grpSp>
          <p:nvGrpSpPr>
            <p:cNvPr id="22" name="Group 22"/>
            <p:cNvGrpSpPr/>
            <p:nvPr/>
          </p:nvGrpSpPr>
          <p:grpSpPr>
            <a:xfrm>
              <a:off x="699561" y="2419350"/>
              <a:ext cx="239177" cy="228599"/>
              <a:chOff x="699561" y="2419350"/>
              <a:chExt cx="239177" cy="228599"/>
            </a:xfrm>
          </p:grpSpPr>
          <p:sp>
            <p:nvSpPr>
              <p:cNvPr id="19" name="Freeform 19"/>
              <p:cNvSpPr/>
              <p:nvPr/>
            </p:nvSpPr>
            <p:spPr>
              <a:xfrm>
                <a:off x="699561" y="2419350"/>
                <a:ext cx="239177" cy="228599"/>
              </a:xfrm>
              <a:custGeom>
                <a:avLst/>
                <a:gdLst/>
                <a:ahLst/>
                <a:cxnLst/>
                <a:rect l="l" t="t" r="r" b="b"/>
                <a:pathLst>
                  <a:path w="239177" h="228599">
                    <a:moveTo>
                      <a:pt x="119589" y="0"/>
                    </a:moveTo>
                    <a:cubicBezTo>
                      <a:pt x="149254" y="26245"/>
                      <a:pt x="187971" y="39910"/>
                      <a:pt x="227538" y="38100"/>
                    </a:cubicBezTo>
                    <a:cubicBezTo>
                      <a:pt x="239177" y="77692"/>
                      <a:pt x="234262" y="120312"/>
                      <a:pt x="213916" y="156216"/>
                    </a:cubicBezTo>
                    <a:cubicBezTo>
                      <a:pt x="193571" y="192120"/>
                      <a:pt x="159534" y="218238"/>
                      <a:pt x="119589" y="228599"/>
                    </a:cubicBezTo>
                    <a:cubicBezTo>
                      <a:pt x="79643" y="218238"/>
                      <a:pt x="45606" y="192120"/>
                      <a:pt x="25261" y="156216"/>
                    </a:cubicBezTo>
                    <a:cubicBezTo>
                      <a:pt x="4915" y="120312"/>
                      <a:pt x="0" y="77692"/>
                      <a:pt x="11639" y="38100"/>
                    </a:cubicBezTo>
                    <a:cubicBezTo>
                      <a:pt x="51206" y="39910"/>
                      <a:pt x="89924" y="26245"/>
                      <a:pt x="119589" y="0"/>
                    </a:cubicBezTo>
                  </a:path>
                </a:pathLst>
              </a:custGeom>
              <a:noFill/>
              <a:ln w="25400">
                <a:solidFill>
                  <a:schemeClr val="accent5"/>
                </a:solidFill>
              </a:ln>
            </p:spPr>
          </p:sp>
          <p:sp>
            <p:nvSpPr>
              <p:cNvPr id="20" name="Freeform 20"/>
              <p:cNvSpPr/>
              <p:nvPr/>
            </p:nvSpPr>
            <p:spPr>
              <a:xfrm>
                <a:off x="806450" y="2508250"/>
                <a:ext cx="25400" cy="25400"/>
              </a:xfrm>
              <a:custGeom>
                <a:avLst/>
                <a:gdLst/>
                <a:ahLst/>
                <a:cxnLst/>
                <a:rect l="l" t="t" r="r" b="b"/>
                <a:pathLst>
                  <a:path w="25400" h="25400">
                    <a:moveTo>
                      <a:pt x="0" y="12700"/>
                    </a:moveTo>
                    <a:cubicBezTo>
                      <a:pt x="0" y="19714"/>
                      <a:pt x="5686" y="25400"/>
                      <a:pt x="12700" y="25400"/>
                    </a:cubicBezTo>
                    <a:cubicBezTo>
                      <a:pt x="19714" y="25400"/>
                      <a:pt x="25400" y="19714"/>
                      <a:pt x="25400" y="12700"/>
                    </a:cubicBezTo>
                    <a:cubicBezTo>
                      <a:pt x="25400" y="5686"/>
                      <a:pt x="19714" y="0"/>
                      <a:pt x="12700" y="0"/>
                    </a:cubicBezTo>
                    <a:cubicBezTo>
                      <a:pt x="5686" y="0"/>
                      <a:pt x="0" y="5686"/>
                      <a:pt x="0" y="12700"/>
                    </a:cubicBezTo>
                  </a:path>
                </a:pathLst>
              </a:custGeom>
              <a:noFill/>
              <a:ln w="25400">
                <a:solidFill>
                  <a:schemeClr val="accent5"/>
                </a:solidFill>
              </a:ln>
            </p:spPr>
          </p:sp>
          <p:sp>
            <p:nvSpPr>
              <p:cNvPr id="21" name="Freeform 21"/>
              <p:cNvSpPr/>
              <p:nvPr/>
            </p:nvSpPr>
            <p:spPr>
              <a:xfrm>
                <a:off x="819150" y="2533650"/>
                <a:ext cx="9525" cy="31750"/>
              </a:xfrm>
              <a:custGeom>
                <a:avLst/>
                <a:gdLst/>
                <a:ahLst/>
                <a:cxnLst/>
                <a:rect l="l" t="t" r="r" b="b"/>
                <a:pathLst>
                  <a:path w="9525" h="31750">
                    <a:moveTo>
                      <a:pt x="0" y="0"/>
                    </a:moveTo>
                    <a:lnTo>
                      <a:pt x="0" y="31750"/>
                    </a:lnTo>
                  </a:path>
                </a:pathLst>
              </a:custGeom>
              <a:noFill/>
              <a:ln w="25400">
                <a:solidFill>
                  <a:schemeClr val="accent5"/>
                </a:solidFill>
              </a:ln>
            </p:spPr>
          </p:sp>
        </p:grpSp>
        <p:sp>
          <p:nvSpPr>
            <p:cNvPr id="23" name="TextBox 23"/>
            <p:cNvSpPr txBox="1"/>
            <p:nvPr/>
          </p:nvSpPr>
          <p:spPr>
            <a:xfrm>
              <a:off x="1210056" y="2425065"/>
              <a:ext cx="1794930" cy="352044"/>
            </a:xfrm>
            <a:prstGeom prst="rect">
              <a:avLst/>
            </a:prstGeom>
            <a:noFill/>
            <a:ln>
              <a:noFill/>
            </a:ln>
          </p:spPr>
          <p:txBody>
            <a:bodyPr wrap="none" lIns="0" tIns="0" rIns="0" bIns="0" anchor="t" anchorCtr="0">
              <a:spAutoFit/>
            </a:bodyPr>
            <a:lstStyle/>
            <a:p>
              <a:pPr algn="l"/>
              <a:r>
                <a:rPr lang="vi-VN" sz="1800" b="1" dirty="0">
                  <a:solidFill>
                    <a:schemeClr val="accent1"/>
                  </a:solidFill>
                  <a:latin typeface="+mn-lt"/>
                  <a:ea typeface="+mn-ea"/>
                  <a:cs typeface="+mn-cs"/>
                </a:rPr>
                <a:t>Tắt huấn luyện</a:t>
              </a:r>
            </a:p>
          </p:txBody>
        </p:sp>
        <p:sp>
          <p:nvSpPr>
            <p:cNvPr id="24" name="TextBox 24"/>
            <p:cNvSpPr txBox="1"/>
            <p:nvPr/>
          </p:nvSpPr>
          <p:spPr>
            <a:xfrm>
              <a:off x="1212342" y="2807018"/>
              <a:ext cx="2654046" cy="492633"/>
            </a:xfrm>
            <a:prstGeom prst="rect">
              <a:avLst/>
            </a:prstGeom>
            <a:noFill/>
            <a:ln>
              <a:noFill/>
            </a:ln>
          </p:spPr>
          <p:txBody>
            <a:bodyPr wrap="none" lIns="0" tIns="0" rIns="0" bIns="0" anchor="t" anchorCtr="0">
              <a:spAutoFit/>
            </a:bodyPr>
            <a:lstStyle/>
            <a:p>
              <a:pPr algn="l">
                <a:lnSpc>
                  <a:spcPts val="1800"/>
                </a:lnSpc>
              </a:pPr>
              <a:r>
                <a:rPr lang="vi-VN" sz="1350" dirty="0">
                  <a:solidFill>
                    <a:srgbClr val="5B6675"/>
                  </a:solidFill>
                  <a:latin typeface="+mn-lt"/>
                  <a:ea typeface="+mn-ea"/>
                  <a:cs typeface="+mn-cs"/>
                </a:rPr>
                <a:t>Settings → Data controls → tắt</a:t>
              </a:r>
              <a:br/>
              <a:r>
                <a:rPr lang="vi-VN" sz="1350" dirty="0">
                  <a:solidFill>
                    <a:srgbClr val="5B6675"/>
                  </a:solidFill>
                  <a:latin typeface="+mn-lt"/>
                  <a:ea typeface="+mn-ea"/>
                  <a:cs typeface="+mn-cs"/>
                </a:rPr>
                <a:t>Improve the model for everyone</a:t>
              </a:r>
            </a:p>
          </p:txBody>
        </p:sp>
      </p:grpSp>
      <p:grpSp>
        <p:nvGrpSpPr>
          <p:cNvPr id="34" name="Group 34"/>
          <p:cNvGrpSpPr/>
          <p:nvPr/>
        </p:nvGrpSpPr>
        <p:grpSpPr>
          <a:xfrm>
            <a:off x="381000" y="3505200"/>
            <a:ext cx="5524500" cy="1238250"/>
            <a:chOff x="381000" y="3505200"/>
            <a:chExt cx="5524500" cy="1238250"/>
          </a:xfrm>
        </p:grpSpPr>
        <p:sp>
          <p:nvSpPr>
            <p:cNvPr id="26" name="Rectangle 26"/>
            <p:cNvSpPr/>
            <p:nvPr/>
          </p:nvSpPr>
          <p:spPr>
            <a:xfrm>
              <a:off x="381000" y="3505200"/>
              <a:ext cx="5524500" cy="1238250"/>
            </a:xfrm>
            <a:prstGeom prst="roundRect">
              <a:avLst>
                <a:gd name="adj" fmla="val 12308"/>
              </a:avLst>
            </a:prstGeom>
            <a:solidFill>
              <a:schemeClr val="lt2"/>
            </a:solidFill>
            <a:ln>
              <a:noFill/>
            </a:ln>
          </p:spPr>
        </p:sp>
        <p:sp>
          <p:nvSpPr>
            <p:cNvPr id="27" name="Ellipse 27"/>
            <p:cNvSpPr/>
            <p:nvPr/>
          </p:nvSpPr>
          <p:spPr>
            <a:xfrm>
              <a:off x="590550" y="3695700"/>
              <a:ext cx="457200" cy="457200"/>
            </a:xfrm>
            <a:prstGeom prst="ellipse">
              <a:avLst/>
            </a:prstGeom>
            <a:solidFill>
              <a:schemeClr val="lt1"/>
            </a:solidFill>
            <a:ln>
              <a:noFill/>
            </a:ln>
          </p:spPr>
        </p:sp>
        <p:grpSp>
          <p:nvGrpSpPr>
            <p:cNvPr id="31" name="Group 31"/>
            <p:cNvGrpSpPr/>
            <p:nvPr/>
          </p:nvGrpSpPr>
          <p:grpSpPr>
            <a:xfrm>
              <a:off x="730250" y="3810000"/>
              <a:ext cx="177800" cy="228600"/>
              <a:chOff x="730250" y="3810000"/>
              <a:chExt cx="177800" cy="228600"/>
            </a:xfrm>
          </p:grpSpPr>
          <p:sp>
            <p:nvSpPr>
              <p:cNvPr id="28" name="Freeform 28"/>
              <p:cNvSpPr/>
              <p:nvPr/>
            </p:nvSpPr>
            <p:spPr>
              <a:xfrm>
                <a:off x="730250" y="3911600"/>
                <a:ext cx="177800" cy="127000"/>
              </a:xfrm>
              <a:custGeom>
                <a:avLst/>
                <a:gdLst/>
                <a:ahLst/>
                <a:cxnLst/>
                <a:rect l="l" t="t" r="r" b="b"/>
                <a:pathLst>
                  <a:path w="177800" h="127000">
                    <a:moveTo>
                      <a:pt x="0" y="25400"/>
                    </a:moveTo>
                    <a:cubicBezTo>
                      <a:pt x="0" y="11372"/>
                      <a:pt x="11372" y="0"/>
                      <a:pt x="25400" y="0"/>
                    </a:cubicBezTo>
                    <a:lnTo>
                      <a:pt x="152400" y="0"/>
                    </a:lnTo>
                    <a:cubicBezTo>
                      <a:pt x="166428" y="0"/>
                      <a:pt x="177800" y="11372"/>
                      <a:pt x="177800" y="25400"/>
                    </a:cubicBezTo>
                    <a:lnTo>
                      <a:pt x="177800" y="101600"/>
                    </a:lnTo>
                    <a:cubicBezTo>
                      <a:pt x="177800" y="115628"/>
                      <a:pt x="166428" y="127000"/>
                      <a:pt x="152400" y="127000"/>
                    </a:cubicBezTo>
                    <a:lnTo>
                      <a:pt x="25400" y="127000"/>
                    </a:lnTo>
                    <a:cubicBezTo>
                      <a:pt x="11372" y="127000"/>
                      <a:pt x="0" y="115628"/>
                      <a:pt x="0" y="101600"/>
                    </a:cubicBezTo>
                    <a:lnTo>
                      <a:pt x="0" y="25400"/>
                    </a:lnTo>
                  </a:path>
                </a:pathLst>
              </a:custGeom>
              <a:noFill/>
              <a:ln w="25400">
                <a:solidFill>
                  <a:schemeClr val="accent5"/>
                </a:solidFill>
              </a:ln>
            </p:spPr>
          </p:sp>
          <p:sp>
            <p:nvSpPr>
              <p:cNvPr id="29" name="Freeform 29"/>
              <p:cNvSpPr/>
              <p:nvPr/>
            </p:nvSpPr>
            <p:spPr>
              <a:xfrm>
                <a:off x="806450" y="3962400"/>
                <a:ext cx="25400" cy="25400"/>
              </a:xfrm>
              <a:custGeom>
                <a:avLst/>
                <a:gdLst/>
                <a:ahLst/>
                <a:cxnLst/>
                <a:rect l="l" t="t" r="r" b="b"/>
                <a:pathLst>
                  <a:path w="25400" h="25400">
                    <a:moveTo>
                      <a:pt x="0" y="12700"/>
                    </a:moveTo>
                    <a:cubicBezTo>
                      <a:pt x="0" y="19714"/>
                      <a:pt x="5686" y="25400"/>
                      <a:pt x="12700" y="25400"/>
                    </a:cubicBezTo>
                    <a:cubicBezTo>
                      <a:pt x="19714" y="25400"/>
                      <a:pt x="25400" y="19714"/>
                      <a:pt x="25400" y="12700"/>
                    </a:cubicBezTo>
                    <a:cubicBezTo>
                      <a:pt x="25400" y="5686"/>
                      <a:pt x="19714" y="0"/>
                      <a:pt x="12700" y="0"/>
                    </a:cubicBezTo>
                    <a:cubicBezTo>
                      <a:pt x="5686" y="0"/>
                      <a:pt x="0" y="5686"/>
                      <a:pt x="0" y="12700"/>
                    </a:cubicBezTo>
                  </a:path>
                </a:pathLst>
              </a:custGeom>
              <a:noFill/>
              <a:ln w="25400">
                <a:solidFill>
                  <a:schemeClr val="accent5"/>
                </a:solidFill>
              </a:ln>
            </p:spPr>
          </p:sp>
          <p:sp>
            <p:nvSpPr>
              <p:cNvPr id="30" name="Freeform 30"/>
              <p:cNvSpPr/>
              <p:nvPr/>
            </p:nvSpPr>
            <p:spPr>
              <a:xfrm>
                <a:off x="768350" y="3810000"/>
                <a:ext cx="101600" cy="101600"/>
              </a:xfrm>
              <a:custGeom>
                <a:avLst/>
                <a:gdLst/>
                <a:ahLst/>
                <a:cxnLst/>
                <a:rect l="l" t="t" r="r" b="b"/>
                <a:pathLst>
                  <a:path w="101600" h="101600">
                    <a:moveTo>
                      <a:pt x="0" y="101600"/>
                    </a:moveTo>
                    <a:lnTo>
                      <a:pt x="0" y="50800"/>
                    </a:lnTo>
                    <a:cubicBezTo>
                      <a:pt x="0" y="22744"/>
                      <a:pt x="22744" y="0"/>
                      <a:pt x="50800" y="0"/>
                    </a:cubicBezTo>
                    <a:cubicBezTo>
                      <a:pt x="78856" y="0"/>
                      <a:pt x="101600" y="22744"/>
                      <a:pt x="101600" y="50800"/>
                    </a:cubicBezTo>
                    <a:lnTo>
                      <a:pt x="101600" y="101600"/>
                    </a:lnTo>
                  </a:path>
                </a:pathLst>
              </a:custGeom>
              <a:noFill/>
              <a:ln w="25400">
                <a:solidFill>
                  <a:schemeClr val="accent5"/>
                </a:solidFill>
              </a:ln>
            </p:spPr>
          </p:sp>
        </p:grpSp>
        <p:sp>
          <p:nvSpPr>
            <p:cNvPr id="32" name="TextBox 32"/>
            <p:cNvSpPr txBox="1"/>
            <p:nvPr/>
          </p:nvSpPr>
          <p:spPr>
            <a:xfrm>
              <a:off x="1210056" y="3815715"/>
              <a:ext cx="4383634" cy="352044"/>
            </a:xfrm>
            <a:prstGeom prst="rect">
              <a:avLst/>
            </a:prstGeom>
            <a:noFill/>
            <a:ln>
              <a:noFill/>
            </a:ln>
          </p:spPr>
          <p:txBody>
            <a:bodyPr wrap="none" lIns="0" tIns="0" rIns="0" bIns="0" anchor="t" anchorCtr="0">
              <a:spAutoFit/>
            </a:bodyPr>
            <a:lstStyle/>
            <a:p>
              <a:pPr algn="l"/>
              <a:r>
                <a:rPr lang="vi-VN" sz="1800" b="1" dirty="0">
                  <a:solidFill>
                    <a:schemeClr val="accent1"/>
                  </a:solidFill>
                  <a:latin typeface="+mn-lt"/>
                  <a:ea typeface="+mn-ea"/>
                  <a:cs typeface="+mn-cs"/>
                </a:rPr>
                <a:t>Nội dung nhạy cảm: Temporary Chat</a:t>
              </a:r>
            </a:p>
          </p:txBody>
        </p:sp>
        <p:sp>
          <p:nvSpPr>
            <p:cNvPr id="33" name="TextBox 33"/>
            <p:cNvSpPr txBox="1"/>
            <p:nvPr/>
          </p:nvSpPr>
          <p:spPr>
            <a:xfrm>
              <a:off x="1211580" y="4200525"/>
              <a:ext cx="4028055"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Không vào lịch sử, không tạo Memory mới</a:t>
              </a:r>
            </a:p>
          </p:txBody>
        </p:sp>
      </p:grpSp>
      <p:grpSp>
        <p:nvGrpSpPr>
          <p:cNvPr id="50" name="Group 50"/>
          <p:cNvGrpSpPr/>
          <p:nvPr/>
        </p:nvGrpSpPr>
        <p:grpSpPr>
          <a:xfrm>
            <a:off x="6248400" y="2114550"/>
            <a:ext cx="5562600" cy="2628900"/>
            <a:chOff x="6248400" y="2114550"/>
            <a:chExt cx="5562600" cy="2628900"/>
          </a:xfrm>
        </p:grpSpPr>
        <p:sp>
          <p:nvSpPr>
            <p:cNvPr id="35" name="Rectangle 35"/>
            <p:cNvSpPr/>
            <p:nvPr/>
          </p:nvSpPr>
          <p:spPr>
            <a:xfrm>
              <a:off x="6248400" y="2114550"/>
              <a:ext cx="5562600" cy="2628900"/>
            </a:xfrm>
            <a:prstGeom prst="roundRect">
              <a:avLst>
                <a:gd name="adj" fmla="val 5797"/>
              </a:avLst>
            </a:prstGeom>
            <a:solidFill>
              <a:schemeClr val="lt1"/>
            </a:solidFill>
            <a:ln w="19050">
              <a:solidFill>
                <a:srgbClr val="C0392B"/>
              </a:solidFill>
            </a:ln>
          </p:spPr>
        </p:sp>
        <p:grpSp>
          <p:nvGrpSpPr>
            <p:cNvPr id="38" name="Group 38"/>
            <p:cNvGrpSpPr/>
            <p:nvPr/>
          </p:nvGrpSpPr>
          <p:grpSpPr>
            <a:xfrm>
              <a:off x="6510338" y="2338388"/>
              <a:ext cx="200026" cy="200026"/>
              <a:chOff x="6510338" y="2338388"/>
              <a:chExt cx="200026" cy="200026"/>
            </a:xfrm>
          </p:grpSpPr>
          <p:sp>
            <p:nvSpPr>
              <p:cNvPr id="36" name="Freeform 36"/>
              <p:cNvSpPr/>
              <p:nvPr/>
            </p:nvSpPr>
            <p:spPr>
              <a:xfrm>
                <a:off x="6510338" y="233838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C0392B"/>
                </a:solidFill>
              </a:ln>
            </p:spPr>
          </p:sp>
          <p:sp>
            <p:nvSpPr>
              <p:cNvPr id="37" name="Freeform 37"/>
              <p:cNvSpPr/>
              <p:nvPr/>
            </p:nvSpPr>
            <p:spPr>
              <a:xfrm>
                <a:off x="6540341" y="2368391"/>
                <a:ext cx="140018" cy="140018"/>
              </a:xfrm>
              <a:custGeom>
                <a:avLst/>
                <a:gdLst/>
                <a:ahLst/>
                <a:cxnLst/>
                <a:rect l="l" t="t" r="r" b="b"/>
                <a:pathLst>
                  <a:path w="140018" h="140018">
                    <a:moveTo>
                      <a:pt x="0" y="0"/>
                    </a:moveTo>
                    <a:lnTo>
                      <a:pt x="140018" y="140018"/>
                    </a:lnTo>
                  </a:path>
                </a:pathLst>
              </a:custGeom>
              <a:noFill/>
              <a:ln w="22225">
                <a:solidFill>
                  <a:srgbClr val="C0392B"/>
                </a:solidFill>
              </a:ln>
            </p:spPr>
          </p:sp>
        </p:grpSp>
        <p:sp>
          <p:nvSpPr>
            <p:cNvPr id="39" name="TextBox 39"/>
            <p:cNvSpPr txBox="1"/>
            <p:nvPr/>
          </p:nvSpPr>
          <p:spPr>
            <a:xfrm>
              <a:off x="6832092" y="2359342"/>
              <a:ext cx="2851137" cy="264033"/>
            </a:xfrm>
            <a:prstGeom prst="rect">
              <a:avLst/>
            </a:prstGeom>
            <a:noFill/>
            <a:ln>
              <a:noFill/>
            </a:ln>
          </p:spPr>
          <p:txBody>
            <a:bodyPr wrap="none" lIns="0" tIns="0" rIns="0" bIns="0" anchor="t" anchorCtr="0">
              <a:spAutoFit/>
            </a:bodyPr>
            <a:lstStyle/>
            <a:p>
              <a:pPr algn="l"/>
              <a:r>
                <a:rPr lang="vi-VN" sz="1350" b="1" spc="75" dirty="0">
                  <a:solidFill>
                    <a:srgbClr val="C0392B"/>
                  </a:solidFill>
                  <a:latin typeface="+mn-lt"/>
                  <a:ea typeface="+mn-ea"/>
                  <a:cs typeface="+mn-cs"/>
                </a:rPr>
                <a:t>5 LOẠI TUYỆT ĐỐI KHÔNG DÁN</a:t>
              </a:r>
            </a:p>
          </p:txBody>
        </p:sp>
        <p:sp>
          <p:nvSpPr>
            <p:cNvPr id="40" name="Ellipse 40"/>
            <p:cNvSpPr/>
            <p:nvPr/>
          </p:nvSpPr>
          <p:spPr>
            <a:xfrm>
              <a:off x="6524625" y="2847975"/>
              <a:ext cx="95250" cy="95250"/>
            </a:xfrm>
            <a:prstGeom prst="ellipse">
              <a:avLst/>
            </a:prstGeom>
            <a:solidFill>
              <a:srgbClr val="C0392B"/>
            </a:solidFill>
            <a:ln>
              <a:noFill/>
            </a:ln>
          </p:spPr>
        </p:sp>
        <p:sp>
          <p:nvSpPr>
            <p:cNvPr id="41" name="TextBox 41"/>
            <p:cNvSpPr txBox="1"/>
            <p:nvPr/>
          </p:nvSpPr>
          <p:spPr>
            <a:xfrm>
              <a:off x="6735318" y="2793682"/>
              <a:ext cx="3179026"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Giá vốn, giá thành, công thức</a:t>
              </a:r>
            </a:p>
          </p:txBody>
        </p:sp>
        <p:sp>
          <p:nvSpPr>
            <p:cNvPr id="42" name="Ellipse 42"/>
            <p:cNvSpPr/>
            <p:nvPr/>
          </p:nvSpPr>
          <p:spPr>
            <a:xfrm>
              <a:off x="6524625" y="3248025"/>
              <a:ext cx="95250" cy="95250"/>
            </a:xfrm>
            <a:prstGeom prst="ellipse">
              <a:avLst/>
            </a:prstGeom>
            <a:solidFill>
              <a:srgbClr val="C0392B"/>
            </a:solidFill>
            <a:ln>
              <a:noFill/>
            </a:ln>
          </p:spPr>
        </p:sp>
        <p:sp>
          <p:nvSpPr>
            <p:cNvPr id="43" name="TextBox 43"/>
            <p:cNvSpPr txBox="1"/>
            <p:nvPr/>
          </p:nvSpPr>
          <p:spPr>
            <a:xfrm>
              <a:off x="6735318" y="3193732"/>
              <a:ext cx="3345335"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Hợp đồng có điều khoản bảo mật</a:t>
              </a:r>
            </a:p>
          </p:txBody>
        </p:sp>
        <p:sp>
          <p:nvSpPr>
            <p:cNvPr id="44" name="Ellipse 44"/>
            <p:cNvSpPr/>
            <p:nvPr/>
          </p:nvSpPr>
          <p:spPr>
            <a:xfrm>
              <a:off x="6524625" y="3648075"/>
              <a:ext cx="95250" cy="95250"/>
            </a:xfrm>
            <a:prstGeom prst="ellipse">
              <a:avLst/>
            </a:prstGeom>
            <a:solidFill>
              <a:srgbClr val="C0392B"/>
            </a:solidFill>
            <a:ln>
              <a:noFill/>
            </a:ln>
          </p:spPr>
        </p:sp>
        <p:sp>
          <p:nvSpPr>
            <p:cNvPr id="45" name="TextBox 45"/>
            <p:cNvSpPr txBox="1"/>
            <p:nvPr/>
          </p:nvSpPr>
          <p:spPr>
            <a:xfrm>
              <a:off x="6735318" y="3593782"/>
              <a:ext cx="2399175"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Lương, CCCD nhân viên</a:t>
              </a:r>
            </a:p>
          </p:txBody>
        </p:sp>
        <p:sp>
          <p:nvSpPr>
            <p:cNvPr id="46" name="Ellipse 46"/>
            <p:cNvSpPr/>
            <p:nvPr/>
          </p:nvSpPr>
          <p:spPr>
            <a:xfrm>
              <a:off x="6524625" y="4048125"/>
              <a:ext cx="95250" cy="95250"/>
            </a:xfrm>
            <a:prstGeom prst="ellipse">
              <a:avLst/>
            </a:prstGeom>
            <a:solidFill>
              <a:srgbClr val="C0392B"/>
            </a:solidFill>
            <a:ln>
              <a:noFill/>
            </a:ln>
          </p:spPr>
        </p:sp>
        <p:sp>
          <p:nvSpPr>
            <p:cNvPr id="47" name="TextBox 47"/>
            <p:cNvSpPr txBox="1"/>
            <p:nvPr/>
          </p:nvSpPr>
          <p:spPr>
            <a:xfrm>
              <a:off x="6735318" y="3993832"/>
              <a:ext cx="2168340"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Mật khẩu, tài khoản</a:t>
              </a:r>
            </a:p>
          </p:txBody>
        </p:sp>
        <p:sp>
          <p:nvSpPr>
            <p:cNvPr id="48" name="Ellipse 48"/>
            <p:cNvSpPr/>
            <p:nvPr/>
          </p:nvSpPr>
          <p:spPr>
            <a:xfrm>
              <a:off x="6524625" y="4448175"/>
              <a:ext cx="95250" cy="95250"/>
            </a:xfrm>
            <a:prstGeom prst="ellipse">
              <a:avLst/>
            </a:prstGeom>
            <a:solidFill>
              <a:srgbClr val="C0392B"/>
            </a:solidFill>
            <a:ln>
              <a:noFill/>
            </a:ln>
          </p:spPr>
        </p:sp>
        <p:sp>
          <p:nvSpPr>
            <p:cNvPr id="49" name="TextBox 49"/>
            <p:cNvSpPr txBox="1"/>
            <p:nvPr/>
          </p:nvSpPr>
          <p:spPr>
            <a:xfrm>
              <a:off x="6735318" y="4393882"/>
              <a:ext cx="2267578"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Tài liệu đóng dấu MẬT</a:t>
              </a:r>
            </a:p>
          </p:txBody>
        </p:sp>
      </p:grpSp>
      <p:grpSp>
        <p:nvGrpSpPr>
          <p:cNvPr id="57" name="Group 57"/>
          <p:cNvGrpSpPr/>
          <p:nvPr/>
        </p:nvGrpSpPr>
        <p:grpSpPr>
          <a:xfrm>
            <a:off x="381000" y="4972050"/>
            <a:ext cx="11430000" cy="876300"/>
            <a:chOff x="381000" y="4972050"/>
            <a:chExt cx="11430000" cy="876300"/>
          </a:xfrm>
        </p:grpSpPr>
        <p:sp>
          <p:nvSpPr>
            <p:cNvPr id="51" name="Rectangle 51"/>
            <p:cNvSpPr/>
            <p:nvPr/>
          </p:nvSpPr>
          <p:spPr>
            <a:xfrm>
              <a:off x="381000" y="4972050"/>
              <a:ext cx="11430000" cy="876300"/>
            </a:xfrm>
            <a:prstGeom prst="roundRect">
              <a:avLst>
                <a:gd name="adj" fmla="val 17391"/>
              </a:avLst>
            </a:prstGeom>
            <a:solidFill>
              <a:srgbClr val="FCEBDD"/>
            </a:solidFill>
            <a:ln>
              <a:noFill/>
            </a:ln>
          </p:spPr>
        </p:sp>
        <p:grpSp>
          <p:nvGrpSpPr>
            <p:cNvPr id="55" name="Group 55"/>
            <p:cNvGrpSpPr/>
            <p:nvPr/>
          </p:nvGrpSpPr>
          <p:grpSpPr>
            <a:xfrm>
              <a:off x="607219" y="5293519"/>
              <a:ext cx="214312" cy="214312"/>
              <a:chOff x="607219" y="5293519"/>
              <a:chExt cx="214312" cy="214312"/>
            </a:xfrm>
          </p:grpSpPr>
          <p:sp>
            <p:nvSpPr>
              <p:cNvPr id="52" name="Freeform 52"/>
              <p:cNvSpPr/>
              <p:nvPr/>
            </p:nvSpPr>
            <p:spPr>
              <a:xfrm>
                <a:off x="607219" y="5293519"/>
                <a:ext cx="214312" cy="214312"/>
              </a:xfrm>
              <a:custGeom>
                <a:avLst/>
                <a:gdLst/>
                <a:ahLst/>
                <a:cxnLst/>
                <a:rect l="l" t="t" r="r" b="b"/>
                <a:pathLst>
                  <a:path w="214312" h="214312">
                    <a:moveTo>
                      <a:pt x="0" y="107156"/>
                    </a:moveTo>
                    <a:cubicBezTo>
                      <a:pt x="0" y="166337"/>
                      <a:pt x="47975" y="214312"/>
                      <a:pt x="107156" y="214312"/>
                    </a:cubicBezTo>
                    <a:cubicBezTo>
                      <a:pt x="166337" y="214312"/>
                      <a:pt x="214312" y="166337"/>
                      <a:pt x="214312" y="107156"/>
                    </a:cubicBezTo>
                    <a:cubicBezTo>
                      <a:pt x="214312" y="47975"/>
                      <a:pt x="166337" y="0"/>
                      <a:pt x="107156" y="0"/>
                    </a:cubicBezTo>
                    <a:cubicBezTo>
                      <a:pt x="47975" y="0"/>
                      <a:pt x="0" y="47975"/>
                      <a:pt x="0" y="107156"/>
                    </a:cubicBezTo>
                  </a:path>
                </a:pathLst>
              </a:custGeom>
              <a:noFill/>
              <a:ln w="23812">
                <a:solidFill>
                  <a:schemeClr val="accent1"/>
                </a:solidFill>
              </a:ln>
            </p:spPr>
          </p:sp>
          <p:sp>
            <p:nvSpPr>
              <p:cNvPr id="53" name="Freeform 53"/>
              <p:cNvSpPr/>
              <p:nvPr/>
            </p:nvSpPr>
            <p:spPr>
              <a:xfrm>
                <a:off x="714375" y="5364956"/>
                <a:ext cx="9525" cy="9525"/>
              </a:xfrm>
              <a:custGeom>
                <a:avLst/>
                <a:gdLst/>
                <a:ahLst/>
                <a:cxnLst/>
                <a:rect l="l" t="t" r="r" b="b"/>
                <a:pathLst>
                  <a:path w="9525" h="9525">
                    <a:moveTo>
                      <a:pt x="0" y="0"/>
                    </a:moveTo>
                    <a:lnTo>
                      <a:pt x="119" y="0"/>
                    </a:lnTo>
                  </a:path>
                </a:pathLst>
              </a:custGeom>
              <a:noFill/>
              <a:ln w="23812">
                <a:solidFill>
                  <a:schemeClr val="accent1"/>
                </a:solidFill>
              </a:ln>
            </p:spPr>
          </p:sp>
          <p:sp>
            <p:nvSpPr>
              <p:cNvPr id="54" name="Freeform 54"/>
              <p:cNvSpPr/>
              <p:nvPr/>
            </p:nvSpPr>
            <p:spPr>
              <a:xfrm>
                <a:off x="702469" y="5400675"/>
                <a:ext cx="23812" cy="47625"/>
              </a:xfrm>
              <a:custGeom>
                <a:avLst/>
                <a:gdLst/>
                <a:ahLst/>
                <a:cxnLst/>
                <a:rect l="l" t="t" r="r" b="b"/>
                <a:pathLst>
                  <a:path w="23812" h="47625">
                    <a:moveTo>
                      <a:pt x="0" y="0"/>
                    </a:moveTo>
                    <a:lnTo>
                      <a:pt x="11906" y="0"/>
                    </a:lnTo>
                    <a:lnTo>
                      <a:pt x="11906" y="47625"/>
                    </a:lnTo>
                    <a:lnTo>
                      <a:pt x="23812" y="47625"/>
                    </a:lnTo>
                  </a:path>
                </a:pathLst>
              </a:custGeom>
              <a:noFill/>
              <a:ln w="23812">
                <a:solidFill>
                  <a:schemeClr val="accent1"/>
                </a:solidFill>
              </a:ln>
            </p:spPr>
          </p:sp>
        </p:grpSp>
        <p:sp>
          <p:nvSpPr>
            <p:cNvPr id="56" name="TextBox 56"/>
            <p:cNvSpPr txBox="1"/>
            <p:nvPr/>
          </p:nvSpPr>
          <p:spPr>
            <a:xfrm>
              <a:off x="982218" y="5155882"/>
              <a:ext cx="7346823" cy="627507"/>
            </a:xfrm>
            <a:prstGeom prst="rect">
              <a:avLst/>
            </a:prstGeom>
            <a:noFill/>
            <a:ln>
              <a:noFill/>
            </a:ln>
          </p:spPr>
          <p:txBody>
            <a:bodyPr wrap="none" lIns="0" tIns="0" rIns="0" bIns="0" anchor="t" anchorCtr="0">
              <a:spAutoFit/>
            </a:bodyPr>
            <a:lstStyle/>
            <a:p>
              <a:pPr algn="l">
                <a:lnSpc>
                  <a:spcPts val="2400"/>
                </a:lnSpc>
              </a:pPr>
              <a:r>
                <a:rPr lang="vi-VN" sz="1650" b="1" dirty="0">
                  <a:solidFill>
                    <a:schemeClr val="accent1"/>
                  </a:solidFill>
                  <a:latin typeface="+mn-lt"/>
                  <a:ea typeface="+mn-ea"/>
                  <a:cs typeface="+mn-cs"/>
                </a:rPr>
                <a:t>Làm sạch trước khi dán:</a:t>
              </a:r>
              <a:r>
                <a:rPr lang="vi-VN" sz="1650" dirty="0">
                  <a:solidFill>
                    <a:schemeClr val="dk1"/>
                  </a:solidFill>
                  <a:latin typeface="+mn-lt"/>
                  <a:ea typeface="+mn-ea"/>
                  <a:cs typeface="+mn-cs"/>
                </a:rPr>
                <a:t> thay tên thật bằng “khách hàng A”, “HĐ số X”.</a:t>
              </a:r>
              <a:br/>
              <a:r>
                <a:rPr lang="vi-VN" sz="1650" dirty="0">
                  <a:solidFill>
                    <a:schemeClr val="dk1"/>
                  </a:solidFill>
                  <a:latin typeface="+mn-lt"/>
                  <a:ea typeface="+mn-ea"/>
                  <a:cs typeface="+mn-cs"/>
                </a:rPr>
                <a:t>Không ghi thông tin nhạy cảm vào Instructions hay Memory.</a:t>
              </a:r>
            </a:p>
          </p:txBody>
        </p:sp>
      </p:grpSp>
      <p:sp>
        <p:nvSpPr>
          <p:cNvPr id="58" name="TextBox 58"/>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59" name="TextBox 59"/>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09 / 35</a:t>
            </a:r>
          </a:p>
        </p:txBody>
      </p:sp>
      <p:sp>
        <p:nvSpPr>
          <p:cNvPr id="60" name="demo-flag"/>
          <p:cNvSpPr/>
          <p:nvPr/>
        </p:nvSpPr>
        <p:spPr>
          <a:xfrm>
            <a:off x="3810000" y="304800"/>
            <a:ext cx="1638300" cy="228600"/>
          </a:xfrm>
          <a:prstGeom prst="roundRect">
            <a:avLst>
              <a:gd name="adj" fmla="val 50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00" b="1">
                <a:solidFill>
                  <a:srgbClr val="FFFFFF"/>
                </a:solidFill>
              </a:rPr>
              <a:t>▶ CÓ HƯỚNG DẪN DEMO</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1625529" cy="234696"/>
            <a:chOff x="381000" y="346710"/>
            <a:chExt cx="1625529" cy="234696"/>
          </a:xfrm>
        </p:grpSpPr>
        <p:sp>
          <p:nvSpPr>
            <p:cNvPr id="2" name="Rectangle 2"/>
            <p:cNvSpPr/>
            <p:nvPr/>
          </p:nvSpPr>
          <p:spPr>
            <a:xfrm>
              <a:off x="381000" y="361950"/>
              <a:ext cx="114300" cy="114300"/>
            </a:xfrm>
            <a:prstGeom prst="roundRect">
              <a:avLst>
                <a:gd name="adj" fmla="val 25000"/>
              </a:avLst>
            </a:prstGeom>
            <a:solidFill>
              <a:schemeClr val="accent5"/>
            </a:solidFill>
            <a:ln>
              <a:noFill/>
            </a:ln>
          </p:spPr>
          <p:txBody>
            <a:bodyPr/>
            <a:p/>
          </p:txBody>
        </p:sp>
        <p:sp>
          <p:nvSpPr>
            <p:cNvPr id="3" name="TextBox 3"/>
            <p:cNvSpPr txBox="1"/>
            <p:nvPr/>
          </p:nvSpPr>
          <p:spPr>
            <a:xfrm>
              <a:off x="584454" y="346710"/>
              <a:ext cx="1422075"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1 · DEMO</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chemeClr val="accent2"/>
            </a:solidFill>
            <a:ln>
              <a:noFill/>
            </a:ln>
          </p:spPr>
          <p:txBody>
            <a:bodyPr/>
            <a:p/>
          </p:txBody>
        </p:sp>
        <p:sp>
          <p:nvSpPr>
            <p:cNvPr id="6" name="Rectangle 6"/>
            <p:cNvSpPr/>
            <p:nvPr/>
          </p:nvSpPr>
          <p:spPr>
            <a:xfrm>
              <a:off x="7010400" y="304800"/>
              <a:ext cx="1143000" cy="114300"/>
            </a:xfrm>
            <a:prstGeom prst="roundRect">
              <a:avLst>
                <a:gd name="adj" fmla="val 25000"/>
              </a:avLst>
            </a:prstGeom>
            <a:solidFill>
              <a:srgbClr val="E3E9F1"/>
            </a:solidFill>
            <a:ln>
              <a:noFill/>
            </a:ln>
          </p:spPr>
          <p:txBody>
            <a:bodyPr/>
            <a:p/>
          </p:txBody>
        </p:sp>
        <p:sp>
          <p:nvSpPr>
            <p:cNvPr id="7" name="Rectangle 7"/>
            <p:cNvSpPr/>
            <p:nvPr/>
          </p:nvSpPr>
          <p:spPr>
            <a:xfrm>
              <a:off x="8229600" y="266700"/>
              <a:ext cx="1143000" cy="152400"/>
            </a:xfrm>
            <a:prstGeom prst="roundRect">
              <a:avLst>
                <a:gd name="adj" fmla="val 18750"/>
              </a:avLst>
            </a:prstGeom>
            <a:solidFill>
              <a:srgbClr val="E3E9F1"/>
            </a:solidFill>
            <a:ln>
              <a:noFill/>
            </a:ln>
          </p:spPr>
          <p:txBody>
            <a:bodyPr/>
            <a:p/>
          </p:txBody>
        </p:sp>
        <p:sp>
          <p:nvSpPr>
            <p:cNvPr id="8" name="Rectangle 8"/>
            <p:cNvSpPr/>
            <p:nvPr/>
          </p:nvSpPr>
          <p:spPr>
            <a:xfrm>
              <a:off x="9448800" y="228600"/>
              <a:ext cx="1143000" cy="190500"/>
            </a:xfrm>
            <a:prstGeom prst="roundRect">
              <a:avLst>
                <a:gd name="adj" fmla="val 15000"/>
              </a:avLst>
            </a:prstGeom>
            <a:solidFill>
              <a:srgbClr val="E3E9F1"/>
            </a:solidFill>
            <a:ln>
              <a:noFill/>
            </a:ln>
          </p:spPr>
          <p:txBody>
            <a:bodyPr/>
            <a:p/>
          </p:txBody>
        </p:sp>
        <p:sp>
          <p:nvSpPr>
            <p:cNvPr id="9" name="Rectangle 9"/>
            <p:cNvSpPr/>
            <p:nvPr/>
          </p:nvSpPr>
          <p:spPr>
            <a:xfrm>
              <a:off x="10668000" y="190500"/>
              <a:ext cx="1143000" cy="228600"/>
            </a:xfrm>
            <a:prstGeom prst="roundRect">
              <a:avLst>
                <a:gd name="adj" fmla="val 12500"/>
              </a:avLst>
            </a:prstGeom>
            <a:solidFill>
              <a:srgbClr val="E3E9F1"/>
            </a:solidFill>
            <a:ln>
              <a:noFill/>
            </a:ln>
          </p:spPr>
          <p:txBody>
            <a:bodyPr/>
            <a:p/>
          </p:txBody>
        </p:sp>
        <p:sp>
          <p:nvSpPr>
            <p:cNvPr id="10" name="TextBox 10"/>
            <p:cNvSpPr txBox="1"/>
            <p:nvPr/>
          </p:nvSpPr>
          <p:spPr>
            <a:xfrm>
              <a:off x="5785104" y="499110"/>
              <a:ext cx="119662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9693212"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Cùng một câu lệnh, có Instructions thì ChatGPT</a:t>
            </a:r>
            <a:br/>
            <a:r>
              <a:rPr lang="vi-VN" sz="3150" b="1" dirty="0">
                <a:solidFill>
                  <a:schemeClr val="accent1"/>
                </a:solidFill>
                <a:latin typeface="+mn-lt"/>
                <a:ea typeface="+mn-ea"/>
                <a:cs typeface="+mn-cs"/>
              </a:rPr>
              <a:t>viết đúng số liệu, đúng luật, đúng giọng</a:t>
            </a:r>
          </a:p>
        </p:txBody>
      </p:sp>
      <p:grpSp>
        <p:nvGrpSpPr>
          <p:cNvPr id="24" name="Group 24"/>
          <p:cNvGrpSpPr/>
          <p:nvPr/>
        </p:nvGrpSpPr>
        <p:grpSpPr>
          <a:xfrm>
            <a:off x="381000" y="2076450"/>
            <a:ext cx="11430000" cy="495300"/>
            <a:chOff x="381000" y="2076450"/>
            <a:chExt cx="11430000" cy="495300"/>
          </a:xfrm>
        </p:grpSpPr>
        <p:sp>
          <p:nvSpPr>
            <p:cNvPr id="17" name="Rectangle 17"/>
            <p:cNvSpPr/>
            <p:nvPr/>
          </p:nvSpPr>
          <p:spPr>
            <a:xfrm>
              <a:off x="381000" y="2076450"/>
              <a:ext cx="11430000" cy="495300"/>
            </a:xfrm>
            <a:prstGeom prst="roundRect">
              <a:avLst>
                <a:gd name="adj" fmla="val 50000"/>
              </a:avLst>
            </a:prstGeom>
            <a:solidFill>
              <a:schemeClr val="lt2"/>
            </a:solidFill>
            <a:ln>
              <a:noFill/>
            </a:ln>
          </p:spPr>
          <p:txBody>
            <a:bodyPr/>
            <a:p/>
          </p:txBody>
        </p:sp>
        <p:grpSp>
          <p:nvGrpSpPr>
            <p:cNvPr id="21" name="Group 21"/>
            <p:cNvGrpSpPr/>
            <p:nvPr/>
          </p:nvGrpSpPr>
          <p:grpSpPr>
            <a:xfrm>
              <a:off x="619125" y="2247900"/>
              <a:ext cx="171450" cy="161925"/>
              <a:chOff x="619125" y="2247900"/>
              <a:chExt cx="171450" cy="161925"/>
            </a:xfrm>
          </p:grpSpPr>
          <p:sp>
            <p:nvSpPr>
              <p:cNvPr id="18" name="Freeform 18"/>
              <p:cNvSpPr/>
              <p:nvPr/>
            </p:nvSpPr>
            <p:spPr>
              <a:xfrm>
                <a:off x="666750" y="2295525"/>
                <a:ext cx="76200" cy="9525"/>
              </a:xfrm>
              <a:custGeom>
                <a:avLst/>
                <a:gdLst/>
                <a:ahLst/>
                <a:cxnLst/>
                <a:rect l="l" t="t" r="r" b="b"/>
                <a:pathLst>
                  <a:path w="76200" h="9525">
                    <a:moveTo>
                      <a:pt x="0" y="0"/>
                    </a:moveTo>
                    <a:lnTo>
                      <a:pt x="76200" y="0"/>
                    </a:lnTo>
                  </a:path>
                </a:pathLst>
              </a:custGeom>
              <a:noFill/>
              <a:ln w="19050">
                <a:solidFill>
                  <a:schemeClr val="accent3"/>
                </a:solidFill>
              </a:ln>
            </p:spPr>
            <p:txBody>
              <a:bodyPr/>
              <a:p/>
            </p:txBody>
          </p:sp>
          <p:sp>
            <p:nvSpPr>
              <p:cNvPr id="19" name="Freeform 19"/>
              <p:cNvSpPr/>
              <p:nvPr/>
            </p:nvSpPr>
            <p:spPr>
              <a:xfrm>
                <a:off x="666750" y="2333625"/>
                <a:ext cx="57150" cy="9525"/>
              </a:xfrm>
              <a:custGeom>
                <a:avLst/>
                <a:gdLst/>
                <a:ahLst/>
                <a:cxnLst/>
                <a:rect l="l" t="t" r="r" b="b"/>
                <a:pathLst>
                  <a:path w="57150" h="9525">
                    <a:moveTo>
                      <a:pt x="0" y="0"/>
                    </a:moveTo>
                    <a:lnTo>
                      <a:pt x="57150" y="0"/>
                    </a:lnTo>
                  </a:path>
                </a:pathLst>
              </a:custGeom>
              <a:noFill/>
              <a:ln w="19050">
                <a:solidFill>
                  <a:schemeClr val="accent3"/>
                </a:solidFill>
              </a:ln>
            </p:spPr>
            <p:txBody>
              <a:bodyPr/>
              <a:p/>
            </p:txBody>
          </p:sp>
          <p:sp>
            <p:nvSpPr>
              <p:cNvPr id="20" name="Freeform 20"/>
              <p:cNvSpPr/>
              <p:nvPr/>
            </p:nvSpPr>
            <p:spPr>
              <a:xfrm>
                <a:off x="619125" y="2247900"/>
                <a:ext cx="171450" cy="161925"/>
              </a:xfrm>
              <a:custGeom>
                <a:avLst/>
                <a:gdLst/>
                <a:ahLst/>
                <a:cxnLst/>
                <a:rect l="l" t="t" r="r" b="b"/>
                <a:pathLst>
                  <a:path w="171450" h="161925">
                    <a:moveTo>
                      <a:pt x="57150" y="133350"/>
                    </a:moveTo>
                    <a:lnTo>
                      <a:pt x="28575" y="133350"/>
                    </a:lnTo>
                    <a:cubicBezTo>
                      <a:pt x="12793" y="133350"/>
                      <a:pt x="0" y="120557"/>
                      <a:pt x="0" y="104775"/>
                    </a:cubicBezTo>
                    <a:lnTo>
                      <a:pt x="0" y="28575"/>
                    </a:lnTo>
                    <a:cubicBezTo>
                      <a:pt x="0" y="12793"/>
                      <a:pt x="12793" y="0"/>
                      <a:pt x="28575" y="0"/>
                    </a:cubicBezTo>
                    <a:lnTo>
                      <a:pt x="142875" y="0"/>
                    </a:lnTo>
                    <a:cubicBezTo>
                      <a:pt x="158657" y="0"/>
                      <a:pt x="171450" y="12793"/>
                      <a:pt x="171450" y="28575"/>
                    </a:cubicBezTo>
                    <a:lnTo>
                      <a:pt x="171450" y="104775"/>
                    </a:lnTo>
                    <a:cubicBezTo>
                      <a:pt x="171450" y="120557"/>
                      <a:pt x="158657" y="133350"/>
                      <a:pt x="142875" y="133350"/>
                    </a:cubicBezTo>
                    <a:lnTo>
                      <a:pt x="114300" y="133350"/>
                    </a:lnTo>
                    <a:lnTo>
                      <a:pt x="85725" y="161925"/>
                    </a:lnTo>
                    <a:lnTo>
                      <a:pt x="57150" y="133350"/>
                    </a:lnTo>
                  </a:path>
                </a:pathLst>
              </a:custGeom>
              <a:noFill/>
              <a:ln w="19050">
                <a:solidFill>
                  <a:schemeClr val="accent3"/>
                </a:solidFill>
              </a:ln>
            </p:spPr>
            <p:txBody>
              <a:bodyPr/>
              <a:p/>
            </p:txBody>
          </p:sp>
        </p:grpSp>
        <p:sp>
          <p:nvSpPr>
            <p:cNvPr id="22" name="TextBox 22"/>
            <p:cNvSpPr txBox="1"/>
            <p:nvPr/>
          </p:nvSpPr>
          <p:spPr>
            <a:xfrm>
              <a:off x="927354" y="2251710"/>
              <a:ext cx="830641"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CÂU LỆNH</a:t>
              </a:r>
            </a:p>
          </p:txBody>
        </p:sp>
        <p:sp>
          <p:nvSpPr>
            <p:cNvPr id="23" name="TextBox 23"/>
            <p:cNvSpPr txBox="1"/>
            <p:nvPr/>
          </p:nvSpPr>
          <p:spPr>
            <a:xfrm>
              <a:off x="1896618" y="2222182"/>
              <a:ext cx="3315332" cy="322707"/>
            </a:xfrm>
            <a:prstGeom prst="rect">
              <a:avLst/>
            </a:prstGeom>
            <a:noFill/>
            <a:ln>
              <a:noFill/>
            </a:ln>
          </p:spPr>
          <p:txBody>
            <a:bodyPr wrap="none" lIns="0" tIns="0" rIns="0" bIns="0" anchor="t" anchorCtr="0">
              <a:spAutoFit/>
            </a:bodyPr>
            <a:lstStyle/>
            <a:p>
              <a:pPr algn="l"/>
              <a:r>
                <a:rPr lang="vi-VN" sz="1650" dirty="0">
                  <a:solidFill>
                    <a:schemeClr val="accent1"/>
                  </a:solidFill>
                  <a:latin typeface="Consolas"/>
                  <a:ea typeface="Consolas"/>
                  <a:cs typeface="Consolas"/>
                </a:rPr>
                <a:t>Viết bài Facebook bán Elasten.</a:t>
              </a:r>
            </a:p>
          </p:txBody>
        </p:sp>
      </p:grpSp>
      <p:grpSp>
        <p:nvGrpSpPr>
          <p:cNvPr id="38" name="Group 38"/>
          <p:cNvGrpSpPr/>
          <p:nvPr/>
        </p:nvGrpSpPr>
        <p:grpSpPr>
          <a:xfrm>
            <a:off x="381000" y="2781300"/>
            <a:ext cx="5524500" cy="3028950"/>
            <a:chOff x="381000" y="2781300"/>
            <a:chExt cx="5524500" cy="3028950"/>
          </a:xfrm>
        </p:grpSpPr>
        <p:sp>
          <p:nvSpPr>
            <p:cNvPr id="25" name="Rectangle 25"/>
            <p:cNvSpPr/>
            <p:nvPr/>
          </p:nvSpPr>
          <p:spPr>
            <a:xfrm>
              <a:off x="381000" y="2781300"/>
              <a:ext cx="5524500" cy="3028950"/>
            </a:xfrm>
            <a:prstGeom prst="roundRect">
              <a:avLst>
                <a:gd name="adj" fmla="val 5031"/>
              </a:avLst>
            </a:prstGeom>
            <a:solidFill>
              <a:schemeClr val="lt1"/>
            </a:solidFill>
            <a:ln w="19050">
              <a:solidFill>
                <a:srgbClr val="C0392B"/>
              </a:solidFill>
            </a:ln>
          </p:spPr>
          <p:txBody>
            <a:bodyPr/>
            <a:p/>
          </p:txBody>
        </p:sp>
        <p:grpSp>
          <p:nvGrpSpPr>
            <p:cNvPr id="28" name="Group 28"/>
            <p:cNvGrpSpPr/>
            <p:nvPr/>
          </p:nvGrpSpPr>
          <p:grpSpPr>
            <a:xfrm>
              <a:off x="640556" y="2993231"/>
              <a:ext cx="185737" cy="185737"/>
              <a:chOff x="640556" y="2993231"/>
              <a:chExt cx="185737" cy="185737"/>
            </a:xfrm>
          </p:grpSpPr>
          <p:sp>
            <p:nvSpPr>
              <p:cNvPr id="26" name="Freeform 26"/>
              <p:cNvSpPr/>
              <p:nvPr/>
            </p:nvSpPr>
            <p:spPr>
              <a:xfrm>
                <a:off x="640556" y="2993231"/>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rgbClr val="C0392B"/>
                </a:solidFill>
              </a:ln>
            </p:spPr>
            <p:txBody>
              <a:bodyPr/>
              <a:p/>
            </p:txBody>
          </p:sp>
          <p:sp>
            <p:nvSpPr>
              <p:cNvPr id="27" name="Freeform 27"/>
              <p:cNvSpPr/>
              <p:nvPr/>
            </p:nvSpPr>
            <p:spPr>
              <a:xfrm>
                <a:off x="712787" y="3065462"/>
                <a:ext cx="41275" cy="41275"/>
              </a:xfrm>
              <a:custGeom>
                <a:avLst/>
                <a:gdLst/>
                <a:ahLst/>
                <a:cxnLst/>
                <a:rect l="l" t="t" r="r" b="b"/>
                <a:pathLst>
                  <a:path w="41275" h="41275">
                    <a:moveTo>
                      <a:pt x="0" y="0"/>
                    </a:moveTo>
                    <a:lnTo>
                      <a:pt x="41275" y="41275"/>
                    </a:lnTo>
                    <a:moveTo>
                      <a:pt x="41275" y="0"/>
                    </a:moveTo>
                    <a:lnTo>
                      <a:pt x="0" y="41275"/>
                    </a:lnTo>
                  </a:path>
                </a:pathLst>
              </a:custGeom>
              <a:noFill/>
              <a:ln w="20637">
                <a:solidFill>
                  <a:srgbClr val="C0392B"/>
                </a:solidFill>
              </a:ln>
            </p:spPr>
            <p:txBody>
              <a:bodyPr/>
              <a:p/>
            </p:txBody>
          </p:sp>
        </p:grpSp>
        <p:sp>
          <p:nvSpPr>
            <p:cNvPr id="29" name="TextBox 29"/>
            <p:cNvSpPr txBox="1"/>
            <p:nvPr/>
          </p:nvSpPr>
          <p:spPr>
            <a:xfrm>
              <a:off x="944118" y="2974658"/>
              <a:ext cx="4700000" cy="322707"/>
            </a:xfrm>
            <a:prstGeom prst="rect">
              <a:avLst/>
            </a:prstGeom>
            <a:noFill/>
            <a:ln>
              <a:noFill/>
            </a:ln>
          </p:spPr>
          <p:txBody>
            <a:bodyPr wrap="none" lIns="0" tIns="0" rIns="0" bIns="0" anchor="t" anchorCtr="0">
              <a:spAutoFit/>
            </a:bodyPr>
            <a:lstStyle/>
            <a:p>
              <a:pPr algn="l"/>
              <a:r>
                <a:rPr lang="vi-VN" sz="1650" b="1" dirty="0">
                  <a:solidFill>
                    <a:srgbClr val="C0392B"/>
                  </a:solidFill>
                  <a:latin typeface="+mn-lt"/>
                  <a:ea typeface="+mn-ea"/>
                  <a:cs typeface="+mn-cs"/>
                </a:rPr>
                <a:t>Không có Instructions: sạch mà rỗng</a:t>
              </a:r>
            </a:p>
          </p:txBody>
        </p:sp>
        <p:sp>
          <p:nvSpPr>
            <p:cNvPr id="30" name="TextBox 30"/>
            <p:cNvSpPr txBox="1"/>
            <p:nvPr/>
          </p:nvSpPr>
          <p:spPr>
            <a:xfrm>
              <a:off x="601218" y="3422332"/>
              <a:ext cx="4900000" cy="608457"/>
            </a:xfrm>
            <a:prstGeom prst="rect">
              <a:avLst/>
            </a:prstGeom>
            <a:noFill/>
            <a:ln>
              <a:noFill/>
            </a:ln>
          </p:spPr>
          <p:txBody>
            <a:bodyPr wrap="none" lIns="0" tIns="0" rIns="0" bIns="0" anchor="t" anchorCtr="0">
              <a:spAutoFit/>
            </a:bodyPr>
            <a:lstStyle/>
            <a:p>
              <a:pPr algn="l">
                <a:lnSpc>
                  <a:spcPts val="2250"/>
                </a:lnSpc>
              </a:pPr>
              <a:r>
                <a:rPr lang="vi-VN" sz="1650" i="1" dirty="0">
                  <a:solidFill>
                    <a:schemeClr val="dk1"/>
                  </a:solidFill>
                  <a:latin typeface="+mn-lt"/>
                  <a:ea typeface="+mn-ea"/>
                  <a:cs typeface="+mn-cs"/>
                </a:rPr>
                <a:t>“✨ Bí quyết chăm sóc da tươi trẻ từ bên trong…</a:t>
              </a:r>
              <a:br/>
              <a:r>
                <a:rPr lang="vi-VN" sz="1650" i="1" dirty="0">
                  <a:solidFill>
                    <a:schemeClr val="dk1"/>
                  </a:solidFill>
                  <a:latin typeface="+mn-lt"/>
                  <a:ea typeface="+mn-ea"/>
                  <a:cs typeface="+mn-cs"/>
                </a:rPr>
                <a:t>💌 Inbox ngay để nhận báo giá ưu đãi nhé!”</a:t>
              </a:r>
            </a:p>
          </p:txBody>
        </p:sp>
        <p:sp>
          <p:nvSpPr>
            <p:cNvPr id="31" name="Line 31"/>
            <p:cNvSpPr/>
            <p:nvPr/>
          </p:nvSpPr>
          <p:spPr>
            <a:xfrm>
              <a:off x="609600" y="4686300"/>
              <a:ext cx="5067300" cy="9525"/>
            </a:xfrm>
            <a:custGeom>
              <a:avLst/>
              <a:gdLst/>
              <a:ahLst/>
              <a:cxnLst/>
              <a:rect l="l" t="t" r="r" b="b"/>
              <a:pathLst>
                <a:path w="5067300" h="9525">
                  <a:moveTo>
                    <a:pt x="0" y="0"/>
                  </a:moveTo>
                  <a:lnTo>
                    <a:pt x="5067300" y="0"/>
                  </a:lnTo>
                </a:path>
              </a:pathLst>
            </a:custGeom>
            <a:noFill/>
            <a:ln w="9525">
              <a:solidFill>
                <a:schemeClr val="accent4"/>
              </a:solidFill>
            </a:ln>
          </p:spPr>
          <p:txBody>
            <a:bodyPr/>
            <a:p/>
          </p:txBody>
        </p:sp>
        <p:sp>
          <p:nvSpPr>
            <p:cNvPr id="32" name="Ellipse 32"/>
            <p:cNvSpPr/>
            <p:nvPr/>
          </p:nvSpPr>
          <p:spPr>
            <a:xfrm>
              <a:off x="647700" y="4905375"/>
              <a:ext cx="76200" cy="76200"/>
            </a:xfrm>
            <a:prstGeom prst="ellipse">
              <a:avLst/>
            </a:prstGeom>
            <a:solidFill>
              <a:srgbClr val="C0392B"/>
            </a:solidFill>
            <a:ln>
              <a:noFill/>
            </a:ln>
          </p:spPr>
          <p:txBody>
            <a:bodyPr/>
            <a:p/>
          </p:txBody>
        </p:sp>
        <p:sp>
          <p:nvSpPr>
            <p:cNvPr id="33" name="TextBox 33"/>
            <p:cNvSpPr txBox="1"/>
            <p:nvPr/>
          </p:nvSpPr>
          <p:spPr>
            <a:xfrm>
              <a:off x="830580" y="4848225"/>
              <a:ext cx="4600000"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Thiếu câu bắt buộc của TPCN</a:t>
              </a:r>
            </a:p>
          </p:txBody>
        </p:sp>
        <p:sp>
          <p:nvSpPr>
            <p:cNvPr id="34" name="Ellipse 34"/>
            <p:cNvSpPr/>
            <p:nvPr/>
          </p:nvSpPr>
          <p:spPr>
            <a:xfrm>
              <a:off x="647700" y="5191125"/>
              <a:ext cx="76200" cy="76200"/>
            </a:xfrm>
            <a:prstGeom prst="ellipse">
              <a:avLst/>
            </a:prstGeom>
            <a:solidFill>
              <a:srgbClr val="C0392B"/>
            </a:solidFill>
            <a:ln>
              <a:noFill/>
            </a:ln>
          </p:spPr>
          <p:txBody>
            <a:bodyPr/>
            <a:p/>
          </p:txBody>
        </p:sp>
        <p:sp>
          <p:nvSpPr>
            <p:cNvPr id="35" name="TextBox 35"/>
            <p:cNvSpPr txBox="1"/>
            <p:nvPr/>
          </p:nvSpPr>
          <p:spPr>
            <a:xfrm>
              <a:off x="830580" y="5133975"/>
              <a:ext cx="4600000"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“Đến từ Đức”, “ưu đãi”: không có nguồn</a:t>
              </a:r>
            </a:p>
          </p:txBody>
        </p:sp>
        <p:sp>
          <p:nvSpPr>
            <p:cNvPr id="36" name="Ellipse 36"/>
            <p:cNvSpPr/>
            <p:nvPr/>
          </p:nvSpPr>
          <p:spPr>
            <a:xfrm>
              <a:off x="647700" y="5476875"/>
              <a:ext cx="76200" cy="76200"/>
            </a:xfrm>
            <a:prstGeom prst="ellipse">
              <a:avLst/>
            </a:prstGeom>
            <a:solidFill>
              <a:srgbClr val="C0392B"/>
            </a:solidFill>
            <a:ln>
              <a:noFill/>
            </a:ln>
          </p:spPr>
          <p:txBody>
            <a:bodyPr/>
            <a:p/>
          </p:txBody>
        </p:sp>
        <p:sp>
          <p:nvSpPr>
            <p:cNvPr id="37" name="TextBox 37"/>
            <p:cNvSpPr txBox="1"/>
            <p:nvPr/>
          </p:nvSpPr>
          <p:spPr>
            <a:xfrm>
              <a:off x="830580" y="5419725"/>
              <a:ext cx="4600000"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Không số liệu, tràn emoji, bài quá chung</a:t>
              </a:r>
            </a:p>
          </p:txBody>
        </p:sp>
      </p:grpSp>
      <p:grpSp>
        <p:nvGrpSpPr>
          <p:cNvPr id="52" name="Group 52"/>
          <p:cNvGrpSpPr/>
          <p:nvPr/>
        </p:nvGrpSpPr>
        <p:grpSpPr>
          <a:xfrm>
            <a:off x="6286500" y="2781300"/>
            <a:ext cx="5524500" cy="3028950"/>
            <a:chOff x="6286500" y="2781300"/>
            <a:chExt cx="5524500" cy="3028950"/>
          </a:xfrm>
        </p:grpSpPr>
        <p:sp>
          <p:nvSpPr>
            <p:cNvPr id="39" name="Rectangle 39"/>
            <p:cNvSpPr/>
            <p:nvPr/>
          </p:nvSpPr>
          <p:spPr>
            <a:xfrm>
              <a:off x="6286500" y="2781300"/>
              <a:ext cx="5524500" cy="3028950"/>
            </a:xfrm>
            <a:prstGeom prst="roundRect">
              <a:avLst>
                <a:gd name="adj" fmla="val 5031"/>
              </a:avLst>
            </a:prstGeom>
            <a:solidFill>
              <a:schemeClr val="lt1"/>
            </a:solidFill>
            <a:ln w="19050">
              <a:solidFill>
                <a:srgbClr val="2E8B57"/>
              </a:solidFill>
            </a:ln>
          </p:spPr>
          <p:txBody>
            <a:bodyPr/>
            <a:p/>
          </p:txBody>
        </p:sp>
        <p:grpSp>
          <p:nvGrpSpPr>
            <p:cNvPr id="42" name="Group 42"/>
            <p:cNvGrpSpPr/>
            <p:nvPr/>
          </p:nvGrpSpPr>
          <p:grpSpPr>
            <a:xfrm>
              <a:off x="6546056" y="2993231"/>
              <a:ext cx="185737" cy="185737"/>
              <a:chOff x="6546056" y="2993231"/>
              <a:chExt cx="185737" cy="185737"/>
            </a:xfrm>
          </p:grpSpPr>
          <p:sp>
            <p:nvSpPr>
              <p:cNvPr id="40" name="Freeform 40"/>
              <p:cNvSpPr/>
              <p:nvPr/>
            </p:nvSpPr>
            <p:spPr>
              <a:xfrm>
                <a:off x="6546056" y="2993231"/>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rgbClr val="2E8B57"/>
                </a:solidFill>
              </a:ln>
            </p:spPr>
            <p:txBody>
              <a:bodyPr/>
              <a:p/>
            </p:txBody>
          </p:sp>
          <p:sp>
            <p:nvSpPr>
              <p:cNvPr id="41" name="Freeform 41"/>
              <p:cNvSpPr/>
              <p:nvPr/>
            </p:nvSpPr>
            <p:spPr>
              <a:xfrm>
                <a:off x="6607968" y="3065462"/>
                <a:ext cx="61912" cy="41275"/>
              </a:xfrm>
              <a:custGeom>
                <a:avLst/>
                <a:gdLst/>
                <a:ahLst/>
                <a:cxnLst/>
                <a:rect l="l" t="t" r="r" b="b"/>
                <a:pathLst>
                  <a:path w="61912" h="41275">
                    <a:moveTo>
                      <a:pt x="0" y="20637"/>
                    </a:moveTo>
                    <a:lnTo>
                      <a:pt x="20637" y="41275"/>
                    </a:lnTo>
                    <a:lnTo>
                      <a:pt x="61912" y="0"/>
                    </a:lnTo>
                  </a:path>
                </a:pathLst>
              </a:custGeom>
              <a:noFill/>
              <a:ln w="20637">
                <a:solidFill>
                  <a:srgbClr val="2E8B57"/>
                </a:solidFill>
              </a:ln>
            </p:spPr>
            <p:txBody>
              <a:bodyPr/>
              <a:p/>
            </p:txBody>
          </p:sp>
        </p:grpSp>
        <p:sp>
          <p:nvSpPr>
            <p:cNvPr id="43" name="TextBox 43"/>
            <p:cNvSpPr txBox="1"/>
            <p:nvPr/>
          </p:nvSpPr>
          <p:spPr>
            <a:xfrm>
              <a:off x="6849618" y="2974658"/>
              <a:ext cx="4621952" cy="322707"/>
            </a:xfrm>
            <a:prstGeom prst="rect">
              <a:avLst/>
            </a:prstGeom>
            <a:noFill/>
            <a:ln>
              <a:noFill/>
            </a:ln>
          </p:spPr>
          <p:txBody>
            <a:bodyPr wrap="none" lIns="0" tIns="0" rIns="0" bIns="0" anchor="t" anchorCtr="0">
              <a:spAutoFit/>
            </a:bodyPr>
            <a:lstStyle/>
            <a:p>
              <a:pPr algn="l"/>
              <a:r>
                <a:rPr lang="vi-VN" sz="1650" b="1" dirty="0">
                  <a:solidFill>
                    <a:srgbClr val="2E8B57"/>
                  </a:solidFill>
                  <a:latin typeface="+mn-lt"/>
                  <a:ea typeface="+mn-ea"/>
                  <a:cs typeface="+mn-cs"/>
                </a:rPr>
                <a:t>Có Project instructions phòng Marketing</a:t>
              </a:r>
            </a:p>
          </p:txBody>
        </p:sp>
        <p:sp>
          <p:nvSpPr>
            <p:cNvPr id="44" name="TextBox 44"/>
            <p:cNvSpPr txBox="1"/>
            <p:nvPr/>
          </p:nvSpPr>
          <p:spPr>
            <a:xfrm>
              <a:off x="6506718" y="3422332"/>
              <a:ext cx="4962144" cy="1179957"/>
            </a:xfrm>
            <a:prstGeom prst="rect">
              <a:avLst/>
            </a:prstGeom>
            <a:noFill/>
            <a:ln>
              <a:noFill/>
            </a:ln>
          </p:spPr>
          <p:txBody>
            <a:bodyPr wrap="none" lIns="0" tIns="0" rIns="0" bIns="0" anchor="t" anchorCtr="0">
              <a:spAutoFit/>
            </a:bodyPr>
            <a:lstStyle/>
            <a:p>
              <a:pPr algn="l">
                <a:lnSpc>
                  <a:spcPts val="2250"/>
                </a:lnSpc>
              </a:pPr>
              <a:r>
                <a:rPr lang="vi-VN" sz="1650" i="1" dirty="0">
                  <a:solidFill>
                    <a:schemeClr val="dk1"/>
                  </a:solidFill>
                  <a:latin typeface="+mn-lt"/>
                  <a:ea typeface="+mn-ea"/>
                  <a:cs typeface="+mn-cs"/>
                </a:rPr>
                <a:t>“Da bạn khô và kém đàn hồi? Sau 12 tuần,</a:t>
              </a:r>
              <a:br/>
              <a:r>
                <a:rPr lang="vi-VN" sz="1650" i="1" dirty="0">
                  <a:solidFill>
                    <a:schemeClr val="dk1"/>
                  </a:solidFill>
                  <a:latin typeface="+mn-lt"/>
                  <a:ea typeface="+mn-ea"/>
                  <a:cs typeface="+mn-cs"/>
                </a:rPr>
                <a:t>nghiên cứu lâm sàng ghi nhận độ ẩm da</a:t>
              </a:r>
              <a:br/>
              <a:r>
                <a:rPr lang="vi-VN" sz="1650" i="1" dirty="0">
                  <a:solidFill>
                    <a:schemeClr val="dk1"/>
                  </a:solidFill>
                  <a:latin typeface="+mn-lt"/>
                  <a:ea typeface="+mn-ea"/>
                  <a:cs typeface="+mn-cs"/>
                </a:rPr>
                <a:t>tăng 28%… Thực phẩm này không phải là thuốc</a:t>
              </a:r>
              <a:br/>
              <a:r>
                <a:rPr lang="vi-VN" sz="1650" i="1" dirty="0">
                  <a:solidFill>
                    <a:schemeClr val="dk1"/>
                  </a:solidFill>
                  <a:latin typeface="+mn-lt"/>
                  <a:ea typeface="+mn-ea"/>
                  <a:cs typeface="+mn-cs"/>
                </a:rPr>
                <a:t>và không có tác dụng thay thế thuốc chữa bệnh.”</a:t>
              </a:r>
            </a:p>
          </p:txBody>
        </p:sp>
        <p:sp>
          <p:nvSpPr>
            <p:cNvPr id="45" name="Line 45"/>
            <p:cNvSpPr/>
            <p:nvPr/>
          </p:nvSpPr>
          <p:spPr>
            <a:xfrm>
              <a:off x="6515100" y="4686300"/>
              <a:ext cx="5067300" cy="9525"/>
            </a:xfrm>
            <a:custGeom>
              <a:avLst/>
              <a:gdLst/>
              <a:ahLst/>
              <a:cxnLst/>
              <a:rect l="l" t="t" r="r" b="b"/>
              <a:pathLst>
                <a:path w="5067300" h="9525">
                  <a:moveTo>
                    <a:pt x="0" y="0"/>
                  </a:moveTo>
                  <a:lnTo>
                    <a:pt x="5067300" y="0"/>
                  </a:lnTo>
                </a:path>
              </a:pathLst>
            </a:custGeom>
            <a:noFill/>
            <a:ln w="9525">
              <a:solidFill>
                <a:schemeClr val="accent4"/>
              </a:solidFill>
            </a:ln>
          </p:spPr>
          <p:txBody>
            <a:bodyPr/>
            <a:p/>
          </p:txBody>
        </p:sp>
        <p:sp>
          <p:nvSpPr>
            <p:cNvPr id="46" name="Ellipse 46"/>
            <p:cNvSpPr/>
            <p:nvPr/>
          </p:nvSpPr>
          <p:spPr>
            <a:xfrm>
              <a:off x="6553200" y="4905375"/>
              <a:ext cx="76200" cy="76200"/>
            </a:xfrm>
            <a:prstGeom prst="ellipse">
              <a:avLst/>
            </a:prstGeom>
            <a:solidFill>
              <a:srgbClr val="2E8B57"/>
            </a:solidFill>
            <a:ln>
              <a:noFill/>
            </a:ln>
          </p:spPr>
          <p:txBody>
            <a:bodyPr/>
            <a:p/>
          </p:txBody>
        </p:sp>
        <p:sp>
          <p:nvSpPr>
            <p:cNvPr id="47" name="TextBox 47"/>
            <p:cNvSpPr txBox="1"/>
            <p:nvPr/>
          </p:nvSpPr>
          <p:spPr>
            <a:xfrm>
              <a:off x="6736080" y="4848225"/>
              <a:ext cx="3992523"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Số liệu có nguồn: +28% độ ẩm sau 12 tuần</a:t>
              </a:r>
            </a:p>
          </p:txBody>
        </p:sp>
        <p:sp>
          <p:nvSpPr>
            <p:cNvPr id="48" name="Ellipse 48"/>
            <p:cNvSpPr/>
            <p:nvPr/>
          </p:nvSpPr>
          <p:spPr>
            <a:xfrm>
              <a:off x="6553200" y="5191125"/>
              <a:ext cx="76200" cy="76200"/>
            </a:xfrm>
            <a:prstGeom prst="ellipse">
              <a:avLst/>
            </a:prstGeom>
            <a:solidFill>
              <a:srgbClr val="2E8B57"/>
            </a:solidFill>
            <a:ln>
              <a:noFill/>
            </a:ln>
          </p:spPr>
          <p:txBody>
            <a:bodyPr/>
            <a:p/>
          </p:txBody>
        </p:sp>
        <p:sp>
          <p:nvSpPr>
            <p:cNvPr id="49" name="TextBox 49"/>
            <p:cNvSpPr txBox="1"/>
            <p:nvPr/>
          </p:nvSpPr>
          <p:spPr>
            <a:xfrm>
              <a:off x="6736080" y="5133975"/>
              <a:ext cx="2464248"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Có câu bắt buộc của TPCN</a:t>
              </a:r>
            </a:p>
          </p:txBody>
        </p:sp>
        <p:sp>
          <p:nvSpPr>
            <p:cNvPr id="50" name="Ellipse 50"/>
            <p:cNvSpPr/>
            <p:nvPr/>
          </p:nvSpPr>
          <p:spPr>
            <a:xfrm>
              <a:off x="6553200" y="5476875"/>
              <a:ext cx="76200" cy="76200"/>
            </a:xfrm>
            <a:prstGeom prst="ellipse">
              <a:avLst/>
            </a:prstGeom>
            <a:solidFill>
              <a:srgbClr val="2E8B57"/>
            </a:solidFill>
            <a:ln>
              <a:noFill/>
            </a:ln>
          </p:spPr>
          <p:txBody>
            <a:bodyPr/>
            <a:p/>
          </p:txBody>
        </p:sp>
        <p:sp>
          <p:nvSpPr>
            <p:cNvPr id="51" name="TextBox 51"/>
            <p:cNvSpPr txBox="1"/>
            <p:nvPr/>
          </p:nvSpPr>
          <p:spPr>
            <a:xfrm>
              <a:off x="6736080" y="5419725"/>
              <a:ext cx="3010281"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Giá chưa có thì ghi </a:t>
              </a:r>
              <a:r>
                <a:rPr lang="vi-VN" sz="1500" b="1" dirty="0">
                  <a:solidFill>
                    <a:schemeClr val="accent1"/>
                  </a:solidFill>
                  <a:latin typeface="Consolas"/>
                  <a:ea typeface="Consolas"/>
                  <a:cs typeface="Consolas"/>
                </a:rPr>
                <a:t>[CẦN ĐIỀN]</a:t>
              </a:r>
            </a:p>
          </p:txBody>
        </p:sp>
      </p:grpSp>
      <p:sp>
        <p:nvSpPr>
          <p:cNvPr id="53" name="TextBox 53"/>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54" name="TextBox 54"/>
          <p:cNvSpPr txBox="1"/>
          <p:nvPr/>
        </p:nvSpPr>
        <p:spPr>
          <a:xfrm>
            <a:off x="4949584" y="6554152"/>
            <a:ext cx="6200000"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Bên trái: kết quả thật chạy 08/10/2026 · số liệu +28% trích từ tài liệu sản phẩm Wir</a:t>
            </a:r>
          </a:p>
        </p:txBody>
      </p:sp>
      <p:sp>
        <p:nvSpPr>
          <p:cNvPr id="55" name="TextBox 55"/>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10 / 35</a:t>
            </a:r>
          </a:p>
        </p:txBody>
      </p:sp>
      <p:sp>
        <p:nvSpPr>
          <p:cNvPr id="56" name="demo-flag"/>
          <p:cNvSpPr/>
          <p:nvPr/>
        </p:nvSpPr>
        <p:spPr>
          <a:xfrm>
            <a:off x="3810000" y="304800"/>
            <a:ext cx="1638300" cy="228600"/>
          </a:xfrm>
          <a:prstGeom prst="roundRect">
            <a:avLst>
              <a:gd name="adj" fmla="val 50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00" b="1">
                <a:solidFill>
                  <a:srgbClr val="FFFFFF"/>
                </a:solidFill>
              </a:rPr>
              <a:t>▶ CÓ HƯỚNG DẪN DEMO</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4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2793462" cy="234696"/>
            <a:chOff x="381000" y="346710"/>
            <a:chExt cx="2793462" cy="234696"/>
          </a:xfrm>
        </p:grpSpPr>
        <p:sp>
          <p:nvSpPr>
            <p:cNvPr id="2" name="Rectangle 2"/>
            <p:cNvSpPr/>
            <p:nvPr/>
          </p:nvSpPr>
          <p:spPr>
            <a:xfrm>
              <a:off x="381000" y="361950"/>
              <a:ext cx="114300" cy="114300"/>
            </a:xfrm>
            <a:prstGeom prst="roundRect">
              <a:avLst>
                <a:gd name="adj" fmla="val 25000"/>
              </a:avLst>
            </a:prstGeom>
            <a:solidFill>
              <a:schemeClr val="accent5"/>
            </a:solidFill>
            <a:ln>
              <a:noFill/>
            </a:ln>
          </p:spPr>
        </p:sp>
        <p:sp>
          <p:nvSpPr>
            <p:cNvPr id="3" name="TextBox 3"/>
            <p:cNvSpPr txBox="1"/>
            <p:nvPr/>
          </p:nvSpPr>
          <p:spPr>
            <a:xfrm>
              <a:off x="584454" y="346710"/>
              <a:ext cx="2590008"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1 · THỰC HÀNH &amp; CHỐT</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chemeClr val="accent2"/>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9662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10512314"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Thực hành tầng 1: viết Instructions của phòng mình</a:t>
            </a:r>
            <a:br/>
            <a:r>
              <a:rPr lang="vi-VN" sz="3150" b="1" dirty="0">
                <a:solidFill>
                  <a:schemeClr val="accent1"/>
                </a:solidFill>
                <a:latin typeface="+mn-lt"/>
                <a:ea typeface="+mn-ea"/>
                <a:cs typeface="+mn-cs"/>
              </a:rPr>
              <a:t>và qua được phép thử chống bịa</a:t>
            </a:r>
          </a:p>
        </p:txBody>
      </p:sp>
      <p:grpSp>
        <p:nvGrpSpPr>
          <p:cNvPr id="24" name="Group 24"/>
          <p:cNvGrpSpPr/>
          <p:nvPr/>
        </p:nvGrpSpPr>
        <p:grpSpPr>
          <a:xfrm>
            <a:off x="381000" y="2095500"/>
            <a:ext cx="6572250" cy="781050"/>
            <a:chOff x="381000" y="2095500"/>
            <a:chExt cx="6572250" cy="781050"/>
          </a:xfrm>
        </p:grpSpPr>
        <p:sp>
          <p:nvSpPr>
            <p:cNvPr id="17" name="Rectangle 17"/>
            <p:cNvSpPr/>
            <p:nvPr/>
          </p:nvSpPr>
          <p:spPr>
            <a:xfrm>
              <a:off x="381000" y="2095500"/>
              <a:ext cx="6572250" cy="781050"/>
            </a:xfrm>
            <a:prstGeom prst="roundRect">
              <a:avLst>
                <a:gd name="adj" fmla="val 17073"/>
              </a:avLst>
            </a:prstGeom>
            <a:solidFill>
              <a:schemeClr val="lt1"/>
            </a:solidFill>
            <a:ln w="14288">
              <a:solidFill>
                <a:schemeClr val="accent4"/>
              </a:solidFill>
            </a:ln>
          </p:spPr>
        </p:sp>
        <p:sp>
          <p:nvSpPr>
            <p:cNvPr id="18" name="Ellipse 18"/>
            <p:cNvSpPr/>
            <p:nvPr/>
          </p:nvSpPr>
          <p:spPr>
            <a:xfrm>
              <a:off x="523875" y="2219325"/>
              <a:ext cx="285750" cy="285750"/>
            </a:xfrm>
            <a:prstGeom prst="ellipse">
              <a:avLst/>
            </a:prstGeom>
            <a:solidFill>
              <a:schemeClr val="accent5"/>
            </a:solidFill>
            <a:ln>
              <a:noFill/>
            </a:ln>
          </p:spPr>
        </p:sp>
        <p:sp>
          <p:nvSpPr>
            <p:cNvPr id="19" name="TextBox 19"/>
            <p:cNvSpPr txBox="1"/>
            <p:nvPr/>
          </p:nvSpPr>
          <p:spPr>
            <a:xfrm>
              <a:off x="600823" y="226695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1</a:t>
              </a:r>
            </a:p>
          </p:txBody>
        </p:sp>
        <p:sp>
          <p:nvSpPr>
            <p:cNvPr id="20" name="TextBox 20"/>
            <p:cNvSpPr txBox="1"/>
            <p:nvPr/>
          </p:nvSpPr>
          <p:spPr>
            <a:xfrm>
              <a:off x="925068" y="2260282"/>
              <a:ext cx="4964653"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Viết Project instructions cho phòng của bạn</a:t>
              </a:r>
            </a:p>
          </p:txBody>
        </p:sp>
        <p:sp>
          <p:nvSpPr>
            <p:cNvPr id="21" name="Rectangle 21"/>
            <p:cNvSpPr/>
            <p:nvPr/>
          </p:nvSpPr>
          <p:spPr>
            <a:xfrm>
              <a:off x="6210300" y="2247900"/>
              <a:ext cx="552450" cy="266700"/>
            </a:xfrm>
            <a:prstGeom prst="roundRect">
              <a:avLst>
                <a:gd name="adj" fmla="val 50000"/>
              </a:avLst>
            </a:prstGeom>
            <a:solidFill>
              <a:srgbClr val="FCEBDD"/>
            </a:solidFill>
            <a:ln>
              <a:noFill/>
            </a:ln>
          </p:spPr>
        </p:sp>
        <p:sp>
          <p:nvSpPr>
            <p:cNvPr id="22" name="TextBox 22"/>
            <p:cNvSpPr txBox="1"/>
            <p:nvPr/>
          </p:nvSpPr>
          <p:spPr>
            <a:xfrm>
              <a:off x="6340492" y="2308860"/>
              <a:ext cx="292067" cy="234696"/>
            </a:xfrm>
            <a:prstGeom prst="rect">
              <a:avLst/>
            </a:prstGeom>
            <a:noFill/>
            <a:ln>
              <a:noFill/>
            </a:ln>
          </p:spPr>
          <p:txBody>
            <a:bodyPr wrap="none" lIns="0" tIns="0" rIns="0" bIns="0" anchor="t" anchorCtr="0">
              <a:spAutoFit/>
            </a:bodyPr>
            <a:lstStyle/>
            <a:p>
              <a:pPr algn="ctr"/>
              <a:r>
                <a:rPr lang="vi-VN" sz="1200" b="1" dirty="0">
                  <a:solidFill>
                    <a:schemeClr val="accent1"/>
                  </a:solidFill>
                  <a:latin typeface="+mn-lt"/>
                  <a:ea typeface="+mn-ea"/>
                  <a:cs typeface="+mn-cs"/>
                </a:rPr>
                <a:t>20'</a:t>
              </a:r>
            </a:p>
          </p:txBody>
        </p:sp>
        <p:sp>
          <p:nvSpPr>
            <p:cNvPr id="23" name="TextBox 23"/>
            <p:cNvSpPr txBox="1"/>
            <p:nvPr/>
          </p:nvSpPr>
          <p:spPr>
            <a:xfrm>
              <a:off x="926592" y="2578418"/>
              <a:ext cx="5571894" cy="264033"/>
            </a:xfrm>
            <a:prstGeom prst="rect">
              <a:avLst/>
            </a:prstGeom>
            <a:noFill/>
            <a:ln>
              <a:noFill/>
            </a:ln>
          </p:spPr>
          <p:txBody>
            <a:bodyPr wrap="none" lIns="0" tIns="0" rIns="0" bIns="0" anchor="t" anchorCtr="0">
              <a:spAutoFit/>
            </a:bodyPr>
            <a:lstStyle/>
            <a:p>
              <a:pPr algn="l"/>
              <a:r>
                <a:rPr lang="vi-VN" sz="1350" b="1" dirty="0">
                  <a:solidFill>
                    <a:srgbClr val="2E8B57"/>
                  </a:solidFill>
                  <a:latin typeface="+mn-lt"/>
                  <a:ea typeface="+mn-ea"/>
                  <a:cs typeface="+mn-cs"/>
                </a:rPr>
                <a:t>Đạt khi:</a:t>
              </a:r>
              <a:r>
                <a:rPr lang="vi-VN" sz="1350" dirty="0">
                  <a:solidFill>
                    <a:schemeClr val="dk1"/>
                  </a:solidFill>
                  <a:latin typeface="+mn-lt"/>
                  <a:ea typeface="+mn-ea"/>
                  <a:cs typeface="+mn-cs"/>
                </a:rPr>
                <a:t> đủ mục, tả giọng văn bằng hành vi, có 3 luật chống bịa</a:t>
              </a:r>
            </a:p>
          </p:txBody>
        </p:sp>
      </p:grpSp>
      <p:grpSp>
        <p:nvGrpSpPr>
          <p:cNvPr id="33" name="Group 33"/>
          <p:cNvGrpSpPr/>
          <p:nvPr/>
        </p:nvGrpSpPr>
        <p:grpSpPr>
          <a:xfrm>
            <a:off x="381000" y="2971800"/>
            <a:ext cx="6572250" cy="1009650"/>
            <a:chOff x="381000" y="2971800"/>
            <a:chExt cx="6572250" cy="1009650"/>
          </a:xfrm>
        </p:grpSpPr>
        <p:sp>
          <p:nvSpPr>
            <p:cNvPr id="25" name="Rectangle 25"/>
            <p:cNvSpPr/>
            <p:nvPr/>
          </p:nvSpPr>
          <p:spPr>
            <a:xfrm>
              <a:off x="381000" y="2971800"/>
              <a:ext cx="6572250" cy="1009650"/>
            </a:xfrm>
            <a:prstGeom prst="roundRect">
              <a:avLst>
                <a:gd name="adj" fmla="val 13208"/>
              </a:avLst>
            </a:prstGeom>
            <a:solidFill>
              <a:schemeClr val="lt1"/>
            </a:solidFill>
            <a:ln w="14288">
              <a:solidFill>
                <a:schemeClr val="accent4"/>
              </a:solidFill>
            </a:ln>
          </p:spPr>
        </p:sp>
        <p:sp>
          <p:nvSpPr>
            <p:cNvPr id="26" name="Ellipse 26"/>
            <p:cNvSpPr/>
            <p:nvPr/>
          </p:nvSpPr>
          <p:spPr>
            <a:xfrm>
              <a:off x="523875" y="3095625"/>
              <a:ext cx="285750" cy="285750"/>
            </a:xfrm>
            <a:prstGeom prst="ellipse">
              <a:avLst/>
            </a:prstGeom>
            <a:solidFill>
              <a:schemeClr val="accent5"/>
            </a:solidFill>
            <a:ln>
              <a:noFill/>
            </a:ln>
          </p:spPr>
        </p:sp>
        <p:sp>
          <p:nvSpPr>
            <p:cNvPr id="27" name="TextBox 27"/>
            <p:cNvSpPr txBox="1"/>
            <p:nvPr/>
          </p:nvSpPr>
          <p:spPr>
            <a:xfrm>
              <a:off x="600823" y="314325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2</a:t>
              </a:r>
            </a:p>
          </p:txBody>
        </p:sp>
        <p:sp>
          <p:nvSpPr>
            <p:cNvPr id="28" name="TextBox 28"/>
            <p:cNvSpPr txBox="1"/>
            <p:nvPr/>
          </p:nvSpPr>
          <p:spPr>
            <a:xfrm>
              <a:off x="925068" y="3136582"/>
              <a:ext cx="2158864"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Phép thử chống bịa</a:t>
              </a:r>
            </a:p>
          </p:txBody>
        </p:sp>
        <p:sp>
          <p:nvSpPr>
            <p:cNvPr id="29" name="Rectangle 29"/>
            <p:cNvSpPr/>
            <p:nvPr/>
          </p:nvSpPr>
          <p:spPr>
            <a:xfrm>
              <a:off x="6210300" y="3124200"/>
              <a:ext cx="552450" cy="266700"/>
            </a:xfrm>
            <a:prstGeom prst="roundRect">
              <a:avLst>
                <a:gd name="adj" fmla="val 50000"/>
              </a:avLst>
            </a:prstGeom>
            <a:solidFill>
              <a:srgbClr val="FCEBDD"/>
            </a:solidFill>
            <a:ln>
              <a:noFill/>
            </a:ln>
          </p:spPr>
        </p:sp>
        <p:sp>
          <p:nvSpPr>
            <p:cNvPr id="30" name="TextBox 30"/>
            <p:cNvSpPr txBox="1"/>
            <p:nvPr/>
          </p:nvSpPr>
          <p:spPr>
            <a:xfrm>
              <a:off x="6387137" y="3185160"/>
              <a:ext cx="198775" cy="234696"/>
            </a:xfrm>
            <a:prstGeom prst="rect">
              <a:avLst/>
            </a:prstGeom>
            <a:noFill/>
            <a:ln>
              <a:noFill/>
            </a:ln>
          </p:spPr>
          <p:txBody>
            <a:bodyPr wrap="none" lIns="0" tIns="0" rIns="0" bIns="0" anchor="t" anchorCtr="0">
              <a:spAutoFit/>
            </a:bodyPr>
            <a:lstStyle/>
            <a:p>
              <a:pPr algn="ctr"/>
              <a:r>
                <a:rPr lang="vi-VN" sz="1200" b="1" dirty="0">
                  <a:solidFill>
                    <a:schemeClr val="accent1"/>
                  </a:solidFill>
                  <a:latin typeface="+mn-lt"/>
                  <a:ea typeface="+mn-ea"/>
                  <a:cs typeface="+mn-cs"/>
                </a:rPr>
                <a:t>5'</a:t>
              </a:r>
            </a:p>
          </p:txBody>
        </p:sp>
        <p:sp>
          <p:nvSpPr>
            <p:cNvPr id="31" name="TextBox 31"/>
            <p:cNvSpPr txBox="1"/>
            <p:nvPr/>
          </p:nvSpPr>
          <p:spPr>
            <a:xfrm>
              <a:off x="926592" y="3454718"/>
              <a:ext cx="4498505"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Hỏi 3 con số hồ sơ không có (vd: giá bán lẻ Elasten)</a:t>
              </a:r>
            </a:p>
          </p:txBody>
        </p:sp>
        <p:sp>
          <p:nvSpPr>
            <p:cNvPr id="32" name="TextBox 32"/>
            <p:cNvSpPr txBox="1"/>
            <p:nvPr/>
          </p:nvSpPr>
          <p:spPr>
            <a:xfrm>
              <a:off x="926592" y="3683318"/>
              <a:ext cx="3981695" cy="264033"/>
            </a:xfrm>
            <a:prstGeom prst="rect">
              <a:avLst/>
            </a:prstGeom>
            <a:noFill/>
            <a:ln>
              <a:noFill/>
            </a:ln>
          </p:spPr>
          <p:txBody>
            <a:bodyPr wrap="none" lIns="0" tIns="0" rIns="0" bIns="0" anchor="t" anchorCtr="0">
              <a:spAutoFit/>
            </a:bodyPr>
            <a:lstStyle/>
            <a:p>
              <a:pPr algn="l"/>
              <a:r>
                <a:rPr lang="vi-VN" sz="1350" b="1" dirty="0">
                  <a:solidFill>
                    <a:srgbClr val="2E8B57"/>
                  </a:solidFill>
                  <a:latin typeface="+mn-lt"/>
                  <a:ea typeface="+mn-ea"/>
                  <a:cs typeface="+mn-cs"/>
                </a:rPr>
                <a:t>Đạt khi:</a:t>
              </a:r>
              <a:r>
                <a:rPr lang="vi-VN" sz="1350" dirty="0">
                  <a:solidFill>
                    <a:schemeClr val="dk1"/>
                  </a:solidFill>
                  <a:latin typeface="+mn-lt"/>
                  <a:ea typeface="+mn-ea"/>
                  <a:cs typeface="+mn-cs"/>
                </a:rPr>
                <a:t> cả 3 lần đều trả lời “chưa đủ dữ liệu”</a:t>
              </a:r>
            </a:p>
          </p:txBody>
        </p:sp>
      </p:grpSp>
      <p:grpSp>
        <p:nvGrpSpPr>
          <p:cNvPr id="41" name="Group 41"/>
          <p:cNvGrpSpPr/>
          <p:nvPr/>
        </p:nvGrpSpPr>
        <p:grpSpPr>
          <a:xfrm>
            <a:off x="381000" y="4076700"/>
            <a:ext cx="6572250" cy="781050"/>
            <a:chOff x="381000" y="4076700"/>
            <a:chExt cx="6572250" cy="781050"/>
          </a:xfrm>
        </p:grpSpPr>
        <p:sp>
          <p:nvSpPr>
            <p:cNvPr id="34" name="Rectangle 34"/>
            <p:cNvSpPr/>
            <p:nvPr/>
          </p:nvSpPr>
          <p:spPr>
            <a:xfrm>
              <a:off x="381000" y="4076700"/>
              <a:ext cx="6572250" cy="781050"/>
            </a:xfrm>
            <a:prstGeom prst="roundRect">
              <a:avLst>
                <a:gd name="adj" fmla="val 17073"/>
              </a:avLst>
            </a:prstGeom>
            <a:solidFill>
              <a:schemeClr val="lt1"/>
            </a:solidFill>
            <a:ln w="14288">
              <a:solidFill>
                <a:schemeClr val="accent4"/>
              </a:solidFill>
            </a:ln>
          </p:spPr>
        </p:sp>
        <p:sp>
          <p:nvSpPr>
            <p:cNvPr id="35" name="Ellipse 35"/>
            <p:cNvSpPr/>
            <p:nvPr/>
          </p:nvSpPr>
          <p:spPr>
            <a:xfrm>
              <a:off x="523875" y="4200525"/>
              <a:ext cx="285750" cy="285750"/>
            </a:xfrm>
            <a:prstGeom prst="ellipse">
              <a:avLst/>
            </a:prstGeom>
            <a:solidFill>
              <a:schemeClr val="accent5"/>
            </a:solidFill>
            <a:ln>
              <a:noFill/>
            </a:ln>
          </p:spPr>
        </p:sp>
        <p:sp>
          <p:nvSpPr>
            <p:cNvPr id="36" name="TextBox 36"/>
            <p:cNvSpPr txBox="1"/>
            <p:nvPr/>
          </p:nvSpPr>
          <p:spPr>
            <a:xfrm>
              <a:off x="600823" y="424815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3</a:t>
              </a:r>
            </a:p>
          </p:txBody>
        </p:sp>
        <p:sp>
          <p:nvSpPr>
            <p:cNvPr id="37" name="TextBox 37"/>
            <p:cNvSpPr txBox="1"/>
            <p:nvPr/>
          </p:nvSpPr>
          <p:spPr>
            <a:xfrm>
              <a:off x="925068" y="4241482"/>
              <a:ext cx="2718586"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Kiểm tra trong chat mới</a:t>
              </a:r>
            </a:p>
          </p:txBody>
        </p:sp>
        <p:sp>
          <p:nvSpPr>
            <p:cNvPr id="38" name="Rectangle 38"/>
            <p:cNvSpPr/>
            <p:nvPr/>
          </p:nvSpPr>
          <p:spPr>
            <a:xfrm>
              <a:off x="6210300" y="4229100"/>
              <a:ext cx="552450" cy="266700"/>
            </a:xfrm>
            <a:prstGeom prst="roundRect">
              <a:avLst>
                <a:gd name="adj" fmla="val 50000"/>
              </a:avLst>
            </a:prstGeom>
            <a:solidFill>
              <a:srgbClr val="FCEBDD"/>
            </a:solidFill>
            <a:ln>
              <a:noFill/>
            </a:ln>
          </p:spPr>
        </p:sp>
        <p:sp>
          <p:nvSpPr>
            <p:cNvPr id="39" name="TextBox 39"/>
            <p:cNvSpPr txBox="1"/>
            <p:nvPr/>
          </p:nvSpPr>
          <p:spPr>
            <a:xfrm>
              <a:off x="6387137" y="4290060"/>
              <a:ext cx="198775" cy="234696"/>
            </a:xfrm>
            <a:prstGeom prst="rect">
              <a:avLst/>
            </a:prstGeom>
            <a:noFill/>
            <a:ln>
              <a:noFill/>
            </a:ln>
          </p:spPr>
          <p:txBody>
            <a:bodyPr wrap="none" lIns="0" tIns="0" rIns="0" bIns="0" anchor="t" anchorCtr="0">
              <a:spAutoFit/>
            </a:bodyPr>
            <a:lstStyle/>
            <a:p>
              <a:pPr algn="ctr"/>
              <a:r>
                <a:rPr lang="vi-VN" sz="1200" b="1" dirty="0">
                  <a:solidFill>
                    <a:schemeClr val="accent1"/>
                  </a:solidFill>
                  <a:latin typeface="+mn-lt"/>
                  <a:ea typeface="+mn-ea"/>
                  <a:cs typeface="+mn-cs"/>
                </a:rPr>
                <a:t>5'</a:t>
              </a:r>
            </a:p>
          </p:txBody>
        </p:sp>
        <p:sp>
          <p:nvSpPr>
            <p:cNvPr id="40" name="TextBox 40"/>
            <p:cNvSpPr txBox="1"/>
            <p:nvPr/>
          </p:nvSpPr>
          <p:spPr>
            <a:xfrm>
              <a:off x="926592" y="4559618"/>
              <a:ext cx="4717730" cy="264033"/>
            </a:xfrm>
            <a:prstGeom prst="rect">
              <a:avLst/>
            </a:prstGeom>
            <a:noFill/>
            <a:ln>
              <a:noFill/>
            </a:ln>
          </p:spPr>
          <p:txBody>
            <a:bodyPr wrap="none" lIns="0" tIns="0" rIns="0" bIns="0" anchor="t" anchorCtr="0">
              <a:spAutoFit/>
            </a:bodyPr>
            <a:lstStyle/>
            <a:p>
              <a:pPr algn="l"/>
              <a:r>
                <a:rPr lang="vi-VN" sz="1350" b="1" dirty="0">
                  <a:solidFill>
                    <a:srgbClr val="2E8B57"/>
                  </a:solidFill>
                  <a:latin typeface="+mn-lt"/>
                  <a:ea typeface="+mn-ea"/>
                  <a:cs typeface="+mn-cs"/>
                </a:rPr>
                <a:t>Đạt khi:</a:t>
              </a:r>
              <a:r>
                <a:rPr lang="vi-VN" sz="1350" dirty="0">
                  <a:solidFill>
                    <a:schemeClr val="dk1"/>
                  </a:solidFill>
                  <a:latin typeface="+mn-lt"/>
                  <a:ea typeface="+mn-ea"/>
                  <a:cs typeface="+mn-cs"/>
                </a:rPr>
                <a:t> dùng đúng thuật ngữ, không cần nhắc lại luật</a:t>
              </a:r>
            </a:p>
          </p:txBody>
        </p:sp>
      </p:grpSp>
      <p:grpSp>
        <p:nvGrpSpPr>
          <p:cNvPr id="47" name="Group 47"/>
          <p:cNvGrpSpPr/>
          <p:nvPr/>
        </p:nvGrpSpPr>
        <p:grpSpPr>
          <a:xfrm>
            <a:off x="381000" y="4953000"/>
            <a:ext cx="6572250" cy="781050"/>
            <a:chOff x="381000" y="4953000"/>
            <a:chExt cx="6572250" cy="781050"/>
          </a:xfrm>
        </p:grpSpPr>
        <p:sp>
          <p:nvSpPr>
            <p:cNvPr id="42" name="Rectangle 42"/>
            <p:cNvSpPr/>
            <p:nvPr/>
          </p:nvSpPr>
          <p:spPr>
            <a:xfrm>
              <a:off x="381000" y="4953000"/>
              <a:ext cx="6572250" cy="781050"/>
            </a:xfrm>
            <a:prstGeom prst="roundRect">
              <a:avLst>
                <a:gd name="adj" fmla="val 17073"/>
              </a:avLst>
            </a:prstGeom>
            <a:solidFill>
              <a:schemeClr val="lt1"/>
            </a:solidFill>
            <a:ln w="14288">
              <a:solidFill>
                <a:schemeClr val="accent4"/>
              </a:solidFill>
            </a:ln>
          </p:spPr>
        </p:sp>
        <p:sp>
          <p:nvSpPr>
            <p:cNvPr id="43" name="Ellipse 43"/>
            <p:cNvSpPr/>
            <p:nvPr/>
          </p:nvSpPr>
          <p:spPr>
            <a:xfrm>
              <a:off x="523875" y="5076825"/>
              <a:ext cx="285750" cy="285750"/>
            </a:xfrm>
            <a:prstGeom prst="ellipse">
              <a:avLst/>
            </a:prstGeom>
            <a:solidFill>
              <a:schemeClr val="accent5"/>
            </a:solidFill>
            <a:ln>
              <a:noFill/>
            </a:ln>
          </p:spPr>
        </p:sp>
        <p:sp>
          <p:nvSpPr>
            <p:cNvPr id="44" name="TextBox 44"/>
            <p:cNvSpPr txBox="1"/>
            <p:nvPr/>
          </p:nvSpPr>
          <p:spPr>
            <a:xfrm>
              <a:off x="600823" y="512445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4</a:t>
              </a:r>
            </a:p>
          </p:txBody>
        </p:sp>
        <p:sp>
          <p:nvSpPr>
            <p:cNvPr id="45" name="TextBox 45"/>
            <p:cNvSpPr txBox="1"/>
            <p:nvPr/>
          </p:nvSpPr>
          <p:spPr>
            <a:xfrm>
              <a:off x="925068" y="5117782"/>
              <a:ext cx="1307592"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Cài bảo mật</a:t>
              </a:r>
            </a:p>
          </p:txBody>
        </p:sp>
        <p:sp>
          <p:nvSpPr>
            <p:cNvPr id="46" name="TextBox 46"/>
            <p:cNvSpPr txBox="1"/>
            <p:nvPr/>
          </p:nvSpPr>
          <p:spPr>
            <a:xfrm>
              <a:off x="926592" y="5435918"/>
              <a:ext cx="5542177"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Tắt Improve the model for everyone — giảng viên kiểm từng máy</a:t>
              </a:r>
            </a:p>
          </p:txBody>
        </p:sp>
      </p:grpSp>
      <p:grpSp>
        <p:nvGrpSpPr>
          <p:cNvPr id="59" name="Group 59"/>
          <p:cNvGrpSpPr/>
          <p:nvPr/>
        </p:nvGrpSpPr>
        <p:grpSpPr>
          <a:xfrm>
            <a:off x="7181850" y="2095500"/>
            <a:ext cx="4629150" cy="3638550"/>
            <a:chOff x="7181850" y="2095500"/>
            <a:chExt cx="4629150" cy="3638550"/>
          </a:xfrm>
        </p:grpSpPr>
        <p:sp>
          <p:nvSpPr>
            <p:cNvPr id="48" name="Rectangle 48"/>
            <p:cNvSpPr/>
            <p:nvPr/>
          </p:nvSpPr>
          <p:spPr>
            <a:xfrm>
              <a:off x="7181850" y="2095500"/>
              <a:ext cx="4629150" cy="3638550"/>
            </a:xfrm>
            <a:prstGeom prst="roundRect">
              <a:avLst>
                <a:gd name="adj" fmla="val 4188"/>
              </a:avLst>
            </a:prstGeom>
            <a:solidFill>
              <a:schemeClr val="lt2"/>
            </a:solidFill>
            <a:ln>
              <a:noFill/>
            </a:ln>
          </p:spPr>
        </p:sp>
        <p:grpSp>
          <p:nvGrpSpPr>
            <p:cNvPr id="52" name="Group 52"/>
            <p:cNvGrpSpPr/>
            <p:nvPr/>
          </p:nvGrpSpPr>
          <p:grpSpPr>
            <a:xfrm>
              <a:off x="7441406" y="2316956"/>
              <a:ext cx="185737" cy="185737"/>
              <a:chOff x="7441406" y="2316956"/>
              <a:chExt cx="185737" cy="185737"/>
            </a:xfrm>
          </p:grpSpPr>
          <p:sp>
            <p:nvSpPr>
              <p:cNvPr id="49" name="Freeform 49"/>
              <p:cNvSpPr/>
              <p:nvPr/>
            </p:nvSpPr>
            <p:spPr>
              <a:xfrm>
                <a:off x="7441406" y="231695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chemeClr val="accent1"/>
                </a:solidFill>
              </a:ln>
            </p:spPr>
          </p:sp>
          <p:sp>
            <p:nvSpPr>
              <p:cNvPr id="50" name="Freeform 50"/>
              <p:cNvSpPr/>
              <p:nvPr/>
            </p:nvSpPr>
            <p:spPr>
              <a:xfrm>
                <a:off x="7534275" y="2451099"/>
                <a:ext cx="9525" cy="9525"/>
              </a:xfrm>
              <a:custGeom>
                <a:avLst/>
                <a:gdLst/>
                <a:ahLst/>
                <a:cxnLst/>
                <a:rect l="l" t="t" r="r" b="b"/>
                <a:pathLst>
                  <a:path w="9525" h="9525">
                    <a:moveTo>
                      <a:pt x="0" y="0"/>
                    </a:moveTo>
                    <a:lnTo>
                      <a:pt x="0" y="103"/>
                    </a:lnTo>
                  </a:path>
                </a:pathLst>
              </a:custGeom>
              <a:noFill/>
              <a:ln w="20637">
                <a:solidFill>
                  <a:schemeClr val="accent1"/>
                </a:solidFill>
              </a:ln>
            </p:spPr>
          </p:sp>
          <p:sp>
            <p:nvSpPr>
              <p:cNvPr id="51" name="Freeform 51"/>
              <p:cNvSpPr/>
              <p:nvPr/>
            </p:nvSpPr>
            <p:spPr>
              <a:xfrm>
                <a:off x="7518797" y="2376788"/>
                <a:ext cx="37844" cy="43384"/>
              </a:xfrm>
              <a:custGeom>
                <a:avLst/>
                <a:gdLst/>
                <a:ahLst/>
                <a:cxnLst/>
                <a:rect l="l" t="t" r="r" b="b"/>
                <a:pathLst>
                  <a:path w="37844" h="43384">
                    <a:moveTo>
                      <a:pt x="15478" y="43355"/>
                    </a:moveTo>
                    <a:cubicBezTo>
                      <a:pt x="25032" y="43384"/>
                      <a:pt x="33356" y="36852"/>
                      <a:pt x="35600" y="27566"/>
                    </a:cubicBezTo>
                    <a:cubicBezTo>
                      <a:pt x="37844" y="18280"/>
                      <a:pt x="33422" y="8667"/>
                      <a:pt x="24909" y="4330"/>
                    </a:cubicBezTo>
                    <a:cubicBezTo>
                      <a:pt x="16457" y="0"/>
                      <a:pt x="6136" y="2065"/>
                      <a:pt x="0" y="9314"/>
                    </a:cubicBezTo>
                  </a:path>
                </a:pathLst>
              </a:custGeom>
              <a:noFill/>
              <a:ln w="20637">
                <a:solidFill>
                  <a:schemeClr val="accent1"/>
                </a:solidFill>
              </a:ln>
            </p:spPr>
          </p:sp>
        </p:grpSp>
        <p:sp>
          <p:nvSpPr>
            <p:cNvPr id="53" name="TextBox 53"/>
            <p:cNvSpPr txBox="1"/>
            <p:nvPr/>
          </p:nvSpPr>
          <p:spPr>
            <a:xfrm>
              <a:off x="7747254" y="2337435"/>
              <a:ext cx="1177991"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CÂU HỎI CHỐT</a:t>
              </a:r>
            </a:p>
          </p:txBody>
        </p:sp>
        <p:sp>
          <p:nvSpPr>
            <p:cNvPr id="54" name="TextBox 54"/>
            <p:cNvSpPr txBox="1"/>
            <p:nvPr/>
          </p:nvSpPr>
          <p:spPr>
            <a:xfrm>
              <a:off x="7402830" y="2752725"/>
              <a:ext cx="2886125"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“Cấm dùng emoji” đặt ở đâu?</a:t>
              </a:r>
            </a:p>
          </p:txBody>
        </p:sp>
        <p:sp>
          <p:nvSpPr>
            <p:cNvPr id="55" name="Line 55"/>
            <p:cNvSpPr/>
            <p:nvPr/>
          </p:nvSpPr>
          <p:spPr>
            <a:xfrm>
              <a:off x="7410450" y="3390900"/>
              <a:ext cx="4171950" cy="9525"/>
            </a:xfrm>
            <a:custGeom>
              <a:avLst/>
              <a:gdLst/>
              <a:ahLst/>
              <a:cxnLst/>
              <a:rect l="l" t="t" r="r" b="b"/>
              <a:pathLst>
                <a:path w="4171950" h="9525">
                  <a:moveTo>
                    <a:pt x="0" y="0"/>
                  </a:moveTo>
                  <a:lnTo>
                    <a:pt x="4171950" y="0"/>
                  </a:lnTo>
                </a:path>
              </a:pathLst>
            </a:custGeom>
            <a:noFill/>
            <a:ln w="9525">
              <a:solidFill>
                <a:schemeClr val="accent4"/>
              </a:solidFill>
            </a:ln>
          </p:spPr>
        </p:sp>
        <p:sp>
          <p:nvSpPr>
            <p:cNvPr id="56" name="TextBox 56"/>
            <p:cNvSpPr txBox="1"/>
            <p:nvPr/>
          </p:nvSpPr>
          <p:spPr>
            <a:xfrm>
              <a:off x="7402830" y="3533775"/>
              <a:ext cx="3365659" cy="541020"/>
            </a:xfrm>
            <a:prstGeom prst="rect">
              <a:avLst/>
            </a:prstGeom>
            <a:noFill/>
            <a:ln>
              <a:noFill/>
            </a:ln>
          </p:spPr>
          <p:txBody>
            <a:bodyPr wrap="none" lIns="0" tIns="0" rIns="0" bIns="0" anchor="t" anchorCtr="0">
              <a:spAutoFit/>
            </a:bodyPr>
            <a:lstStyle/>
            <a:p>
              <a:pPr algn="l">
                <a:lnSpc>
                  <a:spcPts val="1950"/>
                </a:lnSpc>
              </a:pPr>
              <a:r>
                <a:rPr lang="vi-VN" sz="1500" b="1" dirty="0">
                  <a:solidFill>
                    <a:schemeClr val="accent1"/>
                  </a:solidFill>
                  <a:latin typeface="+mn-lt"/>
                  <a:ea typeface="+mn-ea"/>
                  <a:cs typeface="+mn-cs"/>
                </a:rPr>
                <a:t>Các bước viết lịch nội dung 14 ngày</a:t>
              </a:r>
              <a:br/>
              <a:r>
                <a:rPr lang="vi-VN" sz="1500" b="1" dirty="0">
                  <a:solidFill>
                    <a:schemeClr val="accent1"/>
                  </a:solidFill>
                  <a:latin typeface="+mn-lt"/>
                  <a:ea typeface="+mn-ea"/>
                  <a:cs typeface="+mn-cs"/>
                </a:rPr>
                <a:t>đặt ở đâu?</a:t>
              </a:r>
            </a:p>
          </p:txBody>
        </p:sp>
        <p:sp>
          <p:nvSpPr>
            <p:cNvPr id="57" name="Line 57"/>
            <p:cNvSpPr/>
            <p:nvPr/>
          </p:nvSpPr>
          <p:spPr>
            <a:xfrm>
              <a:off x="7410450" y="4438650"/>
              <a:ext cx="4171950" cy="9525"/>
            </a:xfrm>
            <a:custGeom>
              <a:avLst/>
              <a:gdLst/>
              <a:ahLst/>
              <a:cxnLst/>
              <a:rect l="l" t="t" r="r" b="b"/>
              <a:pathLst>
                <a:path w="4171950" h="9525">
                  <a:moveTo>
                    <a:pt x="0" y="0"/>
                  </a:moveTo>
                  <a:lnTo>
                    <a:pt x="4171950" y="0"/>
                  </a:lnTo>
                </a:path>
              </a:pathLst>
            </a:custGeom>
            <a:noFill/>
            <a:ln w="9525">
              <a:solidFill>
                <a:schemeClr val="accent4"/>
              </a:solidFill>
            </a:ln>
          </p:spPr>
        </p:sp>
        <p:sp>
          <p:nvSpPr>
            <p:cNvPr id="58" name="TextBox 58"/>
            <p:cNvSpPr txBox="1"/>
            <p:nvPr/>
          </p:nvSpPr>
          <p:spPr>
            <a:xfrm>
              <a:off x="7402830" y="4581525"/>
              <a:ext cx="3085624" cy="541020"/>
            </a:xfrm>
            <a:prstGeom prst="rect">
              <a:avLst/>
            </a:prstGeom>
            <a:noFill/>
            <a:ln>
              <a:noFill/>
            </a:ln>
          </p:spPr>
          <p:txBody>
            <a:bodyPr wrap="none" lIns="0" tIns="0" rIns="0" bIns="0" anchor="t" anchorCtr="0">
              <a:spAutoFit/>
            </a:bodyPr>
            <a:lstStyle/>
            <a:p>
              <a:pPr algn="l">
                <a:lnSpc>
                  <a:spcPts val="1950"/>
                </a:lnSpc>
              </a:pPr>
              <a:r>
                <a:rPr lang="vi-VN" sz="1500" b="1" dirty="0">
                  <a:solidFill>
                    <a:schemeClr val="accent1"/>
                  </a:solidFill>
                  <a:latin typeface="+mn-lt"/>
                  <a:ea typeface="+mn-ea"/>
                  <a:cs typeface="+mn-cs"/>
                </a:rPr>
                <a:t>Hỏi số không có, ChatGPT trả lời</a:t>
              </a:r>
              <a:br/>
              <a:r>
                <a:rPr lang="vi-VN" sz="1500" b="1" dirty="0">
                  <a:solidFill>
                    <a:schemeClr val="accent1"/>
                  </a:solidFill>
                  <a:latin typeface="+mn-lt"/>
                  <a:ea typeface="+mn-ea"/>
                  <a:cs typeface="+mn-cs"/>
                </a:rPr>
                <a:t>thế nào là đạt?</a:t>
              </a:r>
            </a:p>
          </p:txBody>
        </p:sp>
      </p:grpSp>
      <p:grpSp>
        <p:nvGrpSpPr>
          <p:cNvPr id="61" name="Group 61"/>
          <p:cNvGrpSpPr/>
          <p:nvPr/>
        </p:nvGrpSpPr>
        <p:grpSpPr>
          <a:xfrm>
            <a:off x="7402830" y="3038475"/>
            <a:ext cx="3844036" cy="293370"/>
            <a:chOff x="7402830" y="3038475"/>
            <a:chExt cx="3844036" cy="293370"/>
          </a:xfrm>
        </p:grpSpPr>
        <p:sp>
          <p:nvSpPr>
            <p:cNvPr id="60" name="TextBox 60"/>
            <p:cNvSpPr txBox="1"/>
            <p:nvPr/>
          </p:nvSpPr>
          <p:spPr>
            <a:xfrm>
              <a:off x="7402830" y="3038475"/>
              <a:ext cx="3844036" cy="293370"/>
            </a:xfrm>
            <a:prstGeom prst="rect">
              <a:avLst/>
            </a:prstGeom>
            <a:noFill/>
            <a:ln>
              <a:noFill/>
            </a:ln>
          </p:spPr>
          <p:txBody>
            <a:bodyPr wrap="none" lIns="0" tIns="0" rIns="0" bIns="0" anchor="t" anchorCtr="0">
              <a:spAutoFit/>
            </a:bodyPr>
            <a:lstStyle/>
            <a:p>
              <a:pPr algn="l"/>
              <a:r>
                <a:rPr lang="vi-VN" sz="1500" b="1" dirty="0">
                  <a:solidFill>
                    <a:srgbClr val="2E8B57"/>
                  </a:solidFill>
                  <a:latin typeface="+mn-lt"/>
                  <a:ea typeface="+mn-ea"/>
                  <a:cs typeface="+mn-cs"/>
                </a:rPr>
                <a:t>→</a:t>
              </a:r>
              <a:r>
                <a:rPr lang="vi-VN" sz="1500" dirty="0">
                  <a:solidFill>
                    <a:schemeClr val="dk1"/>
                  </a:solidFill>
                  <a:latin typeface="+mn-lt"/>
                  <a:ea typeface="+mn-ea"/>
                  <a:cs typeface="+mn-cs"/>
                </a:rPr>
                <a:t> Instructions: luật chung cho mọi việc</a:t>
              </a:r>
            </a:p>
          </p:txBody>
        </p:sp>
      </p:grpSp>
      <p:grpSp>
        <p:nvGrpSpPr>
          <p:cNvPr id="63" name="Group 63"/>
          <p:cNvGrpSpPr/>
          <p:nvPr/>
        </p:nvGrpSpPr>
        <p:grpSpPr>
          <a:xfrm>
            <a:off x="7402830" y="4086225"/>
            <a:ext cx="2633120" cy="293370"/>
            <a:chOff x="7402830" y="4086225"/>
            <a:chExt cx="2633120" cy="293370"/>
          </a:xfrm>
        </p:grpSpPr>
        <p:sp>
          <p:nvSpPr>
            <p:cNvPr id="62" name="TextBox 62"/>
            <p:cNvSpPr txBox="1"/>
            <p:nvPr/>
          </p:nvSpPr>
          <p:spPr>
            <a:xfrm>
              <a:off x="7402830" y="4086225"/>
              <a:ext cx="2633120" cy="293370"/>
            </a:xfrm>
            <a:prstGeom prst="rect">
              <a:avLst/>
            </a:prstGeom>
            <a:noFill/>
            <a:ln>
              <a:noFill/>
            </a:ln>
          </p:spPr>
          <p:txBody>
            <a:bodyPr wrap="none" lIns="0" tIns="0" rIns="0" bIns="0" anchor="t" anchorCtr="0">
              <a:spAutoFit/>
            </a:bodyPr>
            <a:lstStyle/>
            <a:p>
              <a:pPr algn="l"/>
              <a:r>
                <a:rPr lang="vi-VN" sz="1500" b="1" dirty="0">
                  <a:solidFill>
                    <a:srgbClr val="2E8B57"/>
                  </a:solidFill>
                  <a:latin typeface="+mn-lt"/>
                  <a:ea typeface="+mn-ea"/>
                  <a:cs typeface="+mn-cs"/>
                </a:rPr>
                <a:t>→</a:t>
              </a:r>
              <a:r>
                <a:rPr lang="vi-VN" sz="1500" dirty="0">
                  <a:solidFill>
                    <a:schemeClr val="dk1"/>
                  </a:solidFill>
                  <a:latin typeface="+mn-lt"/>
                  <a:ea typeface="+mn-ea"/>
                  <a:cs typeface="+mn-cs"/>
                </a:rPr>
                <a:t> Skill: chỉ đúng cho 1 việc</a:t>
              </a:r>
            </a:p>
          </p:txBody>
        </p:sp>
      </p:grpSp>
      <p:grpSp>
        <p:nvGrpSpPr>
          <p:cNvPr id="65" name="Group 65"/>
          <p:cNvGrpSpPr/>
          <p:nvPr/>
        </p:nvGrpSpPr>
        <p:grpSpPr>
          <a:xfrm>
            <a:off x="7402830" y="5133975"/>
            <a:ext cx="3572138" cy="293370"/>
            <a:chOff x="7402830" y="5133975"/>
            <a:chExt cx="3572138" cy="293370"/>
          </a:xfrm>
        </p:grpSpPr>
        <p:sp>
          <p:nvSpPr>
            <p:cNvPr id="64" name="TextBox 64"/>
            <p:cNvSpPr txBox="1"/>
            <p:nvPr/>
          </p:nvSpPr>
          <p:spPr>
            <a:xfrm>
              <a:off x="7402830" y="5133975"/>
              <a:ext cx="3572138" cy="293370"/>
            </a:xfrm>
            <a:prstGeom prst="rect">
              <a:avLst/>
            </a:prstGeom>
            <a:noFill/>
            <a:ln>
              <a:noFill/>
            </a:ln>
          </p:spPr>
          <p:txBody>
            <a:bodyPr wrap="none" lIns="0" tIns="0" rIns="0" bIns="0" anchor="t" anchorCtr="0">
              <a:spAutoFit/>
            </a:bodyPr>
            <a:lstStyle/>
            <a:p>
              <a:pPr algn="l"/>
              <a:r>
                <a:rPr lang="vi-VN" sz="1500" b="1" dirty="0">
                  <a:solidFill>
                    <a:srgbClr val="2E8B57"/>
                  </a:solidFill>
                  <a:latin typeface="+mn-lt"/>
                  <a:ea typeface="+mn-ea"/>
                  <a:cs typeface="+mn-cs"/>
                </a:rPr>
                <a:t>→</a:t>
              </a:r>
              <a:r>
                <a:rPr lang="vi-VN" sz="1500" dirty="0">
                  <a:solidFill>
                    <a:schemeClr val="dk1"/>
                  </a:solidFill>
                  <a:latin typeface="+mn-lt"/>
                  <a:ea typeface="+mn-ea"/>
                  <a:cs typeface="+mn-cs"/>
                </a:rPr>
                <a:t> “Chưa đủ dữ liệu” hoặc hỏi xin thêm</a:t>
              </a:r>
            </a:p>
          </p:txBody>
        </p:sp>
      </p:grpSp>
      <p:sp>
        <p:nvSpPr>
          <p:cNvPr id="66" name="TextBox 66"/>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67" name="TextBox 67"/>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11 / 35</a:t>
            </a:r>
          </a:p>
        </p:txBody>
      </p:sp>
      <p:sp>
        <p:nvSpPr>
          <p:cNvPr id="68" name="demo-flag"/>
          <p:cNvSpPr/>
          <p:nvPr/>
        </p:nvSpPr>
        <p:spPr>
          <a:xfrm>
            <a:off x="3810000" y="304800"/>
            <a:ext cx="1638300" cy="228600"/>
          </a:xfrm>
          <a:prstGeom prst="roundRect">
            <a:avLst>
              <a:gd name="adj" fmla="val 50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00" b="1">
                <a:solidFill>
                  <a:srgbClr val="FFFFFF"/>
                </a:solidFill>
              </a:rPr>
              <a:t>▶ CÓ HƯỚNG DẪN DEMO</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3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300"/>
                                        <p:tgtEl>
                                          <p:spTgt spid="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fade">
                                      <p:cBhvr>
                                        <p:cTn id="17" dur="3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Group 10"/>
          <p:cNvGrpSpPr/>
          <p:nvPr/>
        </p:nvGrpSpPr>
        <p:grpSpPr>
          <a:xfrm>
            <a:off x="0" y="0"/>
            <a:ext cx="4381500" cy="6858000"/>
            <a:chOff x="0" y="0"/>
            <a:chExt cx="4381500" cy="6858000"/>
          </a:xfrm>
        </p:grpSpPr>
        <p:sp>
          <p:nvSpPr>
            <p:cNvPr id="2" name="Rectangle 2"/>
            <p:cNvSpPr/>
            <p:nvPr/>
          </p:nvSpPr>
          <p:spPr>
            <a:xfrm>
              <a:off x="0" y="0"/>
              <a:ext cx="4381500" cy="6858000"/>
            </a:xfrm>
            <a:prstGeom prst="rect">
              <a:avLst/>
            </a:prstGeom>
            <a:solidFill>
              <a:schemeClr val="accent3"/>
            </a:solidFill>
            <a:ln>
              <a:noFill/>
            </a:ln>
          </p:spPr>
        </p:sp>
        <p:sp>
          <p:nvSpPr>
            <p:cNvPr id="3" name="TextBox 3"/>
            <p:cNvSpPr txBox="1"/>
            <p:nvPr/>
          </p:nvSpPr>
          <p:spPr>
            <a:xfrm>
              <a:off x="522732" y="1106805"/>
              <a:ext cx="1191296" cy="410718"/>
            </a:xfrm>
            <a:prstGeom prst="rect">
              <a:avLst/>
            </a:prstGeom>
            <a:noFill/>
            <a:ln>
              <a:noFill/>
            </a:ln>
          </p:spPr>
          <p:txBody>
            <a:bodyPr wrap="none" lIns="0" tIns="0" rIns="0" bIns="0" anchor="t" anchorCtr="0">
              <a:spAutoFit/>
            </a:bodyPr>
            <a:lstStyle/>
            <a:p>
              <a:pPr algn="l"/>
              <a:r>
                <a:rPr lang="vi-VN" sz="2100" b="1" spc="300" dirty="0">
                  <a:solidFill>
                    <a:srgbClr val="FFFFFF"/>
                  </a:solidFill>
                  <a:latin typeface="+mn-lt"/>
                  <a:ea typeface="+mn-ea"/>
                  <a:cs typeface="+mn-cs"/>
                </a:rPr>
                <a:t>TẦNG 2</a:t>
              </a:r>
            </a:p>
          </p:txBody>
        </p:sp>
        <p:sp>
          <p:nvSpPr>
            <p:cNvPr id="4" name="TextBox 4"/>
            <p:cNvSpPr txBox="1"/>
            <p:nvPr/>
          </p:nvSpPr>
          <p:spPr>
            <a:xfrm>
              <a:off x="438150" y="2190750"/>
              <a:ext cx="1204246" cy="2876550"/>
            </a:xfrm>
            <a:prstGeom prst="rect">
              <a:avLst/>
            </a:prstGeom>
            <a:noFill/>
            <a:ln>
              <a:noFill/>
            </a:ln>
          </p:spPr>
          <p:txBody>
            <a:bodyPr wrap="none" lIns="0" tIns="0" rIns="0" bIns="0" anchor="t" anchorCtr="0">
              <a:spAutoFit/>
            </a:bodyPr>
            <a:lstStyle/>
            <a:p>
              <a:pPr algn="l"/>
              <a:r>
                <a:rPr lang="vi-VN" sz="15000" b="1" dirty="0">
                  <a:solidFill>
                    <a:srgbClr val="FFFFFF"/>
                  </a:solidFill>
                  <a:latin typeface="+mn-lt"/>
                  <a:ea typeface="+mn-ea"/>
                  <a:cs typeface="+mn-cs"/>
                </a:rPr>
                <a:t>2</a:t>
              </a:r>
            </a:p>
          </p:txBody>
        </p:sp>
        <p:sp>
          <p:nvSpPr>
            <p:cNvPr id="5" name="TextBox 5"/>
            <p:cNvSpPr txBox="1"/>
            <p:nvPr/>
          </p:nvSpPr>
          <p:spPr>
            <a:xfrm>
              <a:off x="514350" y="4208145"/>
              <a:ext cx="1985743" cy="762000"/>
            </a:xfrm>
            <a:prstGeom prst="rect">
              <a:avLst/>
            </a:prstGeom>
            <a:noFill/>
            <a:ln>
              <a:noFill/>
            </a:ln>
          </p:spPr>
          <p:txBody>
            <a:bodyPr wrap="none" lIns="0" tIns="0" rIns="0" bIns="0" anchor="t" anchorCtr="0">
              <a:spAutoFit/>
            </a:bodyPr>
            <a:lstStyle/>
            <a:p>
              <a:pPr algn="l"/>
              <a:r>
                <a:rPr lang="vi-VN" sz="3900" b="1" dirty="0">
                  <a:solidFill>
                    <a:srgbClr val="FFFFFF"/>
                  </a:solidFill>
                  <a:latin typeface="+mn-lt"/>
                  <a:ea typeface="+mn-ea"/>
                  <a:cs typeface="+mn-cs"/>
                </a:rPr>
                <a:t>Prompt</a:t>
              </a:r>
            </a:p>
          </p:txBody>
        </p:sp>
        <p:grpSp>
          <p:nvGrpSpPr>
            <p:cNvPr id="9" name="Group 9"/>
            <p:cNvGrpSpPr/>
            <p:nvPr/>
          </p:nvGrpSpPr>
          <p:grpSpPr>
            <a:xfrm>
              <a:off x="609600" y="5435600"/>
              <a:ext cx="457201" cy="431801"/>
              <a:chOff x="609600" y="5435600"/>
              <a:chExt cx="457201" cy="431801"/>
            </a:xfrm>
          </p:grpSpPr>
          <p:sp>
            <p:nvSpPr>
              <p:cNvPr id="6" name="Freeform 6"/>
              <p:cNvSpPr/>
              <p:nvPr/>
            </p:nvSpPr>
            <p:spPr>
              <a:xfrm>
                <a:off x="736600" y="5562600"/>
                <a:ext cx="203200" cy="9525"/>
              </a:xfrm>
              <a:custGeom>
                <a:avLst/>
                <a:gdLst/>
                <a:ahLst/>
                <a:cxnLst/>
                <a:rect l="l" t="t" r="r" b="b"/>
                <a:pathLst>
                  <a:path w="203200" h="9525">
                    <a:moveTo>
                      <a:pt x="0" y="0"/>
                    </a:moveTo>
                    <a:lnTo>
                      <a:pt x="203200" y="0"/>
                    </a:lnTo>
                  </a:path>
                </a:pathLst>
              </a:custGeom>
              <a:noFill/>
              <a:ln w="50800">
                <a:solidFill>
                  <a:srgbClr val="FFFFFF"/>
                </a:solidFill>
              </a:ln>
            </p:spPr>
          </p:sp>
          <p:sp>
            <p:nvSpPr>
              <p:cNvPr id="7" name="Freeform 7"/>
              <p:cNvSpPr/>
              <p:nvPr/>
            </p:nvSpPr>
            <p:spPr>
              <a:xfrm>
                <a:off x="736600" y="5664200"/>
                <a:ext cx="152400" cy="9525"/>
              </a:xfrm>
              <a:custGeom>
                <a:avLst/>
                <a:gdLst/>
                <a:ahLst/>
                <a:cxnLst/>
                <a:rect l="l" t="t" r="r" b="b"/>
                <a:pathLst>
                  <a:path w="152400" h="9525">
                    <a:moveTo>
                      <a:pt x="0" y="0"/>
                    </a:moveTo>
                    <a:lnTo>
                      <a:pt x="152400" y="0"/>
                    </a:lnTo>
                  </a:path>
                </a:pathLst>
              </a:custGeom>
              <a:noFill/>
              <a:ln w="50800">
                <a:solidFill>
                  <a:srgbClr val="FFFFFF"/>
                </a:solidFill>
              </a:ln>
            </p:spPr>
          </p:sp>
          <p:sp>
            <p:nvSpPr>
              <p:cNvPr id="8" name="Freeform 8"/>
              <p:cNvSpPr/>
              <p:nvPr/>
            </p:nvSpPr>
            <p:spPr>
              <a:xfrm>
                <a:off x="609600" y="5435600"/>
                <a:ext cx="457201" cy="431801"/>
              </a:xfrm>
              <a:custGeom>
                <a:avLst/>
                <a:gdLst/>
                <a:ahLst/>
                <a:cxnLst/>
                <a:rect l="l" t="t" r="r" b="b"/>
                <a:pathLst>
                  <a:path w="457201" h="431801">
                    <a:moveTo>
                      <a:pt x="152400" y="355600"/>
                    </a:moveTo>
                    <a:lnTo>
                      <a:pt x="76200" y="355600"/>
                    </a:lnTo>
                    <a:cubicBezTo>
                      <a:pt x="34116" y="355600"/>
                      <a:pt x="0" y="321484"/>
                      <a:pt x="0" y="279400"/>
                    </a:cubicBezTo>
                    <a:lnTo>
                      <a:pt x="0" y="76200"/>
                    </a:lnTo>
                    <a:cubicBezTo>
                      <a:pt x="0" y="34116"/>
                      <a:pt x="34116" y="0"/>
                      <a:pt x="76200" y="0"/>
                    </a:cubicBezTo>
                    <a:lnTo>
                      <a:pt x="381000" y="0"/>
                    </a:lnTo>
                    <a:cubicBezTo>
                      <a:pt x="423085" y="0"/>
                      <a:pt x="457201" y="34116"/>
                      <a:pt x="457201" y="76200"/>
                    </a:cubicBezTo>
                    <a:lnTo>
                      <a:pt x="457201" y="279400"/>
                    </a:lnTo>
                    <a:cubicBezTo>
                      <a:pt x="457201" y="321484"/>
                      <a:pt x="423085" y="355600"/>
                      <a:pt x="381000" y="355600"/>
                    </a:cubicBezTo>
                    <a:lnTo>
                      <a:pt x="304800" y="355600"/>
                    </a:lnTo>
                    <a:lnTo>
                      <a:pt x="228600" y="431801"/>
                    </a:lnTo>
                    <a:lnTo>
                      <a:pt x="152400" y="355600"/>
                    </a:lnTo>
                  </a:path>
                </a:pathLst>
              </a:custGeom>
              <a:noFill/>
              <a:ln w="50800">
                <a:solidFill>
                  <a:srgbClr val="FFFFFF"/>
                </a:solidFill>
              </a:ln>
            </p:spPr>
          </p:sp>
        </p:grpSp>
      </p:grpSp>
      <p:grpSp>
        <p:nvGrpSpPr>
          <p:cNvPr id="21" name="Group 21"/>
          <p:cNvGrpSpPr/>
          <p:nvPr/>
        </p:nvGrpSpPr>
        <p:grpSpPr>
          <a:xfrm>
            <a:off x="5785104" y="190500"/>
            <a:ext cx="6025896" cy="543306"/>
            <a:chOff x="5785104" y="190500"/>
            <a:chExt cx="6025896" cy="543306"/>
          </a:xfrm>
        </p:grpSpPr>
        <p:sp>
          <p:nvSpPr>
            <p:cNvPr id="11" name="Rectangle 11"/>
            <p:cNvSpPr/>
            <p:nvPr/>
          </p:nvSpPr>
          <p:spPr>
            <a:xfrm>
              <a:off x="5791200" y="342900"/>
              <a:ext cx="1143000" cy="76200"/>
            </a:xfrm>
            <a:prstGeom prst="roundRect">
              <a:avLst>
                <a:gd name="adj" fmla="val 37500"/>
              </a:avLst>
            </a:prstGeom>
            <a:solidFill>
              <a:srgbClr val="E3E9F1"/>
            </a:solidFill>
            <a:ln>
              <a:noFill/>
            </a:ln>
          </p:spPr>
        </p:sp>
        <p:sp>
          <p:nvSpPr>
            <p:cNvPr id="12" name="Rectangle 12"/>
            <p:cNvSpPr/>
            <p:nvPr/>
          </p:nvSpPr>
          <p:spPr>
            <a:xfrm>
              <a:off x="7010400" y="304800"/>
              <a:ext cx="1143000" cy="114300"/>
            </a:xfrm>
            <a:prstGeom prst="roundRect">
              <a:avLst>
                <a:gd name="adj" fmla="val 25000"/>
              </a:avLst>
            </a:prstGeom>
            <a:solidFill>
              <a:schemeClr val="accent2"/>
            </a:solidFill>
            <a:ln>
              <a:noFill/>
            </a:ln>
          </p:spPr>
        </p:sp>
        <p:sp>
          <p:nvSpPr>
            <p:cNvPr id="13" name="Rectangle 13"/>
            <p:cNvSpPr/>
            <p:nvPr/>
          </p:nvSpPr>
          <p:spPr>
            <a:xfrm>
              <a:off x="8229600" y="266700"/>
              <a:ext cx="1143000" cy="152400"/>
            </a:xfrm>
            <a:prstGeom prst="roundRect">
              <a:avLst>
                <a:gd name="adj" fmla="val 18750"/>
              </a:avLst>
            </a:prstGeom>
            <a:solidFill>
              <a:srgbClr val="E3E9F1"/>
            </a:solidFill>
            <a:ln>
              <a:noFill/>
            </a:ln>
          </p:spPr>
        </p:sp>
        <p:sp>
          <p:nvSpPr>
            <p:cNvPr id="14" name="Rectangle 14"/>
            <p:cNvSpPr/>
            <p:nvPr/>
          </p:nvSpPr>
          <p:spPr>
            <a:xfrm>
              <a:off x="9448800" y="228600"/>
              <a:ext cx="1143000" cy="190500"/>
            </a:xfrm>
            <a:prstGeom prst="roundRect">
              <a:avLst>
                <a:gd name="adj" fmla="val 15000"/>
              </a:avLst>
            </a:prstGeom>
            <a:solidFill>
              <a:srgbClr val="E3E9F1"/>
            </a:solidFill>
            <a:ln>
              <a:noFill/>
            </a:ln>
          </p:spPr>
        </p:sp>
        <p:sp>
          <p:nvSpPr>
            <p:cNvPr id="15" name="Rectangle 15"/>
            <p:cNvSpPr/>
            <p:nvPr/>
          </p:nvSpPr>
          <p:spPr>
            <a:xfrm>
              <a:off x="10668000" y="190500"/>
              <a:ext cx="1143000" cy="228600"/>
            </a:xfrm>
            <a:prstGeom prst="roundRect">
              <a:avLst>
                <a:gd name="adj" fmla="val 12500"/>
              </a:avLst>
            </a:prstGeom>
            <a:solidFill>
              <a:srgbClr val="E3E9F1"/>
            </a:solidFill>
            <a:ln>
              <a:noFill/>
            </a:ln>
          </p:spPr>
        </p:sp>
        <p:sp>
          <p:nvSpPr>
            <p:cNvPr id="16" name="TextBox 16"/>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7" name="TextBox 17"/>
            <p:cNvSpPr txBox="1"/>
            <p:nvPr/>
          </p:nvSpPr>
          <p:spPr>
            <a:xfrm>
              <a:off x="7004304" y="499110"/>
              <a:ext cx="75700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2 Prompt</a:t>
              </a:r>
            </a:p>
          </p:txBody>
        </p:sp>
        <p:sp>
          <p:nvSpPr>
            <p:cNvPr id="18" name="TextBox 18"/>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9" name="TextBox 19"/>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20" name="TextBox 20"/>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22" name="TextBox 22"/>
          <p:cNvSpPr txBox="1"/>
          <p:nvPr/>
        </p:nvSpPr>
        <p:spPr>
          <a:xfrm>
            <a:off x="4936998" y="1260158"/>
            <a:ext cx="4904613"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Giao đúng việc,</a:t>
            </a:r>
            <a:br/>
            <a:r>
              <a:rPr lang="vi-VN" sz="3150" b="1" dirty="0">
                <a:solidFill>
                  <a:schemeClr val="accent1"/>
                </a:solidFill>
                <a:latin typeface="+mn-lt"/>
                <a:ea typeface="+mn-ea"/>
                <a:cs typeface="+mn-cs"/>
              </a:rPr>
              <a:t>kiểm chứng được kết quả</a:t>
            </a:r>
          </a:p>
        </p:txBody>
      </p:sp>
      <p:grpSp>
        <p:nvGrpSpPr>
          <p:cNvPr id="31" name="Group 31"/>
          <p:cNvGrpSpPr/>
          <p:nvPr/>
        </p:nvGrpSpPr>
        <p:grpSpPr>
          <a:xfrm>
            <a:off x="4944618" y="2400300"/>
            <a:ext cx="6866571" cy="1020889"/>
            <a:chOff x="4944618" y="2400300"/>
            <a:chExt cx="6866571" cy="1020889"/>
          </a:xfrm>
        </p:grpSpPr>
        <p:sp>
          <p:nvSpPr>
            <p:cNvPr id="23" name="Rectangle 23"/>
            <p:cNvSpPr/>
            <p:nvPr/>
          </p:nvSpPr>
          <p:spPr>
            <a:xfrm>
              <a:off x="4953000" y="2400300"/>
              <a:ext cx="5619750" cy="457200"/>
            </a:xfrm>
            <a:prstGeom prst="roundRect">
              <a:avLst>
                <a:gd name="adj" fmla="val 50000"/>
              </a:avLst>
            </a:prstGeom>
            <a:solidFill>
              <a:schemeClr val="lt2"/>
            </a:solidFill>
            <a:ln>
              <a:noFill/>
            </a:ln>
          </p:spPr>
        </p:sp>
        <p:grpSp>
          <p:nvGrpSpPr>
            <p:cNvPr id="28" name="Group 28"/>
            <p:cNvGrpSpPr/>
            <p:nvPr/>
          </p:nvGrpSpPr>
          <p:grpSpPr>
            <a:xfrm>
              <a:off x="5172075" y="2543175"/>
              <a:ext cx="171450" cy="161925"/>
              <a:chOff x="5172075" y="2543175"/>
              <a:chExt cx="171450" cy="161925"/>
            </a:xfrm>
          </p:grpSpPr>
          <p:sp>
            <p:nvSpPr>
              <p:cNvPr id="24" name="Freeform 24"/>
              <p:cNvSpPr/>
              <p:nvPr/>
            </p:nvSpPr>
            <p:spPr>
              <a:xfrm>
                <a:off x="5172075" y="2581275"/>
                <a:ext cx="171450" cy="123825"/>
              </a:xfrm>
              <a:custGeom>
                <a:avLst/>
                <a:gdLst/>
                <a:ahLst/>
                <a:cxnLst/>
                <a:rect l="l" t="t" r="r" b="b"/>
                <a:pathLst>
                  <a:path w="171450" h="123825">
                    <a:moveTo>
                      <a:pt x="0" y="19050"/>
                    </a:moveTo>
                    <a:cubicBezTo>
                      <a:pt x="0" y="8529"/>
                      <a:pt x="8529" y="0"/>
                      <a:pt x="19050" y="0"/>
                    </a:cubicBezTo>
                    <a:lnTo>
                      <a:pt x="152400" y="0"/>
                    </a:lnTo>
                    <a:cubicBezTo>
                      <a:pt x="162921" y="0"/>
                      <a:pt x="171450" y="8529"/>
                      <a:pt x="171450" y="19050"/>
                    </a:cubicBezTo>
                    <a:lnTo>
                      <a:pt x="171450" y="104775"/>
                    </a:lnTo>
                    <a:cubicBezTo>
                      <a:pt x="171450" y="115296"/>
                      <a:pt x="162921" y="123825"/>
                      <a:pt x="152400" y="123825"/>
                    </a:cubicBezTo>
                    <a:lnTo>
                      <a:pt x="19050" y="123825"/>
                    </a:lnTo>
                    <a:cubicBezTo>
                      <a:pt x="8529" y="123825"/>
                      <a:pt x="0" y="115296"/>
                      <a:pt x="0" y="104775"/>
                    </a:cubicBezTo>
                    <a:lnTo>
                      <a:pt x="0" y="19050"/>
                    </a:lnTo>
                  </a:path>
                </a:pathLst>
              </a:custGeom>
              <a:noFill/>
              <a:ln w="19050">
                <a:solidFill>
                  <a:schemeClr val="accent3"/>
                </a:solidFill>
              </a:ln>
            </p:spPr>
          </p:sp>
          <p:sp>
            <p:nvSpPr>
              <p:cNvPr id="25" name="Freeform 25"/>
              <p:cNvSpPr/>
              <p:nvPr/>
            </p:nvSpPr>
            <p:spPr>
              <a:xfrm>
                <a:off x="5219700" y="2543175"/>
                <a:ext cx="76200" cy="38100"/>
              </a:xfrm>
              <a:custGeom>
                <a:avLst/>
                <a:gdLst/>
                <a:ahLst/>
                <a:cxnLst/>
                <a:rect l="l" t="t" r="r" b="b"/>
                <a:pathLst>
                  <a:path w="76200" h="38100">
                    <a:moveTo>
                      <a:pt x="0" y="38100"/>
                    </a:moveTo>
                    <a:lnTo>
                      <a:pt x="0" y="19050"/>
                    </a:lnTo>
                    <a:cubicBezTo>
                      <a:pt x="0" y="8529"/>
                      <a:pt x="8529" y="0"/>
                      <a:pt x="19050" y="0"/>
                    </a:cubicBezTo>
                    <a:lnTo>
                      <a:pt x="57150" y="0"/>
                    </a:lnTo>
                    <a:cubicBezTo>
                      <a:pt x="67671" y="0"/>
                      <a:pt x="76200" y="8529"/>
                      <a:pt x="76200" y="19050"/>
                    </a:cubicBezTo>
                    <a:lnTo>
                      <a:pt x="76200" y="38100"/>
                    </a:lnTo>
                  </a:path>
                </a:pathLst>
              </a:custGeom>
              <a:noFill/>
              <a:ln w="19050">
                <a:solidFill>
                  <a:schemeClr val="accent3"/>
                </a:solidFill>
              </a:ln>
            </p:spPr>
          </p:sp>
          <p:sp>
            <p:nvSpPr>
              <p:cNvPr id="26" name="Freeform 26"/>
              <p:cNvSpPr/>
              <p:nvPr/>
            </p:nvSpPr>
            <p:spPr>
              <a:xfrm>
                <a:off x="5257800" y="2628900"/>
                <a:ext cx="9525" cy="9525"/>
              </a:xfrm>
              <a:custGeom>
                <a:avLst/>
                <a:gdLst/>
                <a:ahLst/>
                <a:cxnLst/>
                <a:rect l="l" t="t" r="r" b="b"/>
                <a:pathLst>
                  <a:path w="9525" h="9525">
                    <a:moveTo>
                      <a:pt x="0" y="0"/>
                    </a:moveTo>
                    <a:lnTo>
                      <a:pt x="0" y="95"/>
                    </a:lnTo>
                  </a:path>
                </a:pathLst>
              </a:custGeom>
              <a:noFill/>
              <a:ln w="19050">
                <a:solidFill>
                  <a:schemeClr val="accent3"/>
                </a:solidFill>
              </a:ln>
            </p:spPr>
          </p:sp>
          <p:sp>
            <p:nvSpPr>
              <p:cNvPr id="27" name="Freeform 27"/>
              <p:cNvSpPr/>
              <p:nvPr/>
            </p:nvSpPr>
            <p:spPr>
              <a:xfrm>
                <a:off x="5172075" y="2638425"/>
                <a:ext cx="171450" cy="27171"/>
              </a:xfrm>
              <a:custGeom>
                <a:avLst/>
                <a:gdLst/>
                <a:ahLst/>
                <a:cxnLst/>
                <a:rect l="l" t="t" r="r" b="b"/>
                <a:pathLst>
                  <a:path w="171450" h="27171">
                    <a:moveTo>
                      <a:pt x="0" y="0"/>
                    </a:moveTo>
                    <a:cubicBezTo>
                      <a:pt x="53921" y="27171"/>
                      <a:pt x="117529" y="27171"/>
                      <a:pt x="171450" y="0"/>
                    </a:cubicBezTo>
                  </a:path>
                </a:pathLst>
              </a:custGeom>
              <a:noFill/>
              <a:ln w="19050">
                <a:solidFill>
                  <a:schemeClr val="accent3"/>
                </a:solidFill>
              </a:ln>
            </p:spPr>
          </p:sp>
        </p:grpSp>
        <p:sp>
          <p:nvSpPr>
            <p:cNvPr id="29" name="TextBox 29"/>
            <p:cNvSpPr txBox="1"/>
            <p:nvPr/>
          </p:nvSpPr>
          <p:spPr>
            <a:xfrm>
              <a:off x="5478018" y="2526982"/>
              <a:ext cx="5166571" cy="322707"/>
            </a:xfrm>
            <a:prstGeom prst="rect">
              <a:avLst/>
            </a:prstGeom>
            <a:noFill/>
            <a:ln>
              <a:noFill/>
            </a:ln>
          </p:spPr>
          <p:txBody>
            <a:bodyPr wrap="none" lIns="0" tIns="0" rIns="0" bIns="0" anchor="t" anchorCtr="0">
              <a:spAutoFit/>
            </a:bodyPr>
            <a:lstStyle/>
            <a:p>
              <a:pPr algn="l"/>
              <a:r>
                <a:rPr lang="vi-VN" sz="1650" dirty="0">
                  <a:solidFill>
                    <a:schemeClr val="accent1"/>
                  </a:solidFill>
                  <a:latin typeface="+mn-lt"/>
                  <a:ea typeface="+mn-ea"/>
                  <a:cs typeface="+mn-cs"/>
                </a:rPr>
                <a:t>Mỗi ngày — giao việc bằng phiếu giao việc rõ ràng</a:t>
              </a:r>
            </a:p>
          </p:txBody>
        </p:sp>
        <p:sp>
          <p:nvSpPr>
            <p:cNvPr id="30" name="TextBox 30"/>
            <p:cNvSpPr txBox="1"/>
            <p:nvPr/>
          </p:nvSpPr>
          <p:spPr>
            <a:xfrm>
              <a:off x="4944618" y="3098482"/>
              <a:ext cx="6866571" cy="322707"/>
            </a:xfrm>
            <a:prstGeom prst="rect">
              <a:avLst/>
            </a:prstGeom>
            <a:noFill/>
            <a:ln>
              <a:noFill/>
            </a:ln>
          </p:spPr>
          <p:txBody>
            <a:bodyPr wrap="none" lIns="0" tIns="0" rIns="0" bIns="0" anchor="t" anchorCtr="0">
              <a:spAutoFit/>
            </a:bodyPr>
            <a:lstStyle/>
            <a:p>
              <a:pPr algn="l"/>
              <a:r>
                <a:rPr lang="vi-VN" sz="1650" i="1" dirty="0">
                  <a:solidFill>
                    <a:srgbClr val="5B6675"/>
                  </a:solidFill>
                  <a:latin typeface="+mn-lt"/>
                  <a:ea typeface="+mn-ea"/>
                  <a:cs typeface="+mn-cs"/>
                </a:rPr>
                <a:t>Prompt một dòng: ChatGPT phải đoán hoặc hỏi lại, mất thêm lượt.</a:t>
              </a:r>
            </a:p>
          </p:txBody>
        </p:sp>
      </p:grpSp>
      <p:grpSp>
        <p:nvGrpSpPr>
          <p:cNvPr id="45" name="Group 45"/>
          <p:cNvGrpSpPr/>
          <p:nvPr/>
        </p:nvGrpSpPr>
        <p:grpSpPr>
          <a:xfrm>
            <a:off x="4946904" y="3718560"/>
            <a:ext cx="6485940" cy="2350579"/>
            <a:chOff x="4946904" y="3718560"/>
            <a:chExt cx="6485940" cy="2350579"/>
          </a:xfrm>
        </p:grpSpPr>
        <p:sp>
          <p:nvSpPr>
            <p:cNvPr id="32" name="TextBox 32"/>
            <p:cNvSpPr txBox="1"/>
            <p:nvPr/>
          </p:nvSpPr>
          <p:spPr>
            <a:xfrm>
              <a:off x="4946904" y="3718560"/>
              <a:ext cx="2653589"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HỌC XONG TẦNG NÀY, BẠN SẼ:</a:t>
              </a:r>
            </a:p>
          </p:txBody>
        </p:sp>
        <p:sp>
          <p:nvSpPr>
            <p:cNvPr id="33" name="Ellipse 33"/>
            <p:cNvSpPr/>
            <p:nvPr/>
          </p:nvSpPr>
          <p:spPr>
            <a:xfrm>
              <a:off x="4962525" y="4038600"/>
              <a:ext cx="285750" cy="285750"/>
            </a:xfrm>
            <a:prstGeom prst="ellipse">
              <a:avLst/>
            </a:prstGeom>
            <a:solidFill>
              <a:schemeClr val="accent3"/>
            </a:solidFill>
            <a:ln>
              <a:noFill/>
            </a:ln>
          </p:spPr>
        </p:sp>
        <p:sp>
          <p:nvSpPr>
            <p:cNvPr id="34" name="TextBox 34"/>
            <p:cNvSpPr txBox="1"/>
            <p:nvPr/>
          </p:nvSpPr>
          <p:spPr>
            <a:xfrm>
              <a:off x="5039473" y="408622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1</a:t>
              </a:r>
            </a:p>
          </p:txBody>
        </p:sp>
        <p:sp>
          <p:nvSpPr>
            <p:cNvPr id="35" name="TextBox 35"/>
            <p:cNvSpPr txBox="1"/>
            <p:nvPr/>
          </p:nvSpPr>
          <p:spPr>
            <a:xfrm>
              <a:off x="5382768" y="4070032"/>
              <a:ext cx="5213604"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dk1"/>
                  </a:solidFill>
                  <a:latin typeface="+mn-lt"/>
                  <a:ea typeface="+mn-ea"/>
                  <a:cs typeface="+mn-cs"/>
                </a:rPr>
                <a:t>Giao việc theo công thức 4 phần: Bối cảnh, Yêu cầu,</a:t>
              </a:r>
              <a:br/>
              <a:r>
                <a:rPr lang="vi-VN" sz="1650" dirty="0">
                  <a:solidFill>
                    <a:schemeClr val="dk1"/>
                  </a:solidFill>
                  <a:latin typeface="+mn-lt"/>
                  <a:ea typeface="+mn-ea"/>
                  <a:cs typeface="+mn-cs"/>
                </a:rPr>
                <a:t>Tiêu chí, Định dạng</a:t>
              </a:r>
            </a:p>
          </p:txBody>
        </p:sp>
        <p:sp>
          <p:nvSpPr>
            <p:cNvPr id="36" name="Ellipse 36"/>
            <p:cNvSpPr/>
            <p:nvPr/>
          </p:nvSpPr>
          <p:spPr>
            <a:xfrm>
              <a:off x="4962525" y="4800600"/>
              <a:ext cx="285750" cy="285750"/>
            </a:xfrm>
            <a:prstGeom prst="ellipse">
              <a:avLst/>
            </a:prstGeom>
            <a:solidFill>
              <a:schemeClr val="accent3"/>
            </a:solidFill>
            <a:ln>
              <a:noFill/>
            </a:ln>
          </p:spPr>
        </p:sp>
        <p:sp>
          <p:nvSpPr>
            <p:cNvPr id="37" name="TextBox 37"/>
            <p:cNvSpPr txBox="1"/>
            <p:nvPr/>
          </p:nvSpPr>
          <p:spPr>
            <a:xfrm>
              <a:off x="5039473" y="484822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2</a:t>
              </a:r>
            </a:p>
          </p:txBody>
        </p:sp>
        <p:sp>
          <p:nvSpPr>
            <p:cNvPr id="38" name="TextBox 38"/>
            <p:cNvSpPr txBox="1"/>
            <p:nvPr/>
          </p:nvSpPr>
          <p:spPr>
            <a:xfrm>
              <a:off x="5382768" y="4832032"/>
              <a:ext cx="6050076"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3 kỹ thuật: đưa mẫu, chốt số câu hỏi lại, chia nhiều bước</a:t>
              </a:r>
            </a:p>
          </p:txBody>
        </p:sp>
        <p:sp>
          <p:nvSpPr>
            <p:cNvPr id="39" name="Ellipse 39"/>
            <p:cNvSpPr/>
            <p:nvPr/>
          </p:nvSpPr>
          <p:spPr>
            <a:xfrm>
              <a:off x="4962525" y="5257800"/>
              <a:ext cx="285750" cy="285750"/>
            </a:xfrm>
            <a:prstGeom prst="ellipse">
              <a:avLst/>
            </a:prstGeom>
            <a:solidFill>
              <a:schemeClr val="accent3"/>
            </a:solidFill>
            <a:ln>
              <a:noFill/>
            </a:ln>
          </p:spPr>
        </p:sp>
        <p:sp>
          <p:nvSpPr>
            <p:cNvPr id="40" name="TextBox 40"/>
            <p:cNvSpPr txBox="1"/>
            <p:nvPr/>
          </p:nvSpPr>
          <p:spPr>
            <a:xfrm>
              <a:off x="5039473" y="530542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3</a:t>
              </a:r>
            </a:p>
          </p:txBody>
        </p:sp>
        <p:sp>
          <p:nvSpPr>
            <p:cNvPr id="41" name="TextBox 41"/>
            <p:cNvSpPr txBox="1"/>
            <p:nvPr/>
          </p:nvSpPr>
          <p:spPr>
            <a:xfrm>
              <a:off x="5382768" y="5289232"/>
              <a:ext cx="4315322"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Phân tích file số liệu mà không để AI bịa</a:t>
              </a:r>
            </a:p>
          </p:txBody>
        </p:sp>
        <p:sp>
          <p:nvSpPr>
            <p:cNvPr id="42" name="Ellipse 42"/>
            <p:cNvSpPr/>
            <p:nvPr/>
          </p:nvSpPr>
          <p:spPr>
            <a:xfrm>
              <a:off x="4962525" y="5715000"/>
              <a:ext cx="285750" cy="285750"/>
            </a:xfrm>
            <a:prstGeom prst="ellipse">
              <a:avLst/>
            </a:prstGeom>
            <a:solidFill>
              <a:schemeClr val="accent3"/>
            </a:solidFill>
            <a:ln>
              <a:noFill/>
            </a:ln>
          </p:spPr>
        </p:sp>
        <p:sp>
          <p:nvSpPr>
            <p:cNvPr id="43" name="TextBox 43"/>
            <p:cNvSpPr txBox="1"/>
            <p:nvPr/>
          </p:nvSpPr>
          <p:spPr>
            <a:xfrm>
              <a:off x="5039473" y="576262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4</a:t>
              </a:r>
            </a:p>
          </p:txBody>
        </p:sp>
        <p:sp>
          <p:nvSpPr>
            <p:cNvPr id="44" name="TextBox 44"/>
            <p:cNvSpPr txBox="1"/>
            <p:nvPr/>
          </p:nvSpPr>
          <p:spPr>
            <a:xfrm>
              <a:off x="5382768" y="5746432"/>
              <a:ext cx="3533948"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Kiểm chứng đầu ra trước khi dùng</a:t>
              </a:r>
            </a:p>
          </p:txBody>
        </p:sp>
      </p:grpSp>
      <p:sp>
        <p:nvSpPr>
          <p:cNvPr id="46" name="TextBox 46"/>
          <p:cNvSpPr txBox="1"/>
          <p:nvPr/>
        </p:nvSpPr>
        <p:spPr>
          <a:xfrm>
            <a:off x="4947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47" name="TextBox 47"/>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12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1854535" cy="234696"/>
            <a:chOff x="381000" y="346710"/>
            <a:chExt cx="1854535" cy="234696"/>
          </a:xfrm>
        </p:grpSpPr>
        <p:sp>
          <p:nvSpPr>
            <p:cNvPr id="2" name="Rectangle 2"/>
            <p:cNvSpPr/>
            <p:nvPr/>
          </p:nvSpPr>
          <p:spPr>
            <a:xfrm>
              <a:off x="381000" y="361950"/>
              <a:ext cx="114300" cy="114300"/>
            </a:xfrm>
            <a:prstGeom prst="roundRect">
              <a:avLst>
                <a:gd name="adj" fmla="val 25000"/>
              </a:avLst>
            </a:prstGeom>
            <a:solidFill>
              <a:schemeClr val="accent3"/>
            </a:solidFill>
            <a:ln>
              <a:noFill/>
            </a:ln>
          </p:spPr>
        </p:sp>
        <p:sp>
          <p:nvSpPr>
            <p:cNvPr id="3" name="TextBox 3"/>
            <p:cNvSpPr txBox="1"/>
            <p:nvPr/>
          </p:nvSpPr>
          <p:spPr>
            <a:xfrm>
              <a:off x="584454" y="346710"/>
              <a:ext cx="1651081"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2 · PROMPT</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chemeClr val="accent2"/>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5700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8244030"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Giao việc bằng công thức 4 phần:</a:t>
            </a:r>
            <a:br/>
            <a:r>
              <a:rPr lang="vi-VN" sz="3150" b="1" dirty="0">
                <a:solidFill>
                  <a:schemeClr val="accent1"/>
                </a:solidFill>
                <a:latin typeface="+mn-lt"/>
                <a:ea typeface="+mn-ea"/>
                <a:cs typeface="+mn-cs"/>
              </a:rPr>
              <a:t>Bối cảnh – Yêu cầu – Tiêu chí – Định dạng</a:t>
            </a:r>
          </a:p>
        </p:txBody>
      </p:sp>
      <p:grpSp>
        <p:nvGrpSpPr>
          <p:cNvPr id="22" name="Group 22"/>
          <p:cNvGrpSpPr/>
          <p:nvPr/>
        </p:nvGrpSpPr>
        <p:grpSpPr>
          <a:xfrm>
            <a:off x="374142" y="2114550"/>
            <a:ext cx="2692908" cy="2762250"/>
            <a:chOff x="374142" y="2114550"/>
            <a:chExt cx="2692908" cy="2762250"/>
          </a:xfrm>
        </p:grpSpPr>
        <p:sp>
          <p:nvSpPr>
            <p:cNvPr id="17" name="Freeform 17"/>
            <p:cNvSpPr/>
            <p:nvPr/>
          </p:nvSpPr>
          <p:spPr>
            <a:xfrm>
              <a:off x="381000" y="2114550"/>
              <a:ext cx="2686050" cy="571500"/>
            </a:xfrm>
            <a:prstGeom prst="homePlate">
              <a:avLst/>
            </a:prstGeom>
            <a:solidFill>
              <a:schemeClr val="accent3"/>
            </a:solidFill>
            <a:ln>
              <a:noFill/>
            </a:ln>
          </p:spPr>
        </p:sp>
        <p:sp>
          <p:nvSpPr>
            <p:cNvPr id="18" name="TextBox 18"/>
            <p:cNvSpPr txBox="1"/>
            <p:nvPr/>
          </p:nvSpPr>
          <p:spPr>
            <a:xfrm>
              <a:off x="562356" y="2291715"/>
              <a:ext cx="1018596" cy="352044"/>
            </a:xfrm>
            <a:prstGeom prst="rect">
              <a:avLst/>
            </a:prstGeom>
            <a:noFill/>
            <a:ln>
              <a:noFill/>
            </a:ln>
          </p:spPr>
          <p:txBody>
            <a:bodyPr wrap="none" lIns="0" tIns="0" rIns="0" bIns="0" anchor="t" anchorCtr="0">
              <a:spAutoFit/>
            </a:bodyPr>
            <a:lstStyle/>
            <a:p>
              <a:pPr algn="l"/>
              <a:r>
                <a:rPr lang="vi-VN" sz="1800" b="1" dirty="0">
                  <a:solidFill>
                    <a:srgbClr val="FFFFFF"/>
                  </a:solidFill>
                  <a:latin typeface="+mn-lt"/>
                  <a:ea typeface="+mn-ea"/>
                  <a:cs typeface="+mn-cs"/>
                </a:rPr>
                <a:t>Bối cảnh</a:t>
              </a:r>
            </a:p>
          </p:txBody>
        </p:sp>
        <p:sp>
          <p:nvSpPr>
            <p:cNvPr id="19" name="TextBox 19"/>
            <p:cNvSpPr txBox="1"/>
            <p:nvPr/>
          </p:nvSpPr>
          <p:spPr>
            <a:xfrm>
              <a:off x="374142" y="2845118"/>
              <a:ext cx="2128980" cy="473583"/>
            </a:xfrm>
            <a:prstGeom prst="rect">
              <a:avLst/>
            </a:prstGeom>
            <a:noFill/>
            <a:ln>
              <a:noFill/>
            </a:ln>
          </p:spPr>
          <p:txBody>
            <a:bodyPr wrap="none" lIns="0" tIns="0" rIns="0" bIns="0" anchor="t" anchorCtr="0">
              <a:spAutoFit/>
            </a:bodyPr>
            <a:lstStyle/>
            <a:p>
              <a:pPr algn="l">
                <a:lnSpc>
                  <a:spcPts val="1650"/>
                </a:lnSpc>
              </a:pPr>
              <a:r>
                <a:rPr lang="vi-VN" sz="1350" b="1" dirty="0">
                  <a:solidFill>
                    <a:srgbClr val="5B6675"/>
                  </a:solidFill>
                  <a:latin typeface="+mn-lt"/>
                  <a:ea typeface="+mn-ea"/>
                  <a:cs typeface="+mn-cs"/>
                </a:rPr>
                <a:t>Tôi là ai, tình huống gì,</a:t>
              </a:r>
              <a:br/>
              <a:r>
                <a:rPr lang="vi-VN" sz="1350" b="1" dirty="0">
                  <a:solidFill>
                    <a:srgbClr val="5B6675"/>
                  </a:solidFill>
                  <a:latin typeface="+mn-lt"/>
                  <a:ea typeface="+mn-ea"/>
                  <a:cs typeface="+mn-cs"/>
                </a:rPr>
                <a:t>có dữ liệu gì</a:t>
              </a:r>
            </a:p>
          </p:txBody>
        </p:sp>
        <p:sp>
          <p:nvSpPr>
            <p:cNvPr id="20" name="Rectangle 20"/>
            <p:cNvSpPr/>
            <p:nvPr/>
          </p:nvSpPr>
          <p:spPr>
            <a:xfrm>
              <a:off x="381000" y="3390900"/>
              <a:ext cx="2686050" cy="1485900"/>
            </a:xfrm>
            <a:prstGeom prst="roundRect">
              <a:avLst>
                <a:gd name="adj" fmla="val 8974"/>
              </a:avLst>
            </a:prstGeom>
            <a:solidFill>
              <a:schemeClr val="lt2"/>
            </a:solidFill>
            <a:ln>
              <a:noFill/>
            </a:ln>
          </p:spPr>
        </p:sp>
        <p:sp>
          <p:nvSpPr>
            <p:cNvPr id="21" name="TextBox 21"/>
            <p:cNvSpPr txBox="1"/>
            <p:nvPr/>
          </p:nvSpPr>
          <p:spPr>
            <a:xfrm>
              <a:off x="506730" y="3533775"/>
              <a:ext cx="2158365" cy="1093470"/>
            </a:xfrm>
            <a:prstGeom prst="rect">
              <a:avLst/>
            </a:prstGeom>
            <a:noFill/>
            <a:ln>
              <a:noFill/>
            </a:ln>
          </p:spPr>
          <p:txBody>
            <a:bodyPr wrap="none" lIns="0" tIns="0" rIns="0" bIns="0" anchor="t" anchorCtr="0">
              <a:spAutoFit/>
            </a:bodyPr>
            <a:lstStyle/>
            <a:p>
              <a:pPr algn="l">
                <a:lnSpc>
                  <a:spcPts val="2100"/>
                </a:lnSpc>
              </a:pPr>
              <a:r>
                <a:rPr lang="vi-VN" sz="1500" i="1" dirty="0">
                  <a:solidFill>
                    <a:schemeClr val="dk1"/>
                  </a:solidFill>
                  <a:latin typeface="+mn-lt"/>
                  <a:ea typeface="+mn-ea"/>
                  <a:cs typeface="+mn-cs"/>
                </a:rPr>
                <a:t>“Tôi là nhân viên Sale</a:t>
              </a:r>
              <a:br/>
              <a:r>
                <a:rPr lang="vi-VN" sz="1500" i="1" dirty="0">
                  <a:solidFill>
                    <a:schemeClr val="dk1"/>
                  </a:solidFill>
                  <a:latin typeface="+mn-lt"/>
                  <a:ea typeface="+mn-ea"/>
                  <a:cs typeface="+mn-cs"/>
                </a:rPr>
                <a:t>Wir. Spa Ngọc Anh muốn</a:t>
              </a:r>
              <a:br/>
              <a:r>
                <a:rPr lang="vi-VN" sz="1500" i="1" dirty="0">
                  <a:solidFill>
                    <a:schemeClr val="dk1"/>
                  </a:solidFill>
                  <a:latin typeface="+mn-lt"/>
                  <a:ea typeface="+mn-ea"/>
                  <a:cs typeface="+mn-cs"/>
                </a:rPr>
                <a:t>nhập thử 20 hộp</a:t>
              </a:r>
              <a:br/>
              <a:r>
                <a:rPr lang="vi-VN" sz="1500" i="1" dirty="0">
                  <a:solidFill>
                    <a:schemeClr val="dk1"/>
                  </a:solidFill>
                  <a:latin typeface="+mn-lt"/>
                  <a:ea typeface="+mn-ea"/>
                  <a:cs typeface="+mn-cs"/>
                </a:rPr>
                <a:t>Elasten/tháng.”</a:t>
              </a:r>
            </a:p>
          </p:txBody>
        </p:sp>
      </p:grpSp>
      <p:grpSp>
        <p:nvGrpSpPr>
          <p:cNvPr id="28" name="Group 28"/>
          <p:cNvGrpSpPr/>
          <p:nvPr/>
        </p:nvGrpSpPr>
        <p:grpSpPr>
          <a:xfrm>
            <a:off x="3288792" y="2114550"/>
            <a:ext cx="2692908" cy="2762250"/>
            <a:chOff x="3288792" y="2114550"/>
            <a:chExt cx="2692908" cy="2762250"/>
          </a:xfrm>
        </p:grpSpPr>
        <p:sp>
          <p:nvSpPr>
            <p:cNvPr id="23" name="Freeform 23"/>
            <p:cNvSpPr/>
            <p:nvPr/>
          </p:nvSpPr>
          <p:spPr>
            <a:xfrm>
              <a:off x="3295650" y="2114550"/>
              <a:ext cx="2686050" cy="571500"/>
            </a:xfrm>
            <a:prstGeom prst="chevron">
              <a:avLst/>
            </a:prstGeom>
            <a:solidFill>
              <a:schemeClr val="accent3"/>
            </a:solidFill>
            <a:ln>
              <a:noFill/>
            </a:ln>
          </p:spPr>
        </p:sp>
        <p:sp>
          <p:nvSpPr>
            <p:cNvPr id="24" name="TextBox 24"/>
            <p:cNvSpPr txBox="1"/>
            <p:nvPr/>
          </p:nvSpPr>
          <p:spPr>
            <a:xfrm>
              <a:off x="3686556" y="2291715"/>
              <a:ext cx="942884" cy="352044"/>
            </a:xfrm>
            <a:prstGeom prst="rect">
              <a:avLst/>
            </a:prstGeom>
            <a:noFill/>
            <a:ln>
              <a:noFill/>
            </a:ln>
          </p:spPr>
          <p:txBody>
            <a:bodyPr wrap="none" lIns="0" tIns="0" rIns="0" bIns="0" anchor="t" anchorCtr="0">
              <a:spAutoFit/>
            </a:bodyPr>
            <a:lstStyle/>
            <a:p>
              <a:pPr algn="l"/>
              <a:r>
                <a:rPr lang="vi-VN" sz="1800" b="1" dirty="0">
                  <a:solidFill>
                    <a:srgbClr val="FFFFFF"/>
                  </a:solidFill>
                  <a:latin typeface="+mn-lt"/>
                  <a:ea typeface="+mn-ea"/>
                  <a:cs typeface="+mn-cs"/>
                </a:rPr>
                <a:t>Yêu cầu</a:t>
              </a:r>
            </a:p>
          </p:txBody>
        </p:sp>
        <p:sp>
          <p:nvSpPr>
            <p:cNvPr id="25" name="TextBox 25"/>
            <p:cNvSpPr txBox="1"/>
            <p:nvPr/>
          </p:nvSpPr>
          <p:spPr>
            <a:xfrm>
              <a:off x="3288792" y="2845118"/>
              <a:ext cx="1676800" cy="264033"/>
            </a:xfrm>
            <a:prstGeom prst="rect">
              <a:avLst/>
            </a:prstGeom>
            <a:noFill/>
            <a:ln>
              <a:noFill/>
            </a:ln>
          </p:spPr>
          <p:txBody>
            <a:bodyPr wrap="none" lIns="0" tIns="0" rIns="0" bIns="0" anchor="t" anchorCtr="0">
              <a:spAutoFit/>
            </a:bodyPr>
            <a:lstStyle/>
            <a:p>
              <a:pPr algn="l"/>
              <a:r>
                <a:rPr lang="vi-VN" sz="1350" b="1" dirty="0">
                  <a:solidFill>
                    <a:srgbClr val="5B6675"/>
                  </a:solidFill>
                  <a:latin typeface="+mn-lt"/>
                  <a:ea typeface="+mn-ea"/>
                  <a:cs typeface="+mn-cs"/>
                </a:rPr>
                <a:t>AI phải làm việc gì</a:t>
              </a:r>
            </a:p>
          </p:txBody>
        </p:sp>
        <p:sp>
          <p:nvSpPr>
            <p:cNvPr id="26" name="Rectangle 26"/>
            <p:cNvSpPr/>
            <p:nvPr/>
          </p:nvSpPr>
          <p:spPr>
            <a:xfrm>
              <a:off x="3295650" y="3390900"/>
              <a:ext cx="2686050" cy="1485900"/>
            </a:xfrm>
            <a:prstGeom prst="roundRect">
              <a:avLst>
                <a:gd name="adj" fmla="val 8974"/>
              </a:avLst>
            </a:prstGeom>
            <a:solidFill>
              <a:schemeClr val="lt2"/>
            </a:solidFill>
            <a:ln>
              <a:noFill/>
            </a:ln>
          </p:spPr>
        </p:sp>
        <p:sp>
          <p:nvSpPr>
            <p:cNvPr id="27" name="TextBox 27"/>
            <p:cNvSpPr txBox="1"/>
            <p:nvPr/>
          </p:nvSpPr>
          <p:spPr>
            <a:xfrm>
              <a:off x="3421380" y="3533775"/>
              <a:ext cx="1986915" cy="826770"/>
            </a:xfrm>
            <a:prstGeom prst="rect">
              <a:avLst/>
            </a:prstGeom>
            <a:noFill/>
            <a:ln>
              <a:noFill/>
            </a:ln>
          </p:spPr>
          <p:txBody>
            <a:bodyPr wrap="none" lIns="0" tIns="0" rIns="0" bIns="0" anchor="t" anchorCtr="0">
              <a:spAutoFit/>
            </a:bodyPr>
            <a:lstStyle/>
            <a:p>
              <a:pPr algn="l">
                <a:lnSpc>
                  <a:spcPts val="2100"/>
                </a:lnSpc>
              </a:pPr>
              <a:r>
                <a:rPr lang="vi-VN" sz="1500" i="1" dirty="0">
                  <a:solidFill>
                    <a:schemeClr val="dk1"/>
                  </a:solidFill>
                  <a:latin typeface="+mn-lt"/>
                  <a:ea typeface="+mn-ea"/>
                  <a:cs typeface="+mn-cs"/>
                </a:rPr>
                <a:t>“Soạn tin trả lời, báo</a:t>
              </a:r>
              <a:br/>
              <a:r>
                <a:rPr lang="vi-VN" sz="1500" i="1" dirty="0">
                  <a:solidFill>
                    <a:schemeClr val="dk1"/>
                  </a:solidFill>
                  <a:latin typeface="+mn-lt"/>
                  <a:ea typeface="+mn-ea"/>
                  <a:cs typeface="+mn-cs"/>
                </a:rPr>
                <a:t>chiết khấu theo bảng</a:t>
              </a:r>
              <a:br/>
              <a:r>
                <a:rPr lang="vi-VN" sz="1500" i="1" dirty="0">
                  <a:solidFill>
                    <a:schemeClr val="dk1"/>
                  </a:solidFill>
                  <a:latin typeface="+mn-lt"/>
                  <a:ea typeface="+mn-ea"/>
                  <a:cs typeface="+mn-cs"/>
                </a:rPr>
                <a:t>giá sỉ.”</a:t>
              </a:r>
            </a:p>
          </p:txBody>
        </p:sp>
      </p:grpSp>
      <p:grpSp>
        <p:nvGrpSpPr>
          <p:cNvPr id="34" name="Group 34"/>
          <p:cNvGrpSpPr/>
          <p:nvPr/>
        </p:nvGrpSpPr>
        <p:grpSpPr>
          <a:xfrm>
            <a:off x="6203442" y="2114550"/>
            <a:ext cx="2692908" cy="2762250"/>
            <a:chOff x="6203442" y="2114550"/>
            <a:chExt cx="2692908" cy="2762250"/>
          </a:xfrm>
        </p:grpSpPr>
        <p:sp>
          <p:nvSpPr>
            <p:cNvPr id="29" name="Freeform 29"/>
            <p:cNvSpPr/>
            <p:nvPr/>
          </p:nvSpPr>
          <p:spPr>
            <a:xfrm>
              <a:off x="6210300" y="2114550"/>
              <a:ext cx="2686050" cy="571500"/>
            </a:xfrm>
            <a:prstGeom prst="chevron">
              <a:avLst/>
            </a:prstGeom>
            <a:solidFill>
              <a:schemeClr val="accent3"/>
            </a:solidFill>
            <a:ln>
              <a:noFill/>
            </a:ln>
          </p:spPr>
        </p:sp>
        <p:sp>
          <p:nvSpPr>
            <p:cNvPr id="30" name="TextBox 30"/>
            <p:cNvSpPr txBox="1"/>
            <p:nvPr/>
          </p:nvSpPr>
          <p:spPr>
            <a:xfrm>
              <a:off x="6601206" y="2291715"/>
              <a:ext cx="1018596" cy="352044"/>
            </a:xfrm>
            <a:prstGeom prst="rect">
              <a:avLst/>
            </a:prstGeom>
            <a:noFill/>
            <a:ln>
              <a:noFill/>
            </a:ln>
          </p:spPr>
          <p:txBody>
            <a:bodyPr wrap="none" lIns="0" tIns="0" rIns="0" bIns="0" anchor="t" anchorCtr="0">
              <a:spAutoFit/>
            </a:bodyPr>
            <a:lstStyle/>
            <a:p>
              <a:pPr algn="l"/>
              <a:r>
                <a:rPr lang="vi-VN" sz="1800" b="1" dirty="0">
                  <a:solidFill>
                    <a:srgbClr val="FFFFFF"/>
                  </a:solidFill>
                  <a:latin typeface="+mn-lt"/>
                  <a:ea typeface="+mn-ea"/>
                  <a:cs typeface="+mn-cs"/>
                </a:rPr>
                <a:t>Tiêu chí</a:t>
              </a:r>
            </a:p>
          </p:txBody>
        </p:sp>
        <p:sp>
          <p:nvSpPr>
            <p:cNvPr id="31" name="TextBox 31"/>
            <p:cNvSpPr txBox="1"/>
            <p:nvPr/>
          </p:nvSpPr>
          <p:spPr>
            <a:xfrm>
              <a:off x="6203442" y="2845118"/>
              <a:ext cx="1298815" cy="264033"/>
            </a:xfrm>
            <a:prstGeom prst="rect">
              <a:avLst/>
            </a:prstGeom>
            <a:noFill/>
            <a:ln>
              <a:noFill/>
            </a:ln>
          </p:spPr>
          <p:txBody>
            <a:bodyPr wrap="none" lIns="0" tIns="0" rIns="0" bIns="0" anchor="t" anchorCtr="0">
              <a:spAutoFit/>
            </a:bodyPr>
            <a:lstStyle/>
            <a:p>
              <a:pPr algn="l"/>
              <a:r>
                <a:rPr lang="vi-VN" sz="1350" b="1" dirty="0">
                  <a:solidFill>
                    <a:srgbClr val="5B6675"/>
                  </a:solidFill>
                  <a:latin typeface="+mn-lt"/>
                  <a:ea typeface="+mn-ea"/>
                  <a:cs typeface="+mn-cs"/>
                </a:rPr>
                <a:t>Thế nào là đạt</a:t>
              </a:r>
            </a:p>
          </p:txBody>
        </p:sp>
        <p:sp>
          <p:nvSpPr>
            <p:cNvPr id="32" name="Rectangle 32"/>
            <p:cNvSpPr/>
            <p:nvPr/>
          </p:nvSpPr>
          <p:spPr>
            <a:xfrm>
              <a:off x="6210300" y="3390900"/>
              <a:ext cx="2686050" cy="1485900"/>
            </a:xfrm>
            <a:prstGeom prst="roundRect">
              <a:avLst>
                <a:gd name="adj" fmla="val 8974"/>
              </a:avLst>
            </a:prstGeom>
            <a:solidFill>
              <a:schemeClr val="lt2"/>
            </a:solidFill>
            <a:ln>
              <a:noFill/>
            </a:ln>
          </p:spPr>
        </p:sp>
        <p:sp>
          <p:nvSpPr>
            <p:cNvPr id="33" name="TextBox 33"/>
            <p:cNvSpPr txBox="1"/>
            <p:nvPr/>
          </p:nvSpPr>
          <p:spPr>
            <a:xfrm>
              <a:off x="6336030" y="3533775"/>
              <a:ext cx="1920240" cy="826770"/>
            </a:xfrm>
            <a:prstGeom prst="rect">
              <a:avLst/>
            </a:prstGeom>
            <a:noFill/>
            <a:ln>
              <a:noFill/>
            </a:ln>
          </p:spPr>
          <p:txBody>
            <a:bodyPr wrap="none" lIns="0" tIns="0" rIns="0" bIns="0" anchor="t" anchorCtr="0">
              <a:spAutoFit/>
            </a:bodyPr>
            <a:lstStyle/>
            <a:p>
              <a:pPr algn="l">
                <a:lnSpc>
                  <a:spcPts val="2100"/>
                </a:lnSpc>
              </a:pPr>
              <a:r>
                <a:rPr lang="vi-VN" sz="1500" i="1" dirty="0">
                  <a:solidFill>
                    <a:schemeClr val="dk1"/>
                  </a:solidFill>
                  <a:latin typeface="+mn-lt"/>
                  <a:ea typeface="+mn-ea"/>
                  <a:cs typeface="+mn-cs"/>
                </a:rPr>
                <a:t>“Dưới 150 chữ. Không</a:t>
              </a:r>
              <a:br/>
              <a:r>
                <a:rPr lang="vi-VN" sz="1500" i="1" dirty="0">
                  <a:solidFill>
                    <a:schemeClr val="dk1"/>
                  </a:solidFill>
                  <a:latin typeface="+mn-lt"/>
                  <a:ea typeface="+mn-ea"/>
                  <a:cs typeface="+mn-cs"/>
                </a:rPr>
                <a:t>hứa ngoài bảng.</a:t>
              </a:r>
              <a:br/>
              <a:r>
                <a:rPr lang="vi-VN" sz="1500" i="1" dirty="0">
                  <a:solidFill>
                    <a:schemeClr val="dk1"/>
                  </a:solidFill>
                  <a:latin typeface="+mn-lt"/>
                  <a:ea typeface="+mn-ea"/>
                  <a:cs typeface="+mn-cs"/>
                </a:rPr>
                <a:t>Không emoji.”</a:t>
              </a:r>
            </a:p>
          </p:txBody>
        </p:sp>
      </p:grpSp>
      <p:grpSp>
        <p:nvGrpSpPr>
          <p:cNvPr id="40" name="Group 40"/>
          <p:cNvGrpSpPr/>
          <p:nvPr/>
        </p:nvGrpSpPr>
        <p:grpSpPr>
          <a:xfrm>
            <a:off x="9118092" y="2114550"/>
            <a:ext cx="2692908" cy="2762250"/>
            <a:chOff x="9118092" y="2114550"/>
            <a:chExt cx="2692908" cy="2762250"/>
          </a:xfrm>
        </p:grpSpPr>
        <p:sp>
          <p:nvSpPr>
            <p:cNvPr id="35" name="Freeform 35"/>
            <p:cNvSpPr/>
            <p:nvPr/>
          </p:nvSpPr>
          <p:spPr>
            <a:xfrm>
              <a:off x="9124950" y="2114550"/>
              <a:ext cx="2686050" cy="571500"/>
            </a:xfrm>
            <a:prstGeom prst="chevron">
              <a:avLst/>
            </a:prstGeom>
            <a:solidFill>
              <a:schemeClr val="accent3"/>
            </a:solidFill>
            <a:ln>
              <a:noFill/>
            </a:ln>
          </p:spPr>
        </p:sp>
        <p:sp>
          <p:nvSpPr>
            <p:cNvPr id="36" name="TextBox 36"/>
            <p:cNvSpPr txBox="1"/>
            <p:nvPr/>
          </p:nvSpPr>
          <p:spPr>
            <a:xfrm>
              <a:off x="9515856" y="2291715"/>
              <a:ext cx="1222579" cy="352044"/>
            </a:xfrm>
            <a:prstGeom prst="rect">
              <a:avLst/>
            </a:prstGeom>
            <a:noFill/>
            <a:ln>
              <a:noFill/>
            </a:ln>
          </p:spPr>
          <p:txBody>
            <a:bodyPr wrap="none" lIns="0" tIns="0" rIns="0" bIns="0" anchor="t" anchorCtr="0">
              <a:spAutoFit/>
            </a:bodyPr>
            <a:lstStyle/>
            <a:p>
              <a:pPr algn="l"/>
              <a:r>
                <a:rPr lang="vi-VN" sz="1800" b="1" dirty="0">
                  <a:solidFill>
                    <a:srgbClr val="FFFFFF"/>
                  </a:solidFill>
                  <a:latin typeface="+mn-lt"/>
                  <a:ea typeface="+mn-ea"/>
                  <a:cs typeface="+mn-cs"/>
                </a:rPr>
                <a:t>Định dạng</a:t>
              </a:r>
            </a:p>
          </p:txBody>
        </p:sp>
        <p:sp>
          <p:nvSpPr>
            <p:cNvPr id="37" name="TextBox 37"/>
            <p:cNvSpPr txBox="1"/>
            <p:nvPr/>
          </p:nvSpPr>
          <p:spPr>
            <a:xfrm>
              <a:off x="9118092" y="2845118"/>
              <a:ext cx="1556537" cy="264033"/>
            </a:xfrm>
            <a:prstGeom prst="rect">
              <a:avLst/>
            </a:prstGeom>
            <a:noFill/>
            <a:ln>
              <a:noFill/>
            </a:ln>
          </p:spPr>
          <p:txBody>
            <a:bodyPr wrap="none" lIns="0" tIns="0" rIns="0" bIns="0" anchor="t" anchorCtr="0">
              <a:spAutoFit/>
            </a:bodyPr>
            <a:lstStyle/>
            <a:p>
              <a:pPr algn="l"/>
              <a:r>
                <a:rPr lang="vi-VN" sz="1350" b="1" dirty="0">
                  <a:solidFill>
                    <a:srgbClr val="5B6675"/>
                  </a:solidFill>
                  <a:latin typeface="+mn-lt"/>
                  <a:ea typeface="+mn-ea"/>
                  <a:cs typeface="+mn-cs"/>
                </a:rPr>
                <a:t>Trình bày ra sao</a:t>
              </a:r>
            </a:p>
          </p:txBody>
        </p:sp>
        <p:sp>
          <p:nvSpPr>
            <p:cNvPr id="38" name="Rectangle 38"/>
            <p:cNvSpPr/>
            <p:nvPr/>
          </p:nvSpPr>
          <p:spPr>
            <a:xfrm>
              <a:off x="9124950" y="3390900"/>
              <a:ext cx="2686050" cy="1485900"/>
            </a:xfrm>
            <a:prstGeom prst="roundRect">
              <a:avLst>
                <a:gd name="adj" fmla="val 8974"/>
              </a:avLst>
            </a:prstGeom>
            <a:solidFill>
              <a:schemeClr val="lt2"/>
            </a:solidFill>
            <a:ln>
              <a:noFill/>
            </a:ln>
          </p:spPr>
        </p:sp>
        <p:sp>
          <p:nvSpPr>
            <p:cNvPr id="39" name="TextBox 39"/>
            <p:cNvSpPr txBox="1"/>
            <p:nvPr/>
          </p:nvSpPr>
          <p:spPr>
            <a:xfrm>
              <a:off x="9250680" y="3533775"/>
              <a:ext cx="2253615" cy="560070"/>
            </a:xfrm>
            <a:prstGeom prst="rect">
              <a:avLst/>
            </a:prstGeom>
            <a:noFill/>
            <a:ln>
              <a:noFill/>
            </a:ln>
          </p:spPr>
          <p:txBody>
            <a:bodyPr wrap="none" lIns="0" tIns="0" rIns="0" bIns="0" anchor="t" anchorCtr="0">
              <a:spAutoFit/>
            </a:bodyPr>
            <a:lstStyle/>
            <a:p>
              <a:pPr algn="l">
                <a:lnSpc>
                  <a:spcPts val="2100"/>
                </a:lnSpc>
              </a:pPr>
              <a:r>
                <a:rPr lang="vi-VN" sz="1500" i="1" dirty="0">
                  <a:solidFill>
                    <a:schemeClr val="dk1"/>
                  </a:solidFill>
                  <a:latin typeface="+mn-lt"/>
                  <a:ea typeface="+mn-ea"/>
                  <a:cs typeface="+mn-cs"/>
                </a:rPr>
                <a:t>“Tin nhắn Zalo: lời chào,</a:t>
              </a:r>
              <a:br/>
              <a:r>
                <a:rPr lang="vi-VN" sz="1500" i="1" dirty="0">
                  <a:solidFill>
                    <a:schemeClr val="dk1"/>
                  </a:solidFill>
                  <a:latin typeface="+mn-lt"/>
                  <a:ea typeface="+mn-ea"/>
                  <a:cs typeface="+mn-cs"/>
                </a:rPr>
                <a:t>nội dung, chữ ký.”</a:t>
              </a:r>
            </a:p>
          </p:txBody>
        </p:sp>
      </p:grpSp>
      <p:grpSp>
        <p:nvGrpSpPr>
          <p:cNvPr id="57" name="Group 57"/>
          <p:cNvGrpSpPr/>
          <p:nvPr/>
        </p:nvGrpSpPr>
        <p:grpSpPr>
          <a:xfrm>
            <a:off x="381000" y="5143500"/>
            <a:ext cx="11430000" cy="609600"/>
            <a:chOff x="381000" y="5143500"/>
            <a:chExt cx="11430000" cy="609600"/>
          </a:xfrm>
        </p:grpSpPr>
        <p:sp>
          <p:nvSpPr>
            <p:cNvPr id="41" name="Rectangle 41"/>
            <p:cNvSpPr/>
            <p:nvPr/>
          </p:nvSpPr>
          <p:spPr>
            <a:xfrm>
              <a:off x="381000" y="5143500"/>
              <a:ext cx="11430000" cy="609600"/>
            </a:xfrm>
            <a:prstGeom prst="roundRect">
              <a:avLst>
                <a:gd name="adj" fmla="val 21875"/>
              </a:avLst>
            </a:prstGeom>
            <a:solidFill>
              <a:srgbClr val="FCEBDD"/>
            </a:solidFill>
            <a:ln>
              <a:noFill/>
            </a:ln>
          </p:spPr>
        </p:sp>
        <p:grpSp>
          <p:nvGrpSpPr>
            <p:cNvPr id="45" name="Group 45"/>
            <p:cNvGrpSpPr/>
            <p:nvPr/>
          </p:nvGrpSpPr>
          <p:grpSpPr>
            <a:xfrm>
              <a:off x="589739" y="5359411"/>
              <a:ext cx="192114" cy="165051"/>
              <a:chOff x="589739" y="5359411"/>
              <a:chExt cx="192114" cy="165051"/>
            </a:xfrm>
          </p:grpSpPr>
          <p:sp>
            <p:nvSpPr>
              <p:cNvPr id="42" name="Freeform 42"/>
              <p:cNvSpPr/>
              <p:nvPr/>
            </p:nvSpPr>
            <p:spPr>
              <a:xfrm>
                <a:off x="685800" y="5419725"/>
                <a:ext cx="9525" cy="38100"/>
              </a:xfrm>
              <a:custGeom>
                <a:avLst/>
                <a:gdLst/>
                <a:ahLst/>
                <a:cxnLst/>
                <a:rect l="l" t="t" r="r" b="b"/>
                <a:pathLst>
                  <a:path w="9525" h="38100">
                    <a:moveTo>
                      <a:pt x="0" y="0"/>
                    </a:moveTo>
                    <a:lnTo>
                      <a:pt x="0" y="38100"/>
                    </a:lnTo>
                  </a:path>
                </a:pathLst>
              </a:custGeom>
              <a:noFill/>
              <a:ln w="19050">
                <a:solidFill>
                  <a:srgbClr val="C0392B"/>
                </a:solidFill>
              </a:ln>
            </p:spPr>
          </p:sp>
          <p:sp>
            <p:nvSpPr>
              <p:cNvPr id="43" name="Freeform 43"/>
              <p:cNvSpPr/>
              <p:nvPr/>
            </p:nvSpPr>
            <p:spPr>
              <a:xfrm>
                <a:off x="589739" y="5359411"/>
                <a:ext cx="192114" cy="165051"/>
              </a:xfrm>
              <a:custGeom>
                <a:avLst/>
                <a:gdLst/>
                <a:ahLst/>
                <a:cxnLst/>
                <a:rect l="l" t="t" r="r" b="b"/>
                <a:pathLst>
                  <a:path w="192114" h="165051">
                    <a:moveTo>
                      <a:pt x="80468" y="8794"/>
                    </a:moveTo>
                    <a:lnTo>
                      <a:pt x="3259" y="137705"/>
                    </a:lnTo>
                    <a:cubicBezTo>
                      <a:pt x="20" y="143314"/>
                      <a:pt x="0" y="150220"/>
                      <a:pt x="3207" y="155848"/>
                    </a:cubicBezTo>
                    <a:cubicBezTo>
                      <a:pt x="6413" y="161475"/>
                      <a:pt x="12365" y="164979"/>
                      <a:pt x="18842" y="165051"/>
                    </a:cubicBezTo>
                    <a:lnTo>
                      <a:pt x="173280" y="165051"/>
                    </a:lnTo>
                    <a:cubicBezTo>
                      <a:pt x="179753" y="164977"/>
                      <a:pt x="185702" y="161474"/>
                      <a:pt x="188908" y="155850"/>
                    </a:cubicBezTo>
                    <a:cubicBezTo>
                      <a:pt x="192114" y="150226"/>
                      <a:pt x="192097" y="143323"/>
                      <a:pt x="188863" y="137715"/>
                    </a:cubicBezTo>
                    <a:lnTo>
                      <a:pt x="111653" y="8784"/>
                    </a:lnTo>
                    <a:cubicBezTo>
                      <a:pt x="108349" y="3331"/>
                      <a:pt x="102437" y="0"/>
                      <a:pt x="96061" y="0"/>
                    </a:cubicBezTo>
                    <a:cubicBezTo>
                      <a:pt x="89685" y="0"/>
                      <a:pt x="83772" y="3331"/>
                      <a:pt x="80468" y="8784"/>
                    </a:cubicBezTo>
                  </a:path>
                </a:pathLst>
              </a:custGeom>
              <a:noFill/>
              <a:ln w="19050">
                <a:solidFill>
                  <a:srgbClr val="C0392B"/>
                </a:solidFill>
              </a:ln>
            </p:spPr>
          </p:sp>
          <p:sp>
            <p:nvSpPr>
              <p:cNvPr id="44" name="Freeform 44"/>
              <p:cNvSpPr/>
              <p:nvPr/>
            </p:nvSpPr>
            <p:spPr>
              <a:xfrm>
                <a:off x="685800" y="5486400"/>
                <a:ext cx="9525" cy="9525"/>
              </a:xfrm>
              <a:custGeom>
                <a:avLst/>
                <a:gdLst/>
                <a:ahLst/>
                <a:cxnLst/>
                <a:rect l="l" t="t" r="r" b="b"/>
                <a:pathLst>
                  <a:path w="9525" h="9525">
                    <a:moveTo>
                      <a:pt x="0" y="0"/>
                    </a:moveTo>
                    <a:lnTo>
                      <a:pt x="95" y="0"/>
                    </a:lnTo>
                  </a:path>
                </a:pathLst>
              </a:custGeom>
              <a:noFill/>
              <a:ln w="19050">
                <a:solidFill>
                  <a:srgbClr val="C0392B"/>
                </a:solidFill>
              </a:ln>
            </p:spPr>
          </p:sp>
        </p:grpSp>
        <p:sp>
          <p:nvSpPr>
            <p:cNvPr id="46" name="TextBox 46"/>
            <p:cNvSpPr txBox="1"/>
            <p:nvPr/>
          </p:nvSpPr>
          <p:spPr>
            <a:xfrm>
              <a:off x="887730" y="5353050"/>
              <a:ext cx="3539195"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Thiếu Bối cảnh</a:t>
              </a:r>
              <a:r>
                <a:rPr lang="vi-VN" sz="1500" dirty="0">
                  <a:solidFill>
                    <a:schemeClr val="dk1"/>
                  </a:solidFill>
                  <a:latin typeface="+mn-lt"/>
                  <a:ea typeface="+mn-ea"/>
                  <a:cs typeface="+mn-cs"/>
                </a:rPr>
                <a:t> → trả lời chung chung</a:t>
              </a:r>
            </a:p>
          </p:txBody>
        </p:sp>
        <p:grpSp>
          <p:nvGrpSpPr>
            <p:cNvPr id="50" name="Group 50"/>
            <p:cNvGrpSpPr/>
            <p:nvPr/>
          </p:nvGrpSpPr>
          <p:grpSpPr>
            <a:xfrm>
              <a:off x="4323539" y="5359411"/>
              <a:ext cx="192114" cy="165051"/>
              <a:chOff x="4323539" y="5359411"/>
              <a:chExt cx="192114" cy="165051"/>
            </a:xfrm>
          </p:grpSpPr>
          <p:sp>
            <p:nvSpPr>
              <p:cNvPr id="47" name="Freeform 47"/>
              <p:cNvSpPr/>
              <p:nvPr/>
            </p:nvSpPr>
            <p:spPr>
              <a:xfrm>
                <a:off x="4419600" y="5419725"/>
                <a:ext cx="9525" cy="38100"/>
              </a:xfrm>
              <a:custGeom>
                <a:avLst/>
                <a:gdLst/>
                <a:ahLst/>
                <a:cxnLst/>
                <a:rect l="l" t="t" r="r" b="b"/>
                <a:pathLst>
                  <a:path w="9525" h="38100">
                    <a:moveTo>
                      <a:pt x="0" y="0"/>
                    </a:moveTo>
                    <a:lnTo>
                      <a:pt x="0" y="38100"/>
                    </a:lnTo>
                  </a:path>
                </a:pathLst>
              </a:custGeom>
              <a:noFill/>
              <a:ln w="19050">
                <a:solidFill>
                  <a:srgbClr val="C0392B"/>
                </a:solidFill>
              </a:ln>
            </p:spPr>
          </p:sp>
          <p:sp>
            <p:nvSpPr>
              <p:cNvPr id="48" name="Freeform 48"/>
              <p:cNvSpPr/>
              <p:nvPr/>
            </p:nvSpPr>
            <p:spPr>
              <a:xfrm>
                <a:off x="4323539" y="5359411"/>
                <a:ext cx="192114" cy="165051"/>
              </a:xfrm>
              <a:custGeom>
                <a:avLst/>
                <a:gdLst/>
                <a:ahLst/>
                <a:cxnLst/>
                <a:rect l="l" t="t" r="r" b="b"/>
                <a:pathLst>
                  <a:path w="192114" h="165051">
                    <a:moveTo>
                      <a:pt x="80468" y="8794"/>
                    </a:moveTo>
                    <a:lnTo>
                      <a:pt x="3259" y="137705"/>
                    </a:lnTo>
                    <a:cubicBezTo>
                      <a:pt x="20" y="143314"/>
                      <a:pt x="0" y="150220"/>
                      <a:pt x="3207" y="155848"/>
                    </a:cubicBezTo>
                    <a:cubicBezTo>
                      <a:pt x="6413" y="161475"/>
                      <a:pt x="12365" y="164979"/>
                      <a:pt x="18842" y="165051"/>
                    </a:cubicBezTo>
                    <a:lnTo>
                      <a:pt x="173280" y="165051"/>
                    </a:lnTo>
                    <a:cubicBezTo>
                      <a:pt x="179753" y="164977"/>
                      <a:pt x="185702" y="161474"/>
                      <a:pt x="188908" y="155850"/>
                    </a:cubicBezTo>
                    <a:cubicBezTo>
                      <a:pt x="192114" y="150226"/>
                      <a:pt x="192097" y="143323"/>
                      <a:pt x="188863" y="137715"/>
                    </a:cubicBezTo>
                    <a:lnTo>
                      <a:pt x="111653" y="8784"/>
                    </a:lnTo>
                    <a:cubicBezTo>
                      <a:pt x="108349" y="3331"/>
                      <a:pt x="102437" y="0"/>
                      <a:pt x="96061" y="0"/>
                    </a:cubicBezTo>
                    <a:cubicBezTo>
                      <a:pt x="89685" y="0"/>
                      <a:pt x="83772" y="3331"/>
                      <a:pt x="80468" y="8784"/>
                    </a:cubicBezTo>
                  </a:path>
                </a:pathLst>
              </a:custGeom>
              <a:noFill/>
              <a:ln w="19050">
                <a:solidFill>
                  <a:srgbClr val="C0392B"/>
                </a:solidFill>
              </a:ln>
            </p:spPr>
          </p:sp>
          <p:sp>
            <p:nvSpPr>
              <p:cNvPr id="49" name="Freeform 49"/>
              <p:cNvSpPr/>
              <p:nvPr/>
            </p:nvSpPr>
            <p:spPr>
              <a:xfrm>
                <a:off x="4419600" y="5486400"/>
                <a:ext cx="9525" cy="9525"/>
              </a:xfrm>
              <a:custGeom>
                <a:avLst/>
                <a:gdLst/>
                <a:ahLst/>
                <a:cxnLst/>
                <a:rect l="l" t="t" r="r" b="b"/>
                <a:pathLst>
                  <a:path w="9525" h="9525">
                    <a:moveTo>
                      <a:pt x="0" y="0"/>
                    </a:moveTo>
                    <a:lnTo>
                      <a:pt x="95" y="0"/>
                    </a:lnTo>
                  </a:path>
                </a:pathLst>
              </a:custGeom>
              <a:noFill/>
              <a:ln w="19050">
                <a:solidFill>
                  <a:srgbClr val="C0392B"/>
                </a:solidFill>
              </a:ln>
            </p:spPr>
          </p:sp>
        </p:grpSp>
        <p:sp>
          <p:nvSpPr>
            <p:cNvPr id="51" name="TextBox 51"/>
            <p:cNvSpPr txBox="1"/>
            <p:nvPr/>
          </p:nvSpPr>
          <p:spPr>
            <a:xfrm>
              <a:off x="4621530" y="5353050"/>
              <a:ext cx="3296879"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Thiếu Tiêu chí</a:t>
              </a:r>
              <a:r>
                <a:rPr lang="vi-VN" sz="1500" dirty="0">
                  <a:solidFill>
                    <a:schemeClr val="dk1"/>
                  </a:solidFill>
                  <a:latin typeface="+mn-lt"/>
                  <a:ea typeface="+mn-ea"/>
                  <a:cs typeface="+mn-cs"/>
                </a:rPr>
                <a:t> → lan man, hứa bừa</a:t>
              </a:r>
            </a:p>
          </p:txBody>
        </p:sp>
        <p:grpSp>
          <p:nvGrpSpPr>
            <p:cNvPr id="55" name="Group 55"/>
            <p:cNvGrpSpPr/>
            <p:nvPr/>
          </p:nvGrpSpPr>
          <p:grpSpPr>
            <a:xfrm>
              <a:off x="8038289" y="5359411"/>
              <a:ext cx="192114" cy="165051"/>
              <a:chOff x="8038289" y="5359411"/>
              <a:chExt cx="192114" cy="165051"/>
            </a:xfrm>
          </p:grpSpPr>
          <p:sp>
            <p:nvSpPr>
              <p:cNvPr id="52" name="Freeform 52"/>
              <p:cNvSpPr/>
              <p:nvPr/>
            </p:nvSpPr>
            <p:spPr>
              <a:xfrm>
                <a:off x="8134350" y="5419725"/>
                <a:ext cx="9525" cy="38100"/>
              </a:xfrm>
              <a:custGeom>
                <a:avLst/>
                <a:gdLst/>
                <a:ahLst/>
                <a:cxnLst/>
                <a:rect l="l" t="t" r="r" b="b"/>
                <a:pathLst>
                  <a:path w="9525" h="38100">
                    <a:moveTo>
                      <a:pt x="0" y="0"/>
                    </a:moveTo>
                    <a:lnTo>
                      <a:pt x="0" y="38100"/>
                    </a:lnTo>
                  </a:path>
                </a:pathLst>
              </a:custGeom>
              <a:noFill/>
              <a:ln w="19050">
                <a:solidFill>
                  <a:srgbClr val="C0392B"/>
                </a:solidFill>
              </a:ln>
            </p:spPr>
          </p:sp>
          <p:sp>
            <p:nvSpPr>
              <p:cNvPr id="53" name="Freeform 53"/>
              <p:cNvSpPr/>
              <p:nvPr/>
            </p:nvSpPr>
            <p:spPr>
              <a:xfrm>
                <a:off x="8038289" y="5359411"/>
                <a:ext cx="192114" cy="165051"/>
              </a:xfrm>
              <a:custGeom>
                <a:avLst/>
                <a:gdLst/>
                <a:ahLst/>
                <a:cxnLst/>
                <a:rect l="l" t="t" r="r" b="b"/>
                <a:pathLst>
                  <a:path w="192114" h="165051">
                    <a:moveTo>
                      <a:pt x="80468" y="8794"/>
                    </a:moveTo>
                    <a:lnTo>
                      <a:pt x="3259" y="137705"/>
                    </a:lnTo>
                    <a:cubicBezTo>
                      <a:pt x="20" y="143314"/>
                      <a:pt x="0" y="150220"/>
                      <a:pt x="3207" y="155848"/>
                    </a:cubicBezTo>
                    <a:cubicBezTo>
                      <a:pt x="6413" y="161475"/>
                      <a:pt x="12365" y="164979"/>
                      <a:pt x="18842" y="165051"/>
                    </a:cubicBezTo>
                    <a:lnTo>
                      <a:pt x="173280" y="165051"/>
                    </a:lnTo>
                    <a:cubicBezTo>
                      <a:pt x="179753" y="164977"/>
                      <a:pt x="185702" y="161474"/>
                      <a:pt x="188908" y="155850"/>
                    </a:cubicBezTo>
                    <a:cubicBezTo>
                      <a:pt x="192114" y="150226"/>
                      <a:pt x="192097" y="143323"/>
                      <a:pt x="188863" y="137715"/>
                    </a:cubicBezTo>
                    <a:lnTo>
                      <a:pt x="111653" y="8784"/>
                    </a:lnTo>
                    <a:cubicBezTo>
                      <a:pt x="108349" y="3331"/>
                      <a:pt x="102437" y="0"/>
                      <a:pt x="96061" y="0"/>
                    </a:cubicBezTo>
                    <a:cubicBezTo>
                      <a:pt x="89685" y="0"/>
                      <a:pt x="83772" y="3331"/>
                      <a:pt x="80468" y="8784"/>
                    </a:cubicBezTo>
                  </a:path>
                </a:pathLst>
              </a:custGeom>
              <a:noFill/>
              <a:ln w="19050">
                <a:solidFill>
                  <a:srgbClr val="C0392B"/>
                </a:solidFill>
              </a:ln>
            </p:spPr>
          </p:sp>
          <p:sp>
            <p:nvSpPr>
              <p:cNvPr id="54" name="Freeform 54"/>
              <p:cNvSpPr/>
              <p:nvPr/>
            </p:nvSpPr>
            <p:spPr>
              <a:xfrm>
                <a:off x="8134350" y="5486400"/>
                <a:ext cx="9525" cy="9525"/>
              </a:xfrm>
              <a:custGeom>
                <a:avLst/>
                <a:gdLst/>
                <a:ahLst/>
                <a:cxnLst/>
                <a:rect l="l" t="t" r="r" b="b"/>
                <a:pathLst>
                  <a:path w="9525" h="9525">
                    <a:moveTo>
                      <a:pt x="0" y="0"/>
                    </a:moveTo>
                    <a:lnTo>
                      <a:pt x="95" y="0"/>
                    </a:lnTo>
                  </a:path>
                </a:pathLst>
              </a:custGeom>
              <a:noFill/>
              <a:ln w="19050">
                <a:solidFill>
                  <a:srgbClr val="C0392B"/>
                </a:solidFill>
              </a:ln>
            </p:spPr>
          </p:sp>
        </p:grpSp>
        <p:sp>
          <p:nvSpPr>
            <p:cNvPr id="56" name="TextBox 56"/>
            <p:cNvSpPr txBox="1"/>
            <p:nvPr/>
          </p:nvSpPr>
          <p:spPr>
            <a:xfrm>
              <a:off x="8336280" y="5353050"/>
              <a:ext cx="3153955"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Thiếu Định dạng</a:t>
              </a:r>
              <a:r>
                <a:rPr lang="vi-VN" sz="1500" dirty="0">
                  <a:solidFill>
                    <a:schemeClr val="dk1"/>
                  </a:solidFill>
                  <a:latin typeface="+mn-lt"/>
                  <a:ea typeface="+mn-ea"/>
                  <a:cs typeface="+mn-cs"/>
                </a:rPr>
                <a:t> → sửa lại từ đầu</a:t>
              </a:r>
            </a:p>
          </p:txBody>
        </p:sp>
      </p:grpSp>
      <p:sp>
        <p:nvSpPr>
          <p:cNvPr id="58" name="TextBox 58"/>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59" name="TextBox 59"/>
          <p:cNvSpPr txBox="1"/>
          <p:nvPr/>
        </p:nvSpPr>
        <p:spPr>
          <a:xfrm>
            <a:off x="7523727" y="6554152"/>
            <a:ext cx="3625857"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Ví dụ từ dữ liệu demo Wir (danh sách lead) · minh hoạ</a:t>
            </a:r>
          </a:p>
        </p:txBody>
      </p:sp>
      <p:sp>
        <p:nvSpPr>
          <p:cNvPr id="60" name="TextBox 60"/>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13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4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4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fade">
                                      <p:cBhvr>
                                        <p:cTn id="27"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1625529" cy="234696"/>
            <a:chOff x="381000" y="346710"/>
            <a:chExt cx="1625529" cy="234696"/>
          </a:xfrm>
        </p:grpSpPr>
        <p:sp>
          <p:nvSpPr>
            <p:cNvPr id="2" name="Rectangle 2"/>
            <p:cNvSpPr/>
            <p:nvPr/>
          </p:nvSpPr>
          <p:spPr>
            <a:xfrm>
              <a:off x="381000" y="361950"/>
              <a:ext cx="114300" cy="114300"/>
            </a:xfrm>
            <a:prstGeom prst="roundRect">
              <a:avLst>
                <a:gd name="adj" fmla="val 25000"/>
              </a:avLst>
            </a:prstGeom>
            <a:solidFill>
              <a:schemeClr val="accent3"/>
            </a:solidFill>
            <a:ln>
              <a:noFill/>
            </a:ln>
          </p:spPr>
        </p:sp>
        <p:sp>
          <p:nvSpPr>
            <p:cNvPr id="3" name="TextBox 3"/>
            <p:cNvSpPr txBox="1"/>
            <p:nvPr/>
          </p:nvSpPr>
          <p:spPr>
            <a:xfrm>
              <a:off x="584454" y="346710"/>
              <a:ext cx="1422075"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2 · DEMO</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chemeClr val="accent2"/>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5700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8895112"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Prompt một dòng cho tin nhắn chung chung;</a:t>
            </a:r>
            <a:br/>
            <a:r>
              <a:rPr lang="vi-VN" sz="3150" b="1" dirty="0">
                <a:solidFill>
                  <a:schemeClr val="accent1"/>
                </a:solidFill>
                <a:latin typeface="+mn-lt"/>
                <a:ea typeface="+mn-ea"/>
                <a:cs typeface="+mn-cs"/>
              </a:rPr>
              <a:t>prompt đủ 4 phần cho tin nhắn gửi được ngay</a:t>
            </a:r>
          </a:p>
        </p:txBody>
      </p:sp>
      <p:grpSp>
        <p:nvGrpSpPr>
          <p:cNvPr id="40" name="Group 40"/>
          <p:cNvGrpSpPr/>
          <p:nvPr/>
        </p:nvGrpSpPr>
        <p:grpSpPr>
          <a:xfrm>
            <a:off x="381000" y="2114550"/>
            <a:ext cx="4648200" cy="3562350"/>
            <a:chOff x="381000" y="2114550"/>
            <a:chExt cx="4648200" cy="3562350"/>
          </a:xfrm>
        </p:grpSpPr>
        <p:sp>
          <p:nvSpPr>
            <p:cNvPr id="17" name="Rectangle 17"/>
            <p:cNvSpPr/>
            <p:nvPr/>
          </p:nvSpPr>
          <p:spPr>
            <a:xfrm>
              <a:off x="381000" y="2114550"/>
              <a:ext cx="4648200" cy="3562350"/>
            </a:xfrm>
            <a:prstGeom prst="roundRect">
              <a:avLst>
                <a:gd name="adj" fmla="val 4278"/>
              </a:avLst>
            </a:prstGeom>
            <a:solidFill>
              <a:schemeClr val="lt1"/>
            </a:solidFill>
            <a:ln w="19050">
              <a:solidFill>
                <a:srgbClr val="C0392B"/>
              </a:solidFill>
            </a:ln>
          </p:spPr>
        </p:sp>
        <p:grpSp>
          <p:nvGrpSpPr>
            <p:cNvPr id="20" name="Group 20"/>
            <p:cNvGrpSpPr/>
            <p:nvPr/>
          </p:nvGrpSpPr>
          <p:grpSpPr>
            <a:xfrm>
              <a:off x="640556" y="2316956"/>
              <a:ext cx="185737" cy="185737"/>
              <a:chOff x="640556" y="2316956"/>
              <a:chExt cx="185737" cy="185737"/>
            </a:xfrm>
          </p:grpSpPr>
          <p:sp>
            <p:nvSpPr>
              <p:cNvPr id="18" name="Freeform 18"/>
              <p:cNvSpPr/>
              <p:nvPr/>
            </p:nvSpPr>
            <p:spPr>
              <a:xfrm>
                <a:off x="640556" y="231695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rgbClr val="C0392B"/>
                </a:solidFill>
              </a:ln>
            </p:spPr>
          </p:sp>
          <p:sp>
            <p:nvSpPr>
              <p:cNvPr id="19" name="Freeform 19"/>
              <p:cNvSpPr/>
              <p:nvPr/>
            </p:nvSpPr>
            <p:spPr>
              <a:xfrm>
                <a:off x="712787" y="2389187"/>
                <a:ext cx="41275" cy="41275"/>
              </a:xfrm>
              <a:custGeom>
                <a:avLst/>
                <a:gdLst/>
                <a:ahLst/>
                <a:cxnLst/>
                <a:rect l="l" t="t" r="r" b="b"/>
                <a:pathLst>
                  <a:path w="41275" h="41275">
                    <a:moveTo>
                      <a:pt x="0" y="0"/>
                    </a:moveTo>
                    <a:lnTo>
                      <a:pt x="41275" y="41275"/>
                    </a:lnTo>
                    <a:moveTo>
                      <a:pt x="41275" y="0"/>
                    </a:moveTo>
                    <a:lnTo>
                      <a:pt x="0" y="41275"/>
                    </a:lnTo>
                  </a:path>
                </a:pathLst>
              </a:custGeom>
              <a:noFill/>
              <a:ln w="20637">
                <a:solidFill>
                  <a:srgbClr val="C0392B"/>
                </a:solidFill>
              </a:ln>
            </p:spPr>
          </p:sp>
        </p:grpSp>
        <p:sp>
          <p:nvSpPr>
            <p:cNvPr id="21" name="TextBox 21"/>
            <p:cNvSpPr txBox="1"/>
            <p:nvPr/>
          </p:nvSpPr>
          <p:spPr>
            <a:xfrm>
              <a:off x="945642" y="2330768"/>
              <a:ext cx="1198504" cy="264033"/>
            </a:xfrm>
            <a:prstGeom prst="rect">
              <a:avLst/>
            </a:prstGeom>
            <a:noFill/>
            <a:ln>
              <a:noFill/>
            </a:ln>
          </p:spPr>
          <p:txBody>
            <a:bodyPr wrap="none" lIns="0" tIns="0" rIns="0" bIns="0" anchor="t" anchorCtr="0">
              <a:spAutoFit/>
            </a:bodyPr>
            <a:lstStyle/>
            <a:p>
              <a:pPr algn="l"/>
              <a:r>
                <a:rPr lang="vi-VN" sz="1350" b="1" spc="75" dirty="0">
                  <a:solidFill>
                    <a:srgbClr val="C0392B"/>
                  </a:solidFill>
                  <a:latin typeface="+mn-lt"/>
                  <a:ea typeface="+mn-ea"/>
                  <a:cs typeface="+mn-cs"/>
                </a:rPr>
                <a:t>PROMPT TỒI</a:t>
              </a:r>
            </a:p>
          </p:txBody>
        </p:sp>
        <p:sp>
          <p:nvSpPr>
            <p:cNvPr id="22" name="Rectangle 22"/>
            <p:cNvSpPr/>
            <p:nvPr/>
          </p:nvSpPr>
          <p:spPr>
            <a:xfrm>
              <a:off x="609600" y="2686050"/>
              <a:ext cx="4191000" cy="609600"/>
            </a:xfrm>
            <a:prstGeom prst="roundRect">
              <a:avLst>
                <a:gd name="adj" fmla="val 15625"/>
              </a:avLst>
            </a:prstGeom>
            <a:solidFill>
              <a:schemeClr val="lt2"/>
            </a:solidFill>
            <a:ln>
              <a:noFill/>
            </a:ln>
          </p:spPr>
        </p:sp>
        <p:sp>
          <p:nvSpPr>
            <p:cNvPr id="23" name="TextBox 23"/>
            <p:cNvSpPr txBox="1"/>
            <p:nvPr/>
          </p:nvSpPr>
          <p:spPr>
            <a:xfrm>
              <a:off x="791718" y="2888932"/>
              <a:ext cx="3208106" cy="322707"/>
            </a:xfrm>
            <a:prstGeom prst="rect">
              <a:avLst/>
            </a:prstGeom>
            <a:noFill/>
            <a:ln>
              <a:noFill/>
            </a:ln>
          </p:spPr>
          <p:txBody>
            <a:bodyPr wrap="none" lIns="0" tIns="0" rIns="0" bIns="0" anchor="t" anchorCtr="0">
              <a:spAutoFit/>
            </a:bodyPr>
            <a:lstStyle/>
            <a:p>
              <a:pPr algn="l"/>
              <a:r>
                <a:rPr lang="vi-VN" sz="1650" dirty="0">
                  <a:solidFill>
                    <a:schemeClr val="accent1"/>
                  </a:solidFill>
                  <a:latin typeface="Consolas"/>
                  <a:ea typeface="Consolas"/>
                  <a:cs typeface="Consolas"/>
                </a:rPr>
                <a:t>Trả lời spa hỏi giá sỉ Elasten.</a:t>
              </a:r>
            </a:p>
          </p:txBody>
        </p:sp>
        <p:sp>
          <p:nvSpPr>
            <p:cNvPr id="24" name="TextBox 24"/>
            <p:cNvSpPr txBox="1"/>
            <p:nvPr/>
          </p:nvSpPr>
          <p:spPr>
            <a:xfrm>
              <a:off x="603504" y="3604260"/>
              <a:ext cx="757245"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KẾT QUẢ THẬT · 09/10/2026</a:t>
              </a:r>
            </a:p>
          </p:txBody>
        </p:sp>
        <p:grpSp>
          <p:nvGrpSpPr>
            <p:cNvPr id="28" name="Group 28"/>
            <p:cNvGrpSpPr/>
            <p:nvPr/>
          </p:nvGrpSpPr>
          <p:grpSpPr>
            <a:xfrm>
              <a:off x="626319" y="3966643"/>
              <a:ext cx="176105" cy="151297"/>
              <a:chOff x="626319" y="3966643"/>
              <a:chExt cx="176105" cy="151297"/>
            </a:xfrm>
          </p:grpSpPr>
          <p:sp>
            <p:nvSpPr>
              <p:cNvPr id="25" name="Freeform 25"/>
              <p:cNvSpPr/>
              <p:nvPr/>
            </p:nvSpPr>
            <p:spPr>
              <a:xfrm>
                <a:off x="714375" y="4021931"/>
                <a:ext cx="9525" cy="34925"/>
              </a:xfrm>
              <a:custGeom>
                <a:avLst/>
                <a:gdLst/>
                <a:ahLst/>
                <a:cxnLst/>
                <a:rect l="l" t="t" r="r" b="b"/>
                <a:pathLst>
                  <a:path w="9525" h="34925">
                    <a:moveTo>
                      <a:pt x="0" y="0"/>
                    </a:moveTo>
                    <a:lnTo>
                      <a:pt x="0" y="34925"/>
                    </a:lnTo>
                  </a:path>
                </a:pathLst>
              </a:custGeom>
              <a:noFill/>
              <a:ln w="17463">
                <a:solidFill>
                  <a:srgbClr val="C0392B"/>
                </a:solidFill>
              </a:ln>
            </p:spPr>
          </p:sp>
          <p:sp>
            <p:nvSpPr>
              <p:cNvPr id="26" name="Freeform 26"/>
              <p:cNvSpPr/>
              <p:nvPr/>
            </p:nvSpPr>
            <p:spPr>
              <a:xfrm>
                <a:off x="626319" y="3966643"/>
                <a:ext cx="176105" cy="151297"/>
              </a:xfrm>
              <a:custGeom>
                <a:avLst/>
                <a:gdLst/>
                <a:ahLst/>
                <a:cxnLst/>
                <a:rect l="l" t="t" r="r" b="b"/>
                <a:pathLst>
                  <a:path w="176105" h="151297">
                    <a:moveTo>
                      <a:pt x="73763" y="8061"/>
                    </a:moveTo>
                    <a:lnTo>
                      <a:pt x="2987" y="126230"/>
                    </a:lnTo>
                    <a:cubicBezTo>
                      <a:pt x="18" y="131371"/>
                      <a:pt x="0" y="137702"/>
                      <a:pt x="2939" y="142860"/>
                    </a:cubicBezTo>
                    <a:cubicBezTo>
                      <a:pt x="5879" y="148019"/>
                      <a:pt x="11335" y="151230"/>
                      <a:pt x="17271" y="151297"/>
                    </a:cubicBezTo>
                    <a:lnTo>
                      <a:pt x="158840" y="151297"/>
                    </a:lnTo>
                    <a:cubicBezTo>
                      <a:pt x="164774" y="151229"/>
                      <a:pt x="170227" y="148018"/>
                      <a:pt x="173166" y="142863"/>
                    </a:cubicBezTo>
                    <a:cubicBezTo>
                      <a:pt x="176105" y="137707"/>
                      <a:pt x="176089" y="131379"/>
                      <a:pt x="173124" y="126238"/>
                    </a:cubicBezTo>
                    <a:lnTo>
                      <a:pt x="102349" y="8052"/>
                    </a:lnTo>
                    <a:cubicBezTo>
                      <a:pt x="99320" y="3053"/>
                      <a:pt x="93900" y="0"/>
                      <a:pt x="88056" y="0"/>
                    </a:cubicBezTo>
                    <a:cubicBezTo>
                      <a:pt x="82211" y="0"/>
                      <a:pt x="76791" y="3053"/>
                      <a:pt x="73763" y="8052"/>
                    </a:cubicBezTo>
                  </a:path>
                </a:pathLst>
              </a:custGeom>
              <a:noFill/>
              <a:ln w="17463">
                <a:solidFill>
                  <a:srgbClr val="C0392B"/>
                </a:solidFill>
              </a:ln>
            </p:spPr>
          </p:sp>
          <p:sp>
            <p:nvSpPr>
              <p:cNvPr id="27" name="Freeform 27"/>
              <p:cNvSpPr/>
              <p:nvPr/>
            </p:nvSpPr>
            <p:spPr>
              <a:xfrm>
                <a:off x="714375" y="4083050"/>
                <a:ext cx="9525" cy="9525"/>
              </a:xfrm>
              <a:custGeom>
                <a:avLst/>
                <a:gdLst/>
                <a:ahLst/>
                <a:cxnLst/>
                <a:rect l="l" t="t" r="r" b="b"/>
                <a:pathLst>
                  <a:path w="9525" h="9525">
                    <a:moveTo>
                      <a:pt x="0" y="0"/>
                    </a:moveTo>
                    <a:lnTo>
                      <a:pt x="87" y="0"/>
                    </a:lnTo>
                  </a:path>
                </a:pathLst>
              </a:custGeom>
              <a:noFill/>
              <a:ln w="17463">
                <a:solidFill>
                  <a:srgbClr val="C0392B"/>
                </a:solidFill>
              </a:ln>
            </p:spPr>
          </p:sp>
        </p:grpSp>
        <p:sp>
          <p:nvSpPr>
            <p:cNvPr id="29" name="TextBox 29"/>
            <p:cNvSpPr txBox="1"/>
            <p:nvPr/>
          </p:nvSpPr>
          <p:spPr>
            <a:xfrm>
              <a:off x="925830" y="3952875"/>
              <a:ext cx="981194"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Hỏi lại số lượng, mất thêm 1 lượt</a:t>
              </a:r>
            </a:p>
          </p:txBody>
        </p:sp>
        <p:grpSp>
          <p:nvGrpSpPr>
            <p:cNvPr id="33" name="Group 33"/>
            <p:cNvGrpSpPr/>
            <p:nvPr/>
          </p:nvGrpSpPr>
          <p:grpSpPr>
            <a:xfrm>
              <a:off x="626319" y="4347643"/>
              <a:ext cx="176105" cy="151297"/>
              <a:chOff x="626319" y="4347643"/>
              <a:chExt cx="176105" cy="151297"/>
            </a:xfrm>
          </p:grpSpPr>
          <p:sp>
            <p:nvSpPr>
              <p:cNvPr id="30" name="Freeform 30"/>
              <p:cNvSpPr/>
              <p:nvPr/>
            </p:nvSpPr>
            <p:spPr>
              <a:xfrm>
                <a:off x="714375" y="4402931"/>
                <a:ext cx="9525" cy="34925"/>
              </a:xfrm>
              <a:custGeom>
                <a:avLst/>
                <a:gdLst/>
                <a:ahLst/>
                <a:cxnLst/>
                <a:rect l="l" t="t" r="r" b="b"/>
                <a:pathLst>
                  <a:path w="9525" h="34925">
                    <a:moveTo>
                      <a:pt x="0" y="0"/>
                    </a:moveTo>
                    <a:lnTo>
                      <a:pt x="0" y="34925"/>
                    </a:lnTo>
                  </a:path>
                </a:pathLst>
              </a:custGeom>
              <a:noFill/>
              <a:ln w="17463">
                <a:solidFill>
                  <a:srgbClr val="C0392B"/>
                </a:solidFill>
              </a:ln>
            </p:spPr>
          </p:sp>
          <p:sp>
            <p:nvSpPr>
              <p:cNvPr id="31" name="Freeform 31"/>
              <p:cNvSpPr/>
              <p:nvPr/>
            </p:nvSpPr>
            <p:spPr>
              <a:xfrm>
                <a:off x="626319" y="4347643"/>
                <a:ext cx="176105" cy="151297"/>
              </a:xfrm>
              <a:custGeom>
                <a:avLst/>
                <a:gdLst/>
                <a:ahLst/>
                <a:cxnLst/>
                <a:rect l="l" t="t" r="r" b="b"/>
                <a:pathLst>
                  <a:path w="176105" h="151297">
                    <a:moveTo>
                      <a:pt x="73763" y="8061"/>
                    </a:moveTo>
                    <a:lnTo>
                      <a:pt x="2987" y="126230"/>
                    </a:lnTo>
                    <a:cubicBezTo>
                      <a:pt x="18" y="131371"/>
                      <a:pt x="0" y="137702"/>
                      <a:pt x="2939" y="142860"/>
                    </a:cubicBezTo>
                    <a:cubicBezTo>
                      <a:pt x="5879" y="148019"/>
                      <a:pt x="11335" y="151230"/>
                      <a:pt x="17271" y="151297"/>
                    </a:cubicBezTo>
                    <a:lnTo>
                      <a:pt x="158840" y="151297"/>
                    </a:lnTo>
                    <a:cubicBezTo>
                      <a:pt x="164774" y="151229"/>
                      <a:pt x="170227" y="148018"/>
                      <a:pt x="173166" y="142863"/>
                    </a:cubicBezTo>
                    <a:cubicBezTo>
                      <a:pt x="176105" y="137707"/>
                      <a:pt x="176089" y="131379"/>
                      <a:pt x="173124" y="126238"/>
                    </a:cubicBezTo>
                    <a:lnTo>
                      <a:pt x="102349" y="8052"/>
                    </a:lnTo>
                    <a:cubicBezTo>
                      <a:pt x="99320" y="3053"/>
                      <a:pt x="93900" y="0"/>
                      <a:pt x="88056" y="0"/>
                    </a:cubicBezTo>
                    <a:cubicBezTo>
                      <a:pt x="82211" y="0"/>
                      <a:pt x="76791" y="3053"/>
                      <a:pt x="73763" y="8052"/>
                    </a:cubicBezTo>
                  </a:path>
                </a:pathLst>
              </a:custGeom>
              <a:noFill/>
              <a:ln w="17463">
                <a:solidFill>
                  <a:srgbClr val="C0392B"/>
                </a:solidFill>
              </a:ln>
            </p:spPr>
          </p:sp>
          <p:sp>
            <p:nvSpPr>
              <p:cNvPr id="32" name="Freeform 32"/>
              <p:cNvSpPr/>
              <p:nvPr/>
            </p:nvSpPr>
            <p:spPr>
              <a:xfrm>
                <a:off x="714375" y="4464050"/>
                <a:ext cx="9525" cy="9525"/>
              </a:xfrm>
              <a:custGeom>
                <a:avLst/>
                <a:gdLst/>
                <a:ahLst/>
                <a:cxnLst/>
                <a:rect l="l" t="t" r="r" b="b"/>
                <a:pathLst>
                  <a:path w="9525" h="9525">
                    <a:moveTo>
                      <a:pt x="0" y="0"/>
                    </a:moveTo>
                    <a:lnTo>
                      <a:pt x="87" y="0"/>
                    </a:lnTo>
                  </a:path>
                </a:pathLst>
              </a:custGeom>
              <a:noFill/>
              <a:ln w="17463">
                <a:solidFill>
                  <a:srgbClr val="C0392B"/>
                </a:solidFill>
              </a:ln>
            </p:spPr>
          </p:sp>
        </p:grpSp>
        <p:sp>
          <p:nvSpPr>
            <p:cNvPr id="34" name="TextBox 34"/>
            <p:cNvSpPr txBox="1"/>
            <p:nvPr/>
          </p:nvSpPr>
          <p:spPr>
            <a:xfrm>
              <a:off x="925830" y="4333875"/>
              <a:ext cx="2435133"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Thêm “collagen Đức”, emoji ❤️🌷</a:t>
              </a:r>
            </a:p>
          </p:txBody>
        </p:sp>
        <p:grpSp>
          <p:nvGrpSpPr>
            <p:cNvPr id="38" name="Group 38"/>
            <p:cNvGrpSpPr/>
            <p:nvPr/>
          </p:nvGrpSpPr>
          <p:grpSpPr>
            <a:xfrm>
              <a:off x="626319" y="4728643"/>
              <a:ext cx="176105" cy="151297"/>
              <a:chOff x="626319" y="4728643"/>
              <a:chExt cx="176105" cy="151297"/>
            </a:xfrm>
          </p:grpSpPr>
          <p:sp>
            <p:nvSpPr>
              <p:cNvPr id="35" name="Freeform 35"/>
              <p:cNvSpPr/>
              <p:nvPr/>
            </p:nvSpPr>
            <p:spPr>
              <a:xfrm>
                <a:off x="714375" y="4783931"/>
                <a:ext cx="9525" cy="34925"/>
              </a:xfrm>
              <a:custGeom>
                <a:avLst/>
                <a:gdLst/>
                <a:ahLst/>
                <a:cxnLst/>
                <a:rect l="l" t="t" r="r" b="b"/>
                <a:pathLst>
                  <a:path w="9525" h="34925">
                    <a:moveTo>
                      <a:pt x="0" y="0"/>
                    </a:moveTo>
                    <a:lnTo>
                      <a:pt x="0" y="34925"/>
                    </a:lnTo>
                  </a:path>
                </a:pathLst>
              </a:custGeom>
              <a:noFill/>
              <a:ln w="17463">
                <a:solidFill>
                  <a:srgbClr val="C0392B"/>
                </a:solidFill>
              </a:ln>
            </p:spPr>
          </p:sp>
          <p:sp>
            <p:nvSpPr>
              <p:cNvPr id="36" name="Freeform 36"/>
              <p:cNvSpPr/>
              <p:nvPr/>
            </p:nvSpPr>
            <p:spPr>
              <a:xfrm>
                <a:off x="626319" y="4728643"/>
                <a:ext cx="176105" cy="151297"/>
              </a:xfrm>
              <a:custGeom>
                <a:avLst/>
                <a:gdLst/>
                <a:ahLst/>
                <a:cxnLst/>
                <a:rect l="l" t="t" r="r" b="b"/>
                <a:pathLst>
                  <a:path w="176105" h="151297">
                    <a:moveTo>
                      <a:pt x="73763" y="8061"/>
                    </a:moveTo>
                    <a:lnTo>
                      <a:pt x="2987" y="126230"/>
                    </a:lnTo>
                    <a:cubicBezTo>
                      <a:pt x="18" y="131371"/>
                      <a:pt x="0" y="137702"/>
                      <a:pt x="2939" y="142860"/>
                    </a:cubicBezTo>
                    <a:cubicBezTo>
                      <a:pt x="5879" y="148019"/>
                      <a:pt x="11335" y="151230"/>
                      <a:pt x="17271" y="151297"/>
                    </a:cubicBezTo>
                    <a:lnTo>
                      <a:pt x="158840" y="151297"/>
                    </a:lnTo>
                    <a:cubicBezTo>
                      <a:pt x="164774" y="151229"/>
                      <a:pt x="170227" y="148018"/>
                      <a:pt x="173166" y="142863"/>
                    </a:cubicBezTo>
                    <a:cubicBezTo>
                      <a:pt x="176105" y="137707"/>
                      <a:pt x="176089" y="131379"/>
                      <a:pt x="173124" y="126238"/>
                    </a:cubicBezTo>
                    <a:lnTo>
                      <a:pt x="102349" y="8052"/>
                    </a:lnTo>
                    <a:cubicBezTo>
                      <a:pt x="99320" y="3053"/>
                      <a:pt x="93900" y="0"/>
                      <a:pt x="88056" y="0"/>
                    </a:cubicBezTo>
                    <a:cubicBezTo>
                      <a:pt x="82211" y="0"/>
                      <a:pt x="76791" y="3053"/>
                      <a:pt x="73763" y="8052"/>
                    </a:cubicBezTo>
                  </a:path>
                </a:pathLst>
              </a:custGeom>
              <a:noFill/>
              <a:ln w="17463">
                <a:solidFill>
                  <a:srgbClr val="C0392B"/>
                </a:solidFill>
              </a:ln>
            </p:spPr>
          </p:sp>
          <p:sp>
            <p:nvSpPr>
              <p:cNvPr id="37" name="Freeform 37"/>
              <p:cNvSpPr/>
              <p:nvPr/>
            </p:nvSpPr>
            <p:spPr>
              <a:xfrm>
                <a:off x="714375" y="4845050"/>
                <a:ext cx="9525" cy="9525"/>
              </a:xfrm>
              <a:custGeom>
                <a:avLst/>
                <a:gdLst/>
                <a:ahLst/>
                <a:cxnLst/>
                <a:rect l="l" t="t" r="r" b="b"/>
                <a:pathLst>
                  <a:path w="9525" h="9525">
                    <a:moveTo>
                      <a:pt x="0" y="0"/>
                    </a:moveTo>
                    <a:lnTo>
                      <a:pt x="87" y="0"/>
                    </a:lnTo>
                  </a:path>
                </a:pathLst>
              </a:custGeom>
              <a:noFill/>
              <a:ln w="17463">
                <a:solidFill>
                  <a:srgbClr val="C0392B"/>
                </a:solidFill>
              </a:ln>
            </p:spPr>
          </p:sp>
        </p:grpSp>
        <p:sp>
          <p:nvSpPr>
            <p:cNvPr id="39" name="TextBox 39"/>
            <p:cNvSpPr txBox="1"/>
            <p:nvPr/>
          </p:nvSpPr>
          <p:spPr>
            <a:xfrm>
              <a:off x="925830" y="4714875"/>
              <a:ext cx="1992018"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Bỏ qua bảng giá sỉ và câu bà bầu</a:t>
              </a:r>
            </a:p>
          </p:txBody>
        </p:sp>
      </p:grpSp>
      <p:grpSp>
        <p:nvGrpSpPr>
          <p:cNvPr id="62" name="Group 62"/>
          <p:cNvGrpSpPr/>
          <p:nvPr/>
        </p:nvGrpSpPr>
        <p:grpSpPr>
          <a:xfrm>
            <a:off x="5257800" y="2114550"/>
            <a:ext cx="6553200" cy="3562350"/>
            <a:chOff x="5257800" y="2114550"/>
            <a:chExt cx="6553200" cy="3562350"/>
          </a:xfrm>
        </p:grpSpPr>
        <p:sp>
          <p:nvSpPr>
            <p:cNvPr id="41" name="Rectangle 41"/>
            <p:cNvSpPr/>
            <p:nvPr/>
          </p:nvSpPr>
          <p:spPr>
            <a:xfrm>
              <a:off x="5257800" y="2114550"/>
              <a:ext cx="6553200" cy="3562350"/>
            </a:xfrm>
            <a:prstGeom prst="roundRect">
              <a:avLst>
                <a:gd name="adj" fmla="val 4278"/>
              </a:avLst>
            </a:prstGeom>
            <a:solidFill>
              <a:schemeClr val="lt1"/>
            </a:solidFill>
            <a:ln w="19050">
              <a:solidFill>
                <a:srgbClr val="2E8B57"/>
              </a:solidFill>
            </a:ln>
          </p:spPr>
        </p:sp>
        <p:grpSp>
          <p:nvGrpSpPr>
            <p:cNvPr id="44" name="Group 44"/>
            <p:cNvGrpSpPr/>
            <p:nvPr/>
          </p:nvGrpSpPr>
          <p:grpSpPr>
            <a:xfrm>
              <a:off x="5517356" y="2316956"/>
              <a:ext cx="185737" cy="185737"/>
              <a:chOff x="5517356" y="2316956"/>
              <a:chExt cx="185737" cy="185737"/>
            </a:xfrm>
          </p:grpSpPr>
          <p:sp>
            <p:nvSpPr>
              <p:cNvPr id="42" name="Freeform 42"/>
              <p:cNvSpPr/>
              <p:nvPr/>
            </p:nvSpPr>
            <p:spPr>
              <a:xfrm>
                <a:off x="5517356" y="231695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rgbClr val="2E8B57"/>
                </a:solidFill>
              </a:ln>
            </p:spPr>
          </p:sp>
          <p:sp>
            <p:nvSpPr>
              <p:cNvPr id="43" name="Freeform 43"/>
              <p:cNvSpPr/>
              <p:nvPr/>
            </p:nvSpPr>
            <p:spPr>
              <a:xfrm>
                <a:off x="5579268" y="2389187"/>
                <a:ext cx="61912" cy="41275"/>
              </a:xfrm>
              <a:custGeom>
                <a:avLst/>
                <a:gdLst/>
                <a:ahLst/>
                <a:cxnLst/>
                <a:rect l="l" t="t" r="r" b="b"/>
                <a:pathLst>
                  <a:path w="61912" h="41275">
                    <a:moveTo>
                      <a:pt x="0" y="20637"/>
                    </a:moveTo>
                    <a:lnTo>
                      <a:pt x="20637" y="41275"/>
                    </a:lnTo>
                    <a:lnTo>
                      <a:pt x="61912" y="0"/>
                    </a:lnTo>
                  </a:path>
                </a:pathLst>
              </a:custGeom>
              <a:noFill/>
              <a:ln w="20637">
                <a:solidFill>
                  <a:srgbClr val="2E8B57"/>
                </a:solidFill>
              </a:ln>
            </p:spPr>
          </p:sp>
        </p:grpSp>
        <p:sp>
          <p:nvSpPr>
            <p:cNvPr id="45" name="TextBox 45"/>
            <p:cNvSpPr txBox="1"/>
            <p:nvPr/>
          </p:nvSpPr>
          <p:spPr>
            <a:xfrm>
              <a:off x="5822442" y="2330768"/>
              <a:ext cx="1248910" cy="264033"/>
            </a:xfrm>
            <a:prstGeom prst="rect">
              <a:avLst/>
            </a:prstGeom>
            <a:noFill/>
            <a:ln>
              <a:noFill/>
            </a:ln>
          </p:spPr>
          <p:txBody>
            <a:bodyPr wrap="none" lIns="0" tIns="0" rIns="0" bIns="0" anchor="t" anchorCtr="0">
              <a:spAutoFit/>
            </a:bodyPr>
            <a:lstStyle/>
            <a:p>
              <a:pPr algn="l"/>
              <a:r>
                <a:rPr lang="vi-VN" sz="1350" b="1" spc="75" dirty="0">
                  <a:solidFill>
                    <a:srgbClr val="2E8B57"/>
                  </a:solidFill>
                  <a:latin typeface="+mn-lt"/>
                  <a:ea typeface="+mn-ea"/>
                  <a:cs typeface="+mn-cs"/>
                </a:rPr>
                <a:t>PROMPT TỐT</a:t>
              </a:r>
            </a:p>
          </p:txBody>
        </p:sp>
        <p:grpSp>
          <p:nvGrpSpPr>
            <p:cNvPr id="49" name="Group 49"/>
            <p:cNvGrpSpPr/>
            <p:nvPr/>
          </p:nvGrpSpPr>
          <p:grpSpPr>
            <a:xfrm>
              <a:off x="5486400" y="2686050"/>
              <a:ext cx="5684520" cy="1083945"/>
              <a:chOff x="5486400" y="2686050"/>
              <a:chExt cx="5684520" cy="1083945"/>
            </a:xfrm>
          </p:grpSpPr>
          <p:sp>
            <p:nvSpPr>
              <p:cNvPr id="46" name="Rectangle 46"/>
              <p:cNvSpPr/>
              <p:nvPr/>
            </p:nvSpPr>
            <p:spPr>
              <a:xfrm>
                <a:off x="5486400" y="2686050"/>
                <a:ext cx="1181100" cy="304800"/>
              </a:xfrm>
              <a:prstGeom prst="roundRect">
                <a:avLst>
                  <a:gd name="adj" fmla="val 50000"/>
                </a:avLst>
              </a:prstGeom>
              <a:solidFill>
                <a:schemeClr val="accent3"/>
              </a:solidFill>
              <a:ln>
                <a:noFill/>
              </a:ln>
            </p:spPr>
          </p:sp>
          <p:sp>
            <p:nvSpPr>
              <p:cNvPr id="47" name="TextBox 47"/>
              <p:cNvSpPr txBox="1"/>
              <p:nvPr/>
            </p:nvSpPr>
            <p:spPr>
              <a:xfrm>
                <a:off x="5652535" y="2743200"/>
                <a:ext cx="848830"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Bối cảnh</a:t>
                </a:r>
              </a:p>
            </p:txBody>
          </p:sp>
          <p:sp>
            <p:nvSpPr>
              <p:cNvPr id="48" name="TextBox 48"/>
              <p:cNvSpPr txBox="1"/>
              <p:nvPr/>
            </p:nvSpPr>
            <p:spPr>
              <a:xfrm>
                <a:off x="6812280" y="2733675"/>
                <a:ext cx="4358640" cy="103632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Sale Wir; Spa Ngọc Anh (3 chi nhánh) muốn nhập</a:t>
                </a:r>
                <a:br/>
                <a:r>
                  <a:rPr lang="vi-VN" sz="1500" dirty="0">
                    <a:solidFill>
                      <a:schemeClr val="dk1"/>
                    </a:solidFill>
                    <a:latin typeface="+mn-lt"/>
                    <a:ea typeface="+mn-ea"/>
                    <a:cs typeface="+mn-cs"/>
                  </a:rPr>
                  <a:t>thử 20 hộp Elasten/tháng, hỏi bà bầu dùng được</a:t>
                </a:r>
                <a:br/>
                <a:r>
                  <a:rPr lang="vi-VN" sz="1500" dirty="0">
                    <a:solidFill>
                      <a:schemeClr val="dk1"/>
                    </a:solidFill>
                    <a:latin typeface="+mn-lt"/>
                    <a:ea typeface="+mn-ea"/>
                    <a:cs typeface="+mn-cs"/>
                  </a:rPr>
                  <a:t>không; giám định: không gây rủi ro cho phụ nữ</a:t>
                </a:r>
                <a:br/>
                <a:r>
                  <a:rPr lang="vi-VN" sz="1500" dirty="0">
                    <a:solidFill>
                      <a:schemeClr val="dk1"/>
                    </a:solidFill>
                    <a:latin typeface="+mn-lt"/>
                    <a:ea typeface="+mn-ea"/>
                    <a:cs typeface="+mn-cs"/>
                  </a:rPr>
                  <a:t>mang thai, cho con bú</a:t>
                </a:r>
              </a:p>
            </p:txBody>
          </p:sp>
        </p:grpSp>
        <p:grpSp>
          <p:nvGrpSpPr>
            <p:cNvPr id="53" name="Group 53"/>
            <p:cNvGrpSpPr/>
            <p:nvPr/>
          </p:nvGrpSpPr>
          <p:grpSpPr>
            <a:xfrm>
              <a:off x="5486400" y="3829050"/>
              <a:ext cx="2821627" cy="350520"/>
              <a:chOff x="5486400" y="3829050"/>
              <a:chExt cx="2821627" cy="350520"/>
            </a:xfrm>
          </p:grpSpPr>
          <p:sp>
            <p:nvSpPr>
              <p:cNvPr id="50" name="Rectangle 50"/>
              <p:cNvSpPr/>
              <p:nvPr/>
            </p:nvSpPr>
            <p:spPr>
              <a:xfrm>
                <a:off x="5486400" y="3829050"/>
                <a:ext cx="1181100" cy="304800"/>
              </a:xfrm>
              <a:prstGeom prst="roundRect">
                <a:avLst>
                  <a:gd name="adj" fmla="val 50000"/>
                </a:avLst>
              </a:prstGeom>
              <a:solidFill>
                <a:schemeClr val="accent3"/>
              </a:solidFill>
              <a:ln>
                <a:noFill/>
              </a:ln>
            </p:spPr>
          </p:sp>
          <p:sp>
            <p:nvSpPr>
              <p:cNvPr id="51" name="TextBox 51"/>
              <p:cNvSpPr txBox="1"/>
              <p:nvPr/>
            </p:nvSpPr>
            <p:spPr>
              <a:xfrm>
                <a:off x="5684082" y="3886200"/>
                <a:ext cx="785736"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Yêu cầu</a:t>
                </a:r>
              </a:p>
            </p:txBody>
          </p:sp>
          <p:sp>
            <p:nvSpPr>
              <p:cNvPr id="52" name="TextBox 52"/>
              <p:cNvSpPr txBox="1"/>
              <p:nvPr/>
            </p:nvSpPr>
            <p:spPr>
              <a:xfrm>
                <a:off x="6812280" y="3876675"/>
                <a:ext cx="1495747"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Soạn tin trả lời</a:t>
                </a:r>
              </a:p>
            </p:txBody>
          </p:sp>
        </p:grpSp>
        <p:grpSp>
          <p:nvGrpSpPr>
            <p:cNvPr id="57" name="Group 57"/>
            <p:cNvGrpSpPr/>
            <p:nvPr/>
          </p:nvGrpSpPr>
          <p:grpSpPr>
            <a:xfrm>
              <a:off x="5486400" y="4305300"/>
              <a:ext cx="5484495" cy="836295"/>
              <a:chOff x="5486400" y="4305300"/>
              <a:chExt cx="5484495" cy="836295"/>
            </a:xfrm>
          </p:grpSpPr>
          <p:sp>
            <p:nvSpPr>
              <p:cNvPr id="54" name="Rectangle 54"/>
              <p:cNvSpPr/>
              <p:nvPr/>
            </p:nvSpPr>
            <p:spPr>
              <a:xfrm>
                <a:off x="5486400" y="4305300"/>
                <a:ext cx="1181100" cy="304800"/>
              </a:xfrm>
              <a:prstGeom prst="roundRect">
                <a:avLst>
                  <a:gd name="adj" fmla="val 50000"/>
                </a:avLst>
              </a:prstGeom>
              <a:solidFill>
                <a:schemeClr val="accent3"/>
              </a:solidFill>
              <a:ln>
                <a:noFill/>
              </a:ln>
            </p:spPr>
          </p:sp>
          <p:sp>
            <p:nvSpPr>
              <p:cNvPr id="55" name="TextBox 55"/>
              <p:cNvSpPr txBox="1"/>
              <p:nvPr/>
            </p:nvSpPr>
            <p:spPr>
              <a:xfrm>
                <a:off x="5652535" y="4362450"/>
                <a:ext cx="848830"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Tiêu chí</a:t>
                </a:r>
              </a:p>
            </p:txBody>
          </p:sp>
          <p:sp>
            <p:nvSpPr>
              <p:cNvPr id="56" name="TextBox 56"/>
              <p:cNvSpPr txBox="1"/>
              <p:nvPr/>
            </p:nvSpPr>
            <p:spPr>
              <a:xfrm>
                <a:off x="6812280" y="4352925"/>
                <a:ext cx="4158615" cy="78867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Chiết khấu đúng bảng sỉ, thiếu giá nền ghi</a:t>
                </a:r>
                <a:br/>
                <a:r>
                  <a:rPr lang="vi-VN" sz="1500" dirty="0">
                    <a:solidFill>
                      <a:schemeClr val="dk1"/>
                    </a:solidFill>
                    <a:latin typeface="+mn-lt"/>
                    <a:ea typeface="+mn-ea"/>
                    <a:cs typeface="+mn-cs"/>
                  </a:rPr>
                  <a:t>[CẦN ĐIỀN]; nói “không gây rủi ro”, KHÔNG nói</a:t>
                </a:r>
                <a:br/>
                <a:r>
                  <a:rPr lang="vi-VN" sz="1500" dirty="0">
                    <a:solidFill>
                      <a:schemeClr val="dk1"/>
                    </a:solidFill>
                    <a:latin typeface="+mn-lt"/>
                    <a:ea typeface="+mn-ea"/>
                    <a:cs typeface="+mn-cs"/>
                  </a:rPr>
                  <a:t>“tốt cho thai kỳ”; dưới 150 chữ</a:t>
                </a:r>
              </a:p>
            </p:txBody>
          </p:sp>
        </p:grpSp>
        <p:grpSp>
          <p:nvGrpSpPr>
            <p:cNvPr id="61" name="Group 61"/>
            <p:cNvGrpSpPr/>
            <p:nvPr/>
          </p:nvGrpSpPr>
          <p:grpSpPr>
            <a:xfrm>
              <a:off x="5486400" y="5219700"/>
              <a:ext cx="5424404" cy="350520"/>
              <a:chOff x="5486400" y="5219700"/>
              <a:chExt cx="5424404" cy="350520"/>
            </a:xfrm>
          </p:grpSpPr>
          <p:sp>
            <p:nvSpPr>
              <p:cNvPr id="58" name="Rectangle 58"/>
              <p:cNvSpPr/>
              <p:nvPr/>
            </p:nvSpPr>
            <p:spPr>
              <a:xfrm>
                <a:off x="5486400" y="5219700"/>
                <a:ext cx="1181100" cy="304800"/>
              </a:xfrm>
              <a:prstGeom prst="roundRect">
                <a:avLst>
                  <a:gd name="adj" fmla="val 50000"/>
                </a:avLst>
              </a:prstGeom>
              <a:solidFill>
                <a:schemeClr val="accent3"/>
              </a:solidFill>
              <a:ln>
                <a:noFill/>
              </a:ln>
            </p:spPr>
          </p:sp>
          <p:sp>
            <p:nvSpPr>
              <p:cNvPr id="59" name="TextBox 59"/>
              <p:cNvSpPr txBox="1"/>
              <p:nvPr/>
            </p:nvSpPr>
            <p:spPr>
              <a:xfrm>
                <a:off x="5567542" y="5276850"/>
                <a:ext cx="101881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Định dạng</a:t>
                </a:r>
              </a:p>
            </p:txBody>
          </p:sp>
          <p:sp>
            <p:nvSpPr>
              <p:cNvPr id="60" name="TextBox 60"/>
              <p:cNvSpPr txBox="1"/>
              <p:nvPr/>
            </p:nvSpPr>
            <p:spPr>
              <a:xfrm>
                <a:off x="6812280" y="5267325"/>
                <a:ext cx="4098524"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Tin nhắn Zalo có lời chào, nội dung, chữ ký</a:t>
                </a:r>
              </a:p>
            </p:txBody>
          </p:sp>
        </p:grpSp>
      </p:grpSp>
      <p:grpSp>
        <p:nvGrpSpPr>
          <p:cNvPr id="65" name="Group 65"/>
          <p:cNvGrpSpPr/>
          <p:nvPr/>
        </p:nvGrpSpPr>
        <p:grpSpPr>
          <a:xfrm>
            <a:off x="381000" y="5867400"/>
            <a:ext cx="6814131" cy="424434"/>
            <a:chOff x="381000" y="5867400"/>
            <a:chExt cx="6814131" cy="424434"/>
          </a:xfrm>
        </p:grpSpPr>
        <p:sp>
          <p:nvSpPr>
            <p:cNvPr id="63" name="Rectangle 63"/>
            <p:cNvSpPr/>
            <p:nvPr/>
          </p:nvSpPr>
          <p:spPr>
            <a:xfrm>
              <a:off x="381000" y="5867400"/>
              <a:ext cx="57150" cy="381000"/>
            </a:xfrm>
            <a:prstGeom prst="roundRect">
              <a:avLst>
                <a:gd name="adj" fmla="val 50000"/>
              </a:avLst>
            </a:prstGeom>
            <a:solidFill>
              <a:schemeClr val="accent2"/>
            </a:solidFill>
            <a:ln>
              <a:noFill/>
            </a:ln>
          </p:spPr>
        </p:sp>
        <p:sp>
          <p:nvSpPr>
            <p:cNvPr id="64" name="TextBox 64"/>
            <p:cNvSpPr txBox="1"/>
            <p:nvPr/>
          </p:nvSpPr>
          <p:spPr>
            <a:xfrm>
              <a:off x="581406" y="5939790"/>
              <a:ext cx="6613725" cy="352044"/>
            </a:xfrm>
            <a:prstGeom prst="rect">
              <a:avLst/>
            </a:prstGeom>
            <a:noFill/>
            <a:ln>
              <a:noFill/>
            </a:ln>
          </p:spPr>
          <p:txBody>
            <a:bodyPr wrap="none" lIns="0" tIns="0" rIns="0" bIns="0" anchor="t" anchorCtr="0">
              <a:spAutoFit/>
            </a:bodyPr>
            <a:lstStyle/>
            <a:p>
              <a:pPr algn="l"/>
              <a:r>
                <a:rPr lang="vi-VN" sz="1800" i="1" dirty="0">
                  <a:solidFill>
                    <a:schemeClr val="accent1"/>
                  </a:solidFill>
                  <a:latin typeface="+mn-lt"/>
                  <a:ea typeface="+mn-ea"/>
                  <a:cs typeface="+mn-cs"/>
                </a:rPr>
                <a:t>“Không phải ChatGPT giỏi lên. Là mình giao việc rõ hơn.”</a:t>
              </a:r>
            </a:p>
          </p:txBody>
        </p:sp>
      </p:grpSp>
      <p:sp>
        <p:nvSpPr>
          <p:cNvPr id="66" name="TextBox 66"/>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67" name="TextBox 67"/>
          <p:cNvSpPr txBox="1"/>
          <p:nvPr/>
        </p:nvSpPr>
        <p:spPr>
          <a:xfrm>
            <a:off x="6799840" y="6554152"/>
            <a:ext cx="434974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Dữ liệu demo Wir (lead, giá sỉ) · giám định Elasten: tài liệu Wir</a:t>
            </a:r>
          </a:p>
        </p:txBody>
      </p:sp>
      <p:sp>
        <p:nvSpPr>
          <p:cNvPr id="68" name="TextBox 68"/>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14 / 35</a:t>
            </a:r>
          </a:p>
        </p:txBody>
      </p:sp>
      <p:sp>
        <p:nvSpPr>
          <p:cNvPr id="69" name="demo-flag"/>
          <p:cNvSpPr/>
          <p:nvPr/>
        </p:nvSpPr>
        <p:spPr>
          <a:xfrm>
            <a:off x="3810000" y="304800"/>
            <a:ext cx="1638300" cy="228600"/>
          </a:xfrm>
          <a:prstGeom prst="roundRect">
            <a:avLst>
              <a:gd name="adj" fmla="val 50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00" b="1">
                <a:solidFill>
                  <a:srgbClr val="FFFFFF"/>
                </a:solidFill>
              </a:rPr>
              <a:t>▶ CÓ HƯỚNG DẪN DEMO</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1854535" cy="234696"/>
            <a:chOff x="381000" y="346710"/>
            <a:chExt cx="1854535" cy="234696"/>
          </a:xfrm>
        </p:grpSpPr>
        <p:sp>
          <p:nvSpPr>
            <p:cNvPr id="2" name="Rectangle 2"/>
            <p:cNvSpPr/>
            <p:nvPr/>
          </p:nvSpPr>
          <p:spPr>
            <a:xfrm>
              <a:off x="381000" y="361950"/>
              <a:ext cx="114300" cy="114300"/>
            </a:xfrm>
            <a:prstGeom prst="roundRect">
              <a:avLst>
                <a:gd name="adj" fmla="val 25000"/>
              </a:avLst>
            </a:prstGeom>
            <a:solidFill>
              <a:schemeClr val="accent3"/>
            </a:solidFill>
            <a:ln>
              <a:noFill/>
            </a:ln>
          </p:spPr>
        </p:sp>
        <p:sp>
          <p:nvSpPr>
            <p:cNvPr id="3" name="TextBox 3"/>
            <p:cNvSpPr txBox="1"/>
            <p:nvPr/>
          </p:nvSpPr>
          <p:spPr>
            <a:xfrm>
              <a:off x="584454" y="346710"/>
              <a:ext cx="1651081"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2 · PROMPT</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chemeClr val="accent2"/>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5700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7424928"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Ba kỹ thuật nâng chất lượng:</a:t>
            </a:r>
            <a:br/>
            <a:r>
              <a:rPr lang="vi-VN" sz="3150" b="1" dirty="0">
                <a:solidFill>
                  <a:schemeClr val="accent1"/>
                </a:solidFill>
                <a:latin typeface="+mn-lt"/>
                <a:ea typeface="+mn-ea"/>
                <a:cs typeface="+mn-cs"/>
              </a:rPr>
              <a:t>đưa mẫu, chốt số câu hỏi lại, chia nhỏ việc</a:t>
            </a:r>
          </a:p>
        </p:txBody>
      </p:sp>
      <p:grpSp>
        <p:nvGrpSpPr>
          <p:cNvPr id="25" name="Group 25"/>
          <p:cNvGrpSpPr/>
          <p:nvPr/>
        </p:nvGrpSpPr>
        <p:grpSpPr>
          <a:xfrm>
            <a:off x="381000" y="2114550"/>
            <a:ext cx="3657600" cy="3429000"/>
            <a:chOff x="381000" y="2114550"/>
            <a:chExt cx="3657600" cy="3429000"/>
          </a:xfrm>
        </p:grpSpPr>
        <p:sp>
          <p:nvSpPr>
            <p:cNvPr id="17" name="Rectangle 17"/>
            <p:cNvSpPr/>
            <p:nvPr/>
          </p:nvSpPr>
          <p:spPr>
            <a:xfrm>
              <a:off x="381000" y="2114550"/>
              <a:ext cx="3657600" cy="3429000"/>
            </a:xfrm>
            <a:prstGeom prst="roundRect">
              <a:avLst>
                <a:gd name="adj" fmla="val 4444"/>
              </a:avLst>
            </a:prstGeom>
            <a:solidFill>
              <a:schemeClr val="lt1"/>
            </a:solidFill>
            <a:ln w="14288">
              <a:solidFill>
                <a:schemeClr val="accent4"/>
              </a:solidFill>
            </a:ln>
          </p:spPr>
        </p:sp>
        <p:sp>
          <p:nvSpPr>
            <p:cNvPr id="18" name="Ellipse 18"/>
            <p:cNvSpPr/>
            <p:nvPr/>
          </p:nvSpPr>
          <p:spPr>
            <a:xfrm>
              <a:off x="647700" y="2362200"/>
              <a:ext cx="419100" cy="419100"/>
            </a:xfrm>
            <a:prstGeom prst="ellipse">
              <a:avLst/>
            </a:prstGeom>
            <a:solidFill>
              <a:schemeClr val="accent3"/>
            </a:solidFill>
            <a:ln>
              <a:noFill/>
            </a:ln>
          </p:spPr>
        </p:sp>
        <p:sp>
          <p:nvSpPr>
            <p:cNvPr id="19" name="TextBox 19"/>
            <p:cNvSpPr txBox="1"/>
            <p:nvPr/>
          </p:nvSpPr>
          <p:spPr>
            <a:xfrm>
              <a:off x="784730" y="2469832"/>
              <a:ext cx="145040" cy="322707"/>
            </a:xfrm>
            <a:prstGeom prst="rect">
              <a:avLst/>
            </a:prstGeom>
            <a:noFill/>
            <a:ln>
              <a:noFill/>
            </a:ln>
          </p:spPr>
          <p:txBody>
            <a:bodyPr wrap="none" lIns="0" tIns="0" rIns="0" bIns="0" anchor="t" anchorCtr="0">
              <a:spAutoFit/>
            </a:bodyPr>
            <a:lstStyle/>
            <a:p>
              <a:pPr algn="ctr"/>
              <a:r>
                <a:rPr lang="vi-VN" sz="1650" b="1" dirty="0">
                  <a:solidFill>
                    <a:srgbClr val="FFFFFF"/>
                  </a:solidFill>
                  <a:latin typeface="+mn-lt"/>
                  <a:ea typeface="+mn-ea"/>
                  <a:cs typeface="+mn-cs"/>
                </a:rPr>
                <a:t>1</a:t>
              </a:r>
            </a:p>
          </p:txBody>
        </p:sp>
        <p:sp>
          <p:nvSpPr>
            <p:cNvPr id="20" name="TextBox 20"/>
            <p:cNvSpPr txBox="1"/>
            <p:nvPr/>
          </p:nvSpPr>
          <p:spPr>
            <a:xfrm>
              <a:off x="1190244" y="2446972"/>
              <a:ext cx="1850441"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Đưa 1 mẫu tốt</a:t>
              </a:r>
            </a:p>
          </p:txBody>
        </p:sp>
        <p:sp>
          <p:nvSpPr>
            <p:cNvPr id="21" name="TextBox 21"/>
            <p:cNvSpPr txBox="1"/>
            <p:nvPr/>
          </p:nvSpPr>
          <p:spPr>
            <a:xfrm>
              <a:off x="639318" y="2946082"/>
              <a:ext cx="2514076" cy="589407"/>
            </a:xfrm>
            <a:prstGeom prst="rect">
              <a:avLst/>
            </a:prstGeom>
            <a:noFill/>
            <a:ln>
              <a:noFill/>
            </a:ln>
          </p:spPr>
          <p:txBody>
            <a:bodyPr wrap="none" lIns="0" tIns="0" rIns="0" bIns="0" anchor="t" anchorCtr="0">
              <a:spAutoFit/>
            </a:bodyPr>
            <a:lstStyle/>
            <a:p>
              <a:pPr algn="l">
                <a:lnSpc>
                  <a:spcPts val="2100"/>
                </a:lnSpc>
              </a:pPr>
              <a:r>
                <a:rPr lang="vi-VN" sz="1650" b="1" dirty="0">
                  <a:solidFill>
                    <a:schemeClr val="accent1"/>
                  </a:solidFill>
                  <a:latin typeface="+mn-lt"/>
                  <a:ea typeface="+mn-ea"/>
                  <a:cs typeface="+mn-cs"/>
                </a:rPr>
                <a:t>“1 mẫu tốt đáng giá hơn</a:t>
              </a:r>
              <a:br/>
              <a:r>
                <a:rPr lang="vi-VN" sz="1650" b="1" dirty="0">
                  <a:solidFill>
                    <a:schemeClr val="accent1"/>
                  </a:solidFill>
                  <a:latin typeface="+mn-lt"/>
                  <a:ea typeface="+mn-ea"/>
                  <a:cs typeface="+mn-cs"/>
                </a:rPr>
                <a:t>10 dòng mô tả.”</a:t>
              </a:r>
            </a:p>
          </p:txBody>
        </p:sp>
        <p:sp>
          <p:nvSpPr>
            <p:cNvPr id="22" name="TextBox 22"/>
            <p:cNvSpPr txBox="1"/>
            <p:nvPr/>
          </p:nvSpPr>
          <p:spPr>
            <a:xfrm>
              <a:off x="640080" y="3571875"/>
              <a:ext cx="2720340" cy="78867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Dán một bài/tin chuẩn cũ của</a:t>
              </a:r>
              <a:br/>
              <a:r>
                <a:rPr lang="vi-VN" sz="1500" dirty="0">
                  <a:solidFill>
                    <a:schemeClr val="dk1"/>
                  </a:solidFill>
                  <a:latin typeface="+mn-lt"/>
                  <a:ea typeface="+mn-ea"/>
                  <a:cs typeface="+mn-cs"/>
                </a:rPr>
                <a:t>phòng, bảo AI học đúng bố cục</a:t>
              </a:r>
              <a:br/>
              <a:r>
                <a:rPr lang="vi-VN" sz="1500" dirty="0">
                  <a:solidFill>
                    <a:schemeClr val="dk1"/>
                  </a:solidFill>
                  <a:latin typeface="+mn-lt"/>
                  <a:ea typeface="+mn-ea"/>
                  <a:cs typeface="+mn-cs"/>
                </a:rPr>
                <a:t>và giọng văn.</a:t>
              </a:r>
            </a:p>
          </p:txBody>
        </p:sp>
        <p:sp>
          <p:nvSpPr>
            <p:cNvPr id="23" name="Rectangle 23"/>
            <p:cNvSpPr/>
            <p:nvPr/>
          </p:nvSpPr>
          <p:spPr>
            <a:xfrm>
              <a:off x="647700" y="4495800"/>
              <a:ext cx="3124200" cy="838200"/>
            </a:xfrm>
            <a:prstGeom prst="roundRect">
              <a:avLst>
                <a:gd name="adj" fmla="val 11364"/>
              </a:avLst>
            </a:prstGeom>
            <a:solidFill>
              <a:schemeClr val="lt2"/>
            </a:solidFill>
            <a:ln>
              <a:noFill/>
            </a:ln>
          </p:spPr>
        </p:sp>
        <p:sp>
          <p:nvSpPr>
            <p:cNvPr id="24" name="TextBox 24"/>
            <p:cNvSpPr txBox="1"/>
            <p:nvPr/>
          </p:nvSpPr>
          <p:spPr>
            <a:xfrm>
              <a:off x="792480" y="4619625"/>
              <a:ext cx="2120265" cy="788670"/>
            </a:xfrm>
            <a:prstGeom prst="rect">
              <a:avLst/>
            </a:prstGeom>
            <a:noFill/>
            <a:ln>
              <a:noFill/>
            </a:ln>
          </p:spPr>
          <p:txBody>
            <a:bodyPr wrap="none" lIns="0" tIns="0" rIns="0" bIns="0" anchor="t" anchorCtr="0">
              <a:spAutoFit/>
            </a:bodyPr>
            <a:lstStyle/>
            <a:p>
              <a:pPr algn="l">
                <a:lnSpc>
                  <a:spcPts val="1950"/>
                </a:lnSpc>
              </a:pPr>
              <a:r>
                <a:rPr lang="vi-VN" sz="1500" dirty="0">
                  <a:solidFill>
                    <a:schemeClr val="accent1"/>
                  </a:solidFill>
                  <a:latin typeface="Consolas"/>
                  <a:ea typeface="Consolas"/>
                  <a:cs typeface="Consolas"/>
                </a:rPr>
                <a:t>Học đúng bố cục và</a:t>
              </a:r>
              <a:br/>
              <a:r>
                <a:rPr lang="vi-VN" sz="1500" dirty="0">
                  <a:solidFill>
                    <a:schemeClr val="accent1"/>
                  </a:solidFill>
                  <a:latin typeface="Consolas"/>
                  <a:ea typeface="Consolas"/>
                  <a:cs typeface="Consolas"/>
                </a:rPr>
                <a:t>giọng văn của mẫu này:</a:t>
              </a:r>
              <a:br/>
              <a:r>
                <a:rPr lang="vi-VN" sz="1500" dirty="0">
                  <a:solidFill>
                    <a:schemeClr val="accent1"/>
                  </a:solidFill>
                  <a:latin typeface="Consolas"/>
                  <a:ea typeface="Consolas"/>
                  <a:cs typeface="Consolas"/>
                </a:rPr>
                <a:t>[DÁN MẪU]</a:t>
              </a:r>
            </a:p>
          </p:txBody>
        </p:sp>
      </p:grpSp>
      <p:grpSp>
        <p:nvGrpSpPr>
          <p:cNvPr id="34" name="Group 34"/>
          <p:cNvGrpSpPr/>
          <p:nvPr/>
        </p:nvGrpSpPr>
        <p:grpSpPr>
          <a:xfrm>
            <a:off x="4267200" y="2228850"/>
            <a:ext cx="3657600" cy="3429000"/>
            <a:chOff x="4267200" y="2228850"/>
            <a:chExt cx="3657600" cy="3429000"/>
          </a:xfrm>
        </p:grpSpPr>
        <p:sp>
          <p:nvSpPr>
            <p:cNvPr id="26" name="Rectangle 26"/>
            <p:cNvSpPr/>
            <p:nvPr/>
          </p:nvSpPr>
          <p:spPr>
            <a:xfrm>
              <a:off x="4267200" y="2228850"/>
              <a:ext cx="3657600" cy="3429000"/>
            </a:xfrm>
            <a:prstGeom prst="roundRect">
              <a:avLst>
                <a:gd name="adj" fmla="val 4444"/>
              </a:avLst>
            </a:prstGeom>
            <a:solidFill>
              <a:schemeClr val="lt1"/>
            </a:solidFill>
            <a:ln w="14288">
              <a:solidFill>
                <a:schemeClr val="accent4"/>
              </a:solidFill>
            </a:ln>
          </p:spPr>
        </p:sp>
        <p:sp>
          <p:nvSpPr>
            <p:cNvPr id="27" name="Ellipse 27"/>
            <p:cNvSpPr/>
            <p:nvPr/>
          </p:nvSpPr>
          <p:spPr>
            <a:xfrm>
              <a:off x="4533900" y="2476500"/>
              <a:ext cx="419100" cy="419100"/>
            </a:xfrm>
            <a:prstGeom prst="ellipse">
              <a:avLst/>
            </a:prstGeom>
            <a:solidFill>
              <a:schemeClr val="accent3"/>
            </a:solidFill>
            <a:ln>
              <a:noFill/>
            </a:ln>
          </p:spPr>
        </p:sp>
        <p:sp>
          <p:nvSpPr>
            <p:cNvPr id="28" name="TextBox 28"/>
            <p:cNvSpPr txBox="1"/>
            <p:nvPr/>
          </p:nvSpPr>
          <p:spPr>
            <a:xfrm>
              <a:off x="4670930" y="2584132"/>
              <a:ext cx="145040" cy="322707"/>
            </a:xfrm>
            <a:prstGeom prst="rect">
              <a:avLst/>
            </a:prstGeom>
            <a:noFill/>
            <a:ln>
              <a:noFill/>
            </a:ln>
          </p:spPr>
          <p:txBody>
            <a:bodyPr wrap="none" lIns="0" tIns="0" rIns="0" bIns="0" anchor="t" anchorCtr="0">
              <a:spAutoFit/>
            </a:bodyPr>
            <a:lstStyle/>
            <a:p>
              <a:pPr algn="ctr"/>
              <a:r>
                <a:rPr lang="vi-VN" sz="1650" b="1" dirty="0">
                  <a:solidFill>
                    <a:srgbClr val="FFFFFF"/>
                  </a:solidFill>
                  <a:latin typeface="+mn-lt"/>
                  <a:ea typeface="+mn-ea"/>
                  <a:cs typeface="+mn-cs"/>
                </a:rPr>
                <a:t>2</a:t>
              </a:r>
            </a:p>
          </p:txBody>
        </p:sp>
        <p:sp>
          <p:nvSpPr>
            <p:cNvPr id="29" name="TextBox 29"/>
            <p:cNvSpPr txBox="1"/>
            <p:nvPr/>
          </p:nvSpPr>
          <p:spPr>
            <a:xfrm>
              <a:off x="5076444" y="2561272"/>
              <a:ext cx="1685155"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Chốt số câu hỏi lại</a:t>
              </a:r>
            </a:p>
          </p:txBody>
        </p:sp>
        <p:sp>
          <p:nvSpPr>
            <p:cNvPr id="30" name="TextBox 30"/>
            <p:cNvSpPr txBox="1"/>
            <p:nvPr/>
          </p:nvSpPr>
          <p:spPr>
            <a:xfrm>
              <a:off x="4525518" y="3060382"/>
              <a:ext cx="2447765"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ChatGPT tự hỏi khi thiếu.</a:t>
              </a:r>
            </a:p>
          </p:txBody>
        </p:sp>
        <p:sp>
          <p:nvSpPr>
            <p:cNvPr id="31" name="TextBox 31"/>
            <p:cNvSpPr txBox="1"/>
            <p:nvPr/>
          </p:nvSpPr>
          <p:spPr>
            <a:xfrm>
              <a:off x="4526280" y="3686175"/>
              <a:ext cx="3061766"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Thêm một câu vào cuối prompt:</a:t>
              </a:r>
            </a:p>
          </p:txBody>
        </p:sp>
        <p:sp>
          <p:nvSpPr>
            <p:cNvPr id="32" name="Rectangle 32"/>
            <p:cNvSpPr/>
            <p:nvPr/>
          </p:nvSpPr>
          <p:spPr>
            <a:xfrm>
              <a:off x="4533900" y="4095750"/>
              <a:ext cx="3124200" cy="838200"/>
            </a:xfrm>
            <a:prstGeom prst="roundRect">
              <a:avLst>
                <a:gd name="adj" fmla="val 11364"/>
              </a:avLst>
            </a:prstGeom>
            <a:solidFill>
              <a:schemeClr val="lt2"/>
            </a:solidFill>
            <a:ln>
              <a:noFill/>
            </a:ln>
          </p:spPr>
        </p:sp>
        <p:sp>
          <p:nvSpPr>
            <p:cNvPr id="33" name="TextBox 33"/>
            <p:cNvSpPr txBox="1"/>
            <p:nvPr/>
          </p:nvSpPr>
          <p:spPr>
            <a:xfrm>
              <a:off x="4678680" y="4219575"/>
              <a:ext cx="2005965" cy="788670"/>
            </a:xfrm>
            <a:prstGeom prst="rect">
              <a:avLst/>
            </a:prstGeom>
            <a:noFill/>
            <a:ln>
              <a:noFill/>
            </a:ln>
          </p:spPr>
          <p:txBody>
            <a:bodyPr wrap="none" lIns="0" tIns="0" rIns="0" bIns="0" anchor="t" anchorCtr="0">
              <a:spAutoFit/>
            </a:bodyPr>
            <a:lstStyle/>
            <a:p>
              <a:pPr algn="l">
                <a:lnSpc>
                  <a:spcPts val="1950"/>
                </a:lnSpc>
              </a:pPr>
              <a:r>
                <a:rPr lang="vi-VN" sz="1500" dirty="0">
                  <a:solidFill>
                    <a:schemeClr val="accent1"/>
                  </a:solidFill>
                  <a:latin typeface="Consolas"/>
                  <a:ea typeface="Consolas"/>
                  <a:cs typeface="Consolas"/>
                </a:rPr>
                <a:t>Nếu thiếu thông tin,</a:t>
              </a:r>
              <a:br/>
              <a:r>
                <a:rPr lang="vi-VN" sz="1500" dirty="0">
                  <a:solidFill>
                    <a:schemeClr val="accent1"/>
                  </a:solidFill>
                  <a:latin typeface="Consolas"/>
                  <a:ea typeface="Consolas"/>
                  <a:cs typeface="Consolas"/>
                </a:rPr>
                <a:t>hỏi tôi tối đa 3 câu,</a:t>
              </a:r>
              <a:br/>
              <a:r>
                <a:rPr lang="vi-VN" sz="1500" dirty="0">
                  <a:solidFill>
                    <a:schemeClr val="accent1"/>
                  </a:solidFill>
                  <a:latin typeface="Consolas"/>
                  <a:ea typeface="Consolas"/>
                  <a:cs typeface="Consolas"/>
                </a:rPr>
                <a:t>rồi mới làm.</a:t>
              </a:r>
            </a:p>
          </p:txBody>
        </p:sp>
      </p:grpSp>
      <p:grpSp>
        <p:nvGrpSpPr>
          <p:cNvPr id="47" name="Group 47"/>
          <p:cNvGrpSpPr/>
          <p:nvPr/>
        </p:nvGrpSpPr>
        <p:grpSpPr>
          <a:xfrm>
            <a:off x="8153400" y="2343150"/>
            <a:ext cx="3657600" cy="3429000"/>
            <a:chOff x="8153400" y="2343150"/>
            <a:chExt cx="3657600" cy="3429000"/>
          </a:xfrm>
        </p:grpSpPr>
        <p:sp>
          <p:nvSpPr>
            <p:cNvPr id="35" name="Rectangle 35"/>
            <p:cNvSpPr/>
            <p:nvPr/>
          </p:nvSpPr>
          <p:spPr>
            <a:xfrm>
              <a:off x="8153400" y="2343150"/>
              <a:ext cx="3657600" cy="3429000"/>
            </a:xfrm>
            <a:prstGeom prst="roundRect">
              <a:avLst>
                <a:gd name="adj" fmla="val 4444"/>
              </a:avLst>
            </a:prstGeom>
            <a:solidFill>
              <a:schemeClr val="lt1"/>
            </a:solidFill>
            <a:ln w="14288">
              <a:solidFill>
                <a:schemeClr val="accent4"/>
              </a:solidFill>
            </a:ln>
          </p:spPr>
        </p:sp>
        <p:sp>
          <p:nvSpPr>
            <p:cNvPr id="36" name="Ellipse 36"/>
            <p:cNvSpPr/>
            <p:nvPr/>
          </p:nvSpPr>
          <p:spPr>
            <a:xfrm>
              <a:off x="8420100" y="2590800"/>
              <a:ext cx="419100" cy="419100"/>
            </a:xfrm>
            <a:prstGeom prst="ellipse">
              <a:avLst/>
            </a:prstGeom>
            <a:solidFill>
              <a:schemeClr val="accent3"/>
            </a:solidFill>
            <a:ln>
              <a:noFill/>
            </a:ln>
          </p:spPr>
        </p:sp>
        <p:sp>
          <p:nvSpPr>
            <p:cNvPr id="37" name="TextBox 37"/>
            <p:cNvSpPr txBox="1"/>
            <p:nvPr/>
          </p:nvSpPr>
          <p:spPr>
            <a:xfrm>
              <a:off x="8557130" y="2698432"/>
              <a:ext cx="145040" cy="322707"/>
            </a:xfrm>
            <a:prstGeom prst="rect">
              <a:avLst/>
            </a:prstGeom>
            <a:noFill/>
            <a:ln>
              <a:noFill/>
            </a:ln>
          </p:spPr>
          <p:txBody>
            <a:bodyPr wrap="none" lIns="0" tIns="0" rIns="0" bIns="0" anchor="t" anchorCtr="0">
              <a:spAutoFit/>
            </a:bodyPr>
            <a:lstStyle/>
            <a:p>
              <a:pPr algn="ctr"/>
              <a:r>
                <a:rPr lang="vi-VN" sz="1650" b="1" dirty="0">
                  <a:solidFill>
                    <a:srgbClr val="FFFFFF"/>
                  </a:solidFill>
                  <a:latin typeface="+mn-lt"/>
                  <a:ea typeface="+mn-ea"/>
                  <a:cs typeface="+mn-cs"/>
                </a:rPr>
                <a:t>3</a:t>
              </a:r>
            </a:p>
          </p:txBody>
        </p:sp>
        <p:sp>
          <p:nvSpPr>
            <p:cNvPr id="38" name="TextBox 38"/>
            <p:cNvSpPr txBox="1"/>
            <p:nvPr/>
          </p:nvSpPr>
          <p:spPr>
            <a:xfrm>
              <a:off x="8962644" y="2675572"/>
              <a:ext cx="2647058"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Chia việc nhiều bước</a:t>
              </a:r>
            </a:p>
          </p:txBody>
        </p:sp>
        <p:sp>
          <p:nvSpPr>
            <p:cNvPr id="39" name="TextBox 39"/>
            <p:cNvSpPr txBox="1"/>
            <p:nvPr/>
          </p:nvSpPr>
          <p:spPr>
            <a:xfrm>
              <a:off x="8411718" y="3174682"/>
              <a:ext cx="2261044" cy="589407"/>
            </a:xfrm>
            <a:prstGeom prst="rect">
              <a:avLst/>
            </a:prstGeom>
            <a:noFill/>
            <a:ln>
              <a:noFill/>
            </a:ln>
          </p:spPr>
          <p:txBody>
            <a:bodyPr wrap="none" lIns="0" tIns="0" rIns="0" bIns="0" anchor="t" anchorCtr="0">
              <a:spAutoFit/>
            </a:bodyPr>
            <a:lstStyle/>
            <a:p>
              <a:pPr algn="l">
                <a:lnSpc>
                  <a:spcPts val="2100"/>
                </a:lnSpc>
              </a:pPr>
              <a:r>
                <a:rPr lang="vi-VN" sz="1650" b="1" dirty="0">
                  <a:solidFill>
                    <a:schemeClr val="accent1"/>
                  </a:solidFill>
                  <a:latin typeface="+mn-lt"/>
                  <a:ea typeface="+mn-ea"/>
                  <a:cs typeface="+mn-cs"/>
                </a:rPr>
                <a:t>Kiểm xong bước trước</a:t>
              </a:r>
              <a:br/>
              <a:r>
                <a:rPr lang="vi-VN" sz="1650" b="1" dirty="0">
                  <a:solidFill>
                    <a:schemeClr val="accent1"/>
                  </a:solidFill>
                  <a:latin typeface="+mn-lt"/>
                  <a:ea typeface="+mn-ea"/>
                  <a:cs typeface="+mn-cs"/>
                </a:rPr>
                <a:t>mới đi tiếp.</a:t>
              </a:r>
            </a:p>
          </p:txBody>
        </p:sp>
        <p:sp>
          <p:nvSpPr>
            <p:cNvPr id="40" name="TextBox 40"/>
            <p:cNvSpPr txBox="1"/>
            <p:nvPr/>
          </p:nvSpPr>
          <p:spPr>
            <a:xfrm>
              <a:off x="8412480" y="3800475"/>
              <a:ext cx="3323717"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Việc lớn tách thành chuỗi prompt:</a:t>
              </a:r>
            </a:p>
          </p:txBody>
        </p:sp>
        <p:sp>
          <p:nvSpPr>
            <p:cNvPr id="41" name="Rectangle 41"/>
            <p:cNvSpPr/>
            <p:nvPr/>
          </p:nvSpPr>
          <p:spPr>
            <a:xfrm>
              <a:off x="8420100" y="4152900"/>
              <a:ext cx="3124200" cy="323850"/>
            </a:xfrm>
            <a:prstGeom prst="roundRect">
              <a:avLst>
                <a:gd name="adj" fmla="val 50000"/>
              </a:avLst>
            </a:prstGeom>
            <a:solidFill>
              <a:schemeClr val="lt2"/>
            </a:solidFill>
            <a:ln>
              <a:noFill/>
            </a:ln>
          </p:spPr>
        </p:sp>
        <p:sp>
          <p:nvSpPr>
            <p:cNvPr id="42" name="TextBox 42"/>
            <p:cNvSpPr txBox="1"/>
            <p:nvPr/>
          </p:nvSpPr>
          <p:spPr>
            <a:xfrm>
              <a:off x="8583930" y="4219575"/>
              <a:ext cx="2017931"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1 · </a:t>
              </a:r>
              <a:r>
                <a:rPr lang="vi-VN" sz="1500" dirty="0">
                  <a:solidFill>
                    <a:schemeClr val="accent1"/>
                  </a:solidFill>
                  <a:latin typeface="+mn-lt"/>
                  <a:ea typeface="+mn-ea"/>
                  <a:cs typeface="+mn-cs"/>
                </a:rPr>
                <a:t>Phân tích số liệu</a:t>
              </a:r>
            </a:p>
          </p:txBody>
        </p:sp>
        <p:sp>
          <p:nvSpPr>
            <p:cNvPr id="43" name="Rectangle 43"/>
            <p:cNvSpPr/>
            <p:nvPr/>
          </p:nvSpPr>
          <p:spPr>
            <a:xfrm>
              <a:off x="8420100" y="4552950"/>
              <a:ext cx="3124200" cy="323850"/>
            </a:xfrm>
            <a:prstGeom prst="roundRect">
              <a:avLst>
                <a:gd name="adj" fmla="val 50000"/>
              </a:avLst>
            </a:prstGeom>
            <a:solidFill>
              <a:schemeClr val="lt2"/>
            </a:solidFill>
            <a:ln>
              <a:noFill/>
            </a:ln>
          </p:spPr>
        </p:sp>
        <p:sp>
          <p:nvSpPr>
            <p:cNvPr id="44" name="TextBox 44"/>
            <p:cNvSpPr txBox="1"/>
            <p:nvPr/>
          </p:nvSpPr>
          <p:spPr>
            <a:xfrm>
              <a:off x="8583930" y="4619625"/>
              <a:ext cx="2717597"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2 · </a:t>
              </a:r>
              <a:r>
                <a:rPr lang="vi-VN" sz="1500" dirty="0">
                  <a:solidFill>
                    <a:schemeClr val="accent1"/>
                  </a:solidFill>
                  <a:latin typeface="+mn-lt"/>
                  <a:ea typeface="+mn-ea"/>
                  <a:cs typeface="+mn-cs"/>
                </a:rPr>
                <a:t>Viết Executive Summary</a:t>
              </a:r>
            </a:p>
          </p:txBody>
        </p:sp>
        <p:sp>
          <p:nvSpPr>
            <p:cNvPr id="45" name="Rectangle 45"/>
            <p:cNvSpPr/>
            <p:nvPr/>
          </p:nvSpPr>
          <p:spPr>
            <a:xfrm>
              <a:off x="8420100" y="4953000"/>
              <a:ext cx="3124200" cy="323850"/>
            </a:xfrm>
            <a:prstGeom prst="roundRect">
              <a:avLst>
                <a:gd name="adj" fmla="val 50000"/>
              </a:avLst>
            </a:prstGeom>
            <a:solidFill>
              <a:schemeClr val="lt2"/>
            </a:solidFill>
            <a:ln>
              <a:noFill/>
            </a:ln>
          </p:spPr>
        </p:sp>
        <p:sp>
          <p:nvSpPr>
            <p:cNvPr id="46" name="TextBox 46"/>
            <p:cNvSpPr txBox="1"/>
            <p:nvPr/>
          </p:nvSpPr>
          <p:spPr>
            <a:xfrm>
              <a:off x="8583930" y="5019675"/>
              <a:ext cx="2077898"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3 · </a:t>
              </a:r>
              <a:r>
                <a:rPr lang="vi-VN" sz="1500" dirty="0">
                  <a:solidFill>
                    <a:schemeClr val="accent1"/>
                  </a:solidFill>
                  <a:latin typeface="+mn-lt"/>
                  <a:ea typeface="+mn-ea"/>
                  <a:cs typeface="+mn-cs"/>
                </a:rPr>
                <a:t>Dựng outline slide</a:t>
              </a:r>
            </a:p>
          </p:txBody>
        </p:sp>
      </p:grpSp>
      <p:sp>
        <p:nvSpPr>
          <p:cNvPr id="48" name="TextBox 48"/>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49" name="TextBox 49"/>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15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1854535" cy="234696"/>
            <a:chOff x="381000" y="346710"/>
            <a:chExt cx="1854535" cy="234696"/>
          </a:xfrm>
        </p:grpSpPr>
        <p:sp>
          <p:nvSpPr>
            <p:cNvPr id="2" name="Rectangle 2"/>
            <p:cNvSpPr/>
            <p:nvPr/>
          </p:nvSpPr>
          <p:spPr>
            <a:xfrm>
              <a:off x="381000" y="361950"/>
              <a:ext cx="114300" cy="114300"/>
            </a:xfrm>
            <a:prstGeom prst="roundRect">
              <a:avLst>
                <a:gd name="adj" fmla="val 25000"/>
              </a:avLst>
            </a:prstGeom>
            <a:solidFill>
              <a:schemeClr val="accent3"/>
            </a:solidFill>
            <a:ln>
              <a:noFill/>
            </a:ln>
          </p:spPr>
        </p:sp>
        <p:sp>
          <p:nvSpPr>
            <p:cNvPr id="3" name="TextBox 3"/>
            <p:cNvSpPr txBox="1"/>
            <p:nvPr/>
          </p:nvSpPr>
          <p:spPr>
            <a:xfrm>
              <a:off x="584454" y="346710"/>
              <a:ext cx="1651081"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2 · PROMPT</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chemeClr val="accent2"/>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5700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8454057"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Với file số liệu, tải file thay vì dán chữ,</a:t>
            </a:r>
            <a:br/>
            <a:r>
              <a:rPr lang="vi-VN" sz="3150" b="1" dirty="0">
                <a:solidFill>
                  <a:schemeClr val="accent1"/>
                </a:solidFill>
                <a:latin typeface="+mn-lt"/>
                <a:ea typeface="+mn-ea"/>
                <a:cs typeface="+mn-cs"/>
              </a:rPr>
              <a:t>đếm trước, đối chiếu tổng rồi mới dùng</a:t>
            </a:r>
          </a:p>
        </p:txBody>
      </p:sp>
      <p:grpSp>
        <p:nvGrpSpPr>
          <p:cNvPr id="32" name="Group 32"/>
          <p:cNvGrpSpPr/>
          <p:nvPr/>
        </p:nvGrpSpPr>
        <p:grpSpPr>
          <a:xfrm>
            <a:off x="371094" y="2227898"/>
            <a:ext cx="4962906" cy="3237547"/>
            <a:chOff x="371094" y="2227898"/>
            <a:chExt cx="4962906" cy="3237547"/>
          </a:xfrm>
        </p:grpSpPr>
        <p:sp>
          <p:nvSpPr>
            <p:cNvPr id="17" name="TextBox 17"/>
            <p:cNvSpPr txBox="1"/>
            <p:nvPr/>
          </p:nvSpPr>
          <p:spPr>
            <a:xfrm>
              <a:off x="371094" y="2227898"/>
              <a:ext cx="171411" cy="381381"/>
            </a:xfrm>
            <a:prstGeom prst="rect">
              <a:avLst/>
            </a:prstGeom>
            <a:noFill/>
            <a:ln>
              <a:noFill/>
            </a:ln>
          </p:spPr>
          <p:txBody>
            <a:bodyPr wrap="none" lIns="0" tIns="0" rIns="0" bIns="0" anchor="t" anchorCtr="0">
              <a:spAutoFit/>
            </a:bodyPr>
            <a:lstStyle/>
            <a:p>
              <a:pPr algn="l"/>
              <a:r>
                <a:rPr lang="vi-VN" sz="1950" b="1" dirty="0">
                  <a:solidFill>
                    <a:schemeClr val="accent3"/>
                  </a:solidFill>
                  <a:latin typeface="+mn-lt"/>
                  <a:ea typeface="+mn-ea"/>
                  <a:cs typeface="+mn-cs"/>
                </a:rPr>
                <a:t>1</a:t>
              </a:r>
            </a:p>
          </p:txBody>
        </p:sp>
        <p:sp>
          <p:nvSpPr>
            <p:cNvPr id="18" name="TextBox 18"/>
            <p:cNvSpPr txBox="1"/>
            <p:nvPr/>
          </p:nvSpPr>
          <p:spPr>
            <a:xfrm>
              <a:off x="715518" y="2260282"/>
              <a:ext cx="2917421"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Tải file, đừng dán chữ</a:t>
              </a:r>
            </a:p>
          </p:txBody>
        </p:sp>
        <p:sp>
          <p:nvSpPr>
            <p:cNvPr id="19" name="TextBox 19"/>
            <p:cNvSpPr txBox="1"/>
            <p:nvPr/>
          </p:nvSpPr>
          <p:spPr>
            <a:xfrm>
              <a:off x="716280" y="2543175"/>
              <a:ext cx="3778469"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Có file, ChatGPT chạy code; dán chữ, nó tính nhẩm</a:t>
              </a:r>
            </a:p>
          </p:txBody>
        </p:sp>
        <p:sp>
          <p:nvSpPr>
            <p:cNvPr id="20" name="Line 20"/>
            <p:cNvSpPr/>
            <p:nvPr/>
          </p:nvSpPr>
          <p:spPr>
            <a:xfrm>
              <a:off x="381000" y="2933700"/>
              <a:ext cx="4953000" cy="9525"/>
            </a:xfrm>
            <a:custGeom>
              <a:avLst/>
              <a:gdLst/>
              <a:ahLst/>
              <a:cxnLst/>
              <a:rect l="l" t="t" r="r" b="b"/>
              <a:pathLst>
                <a:path w="4953000" h="9525">
                  <a:moveTo>
                    <a:pt x="0" y="0"/>
                  </a:moveTo>
                  <a:lnTo>
                    <a:pt x="4953000" y="0"/>
                  </a:lnTo>
                </a:path>
              </a:pathLst>
            </a:custGeom>
            <a:noFill/>
            <a:ln w="9525">
              <a:solidFill>
                <a:schemeClr val="accent4"/>
              </a:solidFill>
            </a:ln>
          </p:spPr>
        </p:sp>
        <p:sp>
          <p:nvSpPr>
            <p:cNvPr id="21" name="TextBox 21"/>
            <p:cNvSpPr txBox="1"/>
            <p:nvPr/>
          </p:nvSpPr>
          <p:spPr>
            <a:xfrm>
              <a:off x="371094" y="3104198"/>
              <a:ext cx="171411" cy="381381"/>
            </a:xfrm>
            <a:prstGeom prst="rect">
              <a:avLst/>
            </a:prstGeom>
            <a:noFill/>
            <a:ln>
              <a:noFill/>
            </a:ln>
          </p:spPr>
          <p:txBody>
            <a:bodyPr wrap="none" lIns="0" tIns="0" rIns="0" bIns="0" anchor="t" anchorCtr="0">
              <a:spAutoFit/>
            </a:bodyPr>
            <a:lstStyle/>
            <a:p>
              <a:pPr algn="l"/>
              <a:r>
                <a:rPr lang="vi-VN" sz="1950" b="1" dirty="0">
                  <a:solidFill>
                    <a:schemeClr val="accent3"/>
                  </a:solidFill>
                  <a:latin typeface="+mn-lt"/>
                  <a:ea typeface="+mn-ea"/>
                  <a:cs typeface="+mn-cs"/>
                </a:rPr>
                <a:t>2</a:t>
              </a:r>
            </a:p>
          </p:txBody>
        </p:sp>
        <p:sp>
          <p:nvSpPr>
            <p:cNvPr id="22" name="TextBox 22"/>
            <p:cNvSpPr txBox="1"/>
            <p:nvPr/>
          </p:nvSpPr>
          <p:spPr>
            <a:xfrm>
              <a:off x="715518" y="3136582"/>
              <a:ext cx="2438277"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Đếm trước, chỉ theo chiều file có</a:t>
              </a:r>
            </a:p>
          </p:txBody>
        </p:sp>
        <p:sp>
          <p:nvSpPr>
            <p:cNvPr id="23" name="TextBox 23"/>
            <p:cNvSpPr txBox="1"/>
            <p:nvPr/>
          </p:nvSpPr>
          <p:spPr>
            <a:xfrm>
              <a:off x="716280" y="3419475"/>
              <a:ext cx="3939835"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Báo số dòng, các cột; không có cột thì không tách</a:t>
              </a:r>
            </a:p>
          </p:txBody>
        </p:sp>
        <p:sp>
          <p:nvSpPr>
            <p:cNvPr id="24" name="Line 24"/>
            <p:cNvSpPr/>
            <p:nvPr/>
          </p:nvSpPr>
          <p:spPr>
            <a:xfrm>
              <a:off x="381000" y="3810000"/>
              <a:ext cx="4953000" cy="9525"/>
            </a:xfrm>
            <a:custGeom>
              <a:avLst/>
              <a:gdLst/>
              <a:ahLst/>
              <a:cxnLst/>
              <a:rect l="l" t="t" r="r" b="b"/>
              <a:pathLst>
                <a:path w="4953000" h="9525">
                  <a:moveTo>
                    <a:pt x="0" y="0"/>
                  </a:moveTo>
                  <a:lnTo>
                    <a:pt x="4953000" y="0"/>
                  </a:lnTo>
                </a:path>
              </a:pathLst>
            </a:custGeom>
            <a:noFill/>
            <a:ln w="9525">
              <a:solidFill>
                <a:schemeClr val="accent4"/>
              </a:solidFill>
            </a:ln>
          </p:spPr>
        </p:sp>
        <p:sp>
          <p:nvSpPr>
            <p:cNvPr id="25" name="TextBox 25"/>
            <p:cNvSpPr txBox="1"/>
            <p:nvPr/>
          </p:nvSpPr>
          <p:spPr>
            <a:xfrm>
              <a:off x="371094" y="3980498"/>
              <a:ext cx="171411" cy="381381"/>
            </a:xfrm>
            <a:prstGeom prst="rect">
              <a:avLst/>
            </a:prstGeom>
            <a:noFill/>
            <a:ln>
              <a:noFill/>
            </a:ln>
          </p:spPr>
          <p:txBody>
            <a:bodyPr wrap="none" lIns="0" tIns="0" rIns="0" bIns="0" anchor="t" anchorCtr="0">
              <a:spAutoFit/>
            </a:bodyPr>
            <a:lstStyle/>
            <a:p>
              <a:pPr algn="l"/>
              <a:r>
                <a:rPr lang="vi-VN" sz="1950" b="1" dirty="0">
                  <a:solidFill>
                    <a:schemeClr val="accent3"/>
                  </a:solidFill>
                  <a:latin typeface="+mn-lt"/>
                  <a:ea typeface="+mn-ea"/>
                  <a:cs typeface="+mn-cs"/>
                </a:rPr>
                <a:t>3</a:t>
              </a:r>
            </a:p>
          </p:txBody>
        </p:sp>
        <p:sp>
          <p:nvSpPr>
            <p:cNvPr id="26" name="TextBox 26"/>
            <p:cNvSpPr txBox="1"/>
            <p:nvPr/>
          </p:nvSpPr>
          <p:spPr>
            <a:xfrm>
              <a:off x="715518" y="4012882"/>
              <a:ext cx="1586770"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Đối chiếu tổng</a:t>
              </a:r>
            </a:p>
          </p:txBody>
        </p:sp>
        <p:sp>
          <p:nvSpPr>
            <p:cNvPr id="27" name="TextBox 27"/>
            <p:cNvSpPr txBox="1"/>
            <p:nvPr/>
          </p:nvSpPr>
          <p:spPr>
            <a:xfrm>
              <a:off x="716280" y="4295775"/>
              <a:ext cx="3969743"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Tổng và 2–3 số lẻ phải khớp file gốc</a:t>
              </a:r>
            </a:p>
          </p:txBody>
        </p:sp>
        <p:sp>
          <p:nvSpPr>
            <p:cNvPr id="28" name="Line 28"/>
            <p:cNvSpPr/>
            <p:nvPr/>
          </p:nvSpPr>
          <p:spPr>
            <a:xfrm>
              <a:off x="381000" y="4686300"/>
              <a:ext cx="4953000" cy="9525"/>
            </a:xfrm>
            <a:custGeom>
              <a:avLst/>
              <a:gdLst/>
              <a:ahLst/>
              <a:cxnLst/>
              <a:rect l="l" t="t" r="r" b="b"/>
              <a:pathLst>
                <a:path w="4953000" h="9525">
                  <a:moveTo>
                    <a:pt x="0" y="0"/>
                  </a:moveTo>
                  <a:lnTo>
                    <a:pt x="4953000" y="0"/>
                  </a:lnTo>
                </a:path>
              </a:pathLst>
            </a:custGeom>
            <a:noFill/>
            <a:ln w="9525">
              <a:solidFill>
                <a:schemeClr val="accent4"/>
              </a:solidFill>
            </a:ln>
          </p:spPr>
        </p:sp>
        <p:sp>
          <p:nvSpPr>
            <p:cNvPr id="29" name="TextBox 29"/>
            <p:cNvSpPr txBox="1"/>
            <p:nvPr/>
          </p:nvSpPr>
          <p:spPr>
            <a:xfrm>
              <a:off x="371094" y="4856798"/>
              <a:ext cx="171411" cy="381381"/>
            </a:xfrm>
            <a:prstGeom prst="rect">
              <a:avLst/>
            </a:prstGeom>
            <a:noFill/>
            <a:ln>
              <a:noFill/>
            </a:ln>
          </p:spPr>
          <p:txBody>
            <a:bodyPr wrap="none" lIns="0" tIns="0" rIns="0" bIns="0" anchor="t" anchorCtr="0">
              <a:spAutoFit/>
            </a:bodyPr>
            <a:lstStyle/>
            <a:p>
              <a:pPr algn="l"/>
              <a:r>
                <a:rPr lang="vi-VN" sz="1950" b="1" dirty="0">
                  <a:solidFill>
                    <a:schemeClr val="accent3"/>
                  </a:solidFill>
                  <a:latin typeface="+mn-lt"/>
                  <a:ea typeface="+mn-ea"/>
                  <a:cs typeface="+mn-cs"/>
                </a:rPr>
                <a:t>4</a:t>
              </a:r>
            </a:p>
          </p:txBody>
        </p:sp>
        <p:sp>
          <p:nvSpPr>
            <p:cNvPr id="30" name="TextBox 30"/>
            <p:cNvSpPr txBox="1"/>
            <p:nvPr/>
          </p:nvSpPr>
          <p:spPr>
            <a:xfrm>
              <a:off x="715518" y="4889182"/>
              <a:ext cx="2683497"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Nguyên nhân là suy đoán</a:t>
              </a:r>
            </a:p>
          </p:txBody>
        </p:sp>
        <p:sp>
          <p:nvSpPr>
            <p:cNvPr id="31" name="TextBox 31"/>
            <p:cNvSpPr txBox="1"/>
            <p:nvPr/>
          </p:nvSpPr>
          <p:spPr>
            <a:xfrm>
              <a:off x="716280" y="5172075"/>
              <a:ext cx="3718604"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Viết “nghi do…, cần kiểm chứng bằng…”</a:t>
              </a:r>
            </a:p>
          </p:txBody>
        </p:sp>
      </p:grpSp>
      <p:grpSp>
        <p:nvGrpSpPr>
          <p:cNvPr id="41" name="Group 41"/>
          <p:cNvGrpSpPr/>
          <p:nvPr/>
        </p:nvGrpSpPr>
        <p:grpSpPr>
          <a:xfrm>
            <a:off x="5715000" y="2114550"/>
            <a:ext cx="6096000" cy="3886200"/>
            <a:chOff x="5715000" y="2114550"/>
            <a:chExt cx="6096000" cy="3886200"/>
          </a:xfrm>
        </p:grpSpPr>
        <p:sp>
          <p:nvSpPr>
            <p:cNvPr id="33" name="Rectangle 33"/>
            <p:cNvSpPr/>
            <p:nvPr/>
          </p:nvSpPr>
          <p:spPr>
            <a:xfrm>
              <a:off x="5715000" y="2114550"/>
              <a:ext cx="6096000" cy="3886200"/>
            </a:xfrm>
            <a:prstGeom prst="roundRect">
              <a:avLst>
                <a:gd name="adj" fmla="val 3922"/>
              </a:avLst>
            </a:prstGeom>
            <a:solidFill>
              <a:schemeClr val="lt1"/>
            </a:solidFill>
            <a:ln w="14288">
              <a:solidFill>
                <a:schemeClr val="accent3"/>
              </a:solidFill>
            </a:ln>
          </p:spPr>
        </p:sp>
        <p:grpSp>
          <p:nvGrpSpPr>
            <p:cNvPr id="39" name="Group 39"/>
            <p:cNvGrpSpPr/>
            <p:nvPr/>
          </p:nvGrpSpPr>
          <p:grpSpPr>
            <a:xfrm>
              <a:off x="5987256" y="2293144"/>
              <a:ext cx="122238" cy="157163"/>
              <a:chOff x="5987256" y="2293144"/>
              <a:chExt cx="122238" cy="157163"/>
            </a:xfrm>
          </p:grpSpPr>
          <p:sp>
            <p:nvSpPr>
              <p:cNvPr id="34" name="Freeform 34"/>
              <p:cNvSpPr/>
              <p:nvPr/>
            </p:nvSpPr>
            <p:spPr>
              <a:xfrm>
                <a:off x="6065838" y="2293144"/>
                <a:ext cx="43656" cy="43656"/>
              </a:xfrm>
              <a:custGeom>
                <a:avLst/>
                <a:gdLst/>
                <a:ahLst/>
                <a:cxnLst/>
                <a:rect l="l" t="t" r="r" b="b"/>
                <a:pathLst>
                  <a:path w="43656" h="43656">
                    <a:moveTo>
                      <a:pt x="0" y="0"/>
                    </a:moveTo>
                    <a:lnTo>
                      <a:pt x="0" y="34925"/>
                    </a:lnTo>
                    <a:cubicBezTo>
                      <a:pt x="0" y="39747"/>
                      <a:pt x="3909" y="43656"/>
                      <a:pt x="8731" y="43656"/>
                    </a:cubicBezTo>
                    <a:lnTo>
                      <a:pt x="43656" y="43656"/>
                    </a:lnTo>
                  </a:path>
                </a:pathLst>
              </a:custGeom>
              <a:noFill/>
              <a:ln w="17463">
                <a:solidFill>
                  <a:schemeClr val="accent3"/>
                </a:solidFill>
              </a:ln>
            </p:spPr>
          </p:sp>
          <p:sp>
            <p:nvSpPr>
              <p:cNvPr id="35" name="Freeform 35"/>
              <p:cNvSpPr/>
              <p:nvPr/>
            </p:nvSpPr>
            <p:spPr>
              <a:xfrm>
                <a:off x="5987256" y="2293144"/>
                <a:ext cx="122238" cy="157163"/>
              </a:xfrm>
              <a:custGeom>
                <a:avLst/>
                <a:gdLst/>
                <a:ahLst/>
                <a:cxnLst/>
                <a:rect l="l" t="t" r="r" b="b"/>
                <a:pathLst>
                  <a:path w="122238" h="157163">
                    <a:moveTo>
                      <a:pt x="104775" y="157163"/>
                    </a:moveTo>
                    <a:lnTo>
                      <a:pt x="17463" y="157163"/>
                    </a:lnTo>
                    <a:cubicBezTo>
                      <a:pt x="7818" y="157163"/>
                      <a:pt x="0" y="149344"/>
                      <a:pt x="0" y="139700"/>
                    </a:cubicBezTo>
                    <a:lnTo>
                      <a:pt x="0" y="17463"/>
                    </a:lnTo>
                    <a:cubicBezTo>
                      <a:pt x="0" y="7818"/>
                      <a:pt x="7818" y="0"/>
                      <a:pt x="17463" y="0"/>
                    </a:cubicBezTo>
                    <a:lnTo>
                      <a:pt x="78581" y="0"/>
                    </a:lnTo>
                    <a:lnTo>
                      <a:pt x="122238" y="43656"/>
                    </a:lnTo>
                    <a:lnTo>
                      <a:pt x="122238" y="139700"/>
                    </a:lnTo>
                    <a:cubicBezTo>
                      <a:pt x="122238" y="149344"/>
                      <a:pt x="114419" y="157163"/>
                      <a:pt x="104775" y="157163"/>
                    </a:cubicBezTo>
                  </a:path>
                </a:pathLst>
              </a:custGeom>
              <a:noFill/>
              <a:ln w="17463">
                <a:solidFill>
                  <a:schemeClr val="accent3"/>
                </a:solidFill>
              </a:ln>
            </p:spPr>
          </p:sp>
          <p:sp>
            <p:nvSpPr>
              <p:cNvPr id="36" name="Freeform 36"/>
              <p:cNvSpPr/>
              <p:nvPr/>
            </p:nvSpPr>
            <p:spPr>
              <a:xfrm>
                <a:off x="6013450" y="2362994"/>
                <a:ext cx="69850" cy="61119"/>
              </a:xfrm>
              <a:custGeom>
                <a:avLst/>
                <a:gdLst/>
                <a:ahLst/>
                <a:cxnLst/>
                <a:rect l="l" t="t" r="r" b="b"/>
                <a:pathLst>
                  <a:path w="69850" h="61119">
                    <a:moveTo>
                      <a:pt x="0" y="0"/>
                    </a:moveTo>
                    <a:lnTo>
                      <a:pt x="69850" y="0"/>
                    </a:lnTo>
                    <a:lnTo>
                      <a:pt x="69850" y="61119"/>
                    </a:lnTo>
                    <a:lnTo>
                      <a:pt x="0" y="61119"/>
                    </a:lnTo>
                    <a:lnTo>
                      <a:pt x="0" y="0"/>
                    </a:lnTo>
                  </a:path>
                </a:pathLst>
              </a:custGeom>
              <a:noFill/>
              <a:ln w="17463">
                <a:solidFill>
                  <a:schemeClr val="accent3"/>
                </a:solidFill>
              </a:ln>
            </p:spPr>
          </p:sp>
          <p:sp>
            <p:nvSpPr>
              <p:cNvPr id="37" name="Freeform 37"/>
              <p:cNvSpPr/>
              <p:nvPr/>
            </p:nvSpPr>
            <p:spPr>
              <a:xfrm>
                <a:off x="6013450" y="2397919"/>
                <a:ext cx="69850" cy="9525"/>
              </a:xfrm>
              <a:custGeom>
                <a:avLst/>
                <a:gdLst/>
                <a:ahLst/>
                <a:cxnLst/>
                <a:rect l="l" t="t" r="r" b="b"/>
                <a:pathLst>
                  <a:path w="69850" h="9525">
                    <a:moveTo>
                      <a:pt x="0" y="0"/>
                    </a:moveTo>
                    <a:lnTo>
                      <a:pt x="69850" y="0"/>
                    </a:lnTo>
                  </a:path>
                </a:pathLst>
              </a:custGeom>
              <a:noFill/>
              <a:ln w="17463">
                <a:solidFill>
                  <a:schemeClr val="accent3"/>
                </a:solidFill>
              </a:ln>
            </p:spPr>
          </p:sp>
          <p:sp>
            <p:nvSpPr>
              <p:cNvPr id="38" name="Freeform 38"/>
              <p:cNvSpPr/>
              <p:nvPr/>
            </p:nvSpPr>
            <p:spPr>
              <a:xfrm>
                <a:off x="6039644" y="2362994"/>
                <a:ext cx="9525" cy="61119"/>
              </a:xfrm>
              <a:custGeom>
                <a:avLst/>
                <a:gdLst/>
                <a:ahLst/>
                <a:cxnLst/>
                <a:rect l="l" t="t" r="r" b="b"/>
                <a:pathLst>
                  <a:path w="9525" h="61119">
                    <a:moveTo>
                      <a:pt x="0" y="0"/>
                    </a:moveTo>
                    <a:lnTo>
                      <a:pt x="0" y="61119"/>
                    </a:lnTo>
                  </a:path>
                </a:pathLst>
              </a:custGeom>
              <a:noFill/>
              <a:ln w="17463">
                <a:solidFill>
                  <a:schemeClr val="accent3"/>
                </a:solidFill>
              </a:ln>
            </p:spPr>
          </p:sp>
        </p:grpSp>
        <p:sp>
          <p:nvSpPr>
            <p:cNvPr id="40" name="TextBox 40"/>
            <p:cNvSpPr txBox="1"/>
            <p:nvPr/>
          </p:nvSpPr>
          <p:spPr>
            <a:xfrm>
              <a:off x="6223254" y="2299335"/>
              <a:ext cx="3593653"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BẪY DEMO · 40 DÒNG ĐƠN HÀNG, HAI CÁCH ĐƯA VÀO</a:t>
              </a:r>
            </a:p>
          </p:txBody>
        </p:sp>
      </p:grpSp>
      <p:grpSp>
        <p:nvGrpSpPr>
          <p:cNvPr id="54" name="Group 54"/>
          <p:cNvGrpSpPr/>
          <p:nvPr/>
        </p:nvGrpSpPr>
        <p:grpSpPr>
          <a:xfrm>
            <a:off x="5943600" y="2609850"/>
            <a:ext cx="5638800" cy="342900"/>
            <a:chOff x="5943600" y="2609850"/>
            <a:chExt cx="5638800" cy="342900"/>
          </a:xfrm>
        </p:grpSpPr>
        <p:sp>
          <p:nvSpPr>
            <p:cNvPr id="42" name="Rectangle 42"/>
            <p:cNvSpPr/>
            <p:nvPr/>
          </p:nvSpPr>
          <p:spPr>
            <a:xfrm>
              <a:off x="5943600" y="2609850"/>
              <a:ext cx="762000" cy="342900"/>
            </a:xfrm>
            <a:prstGeom prst="roundRect">
              <a:avLst>
                <a:gd name="adj" fmla="val 16667"/>
              </a:avLst>
            </a:prstGeom>
            <a:solidFill>
              <a:schemeClr val="accent1"/>
            </a:solidFill>
            <a:ln>
              <a:noFill/>
            </a:ln>
          </p:spPr>
        </p:sp>
        <p:sp>
          <p:nvSpPr>
            <p:cNvPr id="43" name="TextBox 43"/>
            <p:cNvSpPr txBox="1"/>
            <p:nvPr/>
          </p:nvSpPr>
          <p:spPr>
            <a:xfrm>
              <a:off x="6129280" y="2708910"/>
              <a:ext cx="390639"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mn-lt"/>
                  <a:ea typeface="+mn-ea"/>
                  <a:cs typeface="+mn-cs"/>
                </a:rPr>
                <a:t>Ngày</a:t>
              </a:r>
            </a:p>
          </p:txBody>
        </p:sp>
        <p:sp>
          <p:nvSpPr>
            <p:cNvPr id="44" name="Rectangle 44"/>
            <p:cNvSpPr/>
            <p:nvPr/>
          </p:nvSpPr>
          <p:spPr>
            <a:xfrm>
              <a:off x="6743700" y="2609850"/>
              <a:ext cx="762000" cy="342900"/>
            </a:xfrm>
            <a:prstGeom prst="roundRect">
              <a:avLst>
                <a:gd name="adj" fmla="val 16667"/>
              </a:avLst>
            </a:prstGeom>
            <a:solidFill>
              <a:schemeClr val="accent1"/>
            </a:solidFill>
            <a:ln>
              <a:noFill/>
            </a:ln>
          </p:spPr>
        </p:sp>
        <p:sp>
          <p:nvSpPr>
            <p:cNvPr id="45" name="TextBox 45"/>
            <p:cNvSpPr txBox="1"/>
            <p:nvPr/>
          </p:nvSpPr>
          <p:spPr>
            <a:xfrm>
              <a:off x="6929380" y="2708910"/>
              <a:ext cx="390639"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mn-lt"/>
                  <a:ea typeface="+mn-ea"/>
                  <a:cs typeface="+mn-cs"/>
                </a:rPr>
                <a:t>Kênh</a:t>
              </a:r>
            </a:p>
          </p:txBody>
        </p:sp>
        <p:sp>
          <p:nvSpPr>
            <p:cNvPr id="46" name="Rectangle 46"/>
            <p:cNvSpPr/>
            <p:nvPr/>
          </p:nvSpPr>
          <p:spPr>
            <a:xfrm>
              <a:off x="7543800" y="2609850"/>
              <a:ext cx="990600" cy="342900"/>
            </a:xfrm>
            <a:prstGeom prst="roundRect">
              <a:avLst>
                <a:gd name="adj" fmla="val 16667"/>
              </a:avLst>
            </a:prstGeom>
            <a:solidFill>
              <a:schemeClr val="accent1"/>
            </a:solidFill>
            <a:ln>
              <a:noFill/>
            </a:ln>
          </p:spPr>
        </p:sp>
        <p:sp>
          <p:nvSpPr>
            <p:cNvPr id="47" name="TextBox 47"/>
            <p:cNvSpPr txBox="1"/>
            <p:nvPr/>
          </p:nvSpPr>
          <p:spPr>
            <a:xfrm>
              <a:off x="7661095" y="2708910"/>
              <a:ext cx="756011"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mn-lt"/>
                  <a:ea typeface="+mn-ea"/>
                  <a:cs typeface="+mn-cs"/>
                </a:rPr>
                <a:t>Sản phẩm</a:t>
              </a:r>
            </a:p>
          </p:txBody>
        </p:sp>
        <p:sp>
          <p:nvSpPr>
            <p:cNvPr id="48" name="Rectangle 48"/>
            <p:cNvSpPr/>
            <p:nvPr/>
          </p:nvSpPr>
          <p:spPr>
            <a:xfrm>
              <a:off x="8572500" y="2609850"/>
              <a:ext cx="952500" cy="342900"/>
            </a:xfrm>
            <a:prstGeom prst="roundRect">
              <a:avLst>
                <a:gd name="adj" fmla="val 16667"/>
              </a:avLst>
            </a:prstGeom>
            <a:solidFill>
              <a:schemeClr val="accent1"/>
            </a:solidFill>
            <a:ln>
              <a:noFill/>
            </a:ln>
          </p:spPr>
        </p:sp>
        <p:sp>
          <p:nvSpPr>
            <p:cNvPr id="49" name="TextBox 49"/>
            <p:cNvSpPr txBox="1"/>
            <p:nvPr/>
          </p:nvSpPr>
          <p:spPr>
            <a:xfrm>
              <a:off x="8709218" y="2708910"/>
              <a:ext cx="679064"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mn-lt"/>
                  <a:ea typeface="+mn-ea"/>
                  <a:cs typeface="+mn-cs"/>
                </a:rPr>
                <a:t>Số lượng</a:t>
              </a:r>
            </a:p>
          </p:txBody>
        </p:sp>
        <p:sp>
          <p:nvSpPr>
            <p:cNvPr id="50" name="Rectangle 50"/>
            <p:cNvSpPr/>
            <p:nvPr/>
          </p:nvSpPr>
          <p:spPr>
            <a:xfrm>
              <a:off x="9563100" y="2609850"/>
              <a:ext cx="876300" cy="342900"/>
            </a:xfrm>
            <a:prstGeom prst="roundRect">
              <a:avLst>
                <a:gd name="adj" fmla="val 16667"/>
              </a:avLst>
            </a:prstGeom>
            <a:solidFill>
              <a:schemeClr val="accent1"/>
            </a:solidFill>
            <a:ln>
              <a:noFill/>
            </a:ln>
          </p:spPr>
        </p:sp>
        <p:sp>
          <p:nvSpPr>
            <p:cNvPr id="51" name="TextBox 51"/>
            <p:cNvSpPr txBox="1"/>
            <p:nvPr/>
          </p:nvSpPr>
          <p:spPr>
            <a:xfrm>
              <a:off x="9708358" y="2708910"/>
              <a:ext cx="585784"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mn-lt"/>
                  <a:ea typeface="+mn-ea"/>
                  <a:cs typeface="+mn-cs"/>
                </a:rPr>
                <a:t>Đơn giá</a:t>
              </a:r>
            </a:p>
          </p:txBody>
        </p:sp>
        <p:sp>
          <p:nvSpPr>
            <p:cNvPr id="52" name="Rectangle 52"/>
            <p:cNvSpPr/>
            <p:nvPr/>
          </p:nvSpPr>
          <p:spPr>
            <a:xfrm>
              <a:off x="10477500" y="2609850"/>
              <a:ext cx="1104900" cy="342900"/>
            </a:xfrm>
            <a:prstGeom prst="roundRect">
              <a:avLst>
                <a:gd name="adj" fmla="val 16667"/>
              </a:avLst>
            </a:prstGeom>
            <a:solidFill>
              <a:schemeClr val="accent1"/>
            </a:solidFill>
            <a:ln>
              <a:noFill/>
            </a:ln>
          </p:spPr>
        </p:sp>
        <p:sp>
          <p:nvSpPr>
            <p:cNvPr id="53" name="TextBox 53"/>
            <p:cNvSpPr txBox="1"/>
            <p:nvPr/>
          </p:nvSpPr>
          <p:spPr>
            <a:xfrm>
              <a:off x="10597134" y="2708910"/>
              <a:ext cx="865632"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mn-lt"/>
                  <a:ea typeface="+mn-ea"/>
                  <a:cs typeface="+mn-cs"/>
                </a:rPr>
                <a:t>Thành tiền</a:t>
              </a:r>
            </a:p>
          </p:txBody>
        </p:sp>
      </p:grpSp>
      <p:grpSp>
        <p:nvGrpSpPr>
          <p:cNvPr id="57" name="Group 57"/>
          <p:cNvGrpSpPr/>
          <p:nvPr/>
        </p:nvGrpSpPr>
        <p:grpSpPr>
          <a:xfrm>
            <a:off x="5943600" y="3086100"/>
            <a:ext cx="3390900" cy="346901"/>
            <a:chOff x="5943600" y="3086100"/>
            <a:chExt cx="3390900" cy="346901"/>
          </a:xfrm>
        </p:grpSpPr>
        <p:sp>
          <p:nvSpPr>
            <p:cNvPr id="55" name="Rectangle 55"/>
            <p:cNvSpPr/>
            <p:nvPr/>
          </p:nvSpPr>
          <p:spPr>
            <a:xfrm>
              <a:off x="5943600" y="3086100"/>
              <a:ext cx="5638800" cy="342900"/>
            </a:xfrm>
            <a:prstGeom prst="roundRect">
              <a:avLst>
                <a:gd name="adj" fmla="val 22222"/>
              </a:avLst>
            </a:prstGeom>
            <a:solidFill>
              <a:schemeClr val="lt1"/>
            </a:solidFill>
            <a:ln w="19050">
              <a:solidFill>
                <a:srgbClr val="C0392B"/>
              </a:solidFill>
              <a:prstDash val="dash"/>
            </a:ln>
          </p:spPr>
        </p:sp>
        <p:sp>
          <p:nvSpPr>
            <p:cNvPr id="56" name="TextBox 56"/>
            <p:cNvSpPr txBox="1"/>
            <p:nvPr/>
          </p:nvSpPr>
          <p:spPr>
            <a:xfrm>
              <a:off x="6089142" y="3168968"/>
              <a:ext cx="5300000" cy="264033"/>
            </a:xfrm>
            <a:prstGeom prst="rect">
              <a:avLst/>
            </a:prstGeom>
            <a:noFill/>
            <a:ln>
              <a:noFill/>
            </a:ln>
          </p:spPr>
          <p:txBody>
            <a:bodyPr wrap="none" lIns="0" tIns="0" rIns="0" bIns="0" anchor="t" anchorCtr="0">
              <a:spAutoFit/>
            </a:bodyPr>
            <a:lstStyle/>
            <a:p>
              <a:pPr algn="l"/>
              <a:r>
                <a:rPr lang="vi-VN" sz="1350" b="1" dirty="0">
                  <a:solidFill>
                    <a:srgbClr val="C0392B"/>
                  </a:solidFill>
                  <a:latin typeface="+mn-lt"/>
                  <a:ea typeface="+mn-ea"/>
                  <a:cs typeface="+mn-cs"/>
                </a:rPr>
                <a:t>Dán 40 dòng dạng chữ → ChatGPT tính nhẩm</a:t>
              </a:r>
            </a:p>
          </p:txBody>
        </p:sp>
      </p:grpSp>
      <p:grpSp>
        <p:nvGrpSpPr>
          <p:cNvPr id="64" name="Group 64"/>
          <p:cNvGrpSpPr/>
          <p:nvPr/>
        </p:nvGrpSpPr>
        <p:grpSpPr>
          <a:xfrm>
            <a:off x="5943600" y="3619500"/>
            <a:ext cx="5638800" cy="666750"/>
            <a:chOff x="5943600" y="3619500"/>
            <a:chExt cx="5638800" cy="666750"/>
          </a:xfrm>
        </p:grpSpPr>
        <p:sp>
          <p:nvSpPr>
            <p:cNvPr id="58" name="Rectangle 58"/>
            <p:cNvSpPr/>
            <p:nvPr/>
          </p:nvSpPr>
          <p:spPr>
            <a:xfrm>
              <a:off x="5943600" y="3619500"/>
              <a:ext cx="5638800" cy="666750"/>
            </a:xfrm>
            <a:prstGeom prst="roundRect">
              <a:avLst>
                <a:gd name="adj" fmla="val 20000"/>
              </a:avLst>
            </a:prstGeom>
            <a:solidFill>
              <a:schemeClr val="lt2"/>
            </a:solidFill>
            <a:ln>
              <a:noFill/>
            </a:ln>
          </p:spPr>
        </p:sp>
        <p:grpSp>
          <p:nvGrpSpPr>
            <p:cNvPr id="62" name="Group 62"/>
            <p:cNvGrpSpPr/>
            <p:nvPr/>
          </p:nvGrpSpPr>
          <p:grpSpPr>
            <a:xfrm>
              <a:off x="6141244" y="3873500"/>
              <a:ext cx="157163" cy="148431"/>
              <a:chOff x="6141244" y="3873500"/>
              <a:chExt cx="157163" cy="148431"/>
            </a:xfrm>
          </p:grpSpPr>
          <p:sp>
            <p:nvSpPr>
              <p:cNvPr id="59" name="Freeform 59"/>
              <p:cNvSpPr/>
              <p:nvPr/>
            </p:nvSpPr>
            <p:spPr>
              <a:xfrm>
                <a:off x="6184900" y="3917156"/>
                <a:ext cx="69850" cy="9525"/>
              </a:xfrm>
              <a:custGeom>
                <a:avLst/>
                <a:gdLst/>
                <a:ahLst/>
                <a:cxnLst/>
                <a:rect l="l" t="t" r="r" b="b"/>
                <a:pathLst>
                  <a:path w="69850" h="9525">
                    <a:moveTo>
                      <a:pt x="0" y="0"/>
                    </a:moveTo>
                    <a:lnTo>
                      <a:pt x="69850" y="0"/>
                    </a:lnTo>
                  </a:path>
                </a:pathLst>
              </a:custGeom>
              <a:noFill/>
              <a:ln w="17463">
                <a:solidFill>
                  <a:schemeClr val="accent3"/>
                </a:solidFill>
              </a:ln>
            </p:spPr>
          </p:sp>
          <p:sp>
            <p:nvSpPr>
              <p:cNvPr id="60" name="Freeform 60"/>
              <p:cNvSpPr/>
              <p:nvPr/>
            </p:nvSpPr>
            <p:spPr>
              <a:xfrm>
                <a:off x="6184900" y="3952081"/>
                <a:ext cx="52388" cy="9525"/>
              </a:xfrm>
              <a:custGeom>
                <a:avLst/>
                <a:gdLst/>
                <a:ahLst/>
                <a:cxnLst/>
                <a:rect l="l" t="t" r="r" b="b"/>
                <a:pathLst>
                  <a:path w="52388" h="9525">
                    <a:moveTo>
                      <a:pt x="0" y="0"/>
                    </a:moveTo>
                    <a:lnTo>
                      <a:pt x="52388" y="0"/>
                    </a:lnTo>
                  </a:path>
                </a:pathLst>
              </a:custGeom>
              <a:noFill/>
              <a:ln w="17463">
                <a:solidFill>
                  <a:schemeClr val="accent3"/>
                </a:solidFill>
              </a:ln>
            </p:spPr>
          </p:sp>
          <p:sp>
            <p:nvSpPr>
              <p:cNvPr id="61" name="Freeform 61"/>
              <p:cNvSpPr/>
              <p:nvPr/>
            </p:nvSpPr>
            <p:spPr>
              <a:xfrm>
                <a:off x="6141244" y="3873500"/>
                <a:ext cx="157163" cy="148431"/>
              </a:xfrm>
              <a:custGeom>
                <a:avLst/>
                <a:gdLst/>
                <a:ahLst/>
                <a:cxnLst/>
                <a:rect l="l" t="t" r="r" b="b"/>
                <a:pathLst>
                  <a:path w="157163" h="148431">
                    <a:moveTo>
                      <a:pt x="52388" y="122238"/>
                    </a:moveTo>
                    <a:lnTo>
                      <a:pt x="26194" y="122238"/>
                    </a:lnTo>
                    <a:cubicBezTo>
                      <a:pt x="11727" y="122238"/>
                      <a:pt x="0" y="110510"/>
                      <a:pt x="0" y="96044"/>
                    </a:cubicBezTo>
                    <a:lnTo>
                      <a:pt x="0" y="26194"/>
                    </a:lnTo>
                    <a:cubicBezTo>
                      <a:pt x="0" y="11727"/>
                      <a:pt x="11727" y="0"/>
                      <a:pt x="26194" y="0"/>
                    </a:cubicBezTo>
                    <a:lnTo>
                      <a:pt x="130969" y="0"/>
                    </a:lnTo>
                    <a:cubicBezTo>
                      <a:pt x="145435" y="0"/>
                      <a:pt x="157163" y="11727"/>
                      <a:pt x="157163" y="26194"/>
                    </a:cubicBezTo>
                    <a:lnTo>
                      <a:pt x="157163" y="96044"/>
                    </a:lnTo>
                    <a:cubicBezTo>
                      <a:pt x="157163" y="110510"/>
                      <a:pt x="145435" y="122238"/>
                      <a:pt x="130969" y="122238"/>
                    </a:cubicBezTo>
                    <a:lnTo>
                      <a:pt x="104775" y="122238"/>
                    </a:lnTo>
                    <a:lnTo>
                      <a:pt x="78581" y="148431"/>
                    </a:lnTo>
                    <a:lnTo>
                      <a:pt x="52388" y="122238"/>
                    </a:lnTo>
                  </a:path>
                </a:pathLst>
              </a:custGeom>
              <a:noFill/>
              <a:ln w="17463">
                <a:solidFill>
                  <a:schemeClr val="accent3"/>
                </a:solidFill>
              </a:ln>
            </p:spPr>
          </p:sp>
        </p:grpSp>
        <p:sp>
          <p:nvSpPr>
            <p:cNvPr id="63" name="TextBox 63"/>
            <p:cNvSpPr txBox="1"/>
            <p:nvPr/>
          </p:nvSpPr>
          <p:spPr>
            <a:xfrm>
              <a:off x="6450330" y="3724275"/>
              <a:ext cx="2710815" cy="541020"/>
            </a:xfrm>
            <a:prstGeom prst="rect">
              <a:avLst/>
            </a:prstGeom>
            <a:noFill/>
            <a:ln>
              <a:noFill/>
            </a:ln>
          </p:spPr>
          <p:txBody>
            <a:bodyPr wrap="none" lIns="0" tIns="0" rIns="0" bIns="0" anchor="t" anchorCtr="0">
              <a:spAutoFit/>
            </a:bodyPr>
            <a:lstStyle/>
            <a:p>
              <a:pPr algn="l">
                <a:lnSpc>
                  <a:spcPts val="1950"/>
                </a:lnSpc>
              </a:pPr>
              <a:r>
                <a:rPr lang="vi-VN" sz="1500" dirty="0">
                  <a:solidFill>
                    <a:schemeClr val="accent1"/>
                  </a:solidFill>
                  <a:latin typeface="Consolas"/>
                  <a:ea typeface="Consolas"/>
                  <a:cs typeface="Consolas"/>
                </a:rPr>
                <a:t>Vì sao Shopee nhiều đơn nhất</a:t>
              </a:r>
              <a:br/>
              <a:r>
                <a:rPr lang="vi-VN" sz="1500" dirty="0">
                  <a:solidFill>
                    <a:schemeClr val="accent1"/>
                  </a:solidFill>
                  <a:latin typeface="Consolas"/>
                  <a:ea typeface="Consolas"/>
                  <a:cs typeface="Consolas"/>
                </a:rPr>
                <a:t>mà doanh thu thấp?</a:t>
              </a:r>
            </a:p>
          </p:txBody>
        </p:sp>
      </p:grpSp>
      <p:grpSp>
        <p:nvGrpSpPr>
          <p:cNvPr id="71" name="Group 71"/>
          <p:cNvGrpSpPr/>
          <p:nvPr/>
        </p:nvGrpSpPr>
        <p:grpSpPr>
          <a:xfrm>
            <a:off x="5961839" y="4505325"/>
            <a:ext cx="4347761" cy="643509"/>
            <a:chOff x="5961839" y="4505325"/>
            <a:chExt cx="4347761" cy="643509"/>
          </a:xfrm>
        </p:grpSpPr>
        <p:grpSp>
          <p:nvGrpSpPr>
            <p:cNvPr id="68" name="Group 68"/>
            <p:cNvGrpSpPr/>
            <p:nvPr/>
          </p:nvGrpSpPr>
          <p:grpSpPr>
            <a:xfrm>
              <a:off x="5961839" y="4521211"/>
              <a:ext cx="192114" cy="165051"/>
              <a:chOff x="5961839" y="4521211"/>
              <a:chExt cx="192114" cy="165051"/>
            </a:xfrm>
          </p:grpSpPr>
          <p:sp>
            <p:nvSpPr>
              <p:cNvPr id="65" name="Freeform 65"/>
              <p:cNvSpPr/>
              <p:nvPr/>
            </p:nvSpPr>
            <p:spPr>
              <a:xfrm>
                <a:off x="6057900" y="4581525"/>
                <a:ext cx="9525" cy="38100"/>
              </a:xfrm>
              <a:custGeom>
                <a:avLst/>
                <a:gdLst/>
                <a:ahLst/>
                <a:cxnLst/>
                <a:rect l="l" t="t" r="r" b="b"/>
                <a:pathLst>
                  <a:path w="9525" h="38100">
                    <a:moveTo>
                      <a:pt x="0" y="0"/>
                    </a:moveTo>
                    <a:lnTo>
                      <a:pt x="0" y="38100"/>
                    </a:lnTo>
                  </a:path>
                </a:pathLst>
              </a:custGeom>
              <a:noFill/>
              <a:ln w="19050">
                <a:solidFill>
                  <a:srgbClr val="C0392B"/>
                </a:solidFill>
              </a:ln>
            </p:spPr>
          </p:sp>
          <p:sp>
            <p:nvSpPr>
              <p:cNvPr id="66" name="Freeform 66"/>
              <p:cNvSpPr/>
              <p:nvPr/>
            </p:nvSpPr>
            <p:spPr>
              <a:xfrm>
                <a:off x="5961839" y="4521211"/>
                <a:ext cx="192114" cy="165051"/>
              </a:xfrm>
              <a:custGeom>
                <a:avLst/>
                <a:gdLst/>
                <a:ahLst/>
                <a:cxnLst/>
                <a:rect l="l" t="t" r="r" b="b"/>
                <a:pathLst>
                  <a:path w="192114" h="165051">
                    <a:moveTo>
                      <a:pt x="80468" y="8794"/>
                    </a:moveTo>
                    <a:lnTo>
                      <a:pt x="3259" y="137705"/>
                    </a:lnTo>
                    <a:cubicBezTo>
                      <a:pt x="20" y="143314"/>
                      <a:pt x="0" y="150220"/>
                      <a:pt x="3207" y="155848"/>
                    </a:cubicBezTo>
                    <a:cubicBezTo>
                      <a:pt x="6413" y="161475"/>
                      <a:pt x="12365" y="164979"/>
                      <a:pt x="18842" y="165051"/>
                    </a:cubicBezTo>
                    <a:lnTo>
                      <a:pt x="173280" y="165051"/>
                    </a:lnTo>
                    <a:cubicBezTo>
                      <a:pt x="179753" y="164977"/>
                      <a:pt x="185702" y="161474"/>
                      <a:pt x="188908" y="155850"/>
                    </a:cubicBezTo>
                    <a:cubicBezTo>
                      <a:pt x="192114" y="150226"/>
                      <a:pt x="192097" y="143323"/>
                      <a:pt x="188863" y="137715"/>
                    </a:cubicBezTo>
                    <a:lnTo>
                      <a:pt x="111653" y="8784"/>
                    </a:lnTo>
                    <a:cubicBezTo>
                      <a:pt x="108349" y="3331"/>
                      <a:pt x="102437" y="0"/>
                      <a:pt x="96061" y="0"/>
                    </a:cubicBezTo>
                    <a:cubicBezTo>
                      <a:pt x="89685" y="0"/>
                      <a:pt x="83772" y="3331"/>
                      <a:pt x="80468" y="8784"/>
                    </a:cubicBezTo>
                  </a:path>
                </a:pathLst>
              </a:custGeom>
              <a:noFill/>
              <a:ln w="19050">
                <a:solidFill>
                  <a:srgbClr val="C0392B"/>
                </a:solidFill>
              </a:ln>
            </p:spPr>
          </p:sp>
          <p:sp>
            <p:nvSpPr>
              <p:cNvPr id="67" name="Freeform 67"/>
              <p:cNvSpPr/>
              <p:nvPr/>
            </p:nvSpPr>
            <p:spPr>
              <a:xfrm>
                <a:off x="6057900" y="4648200"/>
                <a:ext cx="9525" cy="9525"/>
              </a:xfrm>
              <a:custGeom>
                <a:avLst/>
                <a:gdLst/>
                <a:ahLst/>
                <a:cxnLst/>
                <a:rect l="l" t="t" r="r" b="b"/>
                <a:pathLst>
                  <a:path w="9525" h="9525">
                    <a:moveTo>
                      <a:pt x="0" y="0"/>
                    </a:moveTo>
                    <a:lnTo>
                      <a:pt x="95" y="0"/>
                    </a:lnTo>
                  </a:path>
                </a:pathLst>
              </a:custGeom>
              <a:noFill/>
              <a:ln w="19050">
                <a:solidFill>
                  <a:srgbClr val="C0392B"/>
                </a:solidFill>
              </a:ln>
            </p:spPr>
          </p:sp>
        </p:grpSp>
        <p:sp>
          <p:nvSpPr>
            <p:cNvPr id="69" name="TextBox 69"/>
            <p:cNvSpPr txBox="1"/>
            <p:nvPr/>
          </p:nvSpPr>
          <p:spPr>
            <a:xfrm>
              <a:off x="6278880" y="4505325"/>
              <a:ext cx="4030720"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Trả lời chắc nịch: Đại lý sỉ 6 đơn, 96,71 tr</a:t>
              </a:r>
            </a:p>
          </p:txBody>
        </p:sp>
        <p:sp>
          <p:nvSpPr>
            <p:cNvPr id="70" name="TextBox 70"/>
            <p:cNvSpPr txBox="1"/>
            <p:nvPr/>
          </p:nvSpPr>
          <p:spPr>
            <a:xfrm>
              <a:off x="6277356" y="4796790"/>
              <a:ext cx="4300000" cy="352044"/>
            </a:xfrm>
            <a:prstGeom prst="rect">
              <a:avLst/>
            </a:prstGeom>
            <a:noFill/>
            <a:ln>
              <a:noFill/>
            </a:ln>
          </p:spPr>
          <p:txBody>
            <a:bodyPr wrap="none" lIns="0" tIns="0" rIns="0" bIns="0" anchor="t" anchorCtr="0">
              <a:spAutoFit/>
            </a:bodyPr>
            <a:lstStyle/>
            <a:p>
              <a:pPr algn="l"/>
              <a:r>
                <a:rPr lang="vi-VN" sz="1800" b="1" dirty="0">
                  <a:solidFill>
                    <a:srgbClr val="C0392B"/>
                  </a:solidFill>
                  <a:latin typeface="+mn-lt"/>
                  <a:ea typeface="+mn-ea"/>
                  <a:cs typeface="+mn-cs"/>
                </a:rPr>
                <a:t>→ Sai: thật là 7 đơn, 106,71 tr</a:t>
              </a:r>
            </a:p>
          </p:txBody>
        </p:sp>
      </p:grpSp>
      <p:grpSp>
        <p:nvGrpSpPr>
          <p:cNvPr id="77" name="Group 77"/>
          <p:cNvGrpSpPr/>
          <p:nvPr/>
        </p:nvGrpSpPr>
        <p:grpSpPr>
          <a:xfrm>
            <a:off x="5943600" y="5238750"/>
            <a:ext cx="5638800" cy="670751"/>
            <a:chOff x="5943600" y="5238750"/>
            <a:chExt cx="5638800" cy="670751"/>
          </a:xfrm>
        </p:grpSpPr>
        <p:sp>
          <p:nvSpPr>
            <p:cNvPr id="72" name="Line 72"/>
            <p:cNvSpPr/>
            <p:nvPr/>
          </p:nvSpPr>
          <p:spPr>
            <a:xfrm>
              <a:off x="5943600" y="5238750"/>
              <a:ext cx="5638800" cy="9525"/>
            </a:xfrm>
            <a:custGeom>
              <a:avLst/>
              <a:gdLst/>
              <a:ahLst/>
              <a:cxnLst/>
              <a:rect l="l" t="t" r="r" b="b"/>
              <a:pathLst>
                <a:path w="5638800" h="9525">
                  <a:moveTo>
                    <a:pt x="0" y="0"/>
                  </a:moveTo>
                  <a:lnTo>
                    <a:pt x="5638800" y="0"/>
                  </a:lnTo>
                </a:path>
              </a:pathLst>
            </a:custGeom>
            <a:noFill/>
            <a:ln w="9525">
              <a:solidFill>
                <a:schemeClr val="accent4"/>
              </a:solidFill>
            </a:ln>
          </p:spPr>
        </p:sp>
        <p:grpSp>
          <p:nvGrpSpPr>
            <p:cNvPr id="75" name="Group 75"/>
            <p:cNvGrpSpPr/>
            <p:nvPr/>
          </p:nvGrpSpPr>
          <p:grpSpPr>
            <a:xfrm>
              <a:off x="5972175" y="5419725"/>
              <a:ext cx="171450" cy="171450"/>
              <a:chOff x="5972175" y="5419725"/>
              <a:chExt cx="171450" cy="171450"/>
            </a:xfrm>
          </p:grpSpPr>
          <p:sp>
            <p:nvSpPr>
              <p:cNvPr id="73" name="Freeform 73"/>
              <p:cNvSpPr/>
              <p:nvPr/>
            </p:nvSpPr>
            <p:spPr>
              <a:xfrm>
                <a:off x="5972175" y="541972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2E8B57"/>
                </a:solidFill>
              </a:ln>
            </p:spPr>
          </p:sp>
          <p:sp>
            <p:nvSpPr>
              <p:cNvPr id="74" name="Freeform 74"/>
              <p:cNvSpPr/>
              <p:nvPr/>
            </p:nvSpPr>
            <p:spPr>
              <a:xfrm>
                <a:off x="6029325" y="5486400"/>
                <a:ext cx="57150" cy="38100"/>
              </a:xfrm>
              <a:custGeom>
                <a:avLst/>
                <a:gdLst/>
                <a:ahLst/>
                <a:cxnLst/>
                <a:rect l="l" t="t" r="r" b="b"/>
                <a:pathLst>
                  <a:path w="57150" h="38100">
                    <a:moveTo>
                      <a:pt x="0" y="19050"/>
                    </a:moveTo>
                    <a:lnTo>
                      <a:pt x="19050" y="38100"/>
                    </a:lnTo>
                    <a:lnTo>
                      <a:pt x="57150" y="0"/>
                    </a:lnTo>
                  </a:path>
                </a:pathLst>
              </a:custGeom>
              <a:noFill/>
              <a:ln w="19050">
                <a:solidFill>
                  <a:srgbClr val="2E8B57"/>
                </a:solidFill>
              </a:ln>
            </p:spPr>
          </p:sp>
        </p:grpSp>
        <p:sp>
          <p:nvSpPr>
            <p:cNvPr id="76" name="TextBox 76"/>
            <p:cNvSpPr txBox="1"/>
            <p:nvPr/>
          </p:nvSpPr>
          <p:spPr>
            <a:xfrm>
              <a:off x="6279642" y="5416868"/>
              <a:ext cx="3949351" cy="492633"/>
            </a:xfrm>
            <a:prstGeom prst="rect">
              <a:avLst/>
            </a:prstGeom>
            <a:noFill/>
            <a:ln>
              <a:noFill/>
            </a:ln>
          </p:spPr>
          <p:txBody>
            <a:bodyPr wrap="none" lIns="0" tIns="0" rIns="0" bIns="0" anchor="t" anchorCtr="0">
              <a:spAutoFit/>
            </a:bodyPr>
            <a:lstStyle/>
            <a:p>
              <a:pPr algn="l">
                <a:lnSpc>
                  <a:spcPts val="1800"/>
                </a:lnSpc>
              </a:pPr>
              <a:r>
                <a:rPr lang="vi-VN" sz="1350" b="1" dirty="0">
                  <a:solidFill>
                    <a:schemeClr val="accent1"/>
                  </a:solidFill>
                  <a:latin typeface="+mn-lt"/>
                  <a:ea typeface="+mn-ea"/>
                  <a:cs typeface="+mn-cs"/>
                </a:rPr>
                <a:t>Tải file thì đúng: 40 dòng · tổng 147.300.000 đ</a:t>
              </a:r>
              <a:br/>
              <a:r>
                <a:rPr lang="vi-VN" sz="1350" b="1" dirty="0">
                  <a:solidFill>
                    <a:schemeClr val="accent1"/>
                  </a:solidFill>
                  <a:latin typeface="+mn-lt"/>
                  <a:ea typeface="+mn-ea"/>
                  <a:cs typeface="+mn-cs"/>
                </a:rPr>
                <a:t>· Đại lý sỉ 7 đơn, 106.710.000 đ</a:t>
              </a:r>
            </a:p>
          </p:txBody>
        </p:sp>
      </p:grpSp>
      <p:sp>
        <p:nvSpPr>
          <p:cNvPr id="78" name="TextBox 78"/>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79" name="TextBox 79"/>
          <p:cNvSpPr txBox="1"/>
          <p:nvPr/>
        </p:nvSpPr>
        <p:spPr>
          <a:xfrm>
            <a:off x="7750291" y="6554152"/>
            <a:ext cx="3399293"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Dữ liệu demo Wir · kết quả thật chạy 09/10/2026</a:t>
            </a:r>
          </a:p>
        </p:txBody>
      </p:sp>
      <p:sp>
        <p:nvSpPr>
          <p:cNvPr id="80" name="TextBox 80"/>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16 / 35</a:t>
            </a:r>
          </a:p>
        </p:txBody>
      </p:sp>
      <p:sp>
        <p:nvSpPr>
          <p:cNvPr id="81" name="demo-flag"/>
          <p:cNvSpPr/>
          <p:nvPr/>
        </p:nvSpPr>
        <p:spPr>
          <a:xfrm>
            <a:off x="3810000" y="304800"/>
            <a:ext cx="1638300" cy="228600"/>
          </a:xfrm>
          <a:prstGeom prst="roundRect">
            <a:avLst>
              <a:gd name="adj" fmla="val 50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00" b="1">
                <a:solidFill>
                  <a:srgbClr val="FFFFFF"/>
                </a:solidFill>
              </a:rPr>
              <a:t>▶ CÓ HƯỚNG DẪN DEMO</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4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fade">
                                      <p:cBhvr>
                                        <p:cTn id="12" dur="400"/>
                                        <p:tgtEl>
                                          <p:spTgt spid="6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fade">
                                      <p:cBhvr>
                                        <p:cTn id="17" dur="400"/>
                                        <p:tgtEl>
                                          <p:spTgt spid="71"/>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57"/>
                                        </p:tgtEl>
                                        <p:attrNameLst>
                                          <p:attrName>style.visibility</p:attrName>
                                        </p:attrNameLst>
                                      </p:cBhvr>
                                      <p:to>
                                        <p:strVal val="visible"/>
                                      </p:to>
                                    </p:set>
                                    <p:anim calcmode="lin" valueType="num">
                                      <p:cBhvr>
                                        <p:cTn id="22" dur="400" fill="hold"/>
                                        <p:tgtEl>
                                          <p:spTgt spid="57"/>
                                        </p:tgtEl>
                                        <p:attrNameLst>
                                          <p:attrName>ppt_w</p:attrName>
                                        </p:attrNameLst>
                                      </p:cBhvr>
                                      <p:tavLst>
                                        <p:tav tm="0">
                                          <p:val>
                                            <p:fltVal val="0"/>
                                          </p:val>
                                        </p:tav>
                                        <p:tav tm="100000">
                                          <p:val>
                                            <p:strVal val="#ppt_w"/>
                                          </p:val>
                                        </p:tav>
                                      </p:tavLst>
                                    </p:anim>
                                    <p:anim calcmode="lin" valueType="num">
                                      <p:cBhvr>
                                        <p:cTn id="23" dur="400" fill="hold"/>
                                        <p:tgtEl>
                                          <p:spTgt spid="57"/>
                                        </p:tgtEl>
                                        <p:attrNameLst>
                                          <p:attrName>ppt_h</p:attrName>
                                        </p:attrNameLst>
                                      </p:cBhvr>
                                      <p:tavLst>
                                        <p:tav tm="0">
                                          <p:val>
                                            <p:fltVal val="0"/>
                                          </p:val>
                                        </p:tav>
                                        <p:tav tm="100000">
                                          <p:val>
                                            <p:strVal val="#ppt_h"/>
                                          </p:val>
                                        </p:tav>
                                      </p:tavLst>
                                    </p:anim>
                                    <p:animEffect transition="in" filter="fade">
                                      <p:cBhvr>
                                        <p:cTn id="24" dur="400"/>
                                        <p:tgtEl>
                                          <p:spTgt spid="5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fade">
                                      <p:cBhvr>
                                        <p:cTn id="29" dur="4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1854535" cy="234696"/>
            <a:chOff x="381000" y="346710"/>
            <a:chExt cx="1854535" cy="234696"/>
          </a:xfrm>
        </p:grpSpPr>
        <p:sp>
          <p:nvSpPr>
            <p:cNvPr id="2" name="Rectangle 2"/>
            <p:cNvSpPr/>
            <p:nvPr/>
          </p:nvSpPr>
          <p:spPr>
            <a:xfrm>
              <a:off x="381000" y="361950"/>
              <a:ext cx="114300" cy="114300"/>
            </a:xfrm>
            <a:prstGeom prst="roundRect">
              <a:avLst>
                <a:gd name="adj" fmla="val 25000"/>
              </a:avLst>
            </a:prstGeom>
            <a:solidFill>
              <a:schemeClr val="accent3"/>
            </a:solidFill>
            <a:ln>
              <a:noFill/>
            </a:ln>
          </p:spPr>
        </p:sp>
        <p:sp>
          <p:nvSpPr>
            <p:cNvPr id="3" name="TextBox 3"/>
            <p:cNvSpPr txBox="1"/>
            <p:nvPr/>
          </p:nvSpPr>
          <p:spPr>
            <a:xfrm>
              <a:off x="584454" y="346710"/>
              <a:ext cx="1651081"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2 · PROMPT</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chemeClr val="accent2"/>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5700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6668834"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Kiểm chứng đầu ra trong vài phút</a:t>
            </a:r>
            <a:br/>
            <a:r>
              <a:rPr lang="vi-VN" sz="3150" b="1" dirty="0">
                <a:solidFill>
                  <a:schemeClr val="accent1"/>
                </a:solidFill>
                <a:latin typeface="+mn-lt"/>
                <a:ea typeface="+mn-ea"/>
                <a:cs typeface="+mn-cs"/>
              </a:rPr>
              <a:t>bằng bốn cách trước khi dùng</a:t>
            </a:r>
          </a:p>
        </p:txBody>
      </p:sp>
      <p:grpSp>
        <p:nvGrpSpPr>
          <p:cNvPr id="29" name="Group 29"/>
          <p:cNvGrpSpPr/>
          <p:nvPr/>
        </p:nvGrpSpPr>
        <p:grpSpPr>
          <a:xfrm>
            <a:off x="381000" y="2114550"/>
            <a:ext cx="5638800" cy="1733550"/>
            <a:chOff x="381000" y="2114550"/>
            <a:chExt cx="5638800" cy="1733550"/>
          </a:xfrm>
        </p:grpSpPr>
        <p:sp>
          <p:nvSpPr>
            <p:cNvPr id="17" name="Rectangle 17"/>
            <p:cNvSpPr/>
            <p:nvPr/>
          </p:nvSpPr>
          <p:spPr>
            <a:xfrm>
              <a:off x="381000" y="2114550"/>
              <a:ext cx="5638800" cy="1733550"/>
            </a:xfrm>
            <a:prstGeom prst="roundRect">
              <a:avLst>
                <a:gd name="adj" fmla="val 8791"/>
              </a:avLst>
            </a:prstGeom>
            <a:solidFill>
              <a:schemeClr val="lt1"/>
            </a:solidFill>
            <a:ln w="14288">
              <a:solidFill>
                <a:schemeClr val="accent4"/>
              </a:solidFill>
            </a:ln>
          </p:spPr>
        </p:sp>
        <p:sp>
          <p:nvSpPr>
            <p:cNvPr id="18" name="Ellipse 18"/>
            <p:cNvSpPr/>
            <p:nvPr/>
          </p:nvSpPr>
          <p:spPr>
            <a:xfrm>
              <a:off x="609600" y="2343150"/>
              <a:ext cx="495300" cy="495300"/>
            </a:xfrm>
            <a:prstGeom prst="ellipse">
              <a:avLst/>
            </a:prstGeom>
            <a:solidFill>
              <a:schemeClr val="lt2"/>
            </a:solidFill>
            <a:ln>
              <a:noFill/>
            </a:ln>
          </p:spPr>
        </p:sp>
        <p:grpSp>
          <p:nvGrpSpPr>
            <p:cNvPr id="24" name="Group 24"/>
            <p:cNvGrpSpPr/>
            <p:nvPr/>
          </p:nvGrpSpPr>
          <p:grpSpPr>
            <a:xfrm>
              <a:off x="768350" y="2476500"/>
              <a:ext cx="177800" cy="228599"/>
              <a:chOff x="768350" y="2476500"/>
              <a:chExt cx="177800" cy="228599"/>
            </a:xfrm>
          </p:grpSpPr>
          <p:sp>
            <p:nvSpPr>
              <p:cNvPr id="19" name="Freeform 19"/>
              <p:cNvSpPr/>
              <p:nvPr/>
            </p:nvSpPr>
            <p:spPr>
              <a:xfrm>
                <a:off x="882650" y="2476500"/>
                <a:ext cx="63500" cy="63500"/>
              </a:xfrm>
              <a:custGeom>
                <a:avLst/>
                <a:gdLst/>
                <a:ahLst/>
                <a:cxnLst/>
                <a:rect l="l" t="t" r="r" b="b"/>
                <a:pathLst>
                  <a:path w="63500" h="63500">
                    <a:moveTo>
                      <a:pt x="0" y="0"/>
                    </a:moveTo>
                    <a:lnTo>
                      <a:pt x="0" y="50800"/>
                    </a:lnTo>
                    <a:cubicBezTo>
                      <a:pt x="0" y="57814"/>
                      <a:pt x="5686" y="63500"/>
                      <a:pt x="12700" y="63500"/>
                    </a:cubicBezTo>
                    <a:lnTo>
                      <a:pt x="63500" y="63500"/>
                    </a:lnTo>
                  </a:path>
                </a:pathLst>
              </a:custGeom>
              <a:noFill/>
              <a:ln w="25400">
                <a:solidFill>
                  <a:schemeClr val="accent3"/>
                </a:solidFill>
              </a:ln>
            </p:spPr>
          </p:sp>
          <p:sp>
            <p:nvSpPr>
              <p:cNvPr id="20" name="Freeform 20"/>
              <p:cNvSpPr/>
              <p:nvPr/>
            </p:nvSpPr>
            <p:spPr>
              <a:xfrm>
                <a:off x="768350" y="2476500"/>
                <a:ext cx="177800" cy="228599"/>
              </a:xfrm>
              <a:custGeom>
                <a:avLst/>
                <a:gdLst/>
                <a:ahLst/>
                <a:cxnLst/>
                <a:rect l="l" t="t" r="r" b="b"/>
                <a:pathLst>
                  <a:path w="177800" h="228599">
                    <a:moveTo>
                      <a:pt x="152400" y="228599"/>
                    </a:moveTo>
                    <a:lnTo>
                      <a:pt x="25400" y="228599"/>
                    </a:lnTo>
                    <a:cubicBezTo>
                      <a:pt x="11372" y="228599"/>
                      <a:pt x="0" y="217227"/>
                      <a:pt x="0" y="203199"/>
                    </a:cubicBezTo>
                    <a:lnTo>
                      <a:pt x="0" y="25400"/>
                    </a:lnTo>
                    <a:cubicBezTo>
                      <a:pt x="0" y="11372"/>
                      <a:pt x="11372" y="0"/>
                      <a:pt x="25400" y="0"/>
                    </a:cubicBezTo>
                    <a:lnTo>
                      <a:pt x="114300" y="0"/>
                    </a:lnTo>
                    <a:lnTo>
                      <a:pt x="177800" y="63500"/>
                    </a:lnTo>
                    <a:lnTo>
                      <a:pt x="177800" y="203199"/>
                    </a:lnTo>
                    <a:cubicBezTo>
                      <a:pt x="177800" y="217227"/>
                      <a:pt x="166428" y="228599"/>
                      <a:pt x="152400" y="228599"/>
                    </a:cubicBezTo>
                  </a:path>
                </a:pathLst>
              </a:custGeom>
              <a:noFill/>
              <a:ln w="25400">
                <a:solidFill>
                  <a:schemeClr val="accent3"/>
                </a:solidFill>
              </a:ln>
            </p:spPr>
          </p:sp>
          <p:sp>
            <p:nvSpPr>
              <p:cNvPr id="21" name="Freeform 21"/>
              <p:cNvSpPr/>
              <p:nvPr/>
            </p:nvSpPr>
            <p:spPr>
              <a:xfrm>
                <a:off x="819150" y="2552700"/>
                <a:ext cx="12700" cy="9525"/>
              </a:xfrm>
              <a:custGeom>
                <a:avLst/>
                <a:gdLst/>
                <a:ahLst/>
                <a:cxnLst/>
                <a:rect l="l" t="t" r="r" b="b"/>
                <a:pathLst>
                  <a:path w="12700" h="9525">
                    <a:moveTo>
                      <a:pt x="0" y="0"/>
                    </a:moveTo>
                    <a:lnTo>
                      <a:pt x="12700" y="0"/>
                    </a:lnTo>
                  </a:path>
                </a:pathLst>
              </a:custGeom>
              <a:noFill/>
              <a:ln w="25400">
                <a:solidFill>
                  <a:schemeClr val="accent3"/>
                </a:solidFill>
              </a:ln>
            </p:spPr>
          </p:sp>
          <p:sp>
            <p:nvSpPr>
              <p:cNvPr id="22" name="Freeform 22"/>
              <p:cNvSpPr/>
              <p:nvPr/>
            </p:nvSpPr>
            <p:spPr>
              <a:xfrm>
                <a:off x="819150" y="2603500"/>
                <a:ext cx="76200" cy="9525"/>
              </a:xfrm>
              <a:custGeom>
                <a:avLst/>
                <a:gdLst/>
                <a:ahLst/>
                <a:cxnLst/>
                <a:rect l="l" t="t" r="r" b="b"/>
                <a:pathLst>
                  <a:path w="76200" h="9525">
                    <a:moveTo>
                      <a:pt x="0" y="0"/>
                    </a:moveTo>
                    <a:lnTo>
                      <a:pt x="76200" y="0"/>
                    </a:lnTo>
                  </a:path>
                </a:pathLst>
              </a:custGeom>
              <a:noFill/>
              <a:ln w="25400">
                <a:solidFill>
                  <a:schemeClr val="accent3"/>
                </a:solidFill>
              </a:ln>
            </p:spPr>
          </p:sp>
          <p:sp>
            <p:nvSpPr>
              <p:cNvPr id="23" name="Freeform 23"/>
              <p:cNvSpPr/>
              <p:nvPr/>
            </p:nvSpPr>
            <p:spPr>
              <a:xfrm>
                <a:off x="819150" y="2654299"/>
                <a:ext cx="76200" cy="9525"/>
              </a:xfrm>
              <a:custGeom>
                <a:avLst/>
                <a:gdLst/>
                <a:ahLst/>
                <a:cxnLst/>
                <a:rect l="l" t="t" r="r" b="b"/>
                <a:pathLst>
                  <a:path w="76200" h="9525">
                    <a:moveTo>
                      <a:pt x="0" y="0"/>
                    </a:moveTo>
                    <a:lnTo>
                      <a:pt x="76200" y="0"/>
                    </a:lnTo>
                  </a:path>
                </a:pathLst>
              </a:custGeom>
              <a:noFill/>
              <a:ln w="25400">
                <a:solidFill>
                  <a:schemeClr val="accent3"/>
                </a:solidFill>
              </a:ln>
            </p:spPr>
          </p:sp>
        </p:grpSp>
        <p:sp>
          <p:nvSpPr>
            <p:cNvPr id="25" name="TextBox 25"/>
            <p:cNvSpPr txBox="1"/>
            <p:nvPr/>
          </p:nvSpPr>
          <p:spPr>
            <a:xfrm>
              <a:off x="1247394" y="2475548"/>
              <a:ext cx="2257992"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Bấm chip nguồn</a:t>
              </a:r>
            </a:p>
          </p:txBody>
        </p:sp>
        <p:sp>
          <p:nvSpPr>
            <p:cNvPr id="26" name="Rectangle 26"/>
            <p:cNvSpPr/>
            <p:nvPr/>
          </p:nvSpPr>
          <p:spPr>
            <a:xfrm>
              <a:off x="4667250" y="2343150"/>
              <a:ext cx="1123950" cy="285750"/>
            </a:xfrm>
            <a:prstGeom prst="roundRect">
              <a:avLst>
                <a:gd name="adj" fmla="val 50000"/>
              </a:avLst>
            </a:prstGeom>
            <a:solidFill>
              <a:srgbClr val="FCEBDD"/>
            </a:solidFill>
            <a:ln>
              <a:noFill/>
            </a:ln>
          </p:spPr>
        </p:sp>
        <p:sp>
          <p:nvSpPr>
            <p:cNvPr id="27" name="TextBox 27"/>
            <p:cNvSpPr txBox="1"/>
            <p:nvPr/>
          </p:nvSpPr>
          <p:spPr>
            <a:xfrm>
              <a:off x="4748190" y="2413635"/>
              <a:ext cx="962071" cy="234696"/>
            </a:xfrm>
            <a:prstGeom prst="rect">
              <a:avLst/>
            </a:prstGeom>
            <a:noFill/>
            <a:ln>
              <a:noFill/>
            </a:ln>
          </p:spPr>
          <p:txBody>
            <a:bodyPr wrap="none" lIns="0" tIns="0" rIns="0" bIns="0" anchor="t" anchorCtr="0">
              <a:spAutoFit/>
            </a:bodyPr>
            <a:lstStyle/>
            <a:p>
              <a:pPr algn="ctr"/>
              <a:r>
                <a:rPr lang="vi-VN" sz="1200" b="1" dirty="0">
                  <a:solidFill>
                    <a:schemeClr val="accent1"/>
                  </a:solidFill>
                  <a:latin typeface="+mn-lt"/>
                  <a:ea typeface="+mn-ea"/>
                  <a:cs typeface="+mn-cs"/>
                </a:rPr>
                <a:t>5 giây / câu</a:t>
              </a:r>
            </a:p>
          </p:txBody>
        </p:sp>
        <p:sp>
          <p:nvSpPr>
            <p:cNvPr id="28" name="TextBox 28"/>
            <p:cNvSpPr txBox="1"/>
            <p:nvPr/>
          </p:nvSpPr>
          <p:spPr>
            <a:xfrm>
              <a:off x="601218" y="3060382"/>
              <a:ext cx="4364926"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dk1"/>
                  </a:solidFill>
                  <a:latin typeface="+mn-lt"/>
                  <a:ea typeface="+mn-ea"/>
                  <a:cs typeface="+mn-cs"/>
                </a:rPr>
                <a:t>ChatGPT gắn chip tên file sau câu trích; bấm</a:t>
              </a:r>
              <a:br/>
              <a:r>
                <a:rPr lang="vi-VN" sz="1650" dirty="0">
                  <a:solidFill>
                    <a:schemeClr val="dk1"/>
                  </a:solidFill>
                  <a:latin typeface="+mn-lt"/>
                  <a:ea typeface="+mn-ea"/>
                  <a:cs typeface="+mn-cs"/>
                </a:rPr>
                <a:t>mở đúng đoạn. Không có chip thì Ctrl+F.</a:t>
              </a:r>
            </a:p>
          </p:txBody>
        </p:sp>
      </p:grpSp>
      <p:grpSp>
        <p:nvGrpSpPr>
          <p:cNvPr id="42" name="Group 42"/>
          <p:cNvGrpSpPr/>
          <p:nvPr/>
        </p:nvGrpSpPr>
        <p:grpSpPr>
          <a:xfrm>
            <a:off x="6172200" y="2114550"/>
            <a:ext cx="5638800" cy="1733550"/>
            <a:chOff x="6172200" y="2114550"/>
            <a:chExt cx="5638800" cy="1733550"/>
          </a:xfrm>
        </p:grpSpPr>
        <p:sp>
          <p:nvSpPr>
            <p:cNvPr id="30" name="Rectangle 30"/>
            <p:cNvSpPr/>
            <p:nvPr/>
          </p:nvSpPr>
          <p:spPr>
            <a:xfrm>
              <a:off x="6172200" y="2114550"/>
              <a:ext cx="5638800" cy="1733550"/>
            </a:xfrm>
            <a:prstGeom prst="roundRect">
              <a:avLst>
                <a:gd name="adj" fmla="val 8791"/>
              </a:avLst>
            </a:prstGeom>
            <a:solidFill>
              <a:schemeClr val="lt1"/>
            </a:solidFill>
            <a:ln w="14288">
              <a:solidFill>
                <a:schemeClr val="accent4"/>
              </a:solidFill>
            </a:ln>
          </p:spPr>
        </p:sp>
        <p:sp>
          <p:nvSpPr>
            <p:cNvPr id="31" name="Ellipse 31"/>
            <p:cNvSpPr/>
            <p:nvPr/>
          </p:nvSpPr>
          <p:spPr>
            <a:xfrm>
              <a:off x="6400800" y="2343150"/>
              <a:ext cx="495300" cy="495300"/>
            </a:xfrm>
            <a:prstGeom prst="ellipse">
              <a:avLst/>
            </a:prstGeom>
            <a:solidFill>
              <a:schemeClr val="lt2"/>
            </a:solidFill>
            <a:ln>
              <a:noFill/>
            </a:ln>
          </p:spPr>
        </p:sp>
        <p:grpSp>
          <p:nvGrpSpPr>
            <p:cNvPr id="37" name="Group 37"/>
            <p:cNvGrpSpPr/>
            <p:nvPr/>
          </p:nvGrpSpPr>
          <p:grpSpPr>
            <a:xfrm>
              <a:off x="6559550" y="2476500"/>
              <a:ext cx="177800" cy="228599"/>
              <a:chOff x="6559550" y="2476500"/>
              <a:chExt cx="177800" cy="228599"/>
            </a:xfrm>
          </p:grpSpPr>
          <p:sp>
            <p:nvSpPr>
              <p:cNvPr id="32" name="Freeform 32"/>
              <p:cNvSpPr/>
              <p:nvPr/>
            </p:nvSpPr>
            <p:spPr>
              <a:xfrm>
                <a:off x="6673850" y="2476500"/>
                <a:ext cx="63500" cy="63500"/>
              </a:xfrm>
              <a:custGeom>
                <a:avLst/>
                <a:gdLst/>
                <a:ahLst/>
                <a:cxnLst/>
                <a:rect l="l" t="t" r="r" b="b"/>
                <a:pathLst>
                  <a:path w="63500" h="63500">
                    <a:moveTo>
                      <a:pt x="0" y="0"/>
                    </a:moveTo>
                    <a:lnTo>
                      <a:pt x="0" y="50800"/>
                    </a:lnTo>
                    <a:cubicBezTo>
                      <a:pt x="0" y="57814"/>
                      <a:pt x="5686" y="63500"/>
                      <a:pt x="12700" y="63500"/>
                    </a:cubicBezTo>
                    <a:lnTo>
                      <a:pt x="63500" y="63500"/>
                    </a:lnTo>
                  </a:path>
                </a:pathLst>
              </a:custGeom>
              <a:noFill/>
              <a:ln w="25400">
                <a:solidFill>
                  <a:schemeClr val="accent3"/>
                </a:solidFill>
              </a:ln>
            </p:spPr>
          </p:sp>
          <p:sp>
            <p:nvSpPr>
              <p:cNvPr id="33" name="Freeform 33"/>
              <p:cNvSpPr/>
              <p:nvPr/>
            </p:nvSpPr>
            <p:spPr>
              <a:xfrm>
                <a:off x="6559550" y="2476500"/>
                <a:ext cx="177800" cy="228599"/>
              </a:xfrm>
              <a:custGeom>
                <a:avLst/>
                <a:gdLst/>
                <a:ahLst/>
                <a:cxnLst/>
                <a:rect l="l" t="t" r="r" b="b"/>
                <a:pathLst>
                  <a:path w="177800" h="228599">
                    <a:moveTo>
                      <a:pt x="152400" y="228599"/>
                    </a:moveTo>
                    <a:lnTo>
                      <a:pt x="25400" y="228599"/>
                    </a:lnTo>
                    <a:cubicBezTo>
                      <a:pt x="11372" y="228599"/>
                      <a:pt x="0" y="217227"/>
                      <a:pt x="0" y="203199"/>
                    </a:cubicBezTo>
                    <a:lnTo>
                      <a:pt x="0" y="25400"/>
                    </a:lnTo>
                    <a:cubicBezTo>
                      <a:pt x="0" y="11372"/>
                      <a:pt x="11372" y="0"/>
                      <a:pt x="25400" y="0"/>
                    </a:cubicBezTo>
                    <a:lnTo>
                      <a:pt x="114300" y="0"/>
                    </a:lnTo>
                    <a:lnTo>
                      <a:pt x="177800" y="63500"/>
                    </a:lnTo>
                    <a:lnTo>
                      <a:pt x="177800" y="203199"/>
                    </a:lnTo>
                    <a:cubicBezTo>
                      <a:pt x="177800" y="217227"/>
                      <a:pt x="166428" y="228599"/>
                      <a:pt x="152400" y="228599"/>
                    </a:cubicBezTo>
                  </a:path>
                </a:pathLst>
              </a:custGeom>
              <a:noFill/>
              <a:ln w="25400">
                <a:solidFill>
                  <a:schemeClr val="accent3"/>
                </a:solidFill>
              </a:ln>
            </p:spPr>
          </p:sp>
          <p:sp>
            <p:nvSpPr>
              <p:cNvPr id="34" name="Freeform 34"/>
              <p:cNvSpPr/>
              <p:nvPr/>
            </p:nvSpPr>
            <p:spPr>
              <a:xfrm>
                <a:off x="6597650" y="2578100"/>
                <a:ext cx="101600" cy="88900"/>
              </a:xfrm>
              <a:custGeom>
                <a:avLst/>
                <a:gdLst/>
                <a:ahLst/>
                <a:cxnLst/>
                <a:rect l="l" t="t" r="r" b="b"/>
                <a:pathLst>
                  <a:path w="101600" h="88900">
                    <a:moveTo>
                      <a:pt x="0" y="0"/>
                    </a:moveTo>
                    <a:lnTo>
                      <a:pt x="101600" y="0"/>
                    </a:lnTo>
                    <a:lnTo>
                      <a:pt x="101600" y="88900"/>
                    </a:lnTo>
                    <a:lnTo>
                      <a:pt x="0" y="88900"/>
                    </a:lnTo>
                    <a:lnTo>
                      <a:pt x="0" y="0"/>
                    </a:lnTo>
                  </a:path>
                </a:pathLst>
              </a:custGeom>
              <a:noFill/>
              <a:ln w="25400">
                <a:solidFill>
                  <a:schemeClr val="accent3"/>
                </a:solidFill>
              </a:ln>
            </p:spPr>
          </p:sp>
          <p:sp>
            <p:nvSpPr>
              <p:cNvPr id="35" name="Freeform 35"/>
              <p:cNvSpPr/>
              <p:nvPr/>
            </p:nvSpPr>
            <p:spPr>
              <a:xfrm>
                <a:off x="6597650" y="2628900"/>
                <a:ext cx="101600" cy="9525"/>
              </a:xfrm>
              <a:custGeom>
                <a:avLst/>
                <a:gdLst/>
                <a:ahLst/>
                <a:cxnLst/>
                <a:rect l="l" t="t" r="r" b="b"/>
                <a:pathLst>
                  <a:path w="101600" h="9525">
                    <a:moveTo>
                      <a:pt x="0" y="0"/>
                    </a:moveTo>
                    <a:lnTo>
                      <a:pt x="101600" y="0"/>
                    </a:lnTo>
                  </a:path>
                </a:pathLst>
              </a:custGeom>
              <a:noFill/>
              <a:ln w="25400">
                <a:solidFill>
                  <a:schemeClr val="accent3"/>
                </a:solidFill>
              </a:ln>
            </p:spPr>
          </p:sp>
          <p:sp>
            <p:nvSpPr>
              <p:cNvPr id="36" name="Freeform 36"/>
              <p:cNvSpPr/>
              <p:nvPr/>
            </p:nvSpPr>
            <p:spPr>
              <a:xfrm>
                <a:off x="6635750" y="2578100"/>
                <a:ext cx="9525" cy="88900"/>
              </a:xfrm>
              <a:custGeom>
                <a:avLst/>
                <a:gdLst/>
                <a:ahLst/>
                <a:cxnLst/>
                <a:rect l="l" t="t" r="r" b="b"/>
                <a:pathLst>
                  <a:path w="9525" h="88900">
                    <a:moveTo>
                      <a:pt x="0" y="0"/>
                    </a:moveTo>
                    <a:lnTo>
                      <a:pt x="0" y="88900"/>
                    </a:lnTo>
                  </a:path>
                </a:pathLst>
              </a:custGeom>
              <a:noFill/>
              <a:ln w="25400">
                <a:solidFill>
                  <a:schemeClr val="accent3"/>
                </a:solidFill>
              </a:ln>
            </p:spPr>
          </p:sp>
        </p:grpSp>
        <p:sp>
          <p:nvSpPr>
            <p:cNvPr id="38" name="TextBox 38"/>
            <p:cNvSpPr txBox="1"/>
            <p:nvPr/>
          </p:nvSpPr>
          <p:spPr>
            <a:xfrm>
              <a:off x="7038594" y="2475548"/>
              <a:ext cx="2730024"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Rà ngẫu nhiên số liệu</a:t>
              </a:r>
            </a:p>
          </p:txBody>
        </p:sp>
        <p:sp>
          <p:nvSpPr>
            <p:cNvPr id="39" name="Rectangle 39"/>
            <p:cNvSpPr/>
            <p:nvPr/>
          </p:nvSpPr>
          <p:spPr>
            <a:xfrm>
              <a:off x="10458450" y="2343150"/>
              <a:ext cx="1123950" cy="285750"/>
            </a:xfrm>
            <a:prstGeom prst="roundRect">
              <a:avLst>
                <a:gd name="adj" fmla="val 50000"/>
              </a:avLst>
            </a:prstGeom>
            <a:solidFill>
              <a:srgbClr val="FCEBDD"/>
            </a:solidFill>
            <a:ln>
              <a:noFill/>
            </a:ln>
          </p:spPr>
        </p:sp>
        <p:sp>
          <p:nvSpPr>
            <p:cNvPr id="40" name="TextBox 40"/>
            <p:cNvSpPr txBox="1"/>
            <p:nvPr/>
          </p:nvSpPr>
          <p:spPr>
            <a:xfrm>
              <a:off x="10755657" y="2413635"/>
              <a:ext cx="529537" cy="234696"/>
            </a:xfrm>
            <a:prstGeom prst="rect">
              <a:avLst/>
            </a:prstGeom>
            <a:noFill/>
            <a:ln>
              <a:noFill/>
            </a:ln>
          </p:spPr>
          <p:txBody>
            <a:bodyPr wrap="none" lIns="0" tIns="0" rIns="0" bIns="0" anchor="t" anchorCtr="0">
              <a:spAutoFit/>
            </a:bodyPr>
            <a:lstStyle/>
            <a:p>
              <a:pPr algn="ctr"/>
              <a:r>
                <a:rPr lang="vi-VN" sz="1200" b="1" dirty="0">
                  <a:solidFill>
                    <a:schemeClr val="accent1"/>
                  </a:solidFill>
                  <a:latin typeface="+mn-lt"/>
                  <a:ea typeface="+mn-ea"/>
                  <a:cs typeface="+mn-cs"/>
                </a:rPr>
                <a:t>1 phút</a:t>
              </a:r>
            </a:p>
          </p:txBody>
        </p:sp>
        <p:sp>
          <p:nvSpPr>
            <p:cNvPr id="41" name="TextBox 41"/>
            <p:cNvSpPr txBox="1"/>
            <p:nvPr/>
          </p:nvSpPr>
          <p:spPr>
            <a:xfrm>
              <a:off x="6392418" y="3060382"/>
              <a:ext cx="4179172"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Chọn 2–3 con số, tự đối chiếu với file gốc</a:t>
              </a:r>
            </a:p>
          </p:txBody>
        </p:sp>
      </p:grpSp>
      <p:grpSp>
        <p:nvGrpSpPr>
          <p:cNvPr id="52" name="Group 52"/>
          <p:cNvGrpSpPr/>
          <p:nvPr/>
        </p:nvGrpSpPr>
        <p:grpSpPr>
          <a:xfrm>
            <a:off x="381000" y="4000500"/>
            <a:ext cx="5638800" cy="1733550"/>
            <a:chOff x="381000" y="4000500"/>
            <a:chExt cx="5638800" cy="1733550"/>
          </a:xfrm>
        </p:grpSpPr>
        <p:sp>
          <p:nvSpPr>
            <p:cNvPr id="43" name="Rectangle 43"/>
            <p:cNvSpPr/>
            <p:nvPr/>
          </p:nvSpPr>
          <p:spPr>
            <a:xfrm>
              <a:off x="381000" y="4000500"/>
              <a:ext cx="5638800" cy="1733550"/>
            </a:xfrm>
            <a:prstGeom prst="roundRect">
              <a:avLst>
                <a:gd name="adj" fmla="val 8791"/>
              </a:avLst>
            </a:prstGeom>
            <a:solidFill>
              <a:schemeClr val="lt1"/>
            </a:solidFill>
            <a:ln w="14288">
              <a:solidFill>
                <a:schemeClr val="accent4"/>
              </a:solidFill>
            </a:ln>
          </p:spPr>
        </p:sp>
        <p:sp>
          <p:nvSpPr>
            <p:cNvPr id="44" name="Ellipse 44"/>
            <p:cNvSpPr/>
            <p:nvPr/>
          </p:nvSpPr>
          <p:spPr>
            <a:xfrm>
              <a:off x="609600" y="4229100"/>
              <a:ext cx="495300" cy="495300"/>
            </a:xfrm>
            <a:prstGeom prst="ellipse">
              <a:avLst/>
            </a:prstGeom>
            <a:solidFill>
              <a:schemeClr val="lt2"/>
            </a:solidFill>
            <a:ln>
              <a:noFill/>
            </a:ln>
          </p:spPr>
        </p:sp>
        <p:grpSp>
          <p:nvGrpSpPr>
            <p:cNvPr id="47" name="Group 47"/>
            <p:cNvGrpSpPr/>
            <p:nvPr/>
          </p:nvGrpSpPr>
          <p:grpSpPr>
            <a:xfrm>
              <a:off x="755650" y="4370250"/>
              <a:ext cx="203199" cy="213000"/>
              <a:chOff x="755650" y="4370250"/>
              <a:chExt cx="203199" cy="213000"/>
            </a:xfrm>
          </p:grpSpPr>
          <p:sp>
            <p:nvSpPr>
              <p:cNvPr id="45" name="Freeform 45"/>
              <p:cNvSpPr/>
              <p:nvPr/>
            </p:nvSpPr>
            <p:spPr>
              <a:xfrm>
                <a:off x="755650" y="4370250"/>
                <a:ext cx="203199" cy="93800"/>
              </a:xfrm>
              <a:custGeom>
                <a:avLst/>
                <a:gdLst/>
                <a:ahLst/>
                <a:cxnLst/>
                <a:rect l="l" t="t" r="r" b="b"/>
                <a:pathLst>
                  <a:path w="203199" h="93800">
                    <a:moveTo>
                      <a:pt x="203199" y="93800"/>
                    </a:moveTo>
                    <a:cubicBezTo>
                      <a:pt x="196815" y="47858"/>
                      <a:pt x="160475" y="11871"/>
                      <a:pt x="114473" y="5936"/>
                    </a:cubicBezTo>
                    <a:cubicBezTo>
                      <a:pt x="68472" y="0"/>
                      <a:pt x="24187" y="25584"/>
                      <a:pt x="6350" y="68400"/>
                    </a:cubicBezTo>
                    <a:moveTo>
                      <a:pt x="0" y="17600"/>
                    </a:moveTo>
                    <a:lnTo>
                      <a:pt x="0" y="68400"/>
                    </a:lnTo>
                    <a:lnTo>
                      <a:pt x="50800" y="68400"/>
                    </a:lnTo>
                  </a:path>
                </a:pathLst>
              </a:custGeom>
              <a:noFill/>
              <a:ln w="25400">
                <a:solidFill>
                  <a:schemeClr val="accent3"/>
                </a:solidFill>
              </a:ln>
            </p:spPr>
          </p:sp>
          <p:sp>
            <p:nvSpPr>
              <p:cNvPr id="46" name="Freeform 46"/>
              <p:cNvSpPr/>
              <p:nvPr/>
            </p:nvSpPr>
            <p:spPr>
              <a:xfrm>
                <a:off x="755650" y="4489450"/>
                <a:ext cx="203199" cy="93800"/>
              </a:xfrm>
              <a:custGeom>
                <a:avLst/>
                <a:gdLst/>
                <a:ahLst/>
                <a:cxnLst/>
                <a:rect l="l" t="t" r="r" b="b"/>
                <a:pathLst>
                  <a:path w="203199" h="93800">
                    <a:moveTo>
                      <a:pt x="0" y="0"/>
                    </a:moveTo>
                    <a:cubicBezTo>
                      <a:pt x="6385" y="45942"/>
                      <a:pt x="42724" y="81928"/>
                      <a:pt x="88726" y="87864"/>
                    </a:cubicBezTo>
                    <a:cubicBezTo>
                      <a:pt x="134728" y="93800"/>
                      <a:pt x="179012" y="68216"/>
                      <a:pt x="196850" y="25400"/>
                    </a:cubicBezTo>
                    <a:moveTo>
                      <a:pt x="203199" y="76200"/>
                    </a:moveTo>
                    <a:lnTo>
                      <a:pt x="203199" y="25400"/>
                    </a:lnTo>
                    <a:lnTo>
                      <a:pt x="152400" y="25400"/>
                    </a:lnTo>
                  </a:path>
                </a:pathLst>
              </a:custGeom>
              <a:noFill/>
              <a:ln w="25400">
                <a:solidFill>
                  <a:schemeClr val="accent3"/>
                </a:solidFill>
              </a:ln>
            </p:spPr>
          </p:sp>
        </p:grpSp>
        <p:sp>
          <p:nvSpPr>
            <p:cNvPr id="48" name="TextBox 48"/>
            <p:cNvSpPr txBox="1"/>
            <p:nvPr/>
          </p:nvSpPr>
          <p:spPr>
            <a:xfrm>
              <a:off x="1247394" y="4361498"/>
              <a:ext cx="2179122"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Phép thử đổi tên</a:t>
              </a:r>
            </a:p>
          </p:txBody>
        </p:sp>
        <p:sp>
          <p:nvSpPr>
            <p:cNvPr id="49" name="Rectangle 49"/>
            <p:cNvSpPr/>
            <p:nvPr/>
          </p:nvSpPr>
          <p:spPr>
            <a:xfrm>
              <a:off x="4667250" y="4229100"/>
              <a:ext cx="1123950" cy="285750"/>
            </a:xfrm>
            <a:prstGeom prst="roundRect">
              <a:avLst>
                <a:gd name="adj" fmla="val 50000"/>
              </a:avLst>
            </a:prstGeom>
            <a:solidFill>
              <a:srgbClr val="FCEBDD"/>
            </a:solidFill>
            <a:ln>
              <a:noFill/>
            </a:ln>
          </p:spPr>
        </p:sp>
        <p:sp>
          <p:nvSpPr>
            <p:cNvPr id="50" name="TextBox 50"/>
            <p:cNvSpPr txBox="1"/>
            <p:nvPr/>
          </p:nvSpPr>
          <p:spPr>
            <a:xfrm>
              <a:off x="4939013" y="4299585"/>
              <a:ext cx="580423" cy="234696"/>
            </a:xfrm>
            <a:prstGeom prst="rect">
              <a:avLst/>
            </a:prstGeom>
            <a:noFill/>
            <a:ln>
              <a:noFill/>
            </a:ln>
          </p:spPr>
          <p:txBody>
            <a:bodyPr wrap="none" lIns="0" tIns="0" rIns="0" bIns="0" anchor="t" anchorCtr="0">
              <a:spAutoFit/>
            </a:bodyPr>
            <a:lstStyle/>
            <a:p>
              <a:pPr algn="ctr"/>
              <a:r>
                <a:rPr lang="vi-VN" sz="1200" b="1" dirty="0">
                  <a:solidFill>
                    <a:schemeClr val="accent1"/>
                  </a:solidFill>
                  <a:latin typeface="+mn-lt"/>
                  <a:ea typeface="+mn-ea"/>
                  <a:cs typeface="+mn-cs"/>
                </a:rPr>
                <a:t>30 giây</a:t>
              </a:r>
            </a:p>
          </p:txBody>
        </p:sp>
        <p:sp>
          <p:nvSpPr>
            <p:cNvPr id="51" name="TextBox 51"/>
            <p:cNvSpPr txBox="1"/>
            <p:nvPr/>
          </p:nvSpPr>
          <p:spPr>
            <a:xfrm>
              <a:off x="601218" y="4946332"/>
              <a:ext cx="4082034"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dk1"/>
                  </a:solidFill>
                  <a:latin typeface="+mn-lt"/>
                  <a:ea typeface="+mn-ea"/>
                  <a:cs typeface="+mn-cs"/>
                </a:rPr>
                <a:t>Thay tên mình bằng tên đối thủ; câu vẫn</a:t>
              </a:r>
              <a:br/>
              <a:r>
                <a:rPr lang="vi-VN" sz="1650" dirty="0">
                  <a:solidFill>
                    <a:schemeClr val="dk1"/>
                  </a:solidFill>
                  <a:latin typeface="+mn-lt"/>
                  <a:ea typeface="+mn-ea"/>
                  <a:cs typeface="+mn-cs"/>
                </a:rPr>
                <a:t>đúng là chưa đủ cụ thể</a:t>
              </a:r>
            </a:p>
          </p:txBody>
        </p:sp>
      </p:grpSp>
      <p:grpSp>
        <p:nvGrpSpPr>
          <p:cNvPr id="63" name="Group 63"/>
          <p:cNvGrpSpPr/>
          <p:nvPr/>
        </p:nvGrpSpPr>
        <p:grpSpPr>
          <a:xfrm>
            <a:off x="6172200" y="4000500"/>
            <a:ext cx="5638800" cy="1733550"/>
            <a:chOff x="6172200" y="4000500"/>
            <a:chExt cx="5638800" cy="1733550"/>
          </a:xfrm>
        </p:grpSpPr>
        <p:sp>
          <p:nvSpPr>
            <p:cNvPr id="53" name="Rectangle 53"/>
            <p:cNvSpPr/>
            <p:nvPr/>
          </p:nvSpPr>
          <p:spPr>
            <a:xfrm>
              <a:off x="6172200" y="4000500"/>
              <a:ext cx="5638800" cy="1733550"/>
            </a:xfrm>
            <a:prstGeom prst="roundRect">
              <a:avLst>
                <a:gd name="adj" fmla="val 8791"/>
              </a:avLst>
            </a:prstGeom>
            <a:solidFill>
              <a:schemeClr val="lt1"/>
            </a:solidFill>
            <a:ln w="14288">
              <a:solidFill>
                <a:schemeClr val="accent4"/>
              </a:solidFill>
            </a:ln>
          </p:spPr>
        </p:sp>
        <p:sp>
          <p:nvSpPr>
            <p:cNvPr id="54" name="Ellipse 54"/>
            <p:cNvSpPr/>
            <p:nvPr/>
          </p:nvSpPr>
          <p:spPr>
            <a:xfrm>
              <a:off x="6400800" y="4229100"/>
              <a:ext cx="495300" cy="495300"/>
            </a:xfrm>
            <a:prstGeom prst="ellipse">
              <a:avLst/>
            </a:prstGeom>
            <a:solidFill>
              <a:schemeClr val="lt2"/>
            </a:solidFill>
            <a:ln>
              <a:noFill/>
            </a:ln>
          </p:spPr>
        </p:sp>
        <p:grpSp>
          <p:nvGrpSpPr>
            <p:cNvPr id="58" name="Group 58"/>
            <p:cNvGrpSpPr/>
            <p:nvPr/>
          </p:nvGrpSpPr>
          <p:grpSpPr>
            <a:xfrm>
              <a:off x="6534150" y="4375150"/>
              <a:ext cx="228599" cy="215899"/>
              <a:chOff x="6534150" y="4375150"/>
              <a:chExt cx="228599" cy="215899"/>
            </a:xfrm>
          </p:grpSpPr>
          <p:sp>
            <p:nvSpPr>
              <p:cNvPr id="55" name="Freeform 55"/>
              <p:cNvSpPr/>
              <p:nvPr/>
            </p:nvSpPr>
            <p:spPr>
              <a:xfrm>
                <a:off x="6597650" y="4438650"/>
                <a:ext cx="101600" cy="9525"/>
              </a:xfrm>
              <a:custGeom>
                <a:avLst/>
                <a:gdLst/>
                <a:ahLst/>
                <a:cxnLst/>
                <a:rect l="l" t="t" r="r" b="b"/>
                <a:pathLst>
                  <a:path w="101600" h="9525">
                    <a:moveTo>
                      <a:pt x="0" y="0"/>
                    </a:moveTo>
                    <a:lnTo>
                      <a:pt x="101600" y="0"/>
                    </a:lnTo>
                  </a:path>
                </a:pathLst>
              </a:custGeom>
              <a:noFill/>
              <a:ln w="25400">
                <a:solidFill>
                  <a:schemeClr val="accent3"/>
                </a:solidFill>
              </a:ln>
            </p:spPr>
          </p:sp>
          <p:sp>
            <p:nvSpPr>
              <p:cNvPr id="56" name="Freeform 56"/>
              <p:cNvSpPr/>
              <p:nvPr/>
            </p:nvSpPr>
            <p:spPr>
              <a:xfrm>
                <a:off x="6597650" y="4489450"/>
                <a:ext cx="76200" cy="9525"/>
              </a:xfrm>
              <a:custGeom>
                <a:avLst/>
                <a:gdLst/>
                <a:ahLst/>
                <a:cxnLst/>
                <a:rect l="l" t="t" r="r" b="b"/>
                <a:pathLst>
                  <a:path w="76200" h="9525">
                    <a:moveTo>
                      <a:pt x="0" y="0"/>
                    </a:moveTo>
                    <a:lnTo>
                      <a:pt x="76200" y="0"/>
                    </a:lnTo>
                  </a:path>
                </a:pathLst>
              </a:custGeom>
              <a:noFill/>
              <a:ln w="25400">
                <a:solidFill>
                  <a:schemeClr val="accent3"/>
                </a:solidFill>
              </a:ln>
            </p:spPr>
          </p:sp>
          <p:sp>
            <p:nvSpPr>
              <p:cNvPr id="57" name="Freeform 57"/>
              <p:cNvSpPr/>
              <p:nvPr/>
            </p:nvSpPr>
            <p:spPr>
              <a:xfrm>
                <a:off x="6534150" y="4375150"/>
                <a:ext cx="228599" cy="215899"/>
              </a:xfrm>
              <a:custGeom>
                <a:avLst/>
                <a:gdLst/>
                <a:ahLst/>
                <a:cxnLst/>
                <a:rect l="l" t="t" r="r" b="b"/>
                <a:pathLst>
                  <a:path w="228599" h="215899">
                    <a:moveTo>
                      <a:pt x="76200" y="177800"/>
                    </a:moveTo>
                    <a:lnTo>
                      <a:pt x="38100" y="177800"/>
                    </a:lnTo>
                    <a:cubicBezTo>
                      <a:pt x="17058" y="177800"/>
                      <a:pt x="0" y="160742"/>
                      <a:pt x="0" y="139700"/>
                    </a:cubicBezTo>
                    <a:lnTo>
                      <a:pt x="0" y="38100"/>
                    </a:lnTo>
                    <a:cubicBezTo>
                      <a:pt x="0" y="17058"/>
                      <a:pt x="17058" y="0"/>
                      <a:pt x="38100" y="0"/>
                    </a:cubicBezTo>
                    <a:lnTo>
                      <a:pt x="190500" y="0"/>
                    </a:lnTo>
                    <a:cubicBezTo>
                      <a:pt x="211542" y="0"/>
                      <a:pt x="228599" y="17058"/>
                      <a:pt x="228599" y="38100"/>
                    </a:cubicBezTo>
                    <a:lnTo>
                      <a:pt x="228599" y="139700"/>
                    </a:lnTo>
                    <a:cubicBezTo>
                      <a:pt x="228599" y="160742"/>
                      <a:pt x="211542" y="177800"/>
                      <a:pt x="190500" y="177800"/>
                    </a:cubicBezTo>
                    <a:lnTo>
                      <a:pt x="152400" y="177800"/>
                    </a:lnTo>
                    <a:lnTo>
                      <a:pt x="114300" y="215899"/>
                    </a:lnTo>
                    <a:lnTo>
                      <a:pt x="76200" y="177800"/>
                    </a:lnTo>
                  </a:path>
                </a:pathLst>
              </a:custGeom>
              <a:noFill/>
              <a:ln w="25400">
                <a:solidFill>
                  <a:schemeClr val="accent3"/>
                </a:solidFill>
              </a:ln>
            </p:spPr>
          </p:sp>
        </p:grpSp>
        <p:sp>
          <p:nvSpPr>
            <p:cNvPr id="59" name="TextBox 59"/>
            <p:cNvSpPr txBox="1"/>
            <p:nvPr/>
          </p:nvSpPr>
          <p:spPr>
            <a:xfrm>
              <a:off x="7038594" y="4361498"/>
              <a:ext cx="1825099"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Bắt AI tự khai</a:t>
              </a:r>
            </a:p>
          </p:txBody>
        </p:sp>
        <p:sp>
          <p:nvSpPr>
            <p:cNvPr id="60" name="Rectangle 60"/>
            <p:cNvSpPr/>
            <p:nvPr/>
          </p:nvSpPr>
          <p:spPr>
            <a:xfrm>
              <a:off x="10458450" y="4229100"/>
              <a:ext cx="1123950" cy="285750"/>
            </a:xfrm>
            <a:prstGeom prst="roundRect">
              <a:avLst>
                <a:gd name="adj" fmla="val 50000"/>
              </a:avLst>
            </a:prstGeom>
            <a:solidFill>
              <a:srgbClr val="FCEBDD"/>
            </a:solidFill>
            <a:ln>
              <a:noFill/>
            </a:ln>
          </p:spPr>
        </p:sp>
        <p:sp>
          <p:nvSpPr>
            <p:cNvPr id="61" name="TextBox 61"/>
            <p:cNvSpPr txBox="1"/>
            <p:nvPr/>
          </p:nvSpPr>
          <p:spPr>
            <a:xfrm>
              <a:off x="10564833" y="4299585"/>
              <a:ext cx="911184" cy="234696"/>
            </a:xfrm>
            <a:prstGeom prst="rect">
              <a:avLst/>
            </a:prstGeom>
            <a:noFill/>
            <a:ln>
              <a:noFill/>
            </a:ln>
          </p:spPr>
          <p:txBody>
            <a:bodyPr wrap="none" lIns="0" tIns="0" rIns="0" bIns="0" anchor="t" anchorCtr="0">
              <a:spAutoFit/>
            </a:bodyPr>
            <a:lstStyle/>
            <a:p>
              <a:pPr algn="ctr"/>
              <a:r>
                <a:rPr lang="vi-VN" sz="1200" b="1" dirty="0">
                  <a:solidFill>
                    <a:schemeClr val="accent1"/>
                  </a:solidFill>
                  <a:latin typeface="+mn-lt"/>
                  <a:ea typeface="+mn-ea"/>
                  <a:cs typeface="+mn-cs"/>
                </a:rPr>
                <a:t>1 lượt chat</a:t>
              </a:r>
            </a:p>
          </p:txBody>
        </p:sp>
        <p:sp>
          <p:nvSpPr>
            <p:cNvPr id="62" name="TextBox 62"/>
            <p:cNvSpPr txBox="1"/>
            <p:nvPr/>
          </p:nvSpPr>
          <p:spPr>
            <a:xfrm>
              <a:off x="6392418" y="4946332"/>
              <a:ext cx="4102989"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dk1"/>
                  </a:solidFill>
                  <a:latin typeface="+mn-lt"/>
                  <a:ea typeface="+mn-ea"/>
                  <a:cs typeface="+mn-cs"/>
                </a:rPr>
                <a:t>Hỏi: “Chỗ nào bạn tự suy đoán mà tài liệu</a:t>
              </a:r>
              <a:br/>
              <a:r>
                <a:rPr lang="vi-VN" sz="1650" dirty="0">
                  <a:solidFill>
                    <a:schemeClr val="dk1"/>
                  </a:solidFill>
                  <a:latin typeface="+mn-lt"/>
                  <a:ea typeface="+mn-ea"/>
                  <a:cs typeface="+mn-cs"/>
                </a:rPr>
                <a:t>không nói?” → nó tự liệt kê [SUY LUẬN]</a:t>
              </a:r>
            </a:p>
          </p:txBody>
        </p:sp>
      </p:grpSp>
      <p:sp>
        <p:nvSpPr>
          <p:cNvPr id="64" name="TextBox 64"/>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65" name="TextBox 65"/>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17 / 35</a:t>
            </a:r>
          </a:p>
        </p:txBody>
      </p:sp>
      <p:sp>
        <p:nvSpPr>
          <p:cNvPr id="66" name="demo-flag"/>
          <p:cNvSpPr/>
          <p:nvPr/>
        </p:nvSpPr>
        <p:spPr>
          <a:xfrm>
            <a:off x="3810000" y="304800"/>
            <a:ext cx="1638300" cy="228600"/>
          </a:xfrm>
          <a:prstGeom prst="roundRect">
            <a:avLst>
              <a:gd name="adj" fmla="val 50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00" b="1">
                <a:solidFill>
                  <a:srgbClr val="FFFFFF"/>
                </a:solidFill>
              </a:rPr>
              <a:t>▶ CÓ HƯỚNG DẪN DEMO</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2793462" cy="234696"/>
            <a:chOff x="381000" y="346710"/>
            <a:chExt cx="2793462" cy="234696"/>
          </a:xfrm>
        </p:grpSpPr>
        <p:sp>
          <p:nvSpPr>
            <p:cNvPr id="2" name="Rectangle 2"/>
            <p:cNvSpPr/>
            <p:nvPr/>
          </p:nvSpPr>
          <p:spPr>
            <a:xfrm>
              <a:off x="381000" y="361950"/>
              <a:ext cx="114300" cy="114300"/>
            </a:xfrm>
            <a:prstGeom prst="roundRect">
              <a:avLst>
                <a:gd name="adj" fmla="val 25000"/>
              </a:avLst>
            </a:prstGeom>
            <a:solidFill>
              <a:schemeClr val="accent3"/>
            </a:solidFill>
            <a:ln>
              <a:noFill/>
            </a:ln>
          </p:spPr>
        </p:sp>
        <p:sp>
          <p:nvSpPr>
            <p:cNvPr id="3" name="TextBox 3"/>
            <p:cNvSpPr txBox="1"/>
            <p:nvPr/>
          </p:nvSpPr>
          <p:spPr>
            <a:xfrm>
              <a:off x="584454" y="346710"/>
              <a:ext cx="2590008"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2 · THỰC HÀNH &amp; CHỐT</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chemeClr val="accent2"/>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5700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7487936"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Thực hành tầng 2: làm ít nhất 3 việc</a:t>
            </a:r>
            <a:br/>
            <a:r>
              <a:rPr lang="vi-VN" sz="3150" b="1" dirty="0">
                <a:solidFill>
                  <a:schemeClr val="accent1"/>
                </a:solidFill>
                <a:latin typeface="+mn-lt"/>
                <a:ea typeface="+mn-ea"/>
                <a:cs typeface="+mn-cs"/>
              </a:rPr>
              <a:t>trên dữ liệu Wir với prompt đủ 4 phần</a:t>
            </a:r>
          </a:p>
        </p:txBody>
      </p:sp>
      <p:grpSp>
        <p:nvGrpSpPr>
          <p:cNvPr id="51" name="Group 51"/>
          <p:cNvGrpSpPr/>
          <p:nvPr/>
        </p:nvGrpSpPr>
        <p:grpSpPr>
          <a:xfrm>
            <a:off x="381000" y="2140744"/>
            <a:ext cx="6572250" cy="2888456"/>
            <a:chOff x="381000" y="2140744"/>
            <a:chExt cx="6572250" cy="2888456"/>
          </a:xfrm>
        </p:grpSpPr>
        <p:grpSp>
          <p:nvGrpSpPr>
            <p:cNvPr id="20" name="Group 20"/>
            <p:cNvGrpSpPr/>
            <p:nvPr/>
          </p:nvGrpSpPr>
          <p:grpSpPr>
            <a:xfrm>
              <a:off x="424656" y="2140744"/>
              <a:ext cx="122238" cy="157162"/>
              <a:chOff x="424656" y="2140744"/>
              <a:chExt cx="122238" cy="157162"/>
            </a:xfrm>
          </p:grpSpPr>
          <p:sp>
            <p:nvSpPr>
              <p:cNvPr id="17" name="Freeform 17"/>
              <p:cNvSpPr/>
              <p:nvPr/>
            </p:nvSpPr>
            <p:spPr>
              <a:xfrm>
                <a:off x="424656" y="2158206"/>
                <a:ext cx="122238" cy="139700"/>
              </a:xfrm>
              <a:custGeom>
                <a:avLst/>
                <a:gdLst/>
                <a:ahLst/>
                <a:cxnLst/>
                <a:rect l="l" t="t" r="r" b="b"/>
                <a:pathLst>
                  <a:path w="122238" h="139700">
                    <a:moveTo>
                      <a:pt x="34925" y="0"/>
                    </a:moveTo>
                    <a:lnTo>
                      <a:pt x="17463" y="0"/>
                    </a:lnTo>
                    <a:cubicBezTo>
                      <a:pt x="7818" y="0"/>
                      <a:pt x="0" y="7818"/>
                      <a:pt x="0" y="17463"/>
                    </a:cubicBezTo>
                    <a:lnTo>
                      <a:pt x="0" y="122238"/>
                    </a:lnTo>
                    <a:cubicBezTo>
                      <a:pt x="0" y="131882"/>
                      <a:pt x="7818" y="139700"/>
                      <a:pt x="17463" y="139700"/>
                    </a:cubicBezTo>
                    <a:lnTo>
                      <a:pt x="104775" y="139700"/>
                    </a:lnTo>
                    <a:cubicBezTo>
                      <a:pt x="114419" y="139700"/>
                      <a:pt x="122238" y="131882"/>
                      <a:pt x="122238" y="122238"/>
                    </a:cubicBezTo>
                    <a:lnTo>
                      <a:pt x="122238" y="17463"/>
                    </a:lnTo>
                    <a:cubicBezTo>
                      <a:pt x="122238" y="7818"/>
                      <a:pt x="114419" y="0"/>
                      <a:pt x="104775" y="0"/>
                    </a:cubicBezTo>
                    <a:lnTo>
                      <a:pt x="87313" y="0"/>
                    </a:lnTo>
                  </a:path>
                </a:pathLst>
              </a:custGeom>
              <a:noFill/>
              <a:ln w="17463">
                <a:solidFill>
                  <a:schemeClr val="accent3"/>
                </a:solidFill>
              </a:ln>
            </p:spPr>
          </p:sp>
          <p:sp>
            <p:nvSpPr>
              <p:cNvPr id="18" name="Freeform 18"/>
              <p:cNvSpPr/>
              <p:nvPr/>
            </p:nvSpPr>
            <p:spPr>
              <a:xfrm>
                <a:off x="459581" y="2140744"/>
                <a:ext cx="52388" cy="34925"/>
              </a:xfrm>
              <a:custGeom>
                <a:avLst/>
                <a:gdLst/>
                <a:ahLst/>
                <a:cxnLst/>
                <a:rect l="l" t="t" r="r" b="b"/>
                <a:pathLst>
                  <a:path w="52388" h="34925">
                    <a:moveTo>
                      <a:pt x="0" y="17463"/>
                    </a:moveTo>
                    <a:cubicBezTo>
                      <a:pt x="0" y="7818"/>
                      <a:pt x="7818" y="0"/>
                      <a:pt x="17463" y="0"/>
                    </a:cubicBezTo>
                    <a:lnTo>
                      <a:pt x="34925" y="0"/>
                    </a:lnTo>
                    <a:cubicBezTo>
                      <a:pt x="44569" y="0"/>
                      <a:pt x="52388" y="7818"/>
                      <a:pt x="52388" y="17463"/>
                    </a:cubicBezTo>
                    <a:cubicBezTo>
                      <a:pt x="52388" y="27107"/>
                      <a:pt x="44569" y="34925"/>
                      <a:pt x="34925" y="34925"/>
                    </a:cubicBezTo>
                    <a:lnTo>
                      <a:pt x="17463" y="34925"/>
                    </a:lnTo>
                    <a:cubicBezTo>
                      <a:pt x="7818" y="34925"/>
                      <a:pt x="0" y="27107"/>
                      <a:pt x="0" y="17463"/>
                    </a:cubicBezTo>
                  </a:path>
                </a:pathLst>
              </a:custGeom>
              <a:noFill/>
              <a:ln w="17463">
                <a:solidFill>
                  <a:schemeClr val="accent3"/>
                </a:solidFill>
              </a:ln>
            </p:spPr>
          </p:sp>
          <p:sp>
            <p:nvSpPr>
              <p:cNvPr id="19" name="Freeform 19"/>
              <p:cNvSpPr/>
              <p:nvPr/>
            </p:nvSpPr>
            <p:spPr>
              <a:xfrm>
                <a:off x="459581" y="2219325"/>
                <a:ext cx="52388" cy="34925"/>
              </a:xfrm>
              <a:custGeom>
                <a:avLst/>
                <a:gdLst/>
                <a:ahLst/>
                <a:cxnLst/>
                <a:rect l="l" t="t" r="r" b="b"/>
                <a:pathLst>
                  <a:path w="52388" h="34925">
                    <a:moveTo>
                      <a:pt x="0" y="17463"/>
                    </a:moveTo>
                    <a:lnTo>
                      <a:pt x="17463" y="34925"/>
                    </a:lnTo>
                    <a:lnTo>
                      <a:pt x="52388" y="0"/>
                    </a:lnTo>
                  </a:path>
                </a:pathLst>
              </a:custGeom>
              <a:noFill/>
              <a:ln w="17463">
                <a:solidFill>
                  <a:schemeClr val="accent3"/>
                </a:solidFill>
              </a:ln>
            </p:spPr>
          </p:sp>
        </p:grpSp>
        <p:sp>
          <p:nvSpPr>
            <p:cNvPr id="21" name="TextBox 21"/>
            <p:cNvSpPr txBox="1"/>
            <p:nvPr/>
          </p:nvSpPr>
          <p:spPr>
            <a:xfrm>
              <a:off x="660654" y="2146935"/>
              <a:ext cx="1853062"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CHỌN ÍT NHẤT 3 VIỆC</a:t>
              </a:r>
            </a:p>
          </p:txBody>
        </p:sp>
        <p:sp>
          <p:nvSpPr>
            <p:cNvPr id="22" name="Rectangle 22"/>
            <p:cNvSpPr/>
            <p:nvPr/>
          </p:nvSpPr>
          <p:spPr>
            <a:xfrm>
              <a:off x="381000" y="2438400"/>
              <a:ext cx="6572250" cy="590550"/>
            </a:xfrm>
            <a:prstGeom prst="roundRect">
              <a:avLst>
                <a:gd name="adj" fmla="val 22581"/>
              </a:avLst>
            </a:prstGeom>
            <a:solidFill>
              <a:schemeClr val="lt1"/>
            </a:solidFill>
            <a:ln w="14288">
              <a:solidFill>
                <a:schemeClr val="accent4"/>
              </a:solidFill>
            </a:ln>
          </p:spPr>
        </p:sp>
        <p:grpSp>
          <p:nvGrpSpPr>
            <p:cNvPr id="28" name="Group 28"/>
            <p:cNvGrpSpPr/>
            <p:nvPr/>
          </p:nvGrpSpPr>
          <p:grpSpPr>
            <a:xfrm>
              <a:off x="600075" y="2647950"/>
              <a:ext cx="133350" cy="171450"/>
              <a:chOff x="600075" y="2647950"/>
              <a:chExt cx="133350" cy="171450"/>
            </a:xfrm>
          </p:grpSpPr>
          <p:sp>
            <p:nvSpPr>
              <p:cNvPr id="23" name="Freeform 23"/>
              <p:cNvSpPr/>
              <p:nvPr/>
            </p:nvSpPr>
            <p:spPr>
              <a:xfrm>
                <a:off x="685800" y="2647950"/>
                <a:ext cx="47625" cy="47625"/>
              </a:xfrm>
              <a:custGeom>
                <a:avLst/>
                <a:gdLst/>
                <a:ahLst/>
                <a:cxnLst/>
                <a:rect l="l" t="t" r="r" b="b"/>
                <a:pathLst>
                  <a:path w="47625" h="47625">
                    <a:moveTo>
                      <a:pt x="0" y="0"/>
                    </a:moveTo>
                    <a:lnTo>
                      <a:pt x="0" y="38100"/>
                    </a:lnTo>
                    <a:cubicBezTo>
                      <a:pt x="0" y="43361"/>
                      <a:pt x="4264" y="47625"/>
                      <a:pt x="9525" y="47625"/>
                    </a:cubicBezTo>
                    <a:lnTo>
                      <a:pt x="47625" y="47625"/>
                    </a:lnTo>
                  </a:path>
                </a:pathLst>
              </a:custGeom>
              <a:noFill/>
              <a:ln w="19050">
                <a:solidFill>
                  <a:schemeClr val="accent3"/>
                </a:solidFill>
              </a:ln>
            </p:spPr>
          </p:sp>
          <p:sp>
            <p:nvSpPr>
              <p:cNvPr id="24" name="Freeform 24"/>
              <p:cNvSpPr/>
              <p:nvPr/>
            </p:nvSpPr>
            <p:spPr>
              <a:xfrm>
                <a:off x="600075" y="2647950"/>
                <a:ext cx="133350" cy="171450"/>
              </a:xfrm>
              <a:custGeom>
                <a:avLst/>
                <a:gdLst/>
                <a:ahLst/>
                <a:cxnLst/>
                <a:rect l="l" t="t" r="r" b="b"/>
                <a:pathLst>
                  <a:path w="133350" h="171450">
                    <a:moveTo>
                      <a:pt x="114300" y="171450"/>
                    </a:moveTo>
                    <a:lnTo>
                      <a:pt x="19050" y="171450"/>
                    </a:lnTo>
                    <a:cubicBezTo>
                      <a:pt x="8529" y="171450"/>
                      <a:pt x="0" y="162921"/>
                      <a:pt x="0" y="152400"/>
                    </a:cubicBezTo>
                    <a:lnTo>
                      <a:pt x="0" y="19050"/>
                    </a:lnTo>
                    <a:cubicBezTo>
                      <a:pt x="0" y="8529"/>
                      <a:pt x="8529" y="0"/>
                      <a:pt x="19050" y="0"/>
                    </a:cubicBezTo>
                    <a:lnTo>
                      <a:pt x="85725" y="0"/>
                    </a:lnTo>
                    <a:lnTo>
                      <a:pt x="133350" y="47625"/>
                    </a:lnTo>
                    <a:lnTo>
                      <a:pt x="133350" y="152400"/>
                    </a:lnTo>
                    <a:cubicBezTo>
                      <a:pt x="133350" y="162921"/>
                      <a:pt x="124821" y="171450"/>
                      <a:pt x="114300" y="171450"/>
                    </a:cubicBezTo>
                  </a:path>
                </a:pathLst>
              </a:custGeom>
              <a:noFill/>
              <a:ln w="19050">
                <a:solidFill>
                  <a:schemeClr val="accent3"/>
                </a:solidFill>
              </a:ln>
            </p:spPr>
          </p:sp>
          <p:sp>
            <p:nvSpPr>
              <p:cNvPr id="25" name="Freeform 25"/>
              <p:cNvSpPr/>
              <p:nvPr/>
            </p:nvSpPr>
            <p:spPr>
              <a:xfrm>
                <a:off x="638175" y="2705100"/>
                <a:ext cx="9525" cy="9525"/>
              </a:xfrm>
              <a:custGeom>
                <a:avLst/>
                <a:gdLst/>
                <a:ahLst/>
                <a:cxnLst/>
                <a:rect l="l" t="t" r="r" b="b"/>
                <a:pathLst>
                  <a:path w="9525" h="9525">
                    <a:moveTo>
                      <a:pt x="0" y="0"/>
                    </a:moveTo>
                    <a:lnTo>
                      <a:pt x="9525" y="0"/>
                    </a:lnTo>
                  </a:path>
                </a:pathLst>
              </a:custGeom>
              <a:noFill/>
              <a:ln w="19050">
                <a:solidFill>
                  <a:schemeClr val="accent3"/>
                </a:solidFill>
              </a:ln>
            </p:spPr>
          </p:sp>
          <p:sp>
            <p:nvSpPr>
              <p:cNvPr id="26" name="Freeform 26"/>
              <p:cNvSpPr/>
              <p:nvPr/>
            </p:nvSpPr>
            <p:spPr>
              <a:xfrm>
                <a:off x="638175" y="2743200"/>
                <a:ext cx="57150" cy="9525"/>
              </a:xfrm>
              <a:custGeom>
                <a:avLst/>
                <a:gdLst/>
                <a:ahLst/>
                <a:cxnLst/>
                <a:rect l="l" t="t" r="r" b="b"/>
                <a:pathLst>
                  <a:path w="57150" h="9525">
                    <a:moveTo>
                      <a:pt x="0" y="0"/>
                    </a:moveTo>
                    <a:lnTo>
                      <a:pt x="57150" y="0"/>
                    </a:lnTo>
                  </a:path>
                </a:pathLst>
              </a:custGeom>
              <a:noFill/>
              <a:ln w="19050">
                <a:solidFill>
                  <a:schemeClr val="accent3"/>
                </a:solidFill>
              </a:ln>
            </p:spPr>
          </p:sp>
          <p:sp>
            <p:nvSpPr>
              <p:cNvPr id="27" name="Freeform 27"/>
              <p:cNvSpPr/>
              <p:nvPr/>
            </p:nvSpPr>
            <p:spPr>
              <a:xfrm>
                <a:off x="638175" y="2781300"/>
                <a:ext cx="57150" cy="9525"/>
              </a:xfrm>
              <a:custGeom>
                <a:avLst/>
                <a:gdLst/>
                <a:ahLst/>
                <a:cxnLst/>
                <a:rect l="l" t="t" r="r" b="b"/>
                <a:pathLst>
                  <a:path w="57150" h="9525">
                    <a:moveTo>
                      <a:pt x="0" y="0"/>
                    </a:moveTo>
                    <a:lnTo>
                      <a:pt x="57150" y="0"/>
                    </a:lnTo>
                  </a:path>
                </a:pathLst>
              </a:custGeom>
              <a:noFill/>
              <a:ln w="19050">
                <a:solidFill>
                  <a:schemeClr val="accent3"/>
                </a:solidFill>
              </a:ln>
            </p:spPr>
          </p:sp>
        </p:grpSp>
        <p:sp>
          <p:nvSpPr>
            <p:cNvPr id="29" name="TextBox 29"/>
            <p:cNvSpPr txBox="1"/>
            <p:nvPr/>
          </p:nvSpPr>
          <p:spPr>
            <a:xfrm>
              <a:off x="906018" y="2631758"/>
              <a:ext cx="4855752"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Biên bản họp + đầu việc từ transcript họp thô</a:t>
              </a:r>
            </a:p>
          </p:txBody>
        </p:sp>
        <p:sp>
          <p:nvSpPr>
            <p:cNvPr id="30" name="Rectangle 30"/>
            <p:cNvSpPr/>
            <p:nvPr/>
          </p:nvSpPr>
          <p:spPr>
            <a:xfrm>
              <a:off x="381000" y="3105150"/>
              <a:ext cx="6572250" cy="590550"/>
            </a:xfrm>
            <a:prstGeom prst="roundRect">
              <a:avLst>
                <a:gd name="adj" fmla="val 22581"/>
              </a:avLst>
            </a:prstGeom>
            <a:solidFill>
              <a:schemeClr val="lt1"/>
            </a:solidFill>
            <a:ln w="14288">
              <a:solidFill>
                <a:schemeClr val="accent4"/>
              </a:solidFill>
            </a:ln>
          </p:spPr>
        </p:sp>
        <p:grpSp>
          <p:nvGrpSpPr>
            <p:cNvPr id="36" name="Group 36"/>
            <p:cNvGrpSpPr/>
            <p:nvPr/>
          </p:nvGrpSpPr>
          <p:grpSpPr>
            <a:xfrm>
              <a:off x="600075" y="3314700"/>
              <a:ext cx="133350" cy="171450"/>
              <a:chOff x="600075" y="3314700"/>
              <a:chExt cx="133350" cy="171450"/>
            </a:xfrm>
          </p:grpSpPr>
          <p:sp>
            <p:nvSpPr>
              <p:cNvPr id="31" name="Freeform 31"/>
              <p:cNvSpPr/>
              <p:nvPr/>
            </p:nvSpPr>
            <p:spPr>
              <a:xfrm>
                <a:off x="685800" y="3314700"/>
                <a:ext cx="47625" cy="47625"/>
              </a:xfrm>
              <a:custGeom>
                <a:avLst/>
                <a:gdLst/>
                <a:ahLst/>
                <a:cxnLst/>
                <a:rect l="l" t="t" r="r" b="b"/>
                <a:pathLst>
                  <a:path w="47625" h="47625">
                    <a:moveTo>
                      <a:pt x="0" y="0"/>
                    </a:moveTo>
                    <a:lnTo>
                      <a:pt x="0" y="38100"/>
                    </a:lnTo>
                    <a:cubicBezTo>
                      <a:pt x="0" y="43361"/>
                      <a:pt x="4264" y="47625"/>
                      <a:pt x="9525" y="47625"/>
                    </a:cubicBezTo>
                    <a:lnTo>
                      <a:pt x="47625" y="47625"/>
                    </a:lnTo>
                  </a:path>
                </a:pathLst>
              </a:custGeom>
              <a:noFill/>
              <a:ln w="19050">
                <a:solidFill>
                  <a:schemeClr val="accent3"/>
                </a:solidFill>
              </a:ln>
            </p:spPr>
          </p:sp>
          <p:sp>
            <p:nvSpPr>
              <p:cNvPr id="32" name="Freeform 32"/>
              <p:cNvSpPr/>
              <p:nvPr/>
            </p:nvSpPr>
            <p:spPr>
              <a:xfrm>
                <a:off x="600075" y="3314700"/>
                <a:ext cx="133350" cy="171450"/>
              </a:xfrm>
              <a:custGeom>
                <a:avLst/>
                <a:gdLst/>
                <a:ahLst/>
                <a:cxnLst/>
                <a:rect l="l" t="t" r="r" b="b"/>
                <a:pathLst>
                  <a:path w="133350" h="171450">
                    <a:moveTo>
                      <a:pt x="114300" y="171450"/>
                    </a:moveTo>
                    <a:lnTo>
                      <a:pt x="19050" y="171450"/>
                    </a:lnTo>
                    <a:cubicBezTo>
                      <a:pt x="8529" y="171450"/>
                      <a:pt x="0" y="162921"/>
                      <a:pt x="0" y="152400"/>
                    </a:cubicBezTo>
                    <a:lnTo>
                      <a:pt x="0" y="19050"/>
                    </a:lnTo>
                    <a:cubicBezTo>
                      <a:pt x="0" y="8529"/>
                      <a:pt x="8529" y="0"/>
                      <a:pt x="19050" y="0"/>
                    </a:cubicBezTo>
                    <a:lnTo>
                      <a:pt x="85725" y="0"/>
                    </a:lnTo>
                    <a:lnTo>
                      <a:pt x="133350" y="47625"/>
                    </a:lnTo>
                    <a:lnTo>
                      <a:pt x="133350" y="152400"/>
                    </a:lnTo>
                    <a:cubicBezTo>
                      <a:pt x="133350" y="162921"/>
                      <a:pt x="124821" y="171450"/>
                      <a:pt x="114300" y="171450"/>
                    </a:cubicBezTo>
                  </a:path>
                </a:pathLst>
              </a:custGeom>
              <a:noFill/>
              <a:ln w="19050">
                <a:solidFill>
                  <a:schemeClr val="accent3"/>
                </a:solidFill>
              </a:ln>
            </p:spPr>
          </p:sp>
          <p:sp>
            <p:nvSpPr>
              <p:cNvPr id="33" name="Freeform 33"/>
              <p:cNvSpPr/>
              <p:nvPr/>
            </p:nvSpPr>
            <p:spPr>
              <a:xfrm>
                <a:off x="628650" y="3390900"/>
                <a:ext cx="76200" cy="66675"/>
              </a:xfrm>
              <a:custGeom>
                <a:avLst/>
                <a:gdLst/>
                <a:ahLst/>
                <a:cxnLst/>
                <a:rect l="l" t="t" r="r" b="b"/>
                <a:pathLst>
                  <a:path w="76200" h="66675">
                    <a:moveTo>
                      <a:pt x="0" y="0"/>
                    </a:moveTo>
                    <a:lnTo>
                      <a:pt x="76200" y="0"/>
                    </a:lnTo>
                    <a:lnTo>
                      <a:pt x="76200" y="66675"/>
                    </a:lnTo>
                    <a:lnTo>
                      <a:pt x="0" y="66675"/>
                    </a:lnTo>
                    <a:lnTo>
                      <a:pt x="0" y="0"/>
                    </a:lnTo>
                  </a:path>
                </a:pathLst>
              </a:custGeom>
              <a:noFill/>
              <a:ln w="19050">
                <a:solidFill>
                  <a:schemeClr val="accent3"/>
                </a:solidFill>
              </a:ln>
            </p:spPr>
          </p:sp>
          <p:sp>
            <p:nvSpPr>
              <p:cNvPr id="34" name="Freeform 34"/>
              <p:cNvSpPr/>
              <p:nvPr/>
            </p:nvSpPr>
            <p:spPr>
              <a:xfrm>
                <a:off x="628650" y="3429000"/>
                <a:ext cx="76200" cy="9525"/>
              </a:xfrm>
              <a:custGeom>
                <a:avLst/>
                <a:gdLst/>
                <a:ahLst/>
                <a:cxnLst/>
                <a:rect l="l" t="t" r="r" b="b"/>
                <a:pathLst>
                  <a:path w="76200" h="9525">
                    <a:moveTo>
                      <a:pt x="0" y="0"/>
                    </a:moveTo>
                    <a:lnTo>
                      <a:pt x="76200" y="0"/>
                    </a:lnTo>
                  </a:path>
                </a:pathLst>
              </a:custGeom>
              <a:noFill/>
              <a:ln w="19050">
                <a:solidFill>
                  <a:schemeClr val="accent3"/>
                </a:solidFill>
              </a:ln>
            </p:spPr>
          </p:sp>
          <p:sp>
            <p:nvSpPr>
              <p:cNvPr id="35" name="Freeform 35"/>
              <p:cNvSpPr/>
              <p:nvPr/>
            </p:nvSpPr>
            <p:spPr>
              <a:xfrm>
                <a:off x="657225" y="3390900"/>
                <a:ext cx="9525" cy="66675"/>
              </a:xfrm>
              <a:custGeom>
                <a:avLst/>
                <a:gdLst/>
                <a:ahLst/>
                <a:cxnLst/>
                <a:rect l="l" t="t" r="r" b="b"/>
                <a:pathLst>
                  <a:path w="9525" h="66675">
                    <a:moveTo>
                      <a:pt x="0" y="0"/>
                    </a:moveTo>
                    <a:lnTo>
                      <a:pt x="0" y="66675"/>
                    </a:lnTo>
                  </a:path>
                </a:pathLst>
              </a:custGeom>
              <a:noFill/>
              <a:ln w="19050">
                <a:solidFill>
                  <a:schemeClr val="accent3"/>
                </a:solidFill>
              </a:ln>
            </p:spPr>
          </p:sp>
        </p:grpSp>
        <p:sp>
          <p:nvSpPr>
            <p:cNvPr id="37" name="TextBox 37"/>
            <p:cNvSpPr txBox="1"/>
            <p:nvPr/>
          </p:nvSpPr>
          <p:spPr>
            <a:xfrm>
              <a:off x="906018" y="3298508"/>
              <a:ext cx="4545221"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Báo cáo doanh thu từ file đơn hàng 40 dòng</a:t>
              </a:r>
            </a:p>
          </p:txBody>
        </p:sp>
        <p:sp>
          <p:nvSpPr>
            <p:cNvPr id="38" name="Rectangle 38"/>
            <p:cNvSpPr/>
            <p:nvPr/>
          </p:nvSpPr>
          <p:spPr>
            <a:xfrm>
              <a:off x="381000" y="3771900"/>
              <a:ext cx="6572250" cy="590550"/>
            </a:xfrm>
            <a:prstGeom prst="roundRect">
              <a:avLst>
                <a:gd name="adj" fmla="val 22581"/>
              </a:avLst>
            </a:prstGeom>
            <a:solidFill>
              <a:schemeClr val="lt1"/>
            </a:solidFill>
            <a:ln w="14288">
              <a:solidFill>
                <a:schemeClr val="accent4"/>
              </a:solidFill>
            </a:ln>
          </p:spPr>
        </p:sp>
        <p:grpSp>
          <p:nvGrpSpPr>
            <p:cNvPr id="43" name="Group 43"/>
            <p:cNvGrpSpPr/>
            <p:nvPr/>
          </p:nvGrpSpPr>
          <p:grpSpPr>
            <a:xfrm>
              <a:off x="581025" y="3981450"/>
              <a:ext cx="171450" cy="171450"/>
              <a:chOff x="581025" y="3981450"/>
              <a:chExt cx="171450" cy="171450"/>
            </a:xfrm>
          </p:grpSpPr>
          <p:sp>
            <p:nvSpPr>
              <p:cNvPr id="39" name="Freeform 39"/>
              <p:cNvSpPr/>
              <p:nvPr/>
            </p:nvSpPr>
            <p:spPr>
              <a:xfrm>
                <a:off x="600075" y="398145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chemeClr val="accent3"/>
                </a:solidFill>
              </a:ln>
            </p:spPr>
          </p:sp>
          <p:sp>
            <p:nvSpPr>
              <p:cNvPr id="40" name="Freeform 40"/>
              <p:cNvSpPr/>
              <p:nvPr/>
            </p:nvSpPr>
            <p:spPr>
              <a:xfrm>
                <a:off x="581025" y="4095750"/>
                <a:ext cx="114300" cy="57150"/>
              </a:xfrm>
              <a:custGeom>
                <a:avLst/>
                <a:gdLst/>
                <a:ahLst/>
                <a:cxnLst/>
                <a:rect l="l" t="t" r="r" b="b"/>
                <a:pathLst>
                  <a:path w="114300" h="57150">
                    <a:moveTo>
                      <a:pt x="0" y="57150"/>
                    </a:moveTo>
                    <a:lnTo>
                      <a:pt x="0" y="38100"/>
                    </a:lnTo>
                    <a:cubicBezTo>
                      <a:pt x="0" y="17058"/>
                      <a:pt x="17058" y="0"/>
                      <a:pt x="38100" y="0"/>
                    </a:cubicBezTo>
                    <a:lnTo>
                      <a:pt x="76200" y="0"/>
                    </a:lnTo>
                    <a:cubicBezTo>
                      <a:pt x="97242" y="0"/>
                      <a:pt x="114300" y="17058"/>
                      <a:pt x="114300" y="38100"/>
                    </a:cubicBezTo>
                    <a:lnTo>
                      <a:pt x="114300" y="57150"/>
                    </a:lnTo>
                  </a:path>
                </a:pathLst>
              </a:custGeom>
              <a:noFill/>
              <a:ln w="19050">
                <a:solidFill>
                  <a:schemeClr val="accent3"/>
                </a:solidFill>
              </a:ln>
            </p:spPr>
          </p:sp>
          <p:sp>
            <p:nvSpPr>
              <p:cNvPr id="41" name="Freeform 41"/>
              <p:cNvSpPr/>
              <p:nvPr/>
            </p:nvSpPr>
            <p:spPr>
              <a:xfrm>
                <a:off x="704850" y="3982688"/>
                <a:ext cx="28650" cy="73819"/>
              </a:xfrm>
              <a:custGeom>
                <a:avLst/>
                <a:gdLst/>
                <a:ahLst/>
                <a:cxnLst/>
                <a:rect l="l" t="t" r="r" b="b"/>
                <a:pathLst>
                  <a:path w="28650" h="73819">
                    <a:moveTo>
                      <a:pt x="0" y="0"/>
                    </a:moveTo>
                    <a:cubicBezTo>
                      <a:pt x="16858" y="4316"/>
                      <a:pt x="28650" y="19507"/>
                      <a:pt x="28650" y="36909"/>
                    </a:cubicBezTo>
                    <a:cubicBezTo>
                      <a:pt x="28650" y="54312"/>
                      <a:pt x="16858" y="69502"/>
                      <a:pt x="0" y="73819"/>
                    </a:cubicBezTo>
                  </a:path>
                </a:pathLst>
              </a:custGeom>
              <a:noFill/>
              <a:ln w="19050">
                <a:solidFill>
                  <a:schemeClr val="accent3"/>
                </a:solidFill>
              </a:ln>
            </p:spPr>
          </p:sp>
          <p:sp>
            <p:nvSpPr>
              <p:cNvPr id="42" name="Freeform 42"/>
              <p:cNvSpPr/>
              <p:nvPr/>
            </p:nvSpPr>
            <p:spPr>
              <a:xfrm>
                <a:off x="723900" y="4097179"/>
                <a:ext cx="28575" cy="55721"/>
              </a:xfrm>
              <a:custGeom>
                <a:avLst/>
                <a:gdLst/>
                <a:ahLst/>
                <a:cxnLst/>
                <a:rect l="l" t="t" r="r" b="b"/>
                <a:pathLst>
                  <a:path w="28575" h="55721">
                    <a:moveTo>
                      <a:pt x="28575" y="55721"/>
                    </a:moveTo>
                    <a:lnTo>
                      <a:pt x="28575" y="36671"/>
                    </a:lnTo>
                    <a:cubicBezTo>
                      <a:pt x="28476" y="19379"/>
                      <a:pt x="16743" y="4323"/>
                      <a:pt x="0" y="0"/>
                    </a:cubicBezTo>
                  </a:path>
                </a:pathLst>
              </a:custGeom>
              <a:noFill/>
              <a:ln w="19050">
                <a:solidFill>
                  <a:schemeClr val="accent3"/>
                </a:solidFill>
              </a:ln>
            </p:spPr>
          </p:sp>
        </p:grpSp>
        <p:sp>
          <p:nvSpPr>
            <p:cNvPr id="44" name="TextBox 44"/>
            <p:cNvSpPr txBox="1"/>
            <p:nvPr/>
          </p:nvSpPr>
          <p:spPr>
            <a:xfrm>
              <a:off x="906018" y="3965258"/>
              <a:ext cx="5991873"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5 insight có mã bằng chứng từ 30 review, tin nhắn khách</a:t>
              </a:r>
            </a:p>
          </p:txBody>
        </p:sp>
        <p:sp>
          <p:nvSpPr>
            <p:cNvPr id="45" name="Rectangle 45"/>
            <p:cNvSpPr/>
            <p:nvPr/>
          </p:nvSpPr>
          <p:spPr>
            <a:xfrm>
              <a:off x="381000" y="4438650"/>
              <a:ext cx="6572250" cy="590550"/>
            </a:xfrm>
            <a:prstGeom prst="roundRect">
              <a:avLst>
                <a:gd name="adj" fmla="val 22581"/>
              </a:avLst>
            </a:prstGeom>
            <a:solidFill>
              <a:schemeClr val="lt1"/>
            </a:solidFill>
            <a:ln w="14288">
              <a:solidFill>
                <a:schemeClr val="accent4"/>
              </a:solidFill>
            </a:ln>
          </p:spPr>
        </p:sp>
        <p:grpSp>
          <p:nvGrpSpPr>
            <p:cNvPr id="49" name="Group 49"/>
            <p:cNvGrpSpPr/>
            <p:nvPr/>
          </p:nvGrpSpPr>
          <p:grpSpPr>
            <a:xfrm>
              <a:off x="581025" y="4648200"/>
              <a:ext cx="171450" cy="171450"/>
              <a:chOff x="581025" y="4648200"/>
              <a:chExt cx="171450" cy="171450"/>
            </a:xfrm>
          </p:grpSpPr>
          <p:sp>
            <p:nvSpPr>
              <p:cNvPr id="46" name="Freeform 46"/>
              <p:cNvSpPr/>
              <p:nvPr/>
            </p:nvSpPr>
            <p:spPr>
              <a:xfrm>
                <a:off x="657225" y="4724400"/>
                <a:ext cx="19050" cy="19050"/>
              </a:xfrm>
              <a:custGeom>
                <a:avLst/>
                <a:gdLst/>
                <a:ahLst/>
                <a:cxnLst/>
                <a:rect l="l" t="t" r="r" b="b"/>
                <a:pathLst>
                  <a:path w="19050" h="19050">
                    <a:moveTo>
                      <a:pt x="0" y="9525"/>
                    </a:moveTo>
                    <a:cubicBezTo>
                      <a:pt x="0" y="14786"/>
                      <a:pt x="4264" y="19050"/>
                      <a:pt x="9525" y="19050"/>
                    </a:cubicBezTo>
                    <a:cubicBezTo>
                      <a:pt x="14786" y="19050"/>
                      <a:pt x="19050" y="14786"/>
                      <a:pt x="19050" y="9525"/>
                    </a:cubicBezTo>
                    <a:cubicBezTo>
                      <a:pt x="19050" y="4264"/>
                      <a:pt x="14786" y="0"/>
                      <a:pt x="9525" y="0"/>
                    </a:cubicBezTo>
                    <a:cubicBezTo>
                      <a:pt x="4264" y="0"/>
                      <a:pt x="0" y="4264"/>
                      <a:pt x="0" y="9525"/>
                    </a:cubicBezTo>
                  </a:path>
                </a:pathLst>
              </a:custGeom>
              <a:noFill/>
              <a:ln w="19050">
                <a:solidFill>
                  <a:schemeClr val="accent3"/>
                </a:solidFill>
              </a:ln>
            </p:spPr>
          </p:sp>
          <p:sp>
            <p:nvSpPr>
              <p:cNvPr id="47" name="Freeform 47"/>
              <p:cNvSpPr/>
              <p:nvPr/>
            </p:nvSpPr>
            <p:spPr>
              <a:xfrm>
                <a:off x="619125" y="4686300"/>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19050">
                <a:solidFill>
                  <a:schemeClr val="accent3"/>
                </a:solidFill>
              </a:ln>
            </p:spPr>
          </p:sp>
          <p:sp>
            <p:nvSpPr>
              <p:cNvPr id="48" name="Freeform 48"/>
              <p:cNvSpPr/>
              <p:nvPr/>
            </p:nvSpPr>
            <p:spPr>
              <a:xfrm>
                <a:off x="581025" y="4648200"/>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chemeClr val="accent3"/>
                </a:solidFill>
              </a:ln>
            </p:spPr>
          </p:sp>
        </p:grpSp>
        <p:sp>
          <p:nvSpPr>
            <p:cNvPr id="50" name="TextBox 50"/>
            <p:cNvSpPr txBox="1"/>
            <p:nvPr/>
          </p:nvSpPr>
          <p:spPr>
            <a:xfrm>
              <a:off x="906018" y="4632008"/>
              <a:ext cx="4089832"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Chấm điểm 12 lead và soạn tin tiếp cận</a:t>
              </a:r>
            </a:p>
          </p:txBody>
        </p:sp>
      </p:grpSp>
      <p:grpSp>
        <p:nvGrpSpPr>
          <p:cNvPr id="57" name="Group 57"/>
          <p:cNvGrpSpPr/>
          <p:nvPr/>
        </p:nvGrpSpPr>
        <p:grpSpPr>
          <a:xfrm>
            <a:off x="381000" y="5219700"/>
            <a:ext cx="6572250" cy="742950"/>
            <a:chOff x="381000" y="5219700"/>
            <a:chExt cx="6572250" cy="742950"/>
          </a:xfrm>
        </p:grpSpPr>
        <p:sp>
          <p:nvSpPr>
            <p:cNvPr id="52" name="Rectangle 52"/>
            <p:cNvSpPr/>
            <p:nvPr/>
          </p:nvSpPr>
          <p:spPr>
            <a:xfrm>
              <a:off x="381000" y="5219700"/>
              <a:ext cx="6572250" cy="742950"/>
            </a:xfrm>
            <a:prstGeom prst="roundRect">
              <a:avLst>
                <a:gd name="adj" fmla="val 17949"/>
              </a:avLst>
            </a:prstGeom>
            <a:solidFill>
              <a:schemeClr val="lt2"/>
            </a:solidFill>
            <a:ln>
              <a:noFill/>
            </a:ln>
          </p:spPr>
        </p:sp>
        <p:grpSp>
          <p:nvGrpSpPr>
            <p:cNvPr id="55" name="Group 55"/>
            <p:cNvGrpSpPr/>
            <p:nvPr/>
          </p:nvGrpSpPr>
          <p:grpSpPr>
            <a:xfrm>
              <a:off x="581025" y="5381625"/>
              <a:ext cx="171450" cy="171450"/>
              <a:chOff x="581025" y="5381625"/>
              <a:chExt cx="171450" cy="171450"/>
            </a:xfrm>
          </p:grpSpPr>
          <p:sp>
            <p:nvSpPr>
              <p:cNvPr id="53" name="Freeform 53"/>
              <p:cNvSpPr/>
              <p:nvPr/>
            </p:nvSpPr>
            <p:spPr>
              <a:xfrm>
                <a:off x="581025" y="538162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2E8B57"/>
                </a:solidFill>
              </a:ln>
            </p:spPr>
          </p:sp>
          <p:sp>
            <p:nvSpPr>
              <p:cNvPr id="54" name="Freeform 54"/>
              <p:cNvSpPr/>
              <p:nvPr/>
            </p:nvSpPr>
            <p:spPr>
              <a:xfrm>
                <a:off x="638175" y="5448300"/>
                <a:ext cx="57150" cy="38100"/>
              </a:xfrm>
              <a:custGeom>
                <a:avLst/>
                <a:gdLst/>
                <a:ahLst/>
                <a:cxnLst/>
                <a:rect l="l" t="t" r="r" b="b"/>
                <a:pathLst>
                  <a:path w="57150" h="38100">
                    <a:moveTo>
                      <a:pt x="0" y="19050"/>
                    </a:moveTo>
                    <a:lnTo>
                      <a:pt x="19050" y="38100"/>
                    </a:lnTo>
                    <a:lnTo>
                      <a:pt x="57150" y="0"/>
                    </a:lnTo>
                  </a:path>
                </a:pathLst>
              </a:custGeom>
              <a:noFill/>
              <a:ln w="19050">
                <a:solidFill>
                  <a:srgbClr val="2E8B57"/>
                </a:solidFill>
              </a:ln>
            </p:spPr>
          </p:sp>
        </p:grpSp>
        <p:sp>
          <p:nvSpPr>
            <p:cNvPr id="56" name="TextBox 56"/>
            <p:cNvSpPr txBox="1"/>
            <p:nvPr/>
          </p:nvSpPr>
          <p:spPr>
            <a:xfrm>
              <a:off x="906780" y="5362575"/>
              <a:ext cx="4071938" cy="560070"/>
            </a:xfrm>
            <a:prstGeom prst="rect">
              <a:avLst/>
            </a:prstGeom>
            <a:noFill/>
            <a:ln>
              <a:noFill/>
            </a:ln>
          </p:spPr>
          <p:txBody>
            <a:bodyPr wrap="none" lIns="0" tIns="0" rIns="0" bIns="0" anchor="t" anchorCtr="0">
              <a:spAutoFit/>
            </a:bodyPr>
            <a:lstStyle/>
            <a:p>
              <a:pPr algn="l">
                <a:lnSpc>
                  <a:spcPts val="2100"/>
                </a:lnSpc>
              </a:pPr>
              <a:r>
                <a:rPr lang="vi-VN" sz="1500" b="1" dirty="0">
                  <a:solidFill>
                    <a:srgbClr val="2E8B57"/>
                  </a:solidFill>
                  <a:latin typeface="+mn-lt"/>
                  <a:ea typeface="+mn-ea"/>
                  <a:cs typeface="+mn-cs"/>
                </a:rPr>
                <a:t>Đạt khi:</a:t>
              </a:r>
              <a:r>
                <a:rPr lang="vi-VN" sz="1500" dirty="0">
                  <a:solidFill>
                    <a:schemeClr val="dk1"/>
                  </a:solidFill>
                  <a:latin typeface="+mn-lt"/>
                  <a:ea typeface="+mn-ea"/>
                  <a:cs typeface="+mn-cs"/>
                </a:rPr>
                <a:t> prompt đủ 4 phần · không có số bịa</a:t>
              </a:r>
            </a:p>
            <a:p>
              <a:pPr marL="161925" indent="-161925" algn="l">
                <a:lnSpc>
                  <a:spcPts val="2100"/>
                </a:lnSpc>
                <a:buClr>
                  <a:schemeClr val="dk1"/>
                </a:buClr>
                <a:buSzTx/>
                <a:buFontTx/>
                <a:buChar char="•"/>
              </a:pPr>
              <a:r>
                <a:rPr lang="vi-VN" sz="1500" dirty="0">
                  <a:solidFill>
                    <a:schemeClr val="dk1"/>
                  </a:solidFill>
                  <a:latin typeface="+mn-lt"/>
                  <a:ea typeface="+mn-ea"/>
                  <a:cs typeface="+mn-cs"/>
                </a:rPr>
                <a:t>tự kiểm chứng ≥ 2 con số hoặc trích dẫn</a:t>
              </a:r>
            </a:p>
          </p:txBody>
        </p:sp>
      </p:grpSp>
      <p:grpSp>
        <p:nvGrpSpPr>
          <p:cNvPr id="69" name="Group 69"/>
          <p:cNvGrpSpPr/>
          <p:nvPr/>
        </p:nvGrpSpPr>
        <p:grpSpPr>
          <a:xfrm>
            <a:off x="7181850" y="2114550"/>
            <a:ext cx="4629150" cy="3848100"/>
            <a:chOff x="7181850" y="2114550"/>
            <a:chExt cx="4629150" cy="3848100"/>
          </a:xfrm>
        </p:grpSpPr>
        <p:sp>
          <p:nvSpPr>
            <p:cNvPr id="58" name="Rectangle 58"/>
            <p:cNvSpPr/>
            <p:nvPr/>
          </p:nvSpPr>
          <p:spPr>
            <a:xfrm>
              <a:off x="7181850" y="2114550"/>
              <a:ext cx="4629150" cy="3848100"/>
            </a:xfrm>
            <a:prstGeom prst="roundRect">
              <a:avLst>
                <a:gd name="adj" fmla="val 3960"/>
              </a:avLst>
            </a:prstGeom>
            <a:solidFill>
              <a:schemeClr val="lt2"/>
            </a:solidFill>
            <a:ln>
              <a:noFill/>
            </a:ln>
          </p:spPr>
        </p:sp>
        <p:grpSp>
          <p:nvGrpSpPr>
            <p:cNvPr id="62" name="Group 62"/>
            <p:cNvGrpSpPr/>
            <p:nvPr/>
          </p:nvGrpSpPr>
          <p:grpSpPr>
            <a:xfrm>
              <a:off x="7441406" y="2316956"/>
              <a:ext cx="185737" cy="185737"/>
              <a:chOff x="7441406" y="2316956"/>
              <a:chExt cx="185737" cy="185737"/>
            </a:xfrm>
          </p:grpSpPr>
          <p:sp>
            <p:nvSpPr>
              <p:cNvPr id="59" name="Freeform 59"/>
              <p:cNvSpPr/>
              <p:nvPr/>
            </p:nvSpPr>
            <p:spPr>
              <a:xfrm>
                <a:off x="7441406" y="231695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chemeClr val="accent1"/>
                </a:solidFill>
              </a:ln>
            </p:spPr>
          </p:sp>
          <p:sp>
            <p:nvSpPr>
              <p:cNvPr id="60" name="Freeform 60"/>
              <p:cNvSpPr/>
              <p:nvPr/>
            </p:nvSpPr>
            <p:spPr>
              <a:xfrm>
                <a:off x="7534275" y="2451099"/>
                <a:ext cx="9525" cy="9525"/>
              </a:xfrm>
              <a:custGeom>
                <a:avLst/>
                <a:gdLst/>
                <a:ahLst/>
                <a:cxnLst/>
                <a:rect l="l" t="t" r="r" b="b"/>
                <a:pathLst>
                  <a:path w="9525" h="9525">
                    <a:moveTo>
                      <a:pt x="0" y="0"/>
                    </a:moveTo>
                    <a:lnTo>
                      <a:pt x="0" y="103"/>
                    </a:lnTo>
                  </a:path>
                </a:pathLst>
              </a:custGeom>
              <a:noFill/>
              <a:ln w="20637">
                <a:solidFill>
                  <a:schemeClr val="accent1"/>
                </a:solidFill>
              </a:ln>
            </p:spPr>
          </p:sp>
          <p:sp>
            <p:nvSpPr>
              <p:cNvPr id="61" name="Freeform 61"/>
              <p:cNvSpPr/>
              <p:nvPr/>
            </p:nvSpPr>
            <p:spPr>
              <a:xfrm>
                <a:off x="7518797" y="2376788"/>
                <a:ext cx="37844" cy="43384"/>
              </a:xfrm>
              <a:custGeom>
                <a:avLst/>
                <a:gdLst/>
                <a:ahLst/>
                <a:cxnLst/>
                <a:rect l="l" t="t" r="r" b="b"/>
                <a:pathLst>
                  <a:path w="37844" h="43384">
                    <a:moveTo>
                      <a:pt x="15478" y="43355"/>
                    </a:moveTo>
                    <a:cubicBezTo>
                      <a:pt x="25032" y="43384"/>
                      <a:pt x="33356" y="36852"/>
                      <a:pt x="35600" y="27566"/>
                    </a:cubicBezTo>
                    <a:cubicBezTo>
                      <a:pt x="37844" y="18280"/>
                      <a:pt x="33422" y="8667"/>
                      <a:pt x="24909" y="4330"/>
                    </a:cubicBezTo>
                    <a:cubicBezTo>
                      <a:pt x="16457" y="0"/>
                      <a:pt x="6136" y="2065"/>
                      <a:pt x="0" y="9314"/>
                    </a:cubicBezTo>
                  </a:path>
                </a:pathLst>
              </a:custGeom>
              <a:noFill/>
              <a:ln w="20637">
                <a:solidFill>
                  <a:schemeClr val="accent1"/>
                </a:solidFill>
              </a:ln>
            </p:spPr>
          </p:sp>
        </p:grpSp>
        <p:sp>
          <p:nvSpPr>
            <p:cNvPr id="63" name="TextBox 63"/>
            <p:cNvSpPr txBox="1"/>
            <p:nvPr/>
          </p:nvSpPr>
          <p:spPr>
            <a:xfrm>
              <a:off x="7747254" y="2337435"/>
              <a:ext cx="1177991"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CÂU HỎI CHỐT</a:t>
              </a:r>
            </a:p>
          </p:txBody>
        </p:sp>
        <p:sp>
          <p:nvSpPr>
            <p:cNvPr id="64" name="TextBox 64"/>
            <p:cNvSpPr txBox="1"/>
            <p:nvPr/>
          </p:nvSpPr>
          <p:spPr>
            <a:xfrm>
              <a:off x="7402830" y="2695575"/>
              <a:ext cx="3765709" cy="541020"/>
            </a:xfrm>
            <a:prstGeom prst="rect">
              <a:avLst/>
            </a:prstGeom>
            <a:noFill/>
            <a:ln>
              <a:noFill/>
            </a:ln>
          </p:spPr>
          <p:txBody>
            <a:bodyPr wrap="none" lIns="0" tIns="0" rIns="0" bIns="0" anchor="t" anchorCtr="0">
              <a:spAutoFit/>
            </a:bodyPr>
            <a:lstStyle/>
            <a:p>
              <a:pPr algn="l">
                <a:lnSpc>
                  <a:spcPts val="1950"/>
                </a:lnSpc>
              </a:pPr>
              <a:r>
                <a:rPr lang="vi-VN" sz="1500" b="1" dirty="0">
                  <a:solidFill>
                    <a:schemeClr val="accent1"/>
                  </a:solidFill>
                  <a:latin typeface="+mn-lt"/>
                  <a:ea typeface="+mn-ea"/>
                  <a:cs typeface="+mn-cs"/>
                </a:rPr>
                <a:t>Dán 40 dòng vào chat hay tải file lên?</a:t>
              </a:r>
              <a:br/>
              <a:r>
                <a:rPr lang="vi-VN" sz="1500" b="1" dirty="0">
                  <a:solidFill>
                    <a:schemeClr val="accent1"/>
                  </a:solidFill>
                  <a:latin typeface="+mn-lt"/>
                  <a:ea typeface="+mn-ea"/>
                  <a:cs typeface="+mn-cs"/>
                </a:rPr>
                <a:t>Vì sao?</a:t>
              </a:r>
            </a:p>
          </p:txBody>
        </p:sp>
        <p:sp>
          <p:nvSpPr>
            <p:cNvPr id="65" name="Line 65"/>
            <p:cNvSpPr/>
            <p:nvPr/>
          </p:nvSpPr>
          <p:spPr>
            <a:xfrm>
              <a:off x="7410450" y="3867150"/>
              <a:ext cx="4171950" cy="9525"/>
            </a:xfrm>
            <a:custGeom>
              <a:avLst/>
              <a:gdLst/>
              <a:ahLst/>
              <a:cxnLst/>
              <a:rect l="l" t="t" r="r" b="b"/>
              <a:pathLst>
                <a:path w="4171950" h="9525">
                  <a:moveTo>
                    <a:pt x="0" y="0"/>
                  </a:moveTo>
                  <a:lnTo>
                    <a:pt x="4171950" y="0"/>
                  </a:lnTo>
                </a:path>
              </a:pathLst>
            </a:custGeom>
            <a:noFill/>
            <a:ln w="9525">
              <a:solidFill>
                <a:schemeClr val="accent4"/>
              </a:solidFill>
            </a:ln>
          </p:spPr>
        </p:sp>
        <p:sp>
          <p:nvSpPr>
            <p:cNvPr id="66" name="TextBox 66"/>
            <p:cNvSpPr txBox="1"/>
            <p:nvPr/>
          </p:nvSpPr>
          <p:spPr>
            <a:xfrm>
              <a:off x="7402830" y="4010025"/>
              <a:ext cx="2960555"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Một đề xuất cần đủ 4 thứ gì?</a:t>
              </a:r>
            </a:p>
          </p:txBody>
        </p:sp>
        <p:sp>
          <p:nvSpPr>
            <p:cNvPr id="67" name="Line 67"/>
            <p:cNvSpPr/>
            <p:nvPr/>
          </p:nvSpPr>
          <p:spPr>
            <a:xfrm>
              <a:off x="7410450" y="4933950"/>
              <a:ext cx="4171950" cy="9525"/>
            </a:xfrm>
            <a:custGeom>
              <a:avLst/>
              <a:gdLst/>
              <a:ahLst/>
              <a:cxnLst/>
              <a:rect l="l" t="t" r="r" b="b"/>
              <a:pathLst>
                <a:path w="4171950" h="9525">
                  <a:moveTo>
                    <a:pt x="0" y="0"/>
                  </a:moveTo>
                  <a:lnTo>
                    <a:pt x="4171950" y="0"/>
                  </a:lnTo>
                </a:path>
              </a:pathLst>
            </a:custGeom>
            <a:noFill/>
            <a:ln w="9525">
              <a:solidFill>
                <a:schemeClr val="accent4"/>
              </a:solidFill>
            </a:ln>
          </p:spPr>
        </p:sp>
        <p:sp>
          <p:nvSpPr>
            <p:cNvPr id="68" name="TextBox 68"/>
            <p:cNvSpPr txBox="1"/>
            <p:nvPr/>
          </p:nvSpPr>
          <p:spPr>
            <a:xfrm>
              <a:off x="7402830" y="5076825"/>
              <a:ext cx="3740188"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Khi nào chuyển từ prompt sang Skill?</a:t>
              </a:r>
            </a:p>
          </p:txBody>
        </p:sp>
      </p:grpSp>
      <p:grpSp>
        <p:nvGrpSpPr>
          <p:cNvPr id="71" name="Group 71"/>
          <p:cNvGrpSpPr/>
          <p:nvPr/>
        </p:nvGrpSpPr>
        <p:grpSpPr>
          <a:xfrm>
            <a:off x="7402830" y="3228975"/>
            <a:ext cx="3116104" cy="541020"/>
            <a:chOff x="7402830" y="3228975"/>
            <a:chExt cx="3116104" cy="541020"/>
          </a:xfrm>
        </p:grpSpPr>
        <p:sp>
          <p:nvSpPr>
            <p:cNvPr id="70" name="TextBox 70"/>
            <p:cNvSpPr txBox="1"/>
            <p:nvPr/>
          </p:nvSpPr>
          <p:spPr>
            <a:xfrm>
              <a:off x="7402830" y="3228975"/>
              <a:ext cx="3116104" cy="541020"/>
            </a:xfrm>
            <a:prstGeom prst="rect">
              <a:avLst/>
            </a:prstGeom>
            <a:noFill/>
            <a:ln>
              <a:noFill/>
            </a:ln>
          </p:spPr>
          <p:txBody>
            <a:bodyPr wrap="none" lIns="0" tIns="0" rIns="0" bIns="0" anchor="t" anchorCtr="0">
              <a:spAutoFit/>
            </a:bodyPr>
            <a:lstStyle/>
            <a:p>
              <a:pPr algn="l">
                <a:lnSpc>
                  <a:spcPts val="1950"/>
                </a:lnSpc>
              </a:pPr>
              <a:r>
                <a:rPr lang="vi-VN" sz="1500" b="1" dirty="0">
                  <a:solidFill>
                    <a:srgbClr val="2E8B57"/>
                  </a:solidFill>
                  <a:latin typeface="+mn-lt"/>
                  <a:ea typeface="+mn-ea"/>
                  <a:cs typeface="+mn-cs"/>
                </a:rPr>
                <a:t>→ Tải file: ChatGPT chạy code; dán chữ</a:t>
              </a:r>
              <a:br/>
              <a:r>
                <a:rPr lang="vi-VN" sz="1500" b="1" dirty="0">
                  <a:solidFill>
                    <a:srgbClr val="2E8B57"/>
                  </a:solidFill>
                  <a:latin typeface="+mn-lt"/>
                  <a:ea typeface="+mn-ea"/>
                  <a:cs typeface="+mn-cs"/>
                </a:rPr>
                <a:t>nó tính nhẩm, dễ sai mà nói chắc</a:t>
              </a:r>
            </a:p>
          </p:txBody>
        </p:sp>
      </p:grpSp>
      <p:grpSp>
        <p:nvGrpSpPr>
          <p:cNvPr id="73" name="Group 73"/>
          <p:cNvGrpSpPr/>
          <p:nvPr/>
        </p:nvGrpSpPr>
        <p:grpSpPr>
          <a:xfrm>
            <a:off x="7402830" y="4295775"/>
            <a:ext cx="3401854" cy="541020"/>
            <a:chOff x="7402830" y="4295775"/>
            <a:chExt cx="3401854" cy="541020"/>
          </a:xfrm>
        </p:grpSpPr>
        <p:sp>
          <p:nvSpPr>
            <p:cNvPr id="72" name="TextBox 72"/>
            <p:cNvSpPr txBox="1"/>
            <p:nvPr/>
          </p:nvSpPr>
          <p:spPr>
            <a:xfrm>
              <a:off x="7402830" y="4295775"/>
              <a:ext cx="3401854" cy="541020"/>
            </a:xfrm>
            <a:prstGeom prst="rect">
              <a:avLst/>
            </a:prstGeom>
            <a:noFill/>
            <a:ln>
              <a:noFill/>
            </a:ln>
          </p:spPr>
          <p:txBody>
            <a:bodyPr wrap="none" lIns="0" tIns="0" rIns="0" bIns="0" anchor="t" anchorCtr="0">
              <a:spAutoFit/>
            </a:bodyPr>
            <a:lstStyle/>
            <a:p>
              <a:pPr algn="l">
                <a:lnSpc>
                  <a:spcPts val="1950"/>
                </a:lnSpc>
              </a:pPr>
              <a:r>
                <a:rPr lang="vi-VN" sz="1500" b="1" dirty="0">
                  <a:solidFill>
                    <a:srgbClr val="2E8B57"/>
                  </a:solidFill>
                  <a:latin typeface="+mn-lt"/>
                  <a:ea typeface="+mn-ea"/>
                  <a:cs typeface="+mn-cs"/>
                </a:rPr>
                <a:t>→</a:t>
              </a:r>
              <a:r>
                <a:rPr lang="vi-VN" sz="1500" dirty="0">
                  <a:solidFill>
                    <a:schemeClr val="dk1"/>
                  </a:solidFill>
                  <a:latin typeface="+mn-lt"/>
                  <a:ea typeface="+mn-ea"/>
                  <a:cs typeface="+mn-cs"/>
                </a:rPr>
                <a:t> Việc, người chịu trách nhiệm, hạn,</a:t>
              </a:r>
              <a:br/>
              <a:r>
                <a:rPr lang="vi-VN" sz="1500" dirty="0">
                  <a:solidFill>
                    <a:schemeClr val="dk1"/>
                  </a:solidFill>
                  <a:latin typeface="+mn-lt"/>
                  <a:ea typeface="+mn-ea"/>
                  <a:cs typeface="+mn-cs"/>
                </a:rPr>
                <a:t>nguồn lực/chi phí</a:t>
              </a:r>
            </a:p>
          </p:txBody>
        </p:sp>
      </p:grpSp>
      <p:grpSp>
        <p:nvGrpSpPr>
          <p:cNvPr id="75" name="Group 75"/>
          <p:cNvGrpSpPr/>
          <p:nvPr/>
        </p:nvGrpSpPr>
        <p:grpSpPr>
          <a:xfrm>
            <a:off x="7402830" y="5362575"/>
            <a:ext cx="3068479" cy="541020"/>
            <a:chOff x="7402830" y="5362575"/>
            <a:chExt cx="3068479" cy="541020"/>
          </a:xfrm>
        </p:grpSpPr>
        <p:sp>
          <p:nvSpPr>
            <p:cNvPr id="74" name="TextBox 74"/>
            <p:cNvSpPr txBox="1"/>
            <p:nvPr/>
          </p:nvSpPr>
          <p:spPr>
            <a:xfrm>
              <a:off x="7402830" y="5362575"/>
              <a:ext cx="3068479" cy="541020"/>
            </a:xfrm>
            <a:prstGeom prst="rect">
              <a:avLst/>
            </a:prstGeom>
            <a:noFill/>
            <a:ln>
              <a:noFill/>
            </a:ln>
          </p:spPr>
          <p:txBody>
            <a:bodyPr wrap="none" lIns="0" tIns="0" rIns="0" bIns="0" anchor="t" anchorCtr="0">
              <a:spAutoFit/>
            </a:bodyPr>
            <a:lstStyle/>
            <a:p>
              <a:pPr algn="l">
                <a:lnSpc>
                  <a:spcPts val="1950"/>
                </a:lnSpc>
              </a:pPr>
              <a:r>
                <a:rPr lang="vi-VN" sz="1500" b="1" dirty="0">
                  <a:solidFill>
                    <a:srgbClr val="2E8B57"/>
                  </a:solidFill>
                  <a:latin typeface="+mn-lt"/>
                  <a:ea typeface="+mn-ea"/>
                  <a:cs typeface="+mn-cs"/>
                </a:rPr>
                <a:t>→</a:t>
              </a:r>
              <a:r>
                <a:rPr lang="vi-VN" sz="1500" dirty="0">
                  <a:solidFill>
                    <a:schemeClr val="dk1"/>
                  </a:solidFill>
                  <a:latin typeface="+mn-lt"/>
                  <a:ea typeface="+mn-ea"/>
                  <a:cs typeface="+mn-cs"/>
                </a:rPr>
                <a:t> Khi việc lặp lại hàng tuần và bạn</a:t>
              </a:r>
              <a:br/>
              <a:r>
                <a:rPr lang="vi-VN" sz="1500" dirty="0">
                  <a:solidFill>
                    <a:schemeClr val="dk1"/>
                  </a:solidFill>
                  <a:latin typeface="+mn-lt"/>
                  <a:ea typeface="+mn-ea"/>
                  <a:cs typeface="+mn-cs"/>
                </a:rPr>
                <a:t>gõ lại cùng bộ chỉ dẫn</a:t>
              </a:r>
            </a:p>
          </p:txBody>
        </p:sp>
      </p:grpSp>
      <p:sp>
        <p:nvSpPr>
          <p:cNvPr id="76" name="TextBox 76"/>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77" name="TextBox 77"/>
          <p:cNvSpPr txBox="1"/>
          <p:nvPr/>
        </p:nvSpPr>
        <p:spPr>
          <a:xfrm>
            <a:off x="9406920" y="6554152"/>
            <a:ext cx="174266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Bộ dữ liệu demo Wir Group</a:t>
            </a:r>
          </a:p>
        </p:txBody>
      </p:sp>
      <p:sp>
        <p:nvSpPr>
          <p:cNvPr id="78" name="TextBox 78"/>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18 / 35</a:t>
            </a:r>
          </a:p>
        </p:txBody>
      </p:sp>
      <p:sp>
        <p:nvSpPr>
          <p:cNvPr id="79" name="demo-flag"/>
          <p:cNvSpPr/>
          <p:nvPr/>
        </p:nvSpPr>
        <p:spPr>
          <a:xfrm>
            <a:off x="3810000" y="304800"/>
            <a:ext cx="1638300" cy="228600"/>
          </a:xfrm>
          <a:prstGeom prst="roundRect">
            <a:avLst>
              <a:gd name="adj" fmla="val 50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00" b="1">
                <a:solidFill>
                  <a:srgbClr val="FFFFFF"/>
                </a:solidFill>
              </a:rPr>
              <a:t>▶ CÓ HƯỚNG DẪN DEMO</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3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3"/>
                                        </p:tgtEl>
                                        <p:attrNameLst>
                                          <p:attrName>style.visibility</p:attrName>
                                        </p:attrNameLst>
                                      </p:cBhvr>
                                      <p:to>
                                        <p:strVal val="visible"/>
                                      </p:to>
                                    </p:set>
                                    <p:animEffect transition="in" filter="fade">
                                      <p:cBhvr>
                                        <p:cTn id="12" dur="300"/>
                                        <p:tgtEl>
                                          <p:spTgt spid="7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5"/>
                                        </p:tgtEl>
                                        <p:attrNameLst>
                                          <p:attrName>style.visibility</p:attrName>
                                        </p:attrNameLst>
                                      </p:cBhvr>
                                      <p:to>
                                        <p:strVal val="visible"/>
                                      </p:to>
                                    </p:set>
                                    <p:animEffect transition="in" filter="fade">
                                      <p:cBhvr>
                                        <p:cTn id="17" dur="3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3" name="Group 13"/>
          <p:cNvGrpSpPr/>
          <p:nvPr/>
        </p:nvGrpSpPr>
        <p:grpSpPr>
          <a:xfrm>
            <a:off x="0" y="0"/>
            <a:ext cx="4381500" cy="6858000"/>
            <a:chOff x="0" y="0"/>
            <a:chExt cx="4381500" cy="6858000"/>
          </a:xfrm>
        </p:grpSpPr>
        <p:sp>
          <p:nvSpPr>
            <p:cNvPr id="2" name="Rectangle 2"/>
            <p:cNvSpPr/>
            <p:nvPr/>
          </p:nvSpPr>
          <p:spPr>
            <a:xfrm>
              <a:off x="0" y="0"/>
              <a:ext cx="4381500" cy="6858000"/>
            </a:xfrm>
            <a:prstGeom prst="rect">
              <a:avLst/>
            </a:prstGeom>
            <a:solidFill>
              <a:srgbClr val="2E5E91"/>
            </a:solidFill>
            <a:ln>
              <a:noFill/>
            </a:ln>
          </p:spPr>
        </p:sp>
        <p:sp>
          <p:nvSpPr>
            <p:cNvPr id="3" name="TextBox 3"/>
            <p:cNvSpPr txBox="1"/>
            <p:nvPr/>
          </p:nvSpPr>
          <p:spPr>
            <a:xfrm>
              <a:off x="522732" y="1106805"/>
              <a:ext cx="1191296" cy="410718"/>
            </a:xfrm>
            <a:prstGeom prst="rect">
              <a:avLst/>
            </a:prstGeom>
            <a:noFill/>
            <a:ln>
              <a:noFill/>
            </a:ln>
          </p:spPr>
          <p:txBody>
            <a:bodyPr wrap="none" lIns="0" tIns="0" rIns="0" bIns="0" anchor="t" anchorCtr="0">
              <a:spAutoFit/>
            </a:bodyPr>
            <a:lstStyle/>
            <a:p>
              <a:pPr algn="l"/>
              <a:r>
                <a:rPr lang="vi-VN" sz="2100" b="1" spc="300" dirty="0">
                  <a:solidFill>
                    <a:srgbClr val="FFFFFF"/>
                  </a:solidFill>
                  <a:latin typeface="+mn-lt"/>
                  <a:ea typeface="+mn-ea"/>
                  <a:cs typeface="+mn-cs"/>
                </a:rPr>
                <a:t>TẦNG 3</a:t>
              </a:r>
            </a:p>
          </p:txBody>
        </p:sp>
        <p:sp>
          <p:nvSpPr>
            <p:cNvPr id="4" name="TextBox 4"/>
            <p:cNvSpPr txBox="1"/>
            <p:nvPr/>
          </p:nvSpPr>
          <p:spPr>
            <a:xfrm>
              <a:off x="438150" y="2190750"/>
              <a:ext cx="1204246" cy="2876550"/>
            </a:xfrm>
            <a:prstGeom prst="rect">
              <a:avLst/>
            </a:prstGeom>
            <a:noFill/>
            <a:ln>
              <a:noFill/>
            </a:ln>
          </p:spPr>
          <p:txBody>
            <a:bodyPr wrap="none" lIns="0" tIns="0" rIns="0" bIns="0" anchor="t" anchorCtr="0">
              <a:spAutoFit/>
            </a:bodyPr>
            <a:lstStyle/>
            <a:p>
              <a:pPr algn="l"/>
              <a:r>
                <a:rPr lang="vi-VN" sz="15000" b="1" dirty="0">
                  <a:solidFill>
                    <a:srgbClr val="FFFFFF"/>
                  </a:solidFill>
                  <a:latin typeface="+mn-lt"/>
                  <a:ea typeface="+mn-ea"/>
                  <a:cs typeface="+mn-cs"/>
                </a:rPr>
                <a:t>3</a:t>
              </a:r>
            </a:p>
          </p:txBody>
        </p:sp>
        <p:sp>
          <p:nvSpPr>
            <p:cNvPr id="5" name="TextBox 5"/>
            <p:cNvSpPr txBox="1"/>
            <p:nvPr/>
          </p:nvSpPr>
          <p:spPr>
            <a:xfrm>
              <a:off x="514350" y="4208145"/>
              <a:ext cx="1153119" cy="762000"/>
            </a:xfrm>
            <a:prstGeom prst="rect">
              <a:avLst/>
            </a:prstGeom>
            <a:noFill/>
            <a:ln>
              <a:noFill/>
            </a:ln>
          </p:spPr>
          <p:txBody>
            <a:bodyPr wrap="none" lIns="0" tIns="0" rIns="0" bIns="0" anchor="t" anchorCtr="0">
              <a:spAutoFit/>
            </a:bodyPr>
            <a:lstStyle/>
            <a:p>
              <a:pPr algn="l"/>
              <a:r>
                <a:rPr lang="vi-VN" sz="3900" b="1" dirty="0">
                  <a:solidFill>
                    <a:srgbClr val="FFFFFF"/>
                  </a:solidFill>
                  <a:latin typeface="+mn-lt"/>
                  <a:ea typeface="+mn-ea"/>
                  <a:cs typeface="+mn-cs"/>
                </a:rPr>
                <a:t>Skill</a:t>
              </a:r>
            </a:p>
          </p:txBody>
        </p:sp>
        <p:grpSp>
          <p:nvGrpSpPr>
            <p:cNvPr id="12" name="Group 12"/>
            <p:cNvGrpSpPr/>
            <p:nvPr/>
          </p:nvGrpSpPr>
          <p:grpSpPr>
            <a:xfrm>
              <a:off x="622300" y="5448300"/>
              <a:ext cx="419100" cy="368301"/>
              <a:chOff x="622300" y="5448300"/>
              <a:chExt cx="419100" cy="368301"/>
            </a:xfrm>
          </p:grpSpPr>
          <p:sp>
            <p:nvSpPr>
              <p:cNvPr id="6" name="Freeform 6"/>
              <p:cNvSpPr/>
              <p:nvPr/>
            </p:nvSpPr>
            <p:spPr>
              <a:xfrm>
                <a:off x="622300" y="5448300"/>
                <a:ext cx="101600" cy="63500"/>
              </a:xfrm>
              <a:custGeom>
                <a:avLst/>
                <a:gdLst/>
                <a:ahLst/>
                <a:cxnLst/>
                <a:rect l="l" t="t" r="r" b="b"/>
                <a:pathLst>
                  <a:path w="101600" h="63500">
                    <a:moveTo>
                      <a:pt x="0" y="25400"/>
                    </a:moveTo>
                    <a:lnTo>
                      <a:pt x="38100" y="63500"/>
                    </a:lnTo>
                    <a:lnTo>
                      <a:pt x="101600" y="0"/>
                    </a:lnTo>
                  </a:path>
                </a:pathLst>
              </a:custGeom>
              <a:noFill/>
              <a:ln w="50800">
                <a:solidFill>
                  <a:srgbClr val="FFFFFF"/>
                </a:solidFill>
              </a:ln>
            </p:spPr>
          </p:sp>
          <p:sp>
            <p:nvSpPr>
              <p:cNvPr id="7" name="Freeform 7"/>
              <p:cNvSpPr/>
              <p:nvPr/>
            </p:nvSpPr>
            <p:spPr>
              <a:xfrm>
                <a:off x="622300" y="5600700"/>
                <a:ext cx="101600" cy="63500"/>
              </a:xfrm>
              <a:custGeom>
                <a:avLst/>
                <a:gdLst/>
                <a:ahLst/>
                <a:cxnLst/>
                <a:rect l="l" t="t" r="r" b="b"/>
                <a:pathLst>
                  <a:path w="101600" h="63500">
                    <a:moveTo>
                      <a:pt x="0" y="25400"/>
                    </a:moveTo>
                    <a:lnTo>
                      <a:pt x="38100" y="63500"/>
                    </a:lnTo>
                    <a:lnTo>
                      <a:pt x="101600" y="0"/>
                    </a:lnTo>
                  </a:path>
                </a:pathLst>
              </a:custGeom>
              <a:noFill/>
              <a:ln w="50800">
                <a:solidFill>
                  <a:srgbClr val="FFFFFF"/>
                </a:solidFill>
              </a:ln>
            </p:spPr>
          </p:sp>
          <p:sp>
            <p:nvSpPr>
              <p:cNvPr id="8" name="Freeform 8"/>
              <p:cNvSpPr/>
              <p:nvPr/>
            </p:nvSpPr>
            <p:spPr>
              <a:xfrm>
                <a:off x="622300" y="5753101"/>
                <a:ext cx="101600" cy="63500"/>
              </a:xfrm>
              <a:custGeom>
                <a:avLst/>
                <a:gdLst/>
                <a:ahLst/>
                <a:cxnLst/>
                <a:rect l="l" t="t" r="r" b="b"/>
                <a:pathLst>
                  <a:path w="101600" h="63500">
                    <a:moveTo>
                      <a:pt x="0" y="25400"/>
                    </a:moveTo>
                    <a:lnTo>
                      <a:pt x="38100" y="63500"/>
                    </a:lnTo>
                    <a:lnTo>
                      <a:pt x="101600" y="0"/>
                    </a:lnTo>
                  </a:path>
                </a:pathLst>
              </a:custGeom>
              <a:noFill/>
              <a:ln w="50800">
                <a:solidFill>
                  <a:srgbClr val="FFFFFF"/>
                </a:solidFill>
              </a:ln>
            </p:spPr>
          </p:sp>
          <p:sp>
            <p:nvSpPr>
              <p:cNvPr id="9" name="Freeform 9"/>
              <p:cNvSpPr/>
              <p:nvPr/>
            </p:nvSpPr>
            <p:spPr>
              <a:xfrm>
                <a:off x="812800" y="5486400"/>
                <a:ext cx="228600" cy="9525"/>
              </a:xfrm>
              <a:custGeom>
                <a:avLst/>
                <a:gdLst/>
                <a:ahLst/>
                <a:cxnLst/>
                <a:rect l="l" t="t" r="r" b="b"/>
                <a:pathLst>
                  <a:path w="228600" h="9525">
                    <a:moveTo>
                      <a:pt x="0" y="0"/>
                    </a:moveTo>
                    <a:lnTo>
                      <a:pt x="228600" y="0"/>
                    </a:lnTo>
                  </a:path>
                </a:pathLst>
              </a:custGeom>
              <a:noFill/>
              <a:ln w="50800">
                <a:solidFill>
                  <a:srgbClr val="FFFFFF"/>
                </a:solidFill>
              </a:ln>
            </p:spPr>
          </p:sp>
          <p:sp>
            <p:nvSpPr>
              <p:cNvPr id="10" name="Freeform 10"/>
              <p:cNvSpPr/>
              <p:nvPr/>
            </p:nvSpPr>
            <p:spPr>
              <a:xfrm>
                <a:off x="812800" y="5638800"/>
                <a:ext cx="228600" cy="9525"/>
              </a:xfrm>
              <a:custGeom>
                <a:avLst/>
                <a:gdLst/>
                <a:ahLst/>
                <a:cxnLst/>
                <a:rect l="l" t="t" r="r" b="b"/>
                <a:pathLst>
                  <a:path w="228600" h="9525">
                    <a:moveTo>
                      <a:pt x="0" y="0"/>
                    </a:moveTo>
                    <a:lnTo>
                      <a:pt x="228600" y="0"/>
                    </a:lnTo>
                  </a:path>
                </a:pathLst>
              </a:custGeom>
              <a:noFill/>
              <a:ln w="50800">
                <a:solidFill>
                  <a:srgbClr val="FFFFFF"/>
                </a:solidFill>
              </a:ln>
            </p:spPr>
          </p:sp>
          <p:sp>
            <p:nvSpPr>
              <p:cNvPr id="11" name="Freeform 11"/>
              <p:cNvSpPr/>
              <p:nvPr/>
            </p:nvSpPr>
            <p:spPr>
              <a:xfrm>
                <a:off x="812800" y="5791201"/>
                <a:ext cx="228600" cy="9525"/>
              </a:xfrm>
              <a:custGeom>
                <a:avLst/>
                <a:gdLst/>
                <a:ahLst/>
                <a:cxnLst/>
                <a:rect l="l" t="t" r="r" b="b"/>
                <a:pathLst>
                  <a:path w="228600" h="9525">
                    <a:moveTo>
                      <a:pt x="0" y="0"/>
                    </a:moveTo>
                    <a:lnTo>
                      <a:pt x="228600" y="0"/>
                    </a:lnTo>
                  </a:path>
                </a:pathLst>
              </a:custGeom>
              <a:noFill/>
              <a:ln w="50800">
                <a:solidFill>
                  <a:srgbClr val="FFFFFF"/>
                </a:solidFill>
              </a:ln>
            </p:spPr>
          </p:sp>
        </p:grpSp>
      </p:grpSp>
      <p:grpSp>
        <p:nvGrpSpPr>
          <p:cNvPr id="24" name="Group 24"/>
          <p:cNvGrpSpPr/>
          <p:nvPr/>
        </p:nvGrpSpPr>
        <p:grpSpPr>
          <a:xfrm>
            <a:off x="5785104" y="190500"/>
            <a:ext cx="6025896" cy="543306"/>
            <a:chOff x="5785104" y="190500"/>
            <a:chExt cx="6025896" cy="543306"/>
          </a:xfrm>
        </p:grpSpPr>
        <p:sp>
          <p:nvSpPr>
            <p:cNvPr id="14" name="Rectangle 14"/>
            <p:cNvSpPr/>
            <p:nvPr/>
          </p:nvSpPr>
          <p:spPr>
            <a:xfrm>
              <a:off x="5791200" y="342900"/>
              <a:ext cx="1143000" cy="76200"/>
            </a:xfrm>
            <a:prstGeom prst="roundRect">
              <a:avLst>
                <a:gd name="adj" fmla="val 37500"/>
              </a:avLst>
            </a:prstGeom>
            <a:solidFill>
              <a:srgbClr val="E3E9F1"/>
            </a:solidFill>
            <a:ln>
              <a:noFill/>
            </a:ln>
          </p:spPr>
        </p:sp>
        <p:sp>
          <p:nvSpPr>
            <p:cNvPr id="15" name="Rectangle 15"/>
            <p:cNvSpPr/>
            <p:nvPr/>
          </p:nvSpPr>
          <p:spPr>
            <a:xfrm>
              <a:off x="7010400" y="304800"/>
              <a:ext cx="1143000" cy="114300"/>
            </a:xfrm>
            <a:prstGeom prst="roundRect">
              <a:avLst>
                <a:gd name="adj" fmla="val 25000"/>
              </a:avLst>
            </a:prstGeom>
            <a:solidFill>
              <a:srgbClr val="E3E9F1"/>
            </a:solidFill>
            <a:ln>
              <a:noFill/>
            </a:ln>
          </p:spPr>
        </p:sp>
        <p:sp>
          <p:nvSpPr>
            <p:cNvPr id="16" name="Rectangle 16"/>
            <p:cNvSpPr/>
            <p:nvPr/>
          </p:nvSpPr>
          <p:spPr>
            <a:xfrm>
              <a:off x="8229600" y="266700"/>
              <a:ext cx="1143000" cy="152400"/>
            </a:xfrm>
            <a:prstGeom prst="roundRect">
              <a:avLst>
                <a:gd name="adj" fmla="val 18750"/>
              </a:avLst>
            </a:prstGeom>
            <a:solidFill>
              <a:schemeClr val="accent2"/>
            </a:solidFill>
            <a:ln>
              <a:noFill/>
            </a:ln>
          </p:spPr>
        </p:sp>
        <p:sp>
          <p:nvSpPr>
            <p:cNvPr id="17" name="Rectangle 17"/>
            <p:cNvSpPr/>
            <p:nvPr/>
          </p:nvSpPr>
          <p:spPr>
            <a:xfrm>
              <a:off x="9448800" y="228600"/>
              <a:ext cx="1143000" cy="190500"/>
            </a:xfrm>
            <a:prstGeom prst="roundRect">
              <a:avLst>
                <a:gd name="adj" fmla="val 15000"/>
              </a:avLst>
            </a:prstGeom>
            <a:solidFill>
              <a:srgbClr val="E3E9F1"/>
            </a:solidFill>
            <a:ln>
              <a:noFill/>
            </a:ln>
          </p:spPr>
        </p:sp>
        <p:sp>
          <p:nvSpPr>
            <p:cNvPr id="18" name="Rectangle 18"/>
            <p:cNvSpPr/>
            <p:nvPr/>
          </p:nvSpPr>
          <p:spPr>
            <a:xfrm>
              <a:off x="10668000" y="190500"/>
              <a:ext cx="1143000" cy="228600"/>
            </a:xfrm>
            <a:prstGeom prst="roundRect">
              <a:avLst>
                <a:gd name="adj" fmla="val 12500"/>
              </a:avLst>
            </a:prstGeom>
            <a:solidFill>
              <a:srgbClr val="E3E9F1"/>
            </a:solidFill>
            <a:ln>
              <a:noFill/>
            </a:ln>
          </p:spPr>
        </p:sp>
        <p:sp>
          <p:nvSpPr>
            <p:cNvPr id="19" name="TextBox 19"/>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20" name="TextBox 20"/>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21" name="TextBox 21"/>
            <p:cNvSpPr txBox="1"/>
            <p:nvPr/>
          </p:nvSpPr>
          <p:spPr>
            <a:xfrm>
              <a:off x="8223504" y="499110"/>
              <a:ext cx="50108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3 Skill</a:t>
              </a:r>
            </a:p>
          </p:txBody>
        </p:sp>
        <p:sp>
          <p:nvSpPr>
            <p:cNvPr id="22" name="TextBox 22"/>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23" name="TextBox 23"/>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25" name="TextBox 25"/>
          <p:cNvSpPr txBox="1"/>
          <p:nvPr/>
        </p:nvSpPr>
        <p:spPr>
          <a:xfrm>
            <a:off x="4936998" y="1260158"/>
            <a:ext cx="4568571"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Biến việc lặp lại</a:t>
            </a:r>
            <a:br/>
            <a:r>
              <a:rPr lang="vi-VN" sz="3150" b="1" dirty="0">
                <a:solidFill>
                  <a:schemeClr val="accent1"/>
                </a:solidFill>
                <a:latin typeface="+mn-lt"/>
                <a:ea typeface="+mn-ea"/>
                <a:cs typeface="+mn-cs"/>
              </a:rPr>
              <a:t>thành quy trình chuẩn</a:t>
            </a:r>
          </a:p>
        </p:txBody>
      </p:sp>
      <p:grpSp>
        <p:nvGrpSpPr>
          <p:cNvPr id="34" name="Group 34"/>
          <p:cNvGrpSpPr/>
          <p:nvPr/>
        </p:nvGrpSpPr>
        <p:grpSpPr>
          <a:xfrm>
            <a:off x="4944618" y="2400300"/>
            <a:ext cx="6632716" cy="1020889"/>
            <a:chOff x="4944618" y="2400300"/>
            <a:chExt cx="6632716" cy="1020889"/>
          </a:xfrm>
        </p:grpSpPr>
        <p:sp>
          <p:nvSpPr>
            <p:cNvPr id="26" name="Rectangle 26"/>
            <p:cNvSpPr/>
            <p:nvPr/>
          </p:nvSpPr>
          <p:spPr>
            <a:xfrm>
              <a:off x="4953000" y="2400300"/>
              <a:ext cx="5429250" cy="457200"/>
            </a:xfrm>
            <a:prstGeom prst="roundRect">
              <a:avLst>
                <a:gd name="adj" fmla="val 50000"/>
              </a:avLst>
            </a:prstGeom>
            <a:solidFill>
              <a:schemeClr val="lt2"/>
            </a:solidFill>
            <a:ln>
              <a:noFill/>
            </a:ln>
          </p:spPr>
        </p:sp>
        <p:grpSp>
          <p:nvGrpSpPr>
            <p:cNvPr id="31" name="Group 31"/>
            <p:cNvGrpSpPr/>
            <p:nvPr/>
          </p:nvGrpSpPr>
          <p:grpSpPr>
            <a:xfrm>
              <a:off x="5172075" y="2543175"/>
              <a:ext cx="171450" cy="161925"/>
              <a:chOff x="5172075" y="2543175"/>
              <a:chExt cx="171450" cy="161925"/>
            </a:xfrm>
          </p:grpSpPr>
          <p:sp>
            <p:nvSpPr>
              <p:cNvPr id="27" name="Freeform 27"/>
              <p:cNvSpPr/>
              <p:nvPr/>
            </p:nvSpPr>
            <p:spPr>
              <a:xfrm>
                <a:off x="5172075" y="2581275"/>
                <a:ext cx="171450" cy="123825"/>
              </a:xfrm>
              <a:custGeom>
                <a:avLst/>
                <a:gdLst/>
                <a:ahLst/>
                <a:cxnLst/>
                <a:rect l="l" t="t" r="r" b="b"/>
                <a:pathLst>
                  <a:path w="171450" h="123825">
                    <a:moveTo>
                      <a:pt x="0" y="19050"/>
                    </a:moveTo>
                    <a:cubicBezTo>
                      <a:pt x="0" y="8529"/>
                      <a:pt x="8529" y="0"/>
                      <a:pt x="19050" y="0"/>
                    </a:cubicBezTo>
                    <a:lnTo>
                      <a:pt x="152400" y="0"/>
                    </a:lnTo>
                    <a:cubicBezTo>
                      <a:pt x="162921" y="0"/>
                      <a:pt x="171450" y="8529"/>
                      <a:pt x="171450" y="19050"/>
                    </a:cubicBezTo>
                    <a:lnTo>
                      <a:pt x="171450" y="104775"/>
                    </a:lnTo>
                    <a:cubicBezTo>
                      <a:pt x="171450" y="115296"/>
                      <a:pt x="162921" y="123825"/>
                      <a:pt x="152400" y="123825"/>
                    </a:cubicBezTo>
                    <a:lnTo>
                      <a:pt x="19050" y="123825"/>
                    </a:lnTo>
                    <a:cubicBezTo>
                      <a:pt x="8529" y="123825"/>
                      <a:pt x="0" y="115296"/>
                      <a:pt x="0" y="104775"/>
                    </a:cubicBezTo>
                    <a:lnTo>
                      <a:pt x="0" y="19050"/>
                    </a:lnTo>
                  </a:path>
                </a:pathLst>
              </a:custGeom>
              <a:noFill/>
              <a:ln w="19050">
                <a:solidFill>
                  <a:srgbClr val="2E5E91"/>
                </a:solidFill>
              </a:ln>
            </p:spPr>
          </p:sp>
          <p:sp>
            <p:nvSpPr>
              <p:cNvPr id="28" name="Freeform 28"/>
              <p:cNvSpPr/>
              <p:nvPr/>
            </p:nvSpPr>
            <p:spPr>
              <a:xfrm>
                <a:off x="5219700" y="2543175"/>
                <a:ext cx="76200" cy="38100"/>
              </a:xfrm>
              <a:custGeom>
                <a:avLst/>
                <a:gdLst/>
                <a:ahLst/>
                <a:cxnLst/>
                <a:rect l="l" t="t" r="r" b="b"/>
                <a:pathLst>
                  <a:path w="76200" h="38100">
                    <a:moveTo>
                      <a:pt x="0" y="38100"/>
                    </a:moveTo>
                    <a:lnTo>
                      <a:pt x="0" y="19050"/>
                    </a:lnTo>
                    <a:cubicBezTo>
                      <a:pt x="0" y="8529"/>
                      <a:pt x="8529" y="0"/>
                      <a:pt x="19050" y="0"/>
                    </a:cubicBezTo>
                    <a:lnTo>
                      <a:pt x="57150" y="0"/>
                    </a:lnTo>
                    <a:cubicBezTo>
                      <a:pt x="67671" y="0"/>
                      <a:pt x="76200" y="8529"/>
                      <a:pt x="76200" y="19050"/>
                    </a:cubicBezTo>
                    <a:lnTo>
                      <a:pt x="76200" y="38100"/>
                    </a:lnTo>
                  </a:path>
                </a:pathLst>
              </a:custGeom>
              <a:noFill/>
              <a:ln w="19050">
                <a:solidFill>
                  <a:srgbClr val="2E5E91"/>
                </a:solidFill>
              </a:ln>
            </p:spPr>
          </p:sp>
          <p:sp>
            <p:nvSpPr>
              <p:cNvPr id="29" name="Freeform 29"/>
              <p:cNvSpPr/>
              <p:nvPr/>
            </p:nvSpPr>
            <p:spPr>
              <a:xfrm>
                <a:off x="5257800" y="2628900"/>
                <a:ext cx="9525" cy="9525"/>
              </a:xfrm>
              <a:custGeom>
                <a:avLst/>
                <a:gdLst/>
                <a:ahLst/>
                <a:cxnLst/>
                <a:rect l="l" t="t" r="r" b="b"/>
                <a:pathLst>
                  <a:path w="9525" h="9525">
                    <a:moveTo>
                      <a:pt x="0" y="0"/>
                    </a:moveTo>
                    <a:lnTo>
                      <a:pt x="0" y="95"/>
                    </a:lnTo>
                  </a:path>
                </a:pathLst>
              </a:custGeom>
              <a:noFill/>
              <a:ln w="19050">
                <a:solidFill>
                  <a:srgbClr val="2E5E91"/>
                </a:solidFill>
              </a:ln>
            </p:spPr>
          </p:sp>
          <p:sp>
            <p:nvSpPr>
              <p:cNvPr id="30" name="Freeform 30"/>
              <p:cNvSpPr/>
              <p:nvPr/>
            </p:nvSpPr>
            <p:spPr>
              <a:xfrm>
                <a:off x="5172075" y="2638425"/>
                <a:ext cx="171450" cy="27171"/>
              </a:xfrm>
              <a:custGeom>
                <a:avLst/>
                <a:gdLst/>
                <a:ahLst/>
                <a:cxnLst/>
                <a:rect l="l" t="t" r="r" b="b"/>
                <a:pathLst>
                  <a:path w="171450" h="27171">
                    <a:moveTo>
                      <a:pt x="0" y="0"/>
                    </a:moveTo>
                    <a:cubicBezTo>
                      <a:pt x="53921" y="27171"/>
                      <a:pt x="117529" y="27171"/>
                      <a:pt x="171450" y="0"/>
                    </a:cubicBezTo>
                  </a:path>
                </a:pathLst>
              </a:custGeom>
              <a:noFill/>
              <a:ln w="19050">
                <a:solidFill>
                  <a:srgbClr val="2E5E91"/>
                </a:solidFill>
              </a:ln>
            </p:spPr>
          </p:sp>
        </p:grpSp>
        <p:sp>
          <p:nvSpPr>
            <p:cNvPr id="32" name="TextBox 32"/>
            <p:cNvSpPr txBox="1"/>
            <p:nvPr/>
          </p:nvSpPr>
          <p:spPr>
            <a:xfrm>
              <a:off x="5478018" y="2526982"/>
              <a:ext cx="4933401" cy="322707"/>
            </a:xfrm>
            <a:prstGeom prst="rect">
              <a:avLst/>
            </a:prstGeom>
            <a:noFill/>
            <a:ln>
              <a:noFill/>
            </a:ln>
          </p:spPr>
          <p:txBody>
            <a:bodyPr wrap="none" lIns="0" tIns="0" rIns="0" bIns="0" anchor="t" anchorCtr="0">
              <a:spAutoFit/>
            </a:bodyPr>
            <a:lstStyle/>
            <a:p>
              <a:pPr algn="l"/>
              <a:r>
                <a:rPr lang="vi-VN" sz="1650" dirty="0">
                  <a:solidFill>
                    <a:schemeClr val="accent1"/>
                  </a:solidFill>
                  <a:latin typeface="+mn-lt"/>
                  <a:ea typeface="+mn-ea"/>
                  <a:cs typeface="+mn-cs"/>
                </a:rPr>
                <a:t>Việc lặp lại — dán tờ quy trình chuẩn lên tường</a:t>
              </a:r>
            </a:p>
          </p:txBody>
        </p:sp>
        <p:sp>
          <p:nvSpPr>
            <p:cNvPr id="33" name="TextBox 33"/>
            <p:cNvSpPr txBox="1"/>
            <p:nvPr/>
          </p:nvSpPr>
          <p:spPr>
            <a:xfrm>
              <a:off x="4944618" y="3098482"/>
              <a:ext cx="6632716" cy="322707"/>
            </a:xfrm>
            <a:prstGeom prst="rect">
              <a:avLst/>
            </a:prstGeom>
            <a:noFill/>
            <a:ln>
              <a:noFill/>
            </a:ln>
          </p:spPr>
          <p:txBody>
            <a:bodyPr wrap="none" lIns="0" tIns="0" rIns="0" bIns="0" anchor="t" anchorCtr="0">
              <a:spAutoFit/>
            </a:bodyPr>
            <a:lstStyle/>
            <a:p>
              <a:pPr algn="l"/>
              <a:r>
                <a:rPr lang="vi-VN" sz="1650" i="1" dirty="0">
                  <a:solidFill>
                    <a:srgbClr val="5B6675"/>
                  </a:solidFill>
                  <a:latin typeface="+mn-lt"/>
                  <a:ea typeface="+mn-ea"/>
                  <a:cs typeface="+mn-cs"/>
                </a:rPr>
                <a:t>Mỗi tuần lại gõ lại cùng một bộ chỉ dẫn cho cùng một loại việc.</a:t>
              </a:r>
            </a:p>
          </p:txBody>
        </p:sp>
      </p:grpSp>
      <p:grpSp>
        <p:nvGrpSpPr>
          <p:cNvPr id="48" name="Group 48"/>
          <p:cNvGrpSpPr/>
          <p:nvPr/>
        </p:nvGrpSpPr>
        <p:grpSpPr>
          <a:xfrm>
            <a:off x="4946904" y="3718560"/>
            <a:ext cx="6480085" cy="2045779"/>
            <a:chOff x="4946904" y="3718560"/>
            <a:chExt cx="6480085" cy="2045779"/>
          </a:xfrm>
        </p:grpSpPr>
        <p:sp>
          <p:nvSpPr>
            <p:cNvPr id="35" name="TextBox 35"/>
            <p:cNvSpPr txBox="1"/>
            <p:nvPr/>
          </p:nvSpPr>
          <p:spPr>
            <a:xfrm>
              <a:off x="4946904" y="3718560"/>
              <a:ext cx="2653589"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HỌC XONG TẦNG NÀY, BẠN SẼ:</a:t>
              </a:r>
            </a:p>
          </p:txBody>
        </p:sp>
        <p:sp>
          <p:nvSpPr>
            <p:cNvPr id="36" name="Ellipse 36"/>
            <p:cNvSpPr/>
            <p:nvPr/>
          </p:nvSpPr>
          <p:spPr>
            <a:xfrm>
              <a:off x="4962525" y="4038600"/>
              <a:ext cx="285750" cy="285750"/>
            </a:xfrm>
            <a:prstGeom prst="ellipse">
              <a:avLst/>
            </a:prstGeom>
            <a:solidFill>
              <a:srgbClr val="2E5E91"/>
            </a:solidFill>
            <a:ln>
              <a:noFill/>
            </a:ln>
          </p:spPr>
        </p:sp>
        <p:sp>
          <p:nvSpPr>
            <p:cNvPr id="37" name="TextBox 37"/>
            <p:cNvSpPr txBox="1"/>
            <p:nvPr/>
          </p:nvSpPr>
          <p:spPr>
            <a:xfrm>
              <a:off x="5039473" y="408622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1</a:t>
              </a:r>
            </a:p>
          </p:txBody>
        </p:sp>
        <p:sp>
          <p:nvSpPr>
            <p:cNvPr id="38" name="TextBox 38"/>
            <p:cNvSpPr txBox="1"/>
            <p:nvPr/>
          </p:nvSpPr>
          <p:spPr>
            <a:xfrm>
              <a:off x="5382768" y="4070032"/>
              <a:ext cx="4498340"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Phân biệt Skill với Instructions và Prompt</a:t>
              </a:r>
            </a:p>
          </p:txBody>
        </p:sp>
        <p:sp>
          <p:nvSpPr>
            <p:cNvPr id="39" name="Ellipse 39"/>
            <p:cNvSpPr/>
            <p:nvPr/>
          </p:nvSpPr>
          <p:spPr>
            <a:xfrm>
              <a:off x="4962525" y="4495800"/>
              <a:ext cx="285750" cy="285750"/>
            </a:xfrm>
            <a:prstGeom prst="ellipse">
              <a:avLst/>
            </a:prstGeom>
            <a:solidFill>
              <a:srgbClr val="2E5E91"/>
            </a:solidFill>
            <a:ln>
              <a:noFill/>
            </a:ln>
          </p:spPr>
        </p:sp>
        <p:sp>
          <p:nvSpPr>
            <p:cNvPr id="40" name="TextBox 40"/>
            <p:cNvSpPr txBox="1"/>
            <p:nvPr/>
          </p:nvSpPr>
          <p:spPr>
            <a:xfrm>
              <a:off x="5039473" y="454342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2</a:t>
              </a:r>
            </a:p>
          </p:txBody>
        </p:sp>
        <p:sp>
          <p:nvSpPr>
            <p:cNvPr id="41" name="TextBox 41"/>
            <p:cNvSpPr txBox="1"/>
            <p:nvPr/>
          </p:nvSpPr>
          <p:spPr>
            <a:xfrm>
              <a:off x="5382768" y="4527232"/>
              <a:ext cx="6043547"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Biết vì sao dòng description quyết định skill có được gọi</a:t>
              </a:r>
            </a:p>
          </p:txBody>
        </p:sp>
        <p:sp>
          <p:nvSpPr>
            <p:cNvPr id="42" name="Ellipse 42"/>
            <p:cNvSpPr/>
            <p:nvPr/>
          </p:nvSpPr>
          <p:spPr>
            <a:xfrm>
              <a:off x="4962525" y="4953000"/>
              <a:ext cx="285750" cy="285750"/>
            </a:xfrm>
            <a:prstGeom prst="ellipse">
              <a:avLst/>
            </a:prstGeom>
            <a:solidFill>
              <a:srgbClr val="2E5E91"/>
            </a:solidFill>
            <a:ln>
              <a:noFill/>
            </a:ln>
          </p:spPr>
        </p:sp>
        <p:sp>
          <p:nvSpPr>
            <p:cNvPr id="43" name="TextBox 43"/>
            <p:cNvSpPr txBox="1"/>
            <p:nvPr/>
          </p:nvSpPr>
          <p:spPr>
            <a:xfrm>
              <a:off x="5039473" y="500062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3</a:t>
              </a:r>
            </a:p>
          </p:txBody>
        </p:sp>
        <p:sp>
          <p:nvSpPr>
            <p:cNvPr id="44" name="TextBox 44"/>
            <p:cNvSpPr txBox="1"/>
            <p:nvPr/>
          </p:nvSpPr>
          <p:spPr>
            <a:xfrm>
              <a:off x="5382768" y="4984432"/>
              <a:ext cx="6044221"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Tự tạo 1 skill theo cách “làm tay nhiều lượt rồi đóng gói”</a:t>
              </a:r>
            </a:p>
          </p:txBody>
        </p:sp>
        <p:sp>
          <p:nvSpPr>
            <p:cNvPr id="45" name="Ellipse 45"/>
            <p:cNvSpPr/>
            <p:nvPr/>
          </p:nvSpPr>
          <p:spPr>
            <a:xfrm>
              <a:off x="4962525" y="5410200"/>
              <a:ext cx="285750" cy="285750"/>
            </a:xfrm>
            <a:prstGeom prst="ellipse">
              <a:avLst/>
            </a:prstGeom>
            <a:solidFill>
              <a:srgbClr val="2E5E91"/>
            </a:solidFill>
            <a:ln>
              <a:noFill/>
            </a:ln>
          </p:spPr>
        </p:sp>
        <p:sp>
          <p:nvSpPr>
            <p:cNvPr id="46" name="TextBox 46"/>
            <p:cNvSpPr txBox="1"/>
            <p:nvPr/>
          </p:nvSpPr>
          <p:spPr>
            <a:xfrm>
              <a:off x="5039473" y="545782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4</a:t>
              </a:r>
            </a:p>
          </p:txBody>
        </p:sp>
        <p:sp>
          <p:nvSpPr>
            <p:cNvPr id="47" name="TextBox 47"/>
            <p:cNvSpPr txBox="1"/>
            <p:nvPr/>
          </p:nvSpPr>
          <p:spPr>
            <a:xfrm>
              <a:off x="5382768" y="5441632"/>
              <a:ext cx="4833733"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Qua phép thử “phiên mới, không gọi tên skill”</a:t>
              </a:r>
            </a:p>
          </p:txBody>
        </p:sp>
      </p:grpSp>
      <p:sp>
        <p:nvSpPr>
          <p:cNvPr id="49" name="TextBox 49"/>
          <p:cNvSpPr txBox="1"/>
          <p:nvPr/>
        </p:nvSpPr>
        <p:spPr>
          <a:xfrm>
            <a:off x="4947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50" name="TextBox 50"/>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19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1623538" cy="234696"/>
            <a:chOff x="381000" y="346710"/>
            <a:chExt cx="1623538" cy="234696"/>
          </a:xfrm>
        </p:grpSpPr>
        <p:sp>
          <p:nvSpPr>
            <p:cNvPr id="2" name="Rectangle 2"/>
            <p:cNvSpPr/>
            <p:nvPr/>
          </p:nvSpPr>
          <p:spPr>
            <a:xfrm>
              <a:off x="381000" y="361950"/>
              <a:ext cx="114300" cy="114300"/>
            </a:xfrm>
            <a:prstGeom prst="roundRect">
              <a:avLst>
                <a:gd name="adj" fmla="val 25000"/>
              </a:avLst>
            </a:prstGeom>
            <a:solidFill>
              <a:srgbClr val="2E5E91"/>
            </a:solidFill>
            <a:ln>
              <a:noFill/>
            </a:ln>
          </p:spPr>
        </p:sp>
        <p:sp>
          <p:nvSpPr>
            <p:cNvPr id="3" name="TextBox 3"/>
            <p:cNvSpPr txBox="1"/>
            <p:nvPr/>
          </p:nvSpPr>
          <p:spPr>
            <a:xfrm>
              <a:off x="584454" y="346710"/>
              <a:ext cx="1420084"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3 · SKILL</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chemeClr val="accent2"/>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50108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8790099"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Skill là tờ quy trình chuẩn cho một việc:</a:t>
            </a:r>
            <a:br/>
            <a:r>
              <a:rPr lang="vi-VN" sz="3150" b="1" dirty="0">
                <a:solidFill>
                  <a:schemeClr val="accent1"/>
                </a:solidFill>
                <a:latin typeface="+mn-lt"/>
                <a:ea typeface="+mn-ea"/>
                <a:cs typeface="+mn-cs"/>
              </a:rPr>
              <a:t>chi tiết, dùng mãi, ChatGPT tự chọn khi gặp</a:t>
            </a:r>
          </a:p>
        </p:txBody>
      </p:sp>
      <p:grpSp>
        <p:nvGrpSpPr>
          <p:cNvPr id="25" name="Group 25"/>
          <p:cNvGrpSpPr/>
          <p:nvPr/>
        </p:nvGrpSpPr>
        <p:grpSpPr>
          <a:xfrm>
            <a:off x="373380" y="2743200"/>
            <a:ext cx="8237220" cy="2988945"/>
            <a:chOff x="373380" y="2743200"/>
            <a:chExt cx="8237220" cy="2988945"/>
          </a:xfrm>
        </p:grpSpPr>
        <p:sp>
          <p:nvSpPr>
            <p:cNvPr id="17" name="Line 17"/>
            <p:cNvSpPr/>
            <p:nvPr/>
          </p:nvSpPr>
          <p:spPr>
            <a:xfrm>
              <a:off x="381000" y="2743200"/>
              <a:ext cx="8229600" cy="9525"/>
            </a:xfrm>
            <a:custGeom>
              <a:avLst/>
              <a:gdLst/>
              <a:ahLst/>
              <a:cxnLst/>
              <a:rect l="l" t="t" r="r" b="b"/>
              <a:pathLst>
                <a:path w="8229600" h="9525">
                  <a:moveTo>
                    <a:pt x="0" y="0"/>
                  </a:moveTo>
                  <a:lnTo>
                    <a:pt x="8229600" y="0"/>
                  </a:lnTo>
                </a:path>
              </a:pathLst>
            </a:custGeom>
            <a:noFill/>
            <a:ln w="9525">
              <a:solidFill>
                <a:schemeClr val="accent4"/>
              </a:solidFill>
            </a:ln>
          </p:spPr>
        </p:sp>
        <p:sp>
          <p:nvSpPr>
            <p:cNvPr id="18" name="TextBox 18"/>
            <p:cNvSpPr txBox="1"/>
            <p:nvPr/>
          </p:nvSpPr>
          <p:spPr>
            <a:xfrm>
              <a:off x="373380" y="2981325"/>
              <a:ext cx="669242" cy="293370"/>
            </a:xfrm>
            <a:prstGeom prst="rect">
              <a:avLst/>
            </a:prstGeom>
            <a:noFill/>
            <a:ln>
              <a:noFill/>
            </a:ln>
          </p:spPr>
          <p:txBody>
            <a:bodyPr wrap="none" lIns="0" tIns="0" rIns="0" bIns="0" anchor="t" anchorCtr="0">
              <a:spAutoFit/>
            </a:bodyPr>
            <a:lstStyle/>
            <a:p>
              <a:pPr algn="l"/>
              <a:r>
                <a:rPr lang="vi-VN" sz="1500" b="1" dirty="0">
                  <a:solidFill>
                    <a:srgbClr val="5B6675"/>
                  </a:solidFill>
                  <a:latin typeface="+mn-lt"/>
                  <a:ea typeface="+mn-ea"/>
                  <a:cs typeface="+mn-cs"/>
                </a:rPr>
                <a:t>Ví như</a:t>
              </a:r>
            </a:p>
          </p:txBody>
        </p:sp>
        <p:sp>
          <p:nvSpPr>
            <p:cNvPr id="19" name="Line 19"/>
            <p:cNvSpPr/>
            <p:nvPr/>
          </p:nvSpPr>
          <p:spPr>
            <a:xfrm>
              <a:off x="381000" y="3562350"/>
              <a:ext cx="8229600" cy="9525"/>
            </a:xfrm>
            <a:custGeom>
              <a:avLst/>
              <a:gdLst/>
              <a:ahLst/>
              <a:cxnLst/>
              <a:rect l="l" t="t" r="r" b="b"/>
              <a:pathLst>
                <a:path w="8229600" h="9525">
                  <a:moveTo>
                    <a:pt x="0" y="0"/>
                  </a:moveTo>
                  <a:lnTo>
                    <a:pt x="8229600" y="0"/>
                  </a:lnTo>
                </a:path>
              </a:pathLst>
            </a:custGeom>
            <a:noFill/>
            <a:ln w="9525">
              <a:solidFill>
                <a:schemeClr val="accent4"/>
              </a:solidFill>
            </a:ln>
          </p:spPr>
        </p:sp>
        <p:sp>
          <p:nvSpPr>
            <p:cNvPr id="20" name="TextBox 20"/>
            <p:cNvSpPr txBox="1"/>
            <p:nvPr/>
          </p:nvSpPr>
          <p:spPr>
            <a:xfrm>
              <a:off x="373380" y="3800475"/>
              <a:ext cx="785736" cy="293370"/>
            </a:xfrm>
            <a:prstGeom prst="rect">
              <a:avLst/>
            </a:prstGeom>
            <a:noFill/>
            <a:ln>
              <a:noFill/>
            </a:ln>
          </p:spPr>
          <p:txBody>
            <a:bodyPr wrap="none" lIns="0" tIns="0" rIns="0" bIns="0" anchor="t" anchorCtr="0">
              <a:spAutoFit/>
            </a:bodyPr>
            <a:lstStyle/>
            <a:p>
              <a:pPr algn="l"/>
              <a:r>
                <a:rPr lang="vi-VN" sz="1500" b="1" dirty="0">
                  <a:solidFill>
                    <a:srgbClr val="5B6675"/>
                  </a:solidFill>
                  <a:latin typeface="+mn-lt"/>
                  <a:ea typeface="+mn-ea"/>
                  <a:cs typeface="+mn-cs"/>
                </a:rPr>
                <a:t>Áp dụng</a:t>
              </a:r>
            </a:p>
          </p:txBody>
        </p:sp>
        <p:sp>
          <p:nvSpPr>
            <p:cNvPr id="21" name="Line 21"/>
            <p:cNvSpPr/>
            <p:nvPr/>
          </p:nvSpPr>
          <p:spPr>
            <a:xfrm>
              <a:off x="381000" y="4381500"/>
              <a:ext cx="8229600" cy="9525"/>
            </a:xfrm>
            <a:custGeom>
              <a:avLst/>
              <a:gdLst/>
              <a:ahLst/>
              <a:cxnLst/>
              <a:rect l="l" t="t" r="r" b="b"/>
              <a:pathLst>
                <a:path w="8229600" h="9525">
                  <a:moveTo>
                    <a:pt x="0" y="0"/>
                  </a:moveTo>
                  <a:lnTo>
                    <a:pt x="8229600" y="0"/>
                  </a:lnTo>
                </a:path>
              </a:pathLst>
            </a:custGeom>
            <a:noFill/>
            <a:ln w="9525">
              <a:solidFill>
                <a:schemeClr val="accent4"/>
              </a:solidFill>
            </a:ln>
          </p:spPr>
        </p:sp>
        <p:sp>
          <p:nvSpPr>
            <p:cNvPr id="22" name="TextBox 22"/>
            <p:cNvSpPr txBox="1"/>
            <p:nvPr/>
          </p:nvSpPr>
          <p:spPr>
            <a:xfrm>
              <a:off x="373380" y="4619625"/>
              <a:ext cx="615635" cy="293370"/>
            </a:xfrm>
            <a:prstGeom prst="rect">
              <a:avLst/>
            </a:prstGeom>
            <a:noFill/>
            <a:ln>
              <a:noFill/>
            </a:ln>
          </p:spPr>
          <p:txBody>
            <a:bodyPr wrap="none" lIns="0" tIns="0" rIns="0" bIns="0" anchor="t" anchorCtr="0">
              <a:spAutoFit/>
            </a:bodyPr>
            <a:lstStyle/>
            <a:p>
              <a:pPr algn="l"/>
              <a:r>
                <a:rPr lang="vi-VN" sz="1500" b="1" dirty="0">
                  <a:solidFill>
                    <a:srgbClr val="5B6675"/>
                  </a:solidFill>
                  <a:latin typeface="+mn-lt"/>
                  <a:ea typeface="+mn-ea"/>
                  <a:cs typeface="+mn-cs"/>
                </a:rPr>
                <a:t>Độ dài</a:t>
              </a:r>
            </a:p>
          </p:txBody>
        </p:sp>
        <p:sp>
          <p:nvSpPr>
            <p:cNvPr id="23" name="Line 23"/>
            <p:cNvSpPr/>
            <p:nvPr/>
          </p:nvSpPr>
          <p:spPr>
            <a:xfrm>
              <a:off x="381000" y="5200650"/>
              <a:ext cx="8229600" cy="9525"/>
            </a:xfrm>
            <a:custGeom>
              <a:avLst/>
              <a:gdLst/>
              <a:ahLst/>
              <a:cxnLst/>
              <a:rect l="l" t="t" r="r" b="b"/>
              <a:pathLst>
                <a:path w="8229600" h="9525">
                  <a:moveTo>
                    <a:pt x="0" y="0"/>
                  </a:moveTo>
                  <a:lnTo>
                    <a:pt x="8229600" y="0"/>
                  </a:lnTo>
                </a:path>
              </a:pathLst>
            </a:custGeom>
            <a:noFill/>
            <a:ln w="9525">
              <a:solidFill>
                <a:schemeClr val="accent4"/>
              </a:solidFill>
            </a:ln>
          </p:spPr>
        </p:sp>
        <p:sp>
          <p:nvSpPr>
            <p:cNvPr id="24" name="TextBox 24"/>
            <p:cNvSpPr txBox="1"/>
            <p:nvPr/>
          </p:nvSpPr>
          <p:spPr>
            <a:xfrm>
              <a:off x="373380" y="5438775"/>
              <a:ext cx="562028" cy="293370"/>
            </a:xfrm>
            <a:prstGeom prst="rect">
              <a:avLst/>
            </a:prstGeom>
            <a:noFill/>
            <a:ln>
              <a:noFill/>
            </a:ln>
          </p:spPr>
          <p:txBody>
            <a:bodyPr wrap="none" lIns="0" tIns="0" rIns="0" bIns="0" anchor="t" anchorCtr="0">
              <a:spAutoFit/>
            </a:bodyPr>
            <a:lstStyle/>
            <a:p>
              <a:pPr algn="l"/>
              <a:r>
                <a:rPr lang="vi-VN" sz="1500" b="1" dirty="0">
                  <a:solidFill>
                    <a:srgbClr val="5B6675"/>
                  </a:solidFill>
                  <a:latin typeface="+mn-lt"/>
                  <a:ea typeface="+mn-ea"/>
                  <a:cs typeface="+mn-cs"/>
                </a:rPr>
                <a:t>Ai gọi</a:t>
              </a:r>
            </a:p>
          </p:txBody>
        </p:sp>
      </p:grpSp>
      <p:grpSp>
        <p:nvGrpSpPr>
          <p:cNvPr id="32" name="Group 32"/>
          <p:cNvGrpSpPr/>
          <p:nvPr/>
        </p:nvGrpSpPr>
        <p:grpSpPr>
          <a:xfrm>
            <a:off x="2353818" y="2228850"/>
            <a:ext cx="1494282" cy="3592639"/>
            <a:chOff x="2353818" y="2228850"/>
            <a:chExt cx="1494282" cy="3592639"/>
          </a:xfrm>
        </p:grpSpPr>
        <p:sp>
          <p:nvSpPr>
            <p:cNvPr id="26" name="Rectangle 26"/>
            <p:cNvSpPr/>
            <p:nvPr/>
          </p:nvSpPr>
          <p:spPr>
            <a:xfrm>
              <a:off x="2362200" y="2228850"/>
              <a:ext cx="1485900" cy="342900"/>
            </a:xfrm>
            <a:prstGeom prst="roundRect">
              <a:avLst>
                <a:gd name="adj" fmla="val 50000"/>
              </a:avLst>
            </a:prstGeom>
            <a:solidFill>
              <a:schemeClr val="accent5"/>
            </a:solidFill>
            <a:ln>
              <a:noFill/>
            </a:ln>
          </p:spPr>
        </p:sp>
        <p:sp>
          <p:nvSpPr>
            <p:cNvPr id="27" name="TextBox 27"/>
            <p:cNvSpPr txBox="1"/>
            <p:nvPr/>
          </p:nvSpPr>
          <p:spPr>
            <a:xfrm>
              <a:off x="2447799" y="2305050"/>
              <a:ext cx="1314702"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Instructions</a:t>
              </a:r>
            </a:p>
          </p:txBody>
        </p:sp>
        <p:sp>
          <p:nvSpPr>
            <p:cNvPr id="28" name="TextBox 28"/>
            <p:cNvSpPr txBox="1"/>
            <p:nvPr/>
          </p:nvSpPr>
          <p:spPr>
            <a:xfrm>
              <a:off x="2353818" y="3041332"/>
              <a:ext cx="767896"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Nội quy</a:t>
              </a:r>
            </a:p>
          </p:txBody>
        </p:sp>
        <p:sp>
          <p:nvSpPr>
            <p:cNvPr id="29" name="TextBox 29"/>
            <p:cNvSpPr txBox="1"/>
            <p:nvPr/>
          </p:nvSpPr>
          <p:spPr>
            <a:xfrm>
              <a:off x="2353818" y="3860482"/>
              <a:ext cx="878853"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Mọi việc</a:t>
              </a:r>
            </a:p>
          </p:txBody>
        </p:sp>
        <p:sp>
          <p:nvSpPr>
            <p:cNvPr id="30" name="TextBox 30"/>
            <p:cNvSpPr txBox="1"/>
            <p:nvPr/>
          </p:nvSpPr>
          <p:spPr>
            <a:xfrm>
              <a:off x="2353818" y="4546282"/>
              <a:ext cx="1473136"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dk1"/>
                  </a:solidFill>
                  <a:latin typeface="+mn-lt"/>
                  <a:ea typeface="+mn-ea"/>
                  <a:cs typeface="+mn-cs"/>
                </a:rPr>
                <a:t>Ngắn, chỉ điều</a:t>
              </a:r>
              <a:br/>
              <a:r>
                <a:rPr lang="vi-VN" sz="1650" dirty="0">
                  <a:solidFill>
                    <a:schemeClr val="dk1"/>
                  </a:solidFill>
                  <a:latin typeface="+mn-lt"/>
                  <a:ea typeface="+mn-ea"/>
                  <a:cs typeface="+mn-cs"/>
                </a:rPr>
                <a:t>luôn đúng</a:t>
              </a:r>
            </a:p>
          </p:txBody>
        </p:sp>
        <p:sp>
          <p:nvSpPr>
            <p:cNvPr id="31" name="TextBox 31"/>
            <p:cNvSpPr txBox="1"/>
            <p:nvPr/>
          </p:nvSpPr>
          <p:spPr>
            <a:xfrm>
              <a:off x="2353818" y="5498782"/>
              <a:ext cx="1135237"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Tự áp dụng</a:t>
              </a:r>
            </a:p>
          </p:txBody>
        </p:sp>
      </p:grpSp>
      <p:grpSp>
        <p:nvGrpSpPr>
          <p:cNvPr id="39" name="Group 39"/>
          <p:cNvGrpSpPr/>
          <p:nvPr/>
        </p:nvGrpSpPr>
        <p:grpSpPr>
          <a:xfrm>
            <a:off x="5554218" y="2228850"/>
            <a:ext cx="2068007" cy="3592639"/>
            <a:chOff x="5554218" y="2228850"/>
            <a:chExt cx="2068007" cy="3592639"/>
          </a:xfrm>
        </p:grpSpPr>
        <p:sp>
          <p:nvSpPr>
            <p:cNvPr id="33" name="Rectangle 33"/>
            <p:cNvSpPr/>
            <p:nvPr/>
          </p:nvSpPr>
          <p:spPr>
            <a:xfrm>
              <a:off x="5562600" y="2228850"/>
              <a:ext cx="1143000" cy="342900"/>
            </a:xfrm>
            <a:prstGeom prst="roundRect">
              <a:avLst>
                <a:gd name="adj" fmla="val 50000"/>
              </a:avLst>
            </a:prstGeom>
            <a:solidFill>
              <a:schemeClr val="accent3"/>
            </a:solidFill>
            <a:ln>
              <a:noFill/>
            </a:ln>
          </p:spPr>
        </p:sp>
        <p:sp>
          <p:nvSpPr>
            <p:cNvPr id="34" name="TextBox 34"/>
            <p:cNvSpPr txBox="1"/>
            <p:nvPr/>
          </p:nvSpPr>
          <p:spPr>
            <a:xfrm>
              <a:off x="5751933" y="2305050"/>
              <a:ext cx="764334"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Prompt</a:t>
              </a:r>
            </a:p>
          </p:txBody>
        </p:sp>
        <p:sp>
          <p:nvSpPr>
            <p:cNvPr id="35" name="TextBox 35"/>
            <p:cNvSpPr txBox="1"/>
            <p:nvPr/>
          </p:nvSpPr>
          <p:spPr>
            <a:xfrm>
              <a:off x="5554218" y="2907982"/>
              <a:ext cx="1483614"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dk1"/>
                  </a:solidFill>
                  <a:latin typeface="+mn-lt"/>
                  <a:ea typeface="+mn-ea"/>
                  <a:cs typeface="+mn-cs"/>
                </a:rPr>
                <a:t>Phiếu giao việc</a:t>
              </a:r>
              <a:br/>
              <a:r>
                <a:rPr lang="vi-VN" sz="1650" dirty="0">
                  <a:solidFill>
                    <a:schemeClr val="dk1"/>
                  </a:solidFill>
                  <a:latin typeface="+mn-lt"/>
                  <a:ea typeface="+mn-ea"/>
                  <a:cs typeface="+mn-cs"/>
                </a:rPr>
                <a:t>hôm nay</a:t>
              </a:r>
            </a:p>
          </p:txBody>
        </p:sp>
        <p:sp>
          <p:nvSpPr>
            <p:cNvPr id="36" name="TextBox 36"/>
            <p:cNvSpPr txBox="1"/>
            <p:nvPr/>
          </p:nvSpPr>
          <p:spPr>
            <a:xfrm>
              <a:off x="5554218" y="3860482"/>
              <a:ext cx="516541"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1 lần</a:t>
              </a:r>
            </a:p>
          </p:txBody>
        </p:sp>
        <p:sp>
          <p:nvSpPr>
            <p:cNvPr id="37" name="TextBox 37"/>
            <p:cNvSpPr txBox="1"/>
            <p:nvPr/>
          </p:nvSpPr>
          <p:spPr>
            <a:xfrm>
              <a:off x="5554218" y="4679632"/>
              <a:ext cx="2068007"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Vừa đủ cho việc này</a:t>
              </a:r>
            </a:p>
          </p:txBody>
        </p:sp>
        <p:sp>
          <p:nvSpPr>
            <p:cNvPr id="38" name="TextBox 38"/>
            <p:cNvSpPr txBox="1"/>
            <p:nvPr/>
          </p:nvSpPr>
          <p:spPr>
            <a:xfrm>
              <a:off x="5554218" y="5498782"/>
              <a:ext cx="868794"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Mình gõ</a:t>
              </a:r>
            </a:p>
          </p:txBody>
        </p:sp>
      </p:grpSp>
      <p:grpSp>
        <p:nvGrpSpPr>
          <p:cNvPr id="47" name="Group 47"/>
          <p:cNvGrpSpPr/>
          <p:nvPr/>
        </p:nvGrpSpPr>
        <p:grpSpPr>
          <a:xfrm>
            <a:off x="8763000" y="2095500"/>
            <a:ext cx="3048000" cy="4000500"/>
            <a:chOff x="8763000" y="2095500"/>
            <a:chExt cx="3048000" cy="4000500"/>
          </a:xfrm>
        </p:grpSpPr>
        <p:sp>
          <p:nvSpPr>
            <p:cNvPr id="40" name="Rectangle 40"/>
            <p:cNvSpPr/>
            <p:nvPr/>
          </p:nvSpPr>
          <p:spPr>
            <a:xfrm>
              <a:off x="8763000" y="2095500"/>
              <a:ext cx="3048000" cy="4000500"/>
            </a:xfrm>
            <a:prstGeom prst="roundRect">
              <a:avLst>
                <a:gd name="adj" fmla="val 5000"/>
              </a:avLst>
            </a:prstGeom>
            <a:solidFill>
              <a:schemeClr val="lt1"/>
            </a:solidFill>
            <a:ln w="19050">
              <a:solidFill>
                <a:srgbClr val="2E5E91"/>
              </a:solidFill>
            </a:ln>
            <a:effectLst>
              <a:outerShdw blurRad="114300" dist="38100" dir="5400000" algn="ctr" rotWithShape="0">
                <a:srgbClr val="1D3557">
                  <a:alpha val="7500"/>
                </a:srgbClr>
              </a:outerShdw>
            </a:effectLst>
          </p:spPr>
        </p:sp>
        <p:sp>
          <p:nvSpPr>
            <p:cNvPr id="41" name="Rectangle 41"/>
            <p:cNvSpPr/>
            <p:nvPr/>
          </p:nvSpPr>
          <p:spPr>
            <a:xfrm>
              <a:off x="8991600" y="2228850"/>
              <a:ext cx="952500" cy="342900"/>
            </a:xfrm>
            <a:prstGeom prst="roundRect">
              <a:avLst>
                <a:gd name="adj" fmla="val 50000"/>
              </a:avLst>
            </a:prstGeom>
            <a:solidFill>
              <a:srgbClr val="2E5E91"/>
            </a:solidFill>
            <a:ln>
              <a:noFill/>
            </a:ln>
          </p:spPr>
        </p:sp>
        <p:sp>
          <p:nvSpPr>
            <p:cNvPr id="42" name="TextBox 42"/>
            <p:cNvSpPr txBox="1"/>
            <p:nvPr/>
          </p:nvSpPr>
          <p:spPr>
            <a:xfrm>
              <a:off x="9245803" y="2305050"/>
              <a:ext cx="444094"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Skill</a:t>
              </a:r>
            </a:p>
          </p:txBody>
        </p:sp>
        <p:sp>
          <p:nvSpPr>
            <p:cNvPr id="43" name="TextBox 43"/>
            <p:cNvSpPr txBox="1"/>
            <p:nvPr/>
          </p:nvSpPr>
          <p:spPr>
            <a:xfrm>
              <a:off x="8983218" y="2907982"/>
              <a:ext cx="2030016" cy="589407"/>
            </a:xfrm>
            <a:prstGeom prst="rect">
              <a:avLst/>
            </a:prstGeom>
            <a:noFill/>
            <a:ln>
              <a:noFill/>
            </a:ln>
          </p:spPr>
          <p:txBody>
            <a:bodyPr wrap="none" lIns="0" tIns="0" rIns="0" bIns="0" anchor="t" anchorCtr="0">
              <a:spAutoFit/>
            </a:bodyPr>
            <a:lstStyle/>
            <a:p>
              <a:pPr algn="l">
                <a:lnSpc>
                  <a:spcPts val="2100"/>
                </a:lnSpc>
              </a:pPr>
              <a:r>
                <a:rPr lang="vi-VN" sz="1650" b="1" dirty="0">
                  <a:solidFill>
                    <a:schemeClr val="accent1"/>
                  </a:solidFill>
                  <a:latin typeface="+mn-lt"/>
                  <a:ea typeface="+mn-ea"/>
                  <a:cs typeface="+mn-cs"/>
                </a:rPr>
                <a:t>Tờ quy trình chuẩn</a:t>
              </a:r>
              <a:br/>
              <a:r>
                <a:rPr lang="vi-VN" sz="1650" b="1" dirty="0">
                  <a:solidFill>
                    <a:schemeClr val="accent1"/>
                  </a:solidFill>
                  <a:latin typeface="+mn-lt"/>
                  <a:ea typeface="+mn-ea"/>
                  <a:cs typeface="+mn-cs"/>
                </a:rPr>
                <a:t>cho 1 việc</a:t>
              </a:r>
            </a:p>
          </p:txBody>
        </p:sp>
        <p:sp>
          <p:nvSpPr>
            <p:cNvPr id="44" name="TextBox 44"/>
            <p:cNvSpPr txBox="1"/>
            <p:nvPr/>
          </p:nvSpPr>
          <p:spPr>
            <a:xfrm>
              <a:off x="8983218" y="3727132"/>
              <a:ext cx="1721977" cy="589407"/>
            </a:xfrm>
            <a:prstGeom prst="rect">
              <a:avLst/>
            </a:prstGeom>
            <a:noFill/>
            <a:ln>
              <a:noFill/>
            </a:ln>
          </p:spPr>
          <p:txBody>
            <a:bodyPr wrap="none" lIns="0" tIns="0" rIns="0" bIns="0" anchor="t" anchorCtr="0">
              <a:spAutoFit/>
            </a:bodyPr>
            <a:lstStyle/>
            <a:p>
              <a:pPr algn="l">
                <a:lnSpc>
                  <a:spcPts val="2100"/>
                </a:lnSpc>
              </a:pPr>
              <a:r>
                <a:rPr lang="vi-VN" sz="1650" b="1" dirty="0">
                  <a:solidFill>
                    <a:schemeClr val="accent1"/>
                  </a:solidFill>
                  <a:latin typeface="+mn-lt"/>
                  <a:ea typeface="+mn-ea"/>
                  <a:cs typeface="+mn-cs"/>
                </a:rPr>
                <a:t>Mỗi lần gặp đúng</a:t>
              </a:r>
              <a:br/>
              <a:r>
                <a:rPr lang="vi-VN" sz="1650" b="1" dirty="0">
                  <a:solidFill>
                    <a:schemeClr val="accent1"/>
                  </a:solidFill>
                  <a:latin typeface="+mn-lt"/>
                  <a:ea typeface="+mn-ea"/>
                  <a:cs typeface="+mn-cs"/>
                </a:rPr>
                <a:t>loại việc đó</a:t>
              </a:r>
            </a:p>
          </p:txBody>
        </p:sp>
        <p:sp>
          <p:nvSpPr>
            <p:cNvPr id="45" name="TextBox 45"/>
            <p:cNvSpPr txBox="1"/>
            <p:nvPr/>
          </p:nvSpPr>
          <p:spPr>
            <a:xfrm>
              <a:off x="8983218" y="4679632"/>
              <a:ext cx="2438723"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Chi tiết, không sợ dài</a:t>
              </a:r>
            </a:p>
          </p:txBody>
        </p:sp>
        <p:sp>
          <p:nvSpPr>
            <p:cNvPr id="46" name="TextBox 46"/>
            <p:cNvSpPr txBox="1"/>
            <p:nvPr/>
          </p:nvSpPr>
          <p:spPr>
            <a:xfrm>
              <a:off x="8983218" y="5365432"/>
              <a:ext cx="1842992" cy="589407"/>
            </a:xfrm>
            <a:prstGeom prst="rect">
              <a:avLst/>
            </a:prstGeom>
            <a:noFill/>
            <a:ln>
              <a:noFill/>
            </a:ln>
          </p:spPr>
          <p:txBody>
            <a:bodyPr wrap="none" lIns="0" tIns="0" rIns="0" bIns="0" anchor="t" anchorCtr="0">
              <a:spAutoFit/>
            </a:bodyPr>
            <a:lstStyle/>
            <a:p>
              <a:pPr algn="l">
                <a:lnSpc>
                  <a:spcPts val="2100"/>
                </a:lnSpc>
              </a:pPr>
              <a:r>
                <a:rPr lang="vi-VN" sz="1650" b="1" dirty="0">
                  <a:solidFill>
                    <a:schemeClr val="accent1"/>
                  </a:solidFill>
                  <a:latin typeface="+mn-lt"/>
                  <a:ea typeface="+mn-ea"/>
                  <a:cs typeface="+mn-cs"/>
                </a:rPr>
                <a:t>ChatGPT tự chọn,</a:t>
              </a:r>
              <a:br/>
              <a:r>
                <a:rPr lang="vi-VN" sz="1650" b="1" dirty="0">
                  <a:solidFill>
                    <a:schemeClr val="accent1"/>
                  </a:solidFill>
                  <a:latin typeface="+mn-lt"/>
                  <a:ea typeface="+mn-ea"/>
                  <a:cs typeface="+mn-cs"/>
                </a:rPr>
                <a:t>hoặc gọi bằng @</a:t>
              </a:r>
            </a:p>
          </p:txBody>
        </p:sp>
      </p:grpSp>
      <p:sp>
        <p:nvSpPr>
          <p:cNvPr id="48" name="TextBox 48"/>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49" name="TextBox 49"/>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20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1623538" cy="234696"/>
            <a:chOff x="381000" y="346710"/>
            <a:chExt cx="1623538" cy="234696"/>
          </a:xfrm>
        </p:grpSpPr>
        <p:sp>
          <p:nvSpPr>
            <p:cNvPr id="2" name="Rectangle 2"/>
            <p:cNvSpPr/>
            <p:nvPr/>
          </p:nvSpPr>
          <p:spPr>
            <a:xfrm>
              <a:off x="381000" y="361950"/>
              <a:ext cx="114300" cy="114300"/>
            </a:xfrm>
            <a:prstGeom prst="roundRect">
              <a:avLst>
                <a:gd name="adj" fmla="val 25000"/>
              </a:avLst>
            </a:prstGeom>
            <a:solidFill>
              <a:srgbClr val="2E5E91"/>
            </a:solidFill>
            <a:ln>
              <a:noFill/>
            </a:ln>
          </p:spPr>
        </p:sp>
        <p:sp>
          <p:nvSpPr>
            <p:cNvPr id="3" name="TextBox 3"/>
            <p:cNvSpPr txBox="1"/>
            <p:nvPr/>
          </p:nvSpPr>
          <p:spPr>
            <a:xfrm>
              <a:off x="584454" y="346710"/>
              <a:ext cx="1420084"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3 · SKILL</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chemeClr val="accent2"/>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50108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9630204"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ChatGPT chỉ đọc dòng description để chọn skill,</a:t>
            </a:r>
            <a:br/>
            <a:r>
              <a:rPr lang="vi-VN" sz="3150" b="1" dirty="0">
                <a:solidFill>
                  <a:schemeClr val="accent1"/>
                </a:solidFill>
                <a:latin typeface="+mn-lt"/>
                <a:ea typeface="+mn-ea"/>
                <a:cs typeface="+mn-cs"/>
              </a:rPr>
              <a:t>nên description mơ hồ thì skill không được gọi</a:t>
            </a:r>
          </a:p>
        </p:txBody>
      </p:sp>
      <p:grpSp>
        <p:nvGrpSpPr>
          <p:cNvPr id="20" name="Group 20"/>
          <p:cNvGrpSpPr/>
          <p:nvPr/>
        </p:nvGrpSpPr>
        <p:grpSpPr>
          <a:xfrm>
            <a:off x="2076450" y="2400300"/>
            <a:ext cx="7981950" cy="1"/>
            <a:chOff x="2076450" y="2400300"/>
            <a:chExt cx="7981950" cy="1"/>
          </a:xfrm>
        </p:grpSpPr>
        <p:sp>
          <p:nvSpPr>
            <p:cNvPr id="17" name="Line 17"/>
            <p:cNvSpPr/>
            <p:nvPr/>
          </p:nvSpPr>
          <p:spPr>
            <a:xfrm>
              <a:off x="2076450" y="2400300"/>
              <a:ext cx="2266950" cy="1"/>
            </a:xfrm>
            <a:prstGeom prst="line">
              <a:avLst/>
            </a:prstGeom>
            <a:noFill/>
            <a:ln w="19050">
              <a:solidFill>
                <a:srgbClr val="5B6675"/>
              </a:solidFill>
              <a:tailEnd type="triangle" w="lg" len="lg"/>
            </a:ln>
          </p:spPr>
        </p:sp>
        <p:sp>
          <p:nvSpPr>
            <p:cNvPr id="18" name="Line 18"/>
            <p:cNvSpPr/>
            <p:nvPr/>
          </p:nvSpPr>
          <p:spPr>
            <a:xfrm>
              <a:off x="4933950" y="2400300"/>
              <a:ext cx="2266950" cy="1"/>
            </a:xfrm>
            <a:prstGeom prst="line">
              <a:avLst/>
            </a:prstGeom>
            <a:noFill/>
            <a:ln w="19050">
              <a:solidFill>
                <a:srgbClr val="5B6675"/>
              </a:solidFill>
              <a:tailEnd type="triangle" w="lg" len="lg"/>
            </a:ln>
          </p:spPr>
        </p:sp>
        <p:sp>
          <p:nvSpPr>
            <p:cNvPr id="19" name="Line 19"/>
            <p:cNvSpPr/>
            <p:nvPr/>
          </p:nvSpPr>
          <p:spPr>
            <a:xfrm>
              <a:off x="7791450" y="2400300"/>
              <a:ext cx="2266950" cy="1"/>
            </a:xfrm>
            <a:prstGeom prst="line">
              <a:avLst/>
            </a:prstGeom>
            <a:noFill/>
            <a:ln w="19050">
              <a:solidFill>
                <a:srgbClr val="5B6675"/>
              </a:solidFill>
              <a:tailEnd type="triangle" w="lg" len="lg"/>
            </a:ln>
          </p:spPr>
        </p:sp>
      </p:grpSp>
      <p:grpSp>
        <p:nvGrpSpPr>
          <p:cNvPr id="24" name="Group 24"/>
          <p:cNvGrpSpPr/>
          <p:nvPr/>
        </p:nvGrpSpPr>
        <p:grpSpPr>
          <a:xfrm>
            <a:off x="1096812" y="2190750"/>
            <a:ext cx="1425875" cy="836295"/>
            <a:chOff x="1096812" y="2190750"/>
            <a:chExt cx="1425875" cy="836295"/>
          </a:xfrm>
        </p:grpSpPr>
        <p:sp>
          <p:nvSpPr>
            <p:cNvPr id="21" name="Ellipse 21"/>
            <p:cNvSpPr/>
            <p:nvPr/>
          </p:nvSpPr>
          <p:spPr>
            <a:xfrm>
              <a:off x="1600200" y="2190750"/>
              <a:ext cx="419100" cy="419100"/>
            </a:xfrm>
            <a:prstGeom prst="ellipse">
              <a:avLst/>
            </a:prstGeom>
            <a:solidFill>
              <a:srgbClr val="2E5E91"/>
            </a:solidFill>
            <a:ln>
              <a:noFill/>
            </a:ln>
          </p:spPr>
        </p:sp>
        <p:sp>
          <p:nvSpPr>
            <p:cNvPr id="22" name="TextBox 22"/>
            <p:cNvSpPr txBox="1"/>
            <p:nvPr/>
          </p:nvSpPr>
          <p:spPr>
            <a:xfrm>
              <a:off x="1743823" y="231457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1</a:t>
              </a:r>
            </a:p>
          </p:txBody>
        </p:sp>
        <p:sp>
          <p:nvSpPr>
            <p:cNvPr id="23" name="TextBox 23"/>
            <p:cNvSpPr txBox="1"/>
            <p:nvPr/>
          </p:nvSpPr>
          <p:spPr>
            <a:xfrm>
              <a:off x="1096812" y="2733675"/>
              <a:ext cx="1425875" cy="293370"/>
            </a:xfrm>
            <a:prstGeom prst="rect">
              <a:avLst/>
            </a:prstGeom>
            <a:noFill/>
            <a:ln>
              <a:noFill/>
            </a:ln>
          </p:spPr>
          <p:txBody>
            <a:bodyPr wrap="none" lIns="0" tIns="0" rIns="0" bIns="0" anchor="t" anchorCtr="0">
              <a:spAutoFit/>
            </a:bodyPr>
            <a:lstStyle/>
            <a:p>
              <a:pPr algn="ctr"/>
              <a:r>
                <a:rPr lang="vi-VN" sz="1500" dirty="0">
                  <a:solidFill>
                    <a:schemeClr val="dk1"/>
                  </a:solidFill>
                  <a:latin typeface="+mn-lt"/>
                  <a:ea typeface="+mn-ea"/>
                  <a:cs typeface="+mn-cs"/>
                </a:rPr>
                <a:t>Bạn gõ yêu cầu</a:t>
              </a:r>
            </a:p>
          </p:txBody>
        </p:sp>
      </p:grpSp>
      <p:grpSp>
        <p:nvGrpSpPr>
          <p:cNvPr id="30" name="Group 30"/>
          <p:cNvGrpSpPr/>
          <p:nvPr/>
        </p:nvGrpSpPr>
        <p:grpSpPr>
          <a:xfrm>
            <a:off x="3489484" y="2190750"/>
            <a:ext cx="2355532" cy="1362456"/>
            <a:chOff x="3489484" y="2190750"/>
            <a:chExt cx="2355532" cy="1362456"/>
          </a:xfrm>
        </p:grpSpPr>
        <p:sp>
          <p:nvSpPr>
            <p:cNvPr id="25" name="Ellipse 25"/>
            <p:cNvSpPr/>
            <p:nvPr/>
          </p:nvSpPr>
          <p:spPr>
            <a:xfrm>
              <a:off x="4457700" y="2190750"/>
              <a:ext cx="419100" cy="419100"/>
            </a:xfrm>
            <a:prstGeom prst="ellipse">
              <a:avLst/>
            </a:prstGeom>
            <a:solidFill>
              <a:schemeClr val="accent2"/>
            </a:solidFill>
            <a:ln>
              <a:noFill/>
            </a:ln>
          </p:spPr>
        </p:sp>
        <p:sp>
          <p:nvSpPr>
            <p:cNvPr id="26" name="TextBox 26"/>
            <p:cNvSpPr txBox="1"/>
            <p:nvPr/>
          </p:nvSpPr>
          <p:spPr>
            <a:xfrm>
              <a:off x="4601323" y="2314575"/>
              <a:ext cx="131855" cy="293370"/>
            </a:xfrm>
            <a:prstGeom prst="rect">
              <a:avLst/>
            </a:prstGeom>
            <a:noFill/>
            <a:ln>
              <a:noFill/>
            </a:ln>
          </p:spPr>
          <p:txBody>
            <a:bodyPr wrap="none" lIns="0" tIns="0" rIns="0" bIns="0" anchor="t" anchorCtr="0">
              <a:spAutoFit/>
            </a:bodyPr>
            <a:lstStyle/>
            <a:p>
              <a:pPr algn="ctr"/>
              <a:r>
                <a:rPr lang="vi-VN" sz="1500" b="1" dirty="0">
                  <a:solidFill>
                    <a:schemeClr val="dk1"/>
                  </a:solidFill>
                  <a:latin typeface="+mn-lt"/>
                  <a:ea typeface="+mn-ea"/>
                  <a:cs typeface="+mn-cs"/>
                </a:rPr>
                <a:t>2</a:t>
              </a:r>
            </a:p>
          </p:txBody>
        </p:sp>
        <p:sp>
          <p:nvSpPr>
            <p:cNvPr id="27" name="TextBox 27"/>
            <p:cNvSpPr txBox="1"/>
            <p:nvPr/>
          </p:nvSpPr>
          <p:spPr>
            <a:xfrm>
              <a:off x="3489484" y="2733675"/>
              <a:ext cx="2355532" cy="541020"/>
            </a:xfrm>
            <a:prstGeom prst="rect">
              <a:avLst/>
            </a:prstGeom>
            <a:noFill/>
            <a:ln>
              <a:noFill/>
            </a:ln>
          </p:spPr>
          <p:txBody>
            <a:bodyPr wrap="none" lIns="0" tIns="0" rIns="0" bIns="0" anchor="t" anchorCtr="0">
              <a:spAutoFit/>
            </a:bodyPr>
            <a:lstStyle/>
            <a:p>
              <a:pPr algn="ctr">
                <a:lnSpc>
                  <a:spcPts val="1950"/>
                </a:lnSpc>
              </a:pPr>
              <a:r>
                <a:rPr lang="vi-VN" sz="1500" b="1" dirty="0">
                  <a:solidFill>
                    <a:schemeClr val="accent1"/>
                  </a:solidFill>
                  <a:latin typeface="+mn-lt"/>
                  <a:ea typeface="+mn-ea"/>
                  <a:cs typeface="+mn-cs"/>
                </a:rPr>
                <a:t>ChatGPT chỉ đọc tên +</a:t>
              </a:r>
              <a:br/>
              <a:r>
                <a:rPr lang="vi-VN" sz="1500" b="1" dirty="0">
                  <a:solidFill>
                    <a:schemeClr val="accent1"/>
                  </a:solidFill>
                  <a:latin typeface="+mn-lt"/>
                  <a:ea typeface="+mn-ea"/>
                  <a:cs typeface="+mn-cs"/>
                </a:rPr>
                <a:t>description của mọi skill</a:t>
              </a:r>
            </a:p>
          </p:txBody>
        </p:sp>
        <p:sp>
          <p:nvSpPr>
            <p:cNvPr id="28" name="Rectangle 28"/>
            <p:cNvSpPr/>
            <p:nvPr/>
          </p:nvSpPr>
          <p:spPr>
            <a:xfrm>
              <a:off x="4038600" y="3257550"/>
              <a:ext cx="1257300" cy="266700"/>
            </a:xfrm>
            <a:prstGeom prst="roundRect">
              <a:avLst>
                <a:gd name="adj" fmla="val 50000"/>
              </a:avLst>
            </a:prstGeom>
            <a:solidFill>
              <a:srgbClr val="FCEBDD"/>
            </a:solidFill>
            <a:ln>
              <a:noFill/>
            </a:ln>
          </p:spPr>
        </p:sp>
        <p:sp>
          <p:nvSpPr>
            <p:cNvPr id="29" name="TextBox 29"/>
            <p:cNvSpPr txBox="1"/>
            <p:nvPr/>
          </p:nvSpPr>
          <p:spPr>
            <a:xfrm>
              <a:off x="4123823" y="3318510"/>
              <a:ext cx="1086854" cy="234696"/>
            </a:xfrm>
            <a:prstGeom prst="rect">
              <a:avLst/>
            </a:prstGeom>
            <a:noFill/>
            <a:ln>
              <a:noFill/>
            </a:ln>
          </p:spPr>
          <p:txBody>
            <a:bodyPr wrap="none" lIns="0" tIns="0" rIns="0" bIns="0" anchor="t" anchorCtr="0">
              <a:spAutoFit/>
            </a:bodyPr>
            <a:lstStyle/>
            <a:p>
              <a:pPr algn="ctr"/>
              <a:r>
                <a:rPr lang="vi-VN" sz="1200" b="1" dirty="0">
                  <a:solidFill>
                    <a:schemeClr val="accent1"/>
                  </a:solidFill>
                  <a:latin typeface="+mn-lt"/>
                  <a:ea typeface="+mn-ea"/>
                  <a:cs typeface="+mn-cs"/>
                </a:rPr>
                <a:t>Chỗ mấu chốt</a:t>
              </a:r>
            </a:p>
          </p:txBody>
        </p:sp>
      </p:grpSp>
      <p:grpSp>
        <p:nvGrpSpPr>
          <p:cNvPr id="34" name="Group 34"/>
          <p:cNvGrpSpPr/>
          <p:nvPr/>
        </p:nvGrpSpPr>
        <p:grpSpPr>
          <a:xfrm>
            <a:off x="6731318" y="2190750"/>
            <a:ext cx="1586865" cy="1083945"/>
            <a:chOff x="6731318" y="2190750"/>
            <a:chExt cx="1586865" cy="1083945"/>
          </a:xfrm>
        </p:grpSpPr>
        <p:sp>
          <p:nvSpPr>
            <p:cNvPr id="31" name="Ellipse 31"/>
            <p:cNvSpPr/>
            <p:nvPr/>
          </p:nvSpPr>
          <p:spPr>
            <a:xfrm>
              <a:off x="7315200" y="2190750"/>
              <a:ext cx="419100" cy="419100"/>
            </a:xfrm>
            <a:prstGeom prst="ellipse">
              <a:avLst/>
            </a:prstGeom>
            <a:solidFill>
              <a:srgbClr val="2E5E91"/>
            </a:solidFill>
            <a:ln>
              <a:noFill/>
            </a:ln>
          </p:spPr>
        </p:sp>
        <p:sp>
          <p:nvSpPr>
            <p:cNvPr id="32" name="TextBox 32"/>
            <p:cNvSpPr txBox="1"/>
            <p:nvPr/>
          </p:nvSpPr>
          <p:spPr>
            <a:xfrm>
              <a:off x="7458823" y="231457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3</a:t>
              </a:r>
            </a:p>
          </p:txBody>
        </p:sp>
        <p:sp>
          <p:nvSpPr>
            <p:cNvPr id="33" name="TextBox 33"/>
            <p:cNvSpPr txBox="1"/>
            <p:nvPr/>
          </p:nvSpPr>
          <p:spPr>
            <a:xfrm>
              <a:off x="6731318" y="2733675"/>
              <a:ext cx="1586865" cy="541020"/>
            </a:xfrm>
            <a:prstGeom prst="rect">
              <a:avLst/>
            </a:prstGeom>
            <a:noFill/>
            <a:ln>
              <a:noFill/>
            </a:ln>
          </p:spPr>
          <p:txBody>
            <a:bodyPr wrap="none" lIns="0" tIns="0" rIns="0" bIns="0" anchor="t" anchorCtr="0">
              <a:spAutoFit/>
            </a:bodyPr>
            <a:lstStyle/>
            <a:p>
              <a:pPr algn="ctr">
                <a:lnSpc>
                  <a:spcPts val="1950"/>
                </a:lnSpc>
              </a:pPr>
              <a:r>
                <a:rPr lang="vi-VN" sz="1500" dirty="0">
                  <a:solidFill>
                    <a:schemeClr val="dk1"/>
                  </a:solidFill>
                  <a:latin typeface="+mn-lt"/>
                  <a:ea typeface="+mn-ea"/>
                  <a:cs typeface="+mn-cs"/>
                </a:rPr>
                <a:t>Thấy khớp mới mở</a:t>
              </a:r>
              <a:br/>
              <a:r>
                <a:rPr lang="vi-VN" sz="1500" dirty="0">
                  <a:solidFill>
                    <a:schemeClr val="dk1"/>
                  </a:solidFill>
                  <a:latin typeface="+mn-lt"/>
                  <a:ea typeface="+mn-ea"/>
                  <a:cs typeface="+mn-cs"/>
                </a:rPr>
                <a:t>toàn bộ SKILL.md</a:t>
              </a:r>
            </a:p>
          </p:txBody>
        </p:sp>
      </p:grpSp>
      <p:grpSp>
        <p:nvGrpSpPr>
          <p:cNvPr id="38" name="Group 38"/>
          <p:cNvGrpSpPr/>
          <p:nvPr/>
        </p:nvGrpSpPr>
        <p:grpSpPr>
          <a:xfrm>
            <a:off x="9407842" y="2190750"/>
            <a:ext cx="1948815" cy="1083945"/>
            <a:chOff x="9407842" y="2190750"/>
            <a:chExt cx="1948815" cy="1083945"/>
          </a:xfrm>
        </p:grpSpPr>
        <p:sp>
          <p:nvSpPr>
            <p:cNvPr id="35" name="Ellipse 35"/>
            <p:cNvSpPr/>
            <p:nvPr/>
          </p:nvSpPr>
          <p:spPr>
            <a:xfrm>
              <a:off x="10172700" y="2190750"/>
              <a:ext cx="419100" cy="419100"/>
            </a:xfrm>
            <a:prstGeom prst="ellipse">
              <a:avLst/>
            </a:prstGeom>
            <a:solidFill>
              <a:srgbClr val="2E5E91"/>
            </a:solidFill>
            <a:ln>
              <a:noFill/>
            </a:ln>
          </p:spPr>
        </p:sp>
        <p:sp>
          <p:nvSpPr>
            <p:cNvPr id="36" name="TextBox 36"/>
            <p:cNvSpPr txBox="1"/>
            <p:nvPr/>
          </p:nvSpPr>
          <p:spPr>
            <a:xfrm>
              <a:off x="10316323" y="231457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4</a:t>
              </a:r>
            </a:p>
          </p:txBody>
        </p:sp>
        <p:sp>
          <p:nvSpPr>
            <p:cNvPr id="37" name="TextBox 37"/>
            <p:cNvSpPr txBox="1"/>
            <p:nvPr/>
          </p:nvSpPr>
          <p:spPr>
            <a:xfrm>
              <a:off x="9407842" y="2733675"/>
              <a:ext cx="1948815" cy="541020"/>
            </a:xfrm>
            <a:prstGeom prst="rect">
              <a:avLst/>
            </a:prstGeom>
            <a:noFill/>
            <a:ln>
              <a:noFill/>
            </a:ln>
          </p:spPr>
          <p:txBody>
            <a:bodyPr wrap="none" lIns="0" tIns="0" rIns="0" bIns="0" anchor="t" anchorCtr="0">
              <a:spAutoFit/>
            </a:bodyPr>
            <a:lstStyle/>
            <a:p>
              <a:pPr algn="ctr">
                <a:lnSpc>
                  <a:spcPts val="1950"/>
                </a:lnSpc>
              </a:pPr>
              <a:r>
                <a:rPr lang="vi-VN" sz="1500" dirty="0">
                  <a:solidFill>
                    <a:schemeClr val="dk1"/>
                  </a:solidFill>
                  <a:latin typeface="+mn-lt"/>
                  <a:ea typeface="+mn-ea"/>
                  <a:cs typeface="+mn-cs"/>
                </a:rPr>
                <a:t>Làm đúng từng bước,</a:t>
              </a:r>
              <a:br/>
              <a:r>
                <a:rPr lang="vi-VN" sz="1500" dirty="0">
                  <a:solidFill>
                    <a:schemeClr val="dk1"/>
                  </a:solidFill>
                  <a:latin typeface="+mn-lt"/>
                  <a:ea typeface="+mn-ea"/>
                  <a:cs typeface="+mn-cs"/>
                </a:rPr>
                <a:t>kể cả hỏi lại khi thiếu</a:t>
              </a:r>
            </a:p>
          </p:txBody>
        </p:sp>
      </p:grpSp>
      <p:grpSp>
        <p:nvGrpSpPr>
          <p:cNvPr id="47" name="Group 47"/>
          <p:cNvGrpSpPr/>
          <p:nvPr/>
        </p:nvGrpSpPr>
        <p:grpSpPr>
          <a:xfrm>
            <a:off x="381000" y="3695700"/>
            <a:ext cx="3733800" cy="2362200"/>
            <a:chOff x="381000" y="3695700"/>
            <a:chExt cx="3733800" cy="2362200"/>
          </a:xfrm>
        </p:grpSpPr>
        <p:sp>
          <p:nvSpPr>
            <p:cNvPr id="39" name="Rectangle 39"/>
            <p:cNvSpPr/>
            <p:nvPr/>
          </p:nvSpPr>
          <p:spPr>
            <a:xfrm>
              <a:off x="381000" y="3695700"/>
              <a:ext cx="3733800" cy="2362200"/>
            </a:xfrm>
            <a:prstGeom prst="roundRect">
              <a:avLst>
                <a:gd name="adj" fmla="val 6452"/>
              </a:avLst>
            </a:prstGeom>
            <a:solidFill>
              <a:schemeClr val="lt1"/>
            </a:solidFill>
            <a:ln w="19050">
              <a:solidFill>
                <a:srgbClr val="C0392B"/>
              </a:solidFill>
            </a:ln>
          </p:spPr>
        </p:sp>
        <p:grpSp>
          <p:nvGrpSpPr>
            <p:cNvPr id="42" name="Group 42"/>
            <p:cNvGrpSpPr/>
            <p:nvPr/>
          </p:nvGrpSpPr>
          <p:grpSpPr>
            <a:xfrm>
              <a:off x="638175" y="3876675"/>
              <a:ext cx="171450" cy="171450"/>
              <a:chOff x="638175" y="3876675"/>
              <a:chExt cx="171450" cy="171450"/>
            </a:xfrm>
          </p:grpSpPr>
          <p:sp>
            <p:nvSpPr>
              <p:cNvPr id="40" name="Freeform 40"/>
              <p:cNvSpPr/>
              <p:nvPr/>
            </p:nvSpPr>
            <p:spPr>
              <a:xfrm>
                <a:off x="638175" y="387667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C0392B"/>
                </a:solidFill>
              </a:ln>
            </p:spPr>
          </p:sp>
          <p:sp>
            <p:nvSpPr>
              <p:cNvPr id="41" name="Freeform 41"/>
              <p:cNvSpPr/>
              <p:nvPr/>
            </p:nvSpPr>
            <p:spPr>
              <a:xfrm>
                <a:off x="704850" y="3943350"/>
                <a:ext cx="38100" cy="38100"/>
              </a:xfrm>
              <a:custGeom>
                <a:avLst/>
                <a:gdLst/>
                <a:ahLst/>
                <a:cxnLst/>
                <a:rect l="l" t="t" r="r" b="b"/>
                <a:pathLst>
                  <a:path w="38100" h="38100">
                    <a:moveTo>
                      <a:pt x="0" y="0"/>
                    </a:moveTo>
                    <a:lnTo>
                      <a:pt x="38100" y="38100"/>
                    </a:lnTo>
                    <a:moveTo>
                      <a:pt x="38100" y="0"/>
                    </a:moveTo>
                    <a:lnTo>
                      <a:pt x="0" y="38100"/>
                    </a:lnTo>
                  </a:path>
                </a:pathLst>
              </a:custGeom>
              <a:noFill/>
              <a:ln w="19050">
                <a:solidFill>
                  <a:srgbClr val="C0392B"/>
                </a:solidFill>
              </a:ln>
            </p:spPr>
          </p:sp>
        </p:grpSp>
        <p:sp>
          <p:nvSpPr>
            <p:cNvPr id="43" name="TextBox 43"/>
            <p:cNvSpPr txBox="1"/>
            <p:nvPr/>
          </p:nvSpPr>
          <p:spPr>
            <a:xfrm>
              <a:off x="927354" y="3890010"/>
              <a:ext cx="1496751" cy="234696"/>
            </a:xfrm>
            <a:prstGeom prst="rect">
              <a:avLst/>
            </a:prstGeom>
            <a:noFill/>
            <a:ln>
              <a:noFill/>
            </a:ln>
          </p:spPr>
          <p:txBody>
            <a:bodyPr wrap="none" lIns="0" tIns="0" rIns="0" bIns="0" anchor="t" anchorCtr="0">
              <a:spAutoFit/>
            </a:bodyPr>
            <a:lstStyle/>
            <a:p>
              <a:pPr algn="l"/>
              <a:r>
                <a:rPr lang="vi-VN" sz="1200" b="1" spc="75" dirty="0">
                  <a:solidFill>
                    <a:srgbClr val="C0392B"/>
                  </a:solidFill>
                  <a:latin typeface="+mn-lt"/>
                  <a:ea typeface="+mn-ea"/>
                  <a:cs typeface="+mn-cs"/>
                </a:rPr>
                <a:t>DESCRIPTION TỒI</a:t>
              </a:r>
            </a:p>
          </p:txBody>
        </p:sp>
        <p:sp>
          <p:nvSpPr>
            <p:cNvPr id="44" name="Rectangle 44"/>
            <p:cNvSpPr/>
            <p:nvPr/>
          </p:nvSpPr>
          <p:spPr>
            <a:xfrm>
              <a:off x="609600" y="4191000"/>
              <a:ext cx="3276600" cy="762000"/>
            </a:xfrm>
            <a:prstGeom prst="roundRect">
              <a:avLst>
                <a:gd name="adj" fmla="val 12500"/>
              </a:avLst>
            </a:prstGeom>
            <a:solidFill>
              <a:schemeClr val="lt2"/>
            </a:solidFill>
            <a:ln>
              <a:noFill/>
            </a:ln>
          </p:spPr>
        </p:sp>
        <p:sp>
          <p:nvSpPr>
            <p:cNvPr id="45" name="TextBox 45"/>
            <p:cNvSpPr txBox="1"/>
            <p:nvPr/>
          </p:nvSpPr>
          <p:spPr>
            <a:xfrm>
              <a:off x="754380" y="4333875"/>
              <a:ext cx="1929765" cy="541020"/>
            </a:xfrm>
            <a:prstGeom prst="rect">
              <a:avLst/>
            </a:prstGeom>
            <a:noFill/>
            <a:ln>
              <a:noFill/>
            </a:ln>
          </p:spPr>
          <p:txBody>
            <a:bodyPr wrap="none" lIns="0" tIns="0" rIns="0" bIns="0" anchor="t" anchorCtr="0">
              <a:spAutoFit/>
            </a:bodyPr>
            <a:lstStyle/>
            <a:p>
              <a:pPr algn="l">
                <a:lnSpc>
                  <a:spcPts val="1950"/>
                </a:lnSpc>
              </a:pPr>
              <a:r>
                <a:rPr lang="vi-VN" sz="1500" dirty="0">
                  <a:solidFill>
                    <a:schemeClr val="accent1"/>
                  </a:solidFill>
                  <a:latin typeface="Consolas"/>
                  <a:ea typeface="Consolas"/>
                  <a:cs typeface="Consolas"/>
                </a:rPr>
                <a:t>description: Viết nội</a:t>
              </a:r>
              <a:br/>
              <a:r>
                <a:rPr lang="vi-VN" sz="1500" dirty="0">
                  <a:solidFill>
                    <a:schemeClr val="accent1"/>
                  </a:solidFill>
                  <a:latin typeface="Consolas"/>
                  <a:ea typeface="Consolas"/>
                  <a:cs typeface="Consolas"/>
                </a:rPr>
                <a:t>dung cho công ty.</a:t>
              </a:r>
            </a:p>
          </p:txBody>
        </p:sp>
        <p:sp>
          <p:nvSpPr>
            <p:cNvPr id="46" name="TextBox 46"/>
            <p:cNvSpPr txBox="1"/>
            <p:nvPr/>
          </p:nvSpPr>
          <p:spPr>
            <a:xfrm>
              <a:off x="601980" y="5229225"/>
              <a:ext cx="2367915" cy="54102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Quá chung: gọi nhầm hoặc</a:t>
              </a:r>
              <a:br/>
              <a:r>
                <a:rPr lang="vi-VN" sz="1500" dirty="0">
                  <a:solidFill>
                    <a:schemeClr val="dk1"/>
                  </a:solidFill>
                  <a:latin typeface="+mn-lt"/>
                  <a:ea typeface="+mn-ea"/>
                  <a:cs typeface="+mn-cs"/>
                </a:rPr>
                <a:t>không bao giờ được gọi</a:t>
              </a:r>
            </a:p>
          </p:txBody>
        </p:sp>
      </p:grpSp>
      <p:grpSp>
        <p:nvGrpSpPr>
          <p:cNvPr id="56" name="Group 56"/>
          <p:cNvGrpSpPr/>
          <p:nvPr/>
        </p:nvGrpSpPr>
        <p:grpSpPr>
          <a:xfrm>
            <a:off x="4343400" y="3695700"/>
            <a:ext cx="7467600" cy="2362200"/>
            <a:chOff x="4343400" y="3695700"/>
            <a:chExt cx="7467600" cy="2362200"/>
          </a:xfrm>
        </p:grpSpPr>
        <p:sp>
          <p:nvSpPr>
            <p:cNvPr id="48" name="Rectangle 48"/>
            <p:cNvSpPr/>
            <p:nvPr/>
          </p:nvSpPr>
          <p:spPr>
            <a:xfrm>
              <a:off x="4343400" y="3695700"/>
              <a:ext cx="7467600" cy="2362200"/>
            </a:xfrm>
            <a:prstGeom prst="roundRect">
              <a:avLst>
                <a:gd name="adj" fmla="val 6452"/>
              </a:avLst>
            </a:prstGeom>
            <a:solidFill>
              <a:schemeClr val="lt1"/>
            </a:solidFill>
            <a:ln w="19050">
              <a:solidFill>
                <a:srgbClr val="2E8B57"/>
              </a:solidFill>
            </a:ln>
          </p:spPr>
        </p:sp>
        <p:grpSp>
          <p:nvGrpSpPr>
            <p:cNvPr id="51" name="Group 51"/>
            <p:cNvGrpSpPr/>
            <p:nvPr/>
          </p:nvGrpSpPr>
          <p:grpSpPr>
            <a:xfrm>
              <a:off x="4600575" y="3876675"/>
              <a:ext cx="171450" cy="171450"/>
              <a:chOff x="4600575" y="3876675"/>
              <a:chExt cx="171450" cy="171450"/>
            </a:xfrm>
          </p:grpSpPr>
          <p:sp>
            <p:nvSpPr>
              <p:cNvPr id="49" name="Freeform 49"/>
              <p:cNvSpPr/>
              <p:nvPr/>
            </p:nvSpPr>
            <p:spPr>
              <a:xfrm>
                <a:off x="4600575" y="387667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2E8B57"/>
                </a:solidFill>
              </a:ln>
            </p:spPr>
          </p:sp>
          <p:sp>
            <p:nvSpPr>
              <p:cNvPr id="50" name="Freeform 50"/>
              <p:cNvSpPr/>
              <p:nvPr/>
            </p:nvSpPr>
            <p:spPr>
              <a:xfrm>
                <a:off x="4657725" y="3943350"/>
                <a:ext cx="57150" cy="38100"/>
              </a:xfrm>
              <a:custGeom>
                <a:avLst/>
                <a:gdLst/>
                <a:ahLst/>
                <a:cxnLst/>
                <a:rect l="l" t="t" r="r" b="b"/>
                <a:pathLst>
                  <a:path w="57150" h="38100">
                    <a:moveTo>
                      <a:pt x="0" y="19050"/>
                    </a:moveTo>
                    <a:lnTo>
                      <a:pt x="19050" y="38100"/>
                    </a:lnTo>
                    <a:lnTo>
                      <a:pt x="57150" y="0"/>
                    </a:lnTo>
                  </a:path>
                </a:pathLst>
              </a:custGeom>
              <a:noFill/>
              <a:ln w="19050">
                <a:solidFill>
                  <a:srgbClr val="2E8B57"/>
                </a:solidFill>
              </a:ln>
            </p:spPr>
          </p:sp>
        </p:grpSp>
        <p:sp>
          <p:nvSpPr>
            <p:cNvPr id="52" name="TextBox 52"/>
            <p:cNvSpPr txBox="1"/>
            <p:nvPr/>
          </p:nvSpPr>
          <p:spPr>
            <a:xfrm>
              <a:off x="4889754" y="3890010"/>
              <a:ext cx="1541556" cy="234696"/>
            </a:xfrm>
            <a:prstGeom prst="rect">
              <a:avLst/>
            </a:prstGeom>
            <a:noFill/>
            <a:ln>
              <a:noFill/>
            </a:ln>
          </p:spPr>
          <p:txBody>
            <a:bodyPr wrap="none" lIns="0" tIns="0" rIns="0" bIns="0" anchor="t" anchorCtr="0">
              <a:spAutoFit/>
            </a:bodyPr>
            <a:lstStyle/>
            <a:p>
              <a:pPr algn="l"/>
              <a:r>
                <a:rPr lang="vi-VN" sz="1200" b="1" spc="75" dirty="0">
                  <a:solidFill>
                    <a:srgbClr val="2E8B57"/>
                  </a:solidFill>
                  <a:latin typeface="+mn-lt"/>
                  <a:ea typeface="+mn-ea"/>
                  <a:cs typeface="+mn-cs"/>
                </a:rPr>
                <a:t>DESCRIPTION TỐT</a:t>
              </a:r>
            </a:p>
          </p:txBody>
        </p:sp>
        <p:sp>
          <p:nvSpPr>
            <p:cNvPr id="53" name="Rectangle 53"/>
            <p:cNvSpPr/>
            <p:nvPr/>
          </p:nvSpPr>
          <p:spPr>
            <a:xfrm>
              <a:off x="4572000" y="4191000"/>
              <a:ext cx="7010400" cy="1257300"/>
            </a:xfrm>
            <a:prstGeom prst="roundRect">
              <a:avLst>
                <a:gd name="adj" fmla="val 7576"/>
              </a:avLst>
            </a:prstGeom>
            <a:solidFill>
              <a:schemeClr val="lt2"/>
            </a:solidFill>
            <a:ln>
              <a:noFill/>
            </a:ln>
          </p:spPr>
        </p:sp>
        <p:sp>
          <p:nvSpPr>
            <p:cNvPr id="54" name="TextBox 54"/>
            <p:cNvSpPr txBox="1"/>
            <p:nvPr/>
          </p:nvSpPr>
          <p:spPr>
            <a:xfrm>
              <a:off x="4716780" y="4314825"/>
              <a:ext cx="6044565" cy="1036320"/>
            </a:xfrm>
            <a:prstGeom prst="rect">
              <a:avLst/>
            </a:prstGeom>
            <a:noFill/>
            <a:ln>
              <a:noFill/>
            </a:ln>
          </p:spPr>
          <p:txBody>
            <a:bodyPr wrap="none" lIns="0" tIns="0" rIns="0" bIns="0" anchor="t" anchorCtr="0">
              <a:spAutoFit/>
            </a:bodyPr>
            <a:lstStyle/>
            <a:p>
              <a:pPr algn="l">
                <a:lnSpc>
                  <a:spcPts val="1950"/>
                </a:lnSpc>
              </a:pPr>
              <a:r>
                <a:rPr lang="vi-VN" sz="1500" dirty="0">
                  <a:solidFill>
                    <a:schemeClr val="accent1"/>
                  </a:solidFill>
                  <a:latin typeface="Consolas"/>
                  <a:ea typeface="Consolas"/>
                  <a:cs typeface="Consolas"/>
                </a:rPr>
                <a:t>description: Viết bài mạng xã hội cho sản phẩm TPCN</a:t>
              </a:r>
              <a:br/>
              <a:r>
                <a:rPr lang="vi-VN" sz="1500" dirty="0">
                  <a:solidFill>
                    <a:schemeClr val="accent1"/>
                  </a:solidFill>
                  <a:latin typeface="Consolas"/>
                  <a:ea typeface="Consolas"/>
                  <a:cs typeface="Consolas"/>
                </a:rPr>
                <a:t>của Wir (Elasten, CH Alpha Plus, Lactobact Intima).</a:t>
              </a:r>
              <a:br/>
              <a:r>
                <a:rPr lang="vi-VN" sz="1500" dirty="0">
                  <a:solidFill>
                    <a:schemeClr val="accent1"/>
                  </a:solidFill>
                  <a:latin typeface="Consolas"/>
                  <a:ea typeface="Consolas"/>
                  <a:cs typeface="Consolas"/>
                </a:rPr>
                <a:t>Dùng khi cần bài Facebook, Zalo OA, kịch bản video</a:t>
              </a:r>
              <a:br/>
              <a:r>
                <a:rPr lang="vi-VN" sz="1500" dirty="0">
                  <a:solidFill>
                    <a:schemeClr val="accent1"/>
                  </a:solidFill>
                  <a:latin typeface="Consolas"/>
                  <a:ea typeface="Consolas"/>
                  <a:cs typeface="Consolas"/>
                </a:rPr>
                <a:t>ngắn. Không dùng cho Karima (thiết bị tiêm) và tin trả lời khách.</a:t>
              </a:r>
            </a:p>
          </p:txBody>
        </p:sp>
        <p:sp>
          <p:nvSpPr>
            <p:cNvPr id="55" name="TextBox 55"/>
            <p:cNvSpPr txBox="1"/>
            <p:nvPr/>
          </p:nvSpPr>
          <p:spPr>
            <a:xfrm>
              <a:off x="4564380" y="5610225"/>
              <a:ext cx="3344220"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Nêu rõ khi nào dùng, khi nào không</a:t>
              </a:r>
            </a:p>
          </p:txBody>
        </p:sp>
      </p:grpSp>
      <p:sp>
        <p:nvSpPr>
          <p:cNvPr id="57" name="TextBox 57"/>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58" name="TextBox 58"/>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21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1623538" cy="234696"/>
            <a:chOff x="381000" y="346710"/>
            <a:chExt cx="1623538" cy="234696"/>
          </a:xfrm>
        </p:grpSpPr>
        <p:sp>
          <p:nvSpPr>
            <p:cNvPr id="2" name="Rectangle 2"/>
            <p:cNvSpPr/>
            <p:nvPr/>
          </p:nvSpPr>
          <p:spPr>
            <a:xfrm>
              <a:off x="381000" y="361950"/>
              <a:ext cx="114300" cy="114300"/>
            </a:xfrm>
            <a:prstGeom prst="roundRect">
              <a:avLst>
                <a:gd name="adj" fmla="val 25000"/>
              </a:avLst>
            </a:prstGeom>
            <a:solidFill>
              <a:srgbClr val="2E5E91"/>
            </a:solidFill>
            <a:ln>
              <a:noFill/>
            </a:ln>
          </p:spPr>
        </p:sp>
        <p:sp>
          <p:nvSpPr>
            <p:cNvPr id="3" name="TextBox 3"/>
            <p:cNvSpPr txBox="1"/>
            <p:nvPr/>
          </p:nvSpPr>
          <p:spPr>
            <a:xfrm>
              <a:off x="584454" y="346710"/>
              <a:ext cx="1420084"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3 · SKILL</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chemeClr val="accent2"/>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50108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8496062"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Một skill là một file SKILL.md gồm 6 phần:</a:t>
            </a:r>
            <a:br/>
            <a:r>
              <a:rPr lang="vi-VN" sz="3150" b="1" dirty="0">
                <a:solidFill>
                  <a:schemeClr val="accent1"/>
                </a:solidFill>
                <a:latin typeface="+mn-lt"/>
                <a:ea typeface="+mn-ea"/>
                <a:cs typeface="+mn-cs"/>
              </a:rPr>
              <a:t>bước đầu kiểm đầu vào, bước cuối tự rà lại</a:t>
            </a:r>
          </a:p>
        </p:txBody>
      </p:sp>
      <p:grpSp>
        <p:nvGrpSpPr>
          <p:cNvPr id="37" name="Group 37"/>
          <p:cNvGrpSpPr/>
          <p:nvPr/>
        </p:nvGrpSpPr>
        <p:grpSpPr>
          <a:xfrm>
            <a:off x="381000" y="2114550"/>
            <a:ext cx="5334000" cy="3848100"/>
            <a:chOff x="381000" y="2114550"/>
            <a:chExt cx="5334000" cy="3848100"/>
          </a:xfrm>
        </p:grpSpPr>
        <p:sp>
          <p:nvSpPr>
            <p:cNvPr id="17" name="Rectangle 17"/>
            <p:cNvSpPr/>
            <p:nvPr/>
          </p:nvSpPr>
          <p:spPr>
            <a:xfrm>
              <a:off x="381000" y="2114550"/>
              <a:ext cx="5334000" cy="3848100"/>
            </a:xfrm>
            <a:prstGeom prst="roundRect">
              <a:avLst>
                <a:gd name="adj" fmla="val 3960"/>
              </a:avLst>
            </a:prstGeom>
            <a:solidFill>
              <a:schemeClr val="accent1"/>
            </a:solidFill>
            <a:ln>
              <a:noFill/>
            </a:ln>
          </p:spPr>
        </p:sp>
        <p:grpSp>
          <p:nvGrpSpPr>
            <p:cNvPr id="23" name="Group 23"/>
            <p:cNvGrpSpPr/>
            <p:nvPr/>
          </p:nvGrpSpPr>
          <p:grpSpPr>
            <a:xfrm>
              <a:off x="657225" y="2314575"/>
              <a:ext cx="133350" cy="171450"/>
              <a:chOff x="657225" y="2314575"/>
              <a:chExt cx="133350" cy="171450"/>
            </a:xfrm>
          </p:grpSpPr>
          <p:sp>
            <p:nvSpPr>
              <p:cNvPr id="18" name="Freeform 18"/>
              <p:cNvSpPr/>
              <p:nvPr/>
            </p:nvSpPr>
            <p:spPr>
              <a:xfrm>
                <a:off x="742950" y="2314575"/>
                <a:ext cx="47625" cy="47625"/>
              </a:xfrm>
              <a:custGeom>
                <a:avLst/>
                <a:gdLst/>
                <a:ahLst/>
                <a:cxnLst/>
                <a:rect l="l" t="t" r="r" b="b"/>
                <a:pathLst>
                  <a:path w="47625" h="47625">
                    <a:moveTo>
                      <a:pt x="0" y="0"/>
                    </a:moveTo>
                    <a:lnTo>
                      <a:pt x="0" y="38100"/>
                    </a:lnTo>
                    <a:cubicBezTo>
                      <a:pt x="0" y="43361"/>
                      <a:pt x="4264" y="47625"/>
                      <a:pt x="9525" y="47625"/>
                    </a:cubicBezTo>
                    <a:lnTo>
                      <a:pt x="47625" y="47625"/>
                    </a:lnTo>
                  </a:path>
                </a:pathLst>
              </a:custGeom>
              <a:noFill/>
              <a:ln w="19050">
                <a:solidFill>
                  <a:srgbClr val="E3E9F1"/>
                </a:solidFill>
              </a:ln>
            </p:spPr>
          </p:sp>
          <p:sp>
            <p:nvSpPr>
              <p:cNvPr id="19" name="Freeform 19"/>
              <p:cNvSpPr/>
              <p:nvPr/>
            </p:nvSpPr>
            <p:spPr>
              <a:xfrm>
                <a:off x="657225" y="2314575"/>
                <a:ext cx="133350" cy="171450"/>
              </a:xfrm>
              <a:custGeom>
                <a:avLst/>
                <a:gdLst/>
                <a:ahLst/>
                <a:cxnLst/>
                <a:rect l="l" t="t" r="r" b="b"/>
                <a:pathLst>
                  <a:path w="133350" h="171450">
                    <a:moveTo>
                      <a:pt x="114300" y="171450"/>
                    </a:moveTo>
                    <a:lnTo>
                      <a:pt x="19050" y="171450"/>
                    </a:lnTo>
                    <a:cubicBezTo>
                      <a:pt x="8529" y="171450"/>
                      <a:pt x="0" y="162921"/>
                      <a:pt x="0" y="152400"/>
                    </a:cubicBezTo>
                    <a:lnTo>
                      <a:pt x="0" y="19050"/>
                    </a:lnTo>
                    <a:cubicBezTo>
                      <a:pt x="0" y="8529"/>
                      <a:pt x="8529" y="0"/>
                      <a:pt x="19050" y="0"/>
                    </a:cubicBezTo>
                    <a:lnTo>
                      <a:pt x="85725" y="0"/>
                    </a:lnTo>
                    <a:lnTo>
                      <a:pt x="133350" y="47625"/>
                    </a:lnTo>
                    <a:lnTo>
                      <a:pt x="133350" y="152400"/>
                    </a:lnTo>
                    <a:cubicBezTo>
                      <a:pt x="133350" y="162921"/>
                      <a:pt x="124821" y="171450"/>
                      <a:pt x="114300" y="171450"/>
                    </a:cubicBezTo>
                  </a:path>
                </a:pathLst>
              </a:custGeom>
              <a:noFill/>
              <a:ln w="19050">
                <a:solidFill>
                  <a:srgbClr val="E3E9F1"/>
                </a:solidFill>
              </a:ln>
            </p:spPr>
          </p:sp>
          <p:sp>
            <p:nvSpPr>
              <p:cNvPr id="20" name="Freeform 20"/>
              <p:cNvSpPr/>
              <p:nvPr/>
            </p:nvSpPr>
            <p:spPr>
              <a:xfrm>
                <a:off x="695325" y="2371725"/>
                <a:ext cx="9525" cy="9525"/>
              </a:xfrm>
              <a:custGeom>
                <a:avLst/>
                <a:gdLst/>
                <a:ahLst/>
                <a:cxnLst/>
                <a:rect l="l" t="t" r="r" b="b"/>
                <a:pathLst>
                  <a:path w="9525" h="9525">
                    <a:moveTo>
                      <a:pt x="0" y="0"/>
                    </a:moveTo>
                    <a:lnTo>
                      <a:pt x="9525" y="0"/>
                    </a:lnTo>
                  </a:path>
                </a:pathLst>
              </a:custGeom>
              <a:noFill/>
              <a:ln w="19050">
                <a:solidFill>
                  <a:srgbClr val="E3E9F1"/>
                </a:solidFill>
              </a:ln>
            </p:spPr>
          </p:sp>
          <p:sp>
            <p:nvSpPr>
              <p:cNvPr id="21" name="Freeform 21"/>
              <p:cNvSpPr/>
              <p:nvPr/>
            </p:nvSpPr>
            <p:spPr>
              <a:xfrm>
                <a:off x="695325" y="2409825"/>
                <a:ext cx="57150" cy="9525"/>
              </a:xfrm>
              <a:custGeom>
                <a:avLst/>
                <a:gdLst/>
                <a:ahLst/>
                <a:cxnLst/>
                <a:rect l="l" t="t" r="r" b="b"/>
                <a:pathLst>
                  <a:path w="57150" h="9525">
                    <a:moveTo>
                      <a:pt x="0" y="0"/>
                    </a:moveTo>
                    <a:lnTo>
                      <a:pt x="57150" y="0"/>
                    </a:lnTo>
                  </a:path>
                </a:pathLst>
              </a:custGeom>
              <a:noFill/>
              <a:ln w="19050">
                <a:solidFill>
                  <a:srgbClr val="E3E9F1"/>
                </a:solidFill>
              </a:ln>
            </p:spPr>
          </p:sp>
          <p:sp>
            <p:nvSpPr>
              <p:cNvPr id="22" name="Freeform 22"/>
              <p:cNvSpPr/>
              <p:nvPr/>
            </p:nvSpPr>
            <p:spPr>
              <a:xfrm>
                <a:off x="695325" y="2447925"/>
                <a:ext cx="57150" cy="9525"/>
              </a:xfrm>
              <a:custGeom>
                <a:avLst/>
                <a:gdLst/>
                <a:ahLst/>
                <a:cxnLst/>
                <a:rect l="l" t="t" r="r" b="b"/>
                <a:pathLst>
                  <a:path w="57150" h="9525">
                    <a:moveTo>
                      <a:pt x="0" y="0"/>
                    </a:moveTo>
                    <a:lnTo>
                      <a:pt x="57150" y="0"/>
                    </a:lnTo>
                  </a:path>
                </a:pathLst>
              </a:custGeom>
              <a:noFill/>
              <a:ln w="19050">
                <a:solidFill>
                  <a:srgbClr val="E3E9F1"/>
                </a:solidFill>
              </a:ln>
            </p:spPr>
          </p:sp>
        </p:grpSp>
        <p:sp>
          <p:nvSpPr>
            <p:cNvPr id="24" name="TextBox 24"/>
            <p:cNvSpPr txBox="1"/>
            <p:nvPr/>
          </p:nvSpPr>
          <p:spPr>
            <a:xfrm>
              <a:off x="927354" y="2327910"/>
              <a:ext cx="853410" cy="234696"/>
            </a:xfrm>
            <a:prstGeom prst="rect">
              <a:avLst/>
            </a:prstGeom>
            <a:noFill/>
            <a:ln>
              <a:noFill/>
            </a:ln>
          </p:spPr>
          <p:txBody>
            <a:bodyPr wrap="none" lIns="0" tIns="0" rIns="0" bIns="0" anchor="t" anchorCtr="0">
              <a:spAutoFit/>
            </a:bodyPr>
            <a:lstStyle/>
            <a:p>
              <a:pPr algn="l"/>
              <a:r>
                <a:rPr lang="vi-VN" sz="1200" b="1" spc="75" dirty="0">
                  <a:solidFill>
                    <a:srgbClr val="E3E9F1"/>
                  </a:solidFill>
                  <a:latin typeface="+mn-lt"/>
                  <a:ea typeface="+mn-ea"/>
                  <a:cs typeface="+mn-cs"/>
                </a:rPr>
                <a:t>SKILL.md</a:t>
              </a:r>
            </a:p>
          </p:txBody>
        </p:sp>
        <p:sp>
          <p:nvSpPr>
            <p:cNvPr id="25" name="Line 25"/>
            <p:cNvSpPr/>
            <p:nvPr/>
          </p:nvSpPr>
          <p:spPr>
            <a:xfrm>
              <a:off x="609600" y="2647950"/>
              <a:ext cx="4876800" cy="9525"/>
            </a:xfrm>
            <a:custGeom>
              <a:avLst/>
              <a:gdLst/>
              <a:ahLst/>
              <a:cxnLst/>
              <a:rect l="l" t="t" r="r" b="b"/>
              <a:pathLst>
                <a:path w="4876800" h="9525">
                  <a:moveTo>
                    <a:pt x="0" y="0"/>
                  </a:moveTo>
                  <a:lnTo>
                    <a:pt x="4876800" y="0"/>
                  </a:lnTo>
                </a:path>
              </a:pathLst>
            </a:custGeom>
            <a:noFill/>
            <a:ln w="9525">
              <a:solidFill>
                <a:schemeClr val="accent3"/>
              </a:solidFill>
            </a:ln>
          </p:spPr>
        </p:sp>
        <p:sp>
          <p:nvSpPr>
            <p:cNvPr id="26" name="TextBox 26"/>
            <p:cNvSpPr txBox="1"/>
            <p:nvPr/>
          </p:nvSpPr>
          <p:spPr>
            <a:xfrm>
              <a:off x="601980" y="2809875"/>
              <a:ext cx="348425" cy="293370"/>
            </a:xfrm>
            <a:prstGeom prst="rect">
              <a:avLst/>
            </a:prstGeom>
            <a:noFill/>
            <a:ln>
              <a:noFill/>
            </a:ln>
          </p:spPr>
          <p:txBody>
            <a:bodyPr wrap="none" lIns="0" tIns="0" rIns="0" bIns="0" anchor="t" anchorCtr="0">
              <a:spAutoFit/>
            </a:bodyPr>
            <a:lstStyle/>
            <a:p>
              <a:pPr algn="l"/>
              <a:r>
                <a:rPr lang="vi-VN" sz="1500" dirty="0">
                  <a:solidFill>
                    <a:schemeClr val="accent2"/>
                  </a:solidFill>
                  <a:latin typeface="Consolas"/>
                  <a:ea typeface="Consolas"/>
                  <a:cs typeface="Consolas"/>
                </a:rPr>
                <a:t>---</a:t>
              </a:r>
            </a:p>
          </p:txBody>
        </p:sp>
        <p:sp>
          <p:nvSpPr>
            <p:cNvPr id="27" name="TextBox 27"/>
            <p:cNvSpPr txBox="1"/>
            <p:nvPr/>
          </p:nvSpPr>
          <p:spPr>
            <a:xfrm>
              <a:off x="601980" y="3095625"/>
              <a:ext cx="2014347" cy="293370"/>
            </a:xfrm>
            <a:prstGeom prst="rect">
              <a:avLst/>
            </a:prstGeom>
            <a:noFill/>
            <a:ln>
              <a:noFill/>
            </a:ln>
          </p:spPr>
          <p:txBody>
            <a:bodyPr wrap="none" lIns="0" tIns="0" rIns="0" bIns="0" anchor="t" anchorCtr="0">
              <a:spAutoFit/>
            </a:bodyPr>
            <a:lstStyle/>
            <a:p>
              <a:pPr algn="l"/>
              <a:r>
                <a:rPr lang="vi-VN" sz="1500" dirty="0">
                  <a:solidFill>
                    <a:schemeClr val="accent2"/>
                  </a:solidFill>
                  <a:latin typeface="Consolas"/>
                  <a:ea typeface="Consolas"/>
                  <a:cs typeface="Consolas"/>
                </a:rPr>
                <a:t>name:</a:t>
              </a:r>
              <a:r>
                <a:rPr lang="vi-VN" sz="1500" dirty="0">
                  <a:solidFill>
                    <a:srgbClr val="E3E9F1"/>
                  </a:solidFill>
                  <a:latin typeface="Consolas"/>
                  <a:ea typeface="Consolas"/>
                  <a:cs typeface="Consolas"/>
                </a:rPr>
                <a:t> viet-bai-tpcn</a:t>
              </a:r>
            </a:p>
          </p:txBody>
        </p:sp>
        <p:sp>
          <p:nvSpPr>
            <p:cNvPr id="28" name="TextBox 28"/>
            <p:cNvSpPr txBox="1"/>
            <p:nvPr/>
          </p:nvSpPr>
          <p:spPr>
            <a:xfrm>
              <a:off x="601980" y="3381375"/>
              <a:ext cx="3222796" cy="293370"/>
            </a:xfrm>
            <a:prstGeom prst="rect">
              <a:avLst/>
            </a:prstGeom>
            <a:noFill/>
            <a:ln>
              <a:noFill/>
            </a:ln>
          </p:spPr>
          <p:txBody>
            <a:bodyPr wrap="none" lIns="0" tIns="0" rIns="0" bIns="0" anchor="t" anchorCtr="0">
              <a:spAutoFit/>
            </a:bodyPr>
            <a:lstStyle/>
            <a:p>
              <a:pPr algn="l"/>
              <a:r>
                <a:rPr lang="vi-VN" sz="1500" dirty="0">
                  <a:solidFill>
                    <a:schemeClr val="accent2"/>
                  </a:solidFill>
                  <a:latin typeface="Consolas"/>
                  <a:ea typeface="Consolas"/>
                  <a:cs typeface="Consolas"/>
                </a:rPr>
                <a:t>description:</a:t>
              </a:r>
              <a:r>
                <a:rPr lang="vi-VN" sz="1500" dirty="0">
                  <a:solidFill>
                    <a:srgbClr val="E3E9F1"/>
                  </a:solidFill>
                  <a:latin typeface="Consolas"/>
                  <a:ea typeface="Consolas"/>
                  <a:cs typeface="Consolas"/>
                </a:rPr>
                <a:t> Viết bài mạng xã hội</a:t>
              </a:r>
            </a:p>
          </p:txBody>
        </p:sp>
        <p:sp>
          <p:nvSpPr>
            <p:cNvPr id="29" name="TextBox 29"/>
            <p:cNvSpPr txBox="1"/>
            <p:nvPr/>
          </p:nvSpPr>
          <p:spPr>
            <a:xfrm>
              <a:off x="811530" y="3667125"/>
              <a:ext cx="2900825" cy="293370"/>
            </a:xfrm>
            <a:prstGeom prst="rect">
              <a:avLst/>
            </a:prstGeom>
            <a:noFill/>
            <a:ln>
              <a:noFill/>
            </a:ln>
          </p:spPr>
          <p:txBody>
            <a:bodyPr wrap="none" lIns="0" tIns="0" rIns="0" bIns="0" anchor="t" anchorCtr="0">
              <a:spAutoFit/>
            </a:bodyPr>
            <a:lstStyle/>
            <a:p>
              <a:pPr algn="l"/>
              <a:r>
                <a:rPr lang="vi-VN" sz="1500" dirty="0">
                  <a:solidFill>
                    <a:srgbClr val="E3E9F1"/>
                  </a:solidFill>
                  <a:latin typeface="Consolas"/>
                  <a:ea typeface="Consolas"/>
                  <a:cs typeface="Consolas"/>
                </a:rPr>
                <a:t>cho sản phẩm TPCN… Dùng khi…</a:t>
              </a:r>
            </a:p>
          </p:txBody>
        </p:sp>
        <p:sp>
          <p:nvSpPr>
            <p:cNvPr id="30" name="TextBox 30"/>
            <p:cNvSpPr txBox="1"/>
            <p:nvPr/>
          </p:nvSpPr>
          <p:spPr>
            <a:xfrm>
              <a:off x="811530" y="3952875"/>
              <a:ext cx="1587579" cy="293370"/>
            </a:xfrm>
            <a:prstGeom prst="rect">
              <a:avLst/>
            </a:prstGeom>
            <a:noFill/>
            <a:ln>
              <a:noFill/>
            </a:ln>
          </p:spPr>
          <p:txBody>
            <a:bodyPr wrap="none" lIns="0" tIns="0" rIns="0" bIns="0" anchor="t" anchorCtr="0">
              <a:spAutoFit/>
            </a:bodyPr>
            <a:lstStyle/>
            <a:p>
              <a:pPr algn="l"/>
              <a:r>
                <a:rPr lang="vi-VN" sz="1500" dirty="0">
                  <a:solidFill>
                    <a:srgbClr val="E3E9F1"/>
                  </a:solidFill>
                  <a:latin typeface="Consolas"/>
                  <a:ea typeface="Consolas"/>
                  <a:cs typeface="Consolas"/>
                </a:rPr>
                <a:t>Không dùng cho…</a:t>
              </a:r>
            </a:p>
          </p:txBody>
        </p:sp>
        <p:sp>
          <p:nvSpPr>
            <p:cNvPr id="31" name="TextBox 31"/>
            <p:cNvSpPr txBox="1"/>
            <p:nvPr/>
          </p:nvSpPr>
          <p:spPr>
            <a:xfrm>
              <a:off x="601980" y="4238625"/>
              <a:ext cx="348425" cy="293370"/>
            </a:xfrm>
            <a:prstGeom prst="rect">
              <a:avLst/>
            </a:prstGeom>
            <a:noFill/>
            <a:ln>
              <a:noFill/>
            </a:ln>
          </p:spPr>
          <p:txBody>
            <a:bodyPr wrap="none" lIns="0" tIns="0" rIns="0" bIns="0" anchor="t" anchorCtr="0">
              <a:spAutoFit/>
            </a:bodyPr>
            <a:lstStyle/>
            <a:p>
              <a:pPr algn="l"/>
              <a:r>
                <a:rPr lang="vi-VN" sz="1500" dirty="0">
                  <a:solidFill>
                    <a:schemeClr val="accent2"/>
                  </a:solidFill>
                  <a:latin typeface="Consolas"/>
                  <a:ea typeface="Consolas"/>
                  <a:cs typeface="Consolas"/>
                </a:rPr>
                <a:t>---</a:t>
              </a:r>
            </a:p>
          </p:txBody>
        </p:sp>
        <p:sp>
          <p:nvSpPr>
            <p:cNvPr id="32" name="TextBox 32"/>
            <p:cNvSpPr txBox="1"/>
            <p:nvPr/>
          </p:nvSpPr>
          <p:spPr>
            <a:xfrm>
              <a:off x="601980" y="4524375"/>
              <a:ext cx="2524187" cy="293370"/>
            </a:xfrm>
            <a:prstGeom prst="rect">
              <a:avLst/>
            </a:prstGeom>
            <a:noFill/>
            <a:ln>
              <a:noFill/>
            </a:ln>
          </p:spPr>
          <p:txBody>
            <a:bodyPr wrap="none" lIns="0" tIns="0" rIns="0" bIns="0" anchor="t" anchorCtr="0">
              <a:spAutoFit/>
            </a:bodyPr>
            <a:lstStyle/>
            <a:p>
              <a:pPr algn="l"/>
              <a:r>
                <a:rPr lang="vi-VN" sz="1500" b="1" dirty="0">
                  <a:solidFill>
                    <a:srgbClr val="E3E9F1"/>
                  </a:solidFill>
                  <a:latin typeface="Consolas"/>
                  <a:ea typeface="Consolas"/>
                  <a:cs typeface="Consolas"/>
                </a:rPr>
                <a:t># Viết bài sản phẩm TPCN</a:t>
              </a:r>
            </a:p>
          </p:txBody>
        </p:sp>
        <p:sp>
          <p:nvSpPr>
            <p:cNvPr id="33" name="TextBox 33"/>
            <p:cNvSpPr txBox="1"/>
            <p:nvPr/>
          </p:nvSpPr>
          <p:spPr>
            <a:xfrm>
              <a:off x="601980" y="4810125"/>
              <a:ext cx="1487519" cy="293370"/>
            </a:xfrm>
            <a:prstGeom prst="rect">
              <a:avLst/>
            </a:prstGeom>
            <a:noFill/>
            <a:ln>
              <a:noFill/>
            </a:ln>
          </p:spPr>
          <p:txBody>
            <a:bodyPr wrap="none" lIns="0" tIns="0" rIns="0" bIns="0" anchor="t" anchorCtr="0">
              <a:spAutoFit/>
            </a:bodyPr>
            <a:lstStyle/>
            <a:p>
              <a:pPr algn="l"/>
              <a:r>
                <a:rPr lang="vi-VN" sz="1500" dirty="0">
                  <a:solidFill>
                    <a:srgbClr val="E3E9F1"/>
                  </a:solidFill>
                  <a:latin typeface="Consolas"/>
                  <a:ea typeface="Consolas"/>
                  <a:cs typeface="Consolas"/>
                </a:rPr>
                <a:t>## Khi nào dùng</a:t>
              </a:r>
            </a:p>
          </p:txBody>
        </p:sp>
        <p:sp>
          <p:nvSpPr>
            <p:cNvPr id="34" name="TextBox 34"/>
            <p:cNvSpPr txBox="1"/>
            <p:nvPr/>
          </p:nvSpPr>
          <p:spPr>
            <a:xfrm>
              <a:off x="601980" y="5095875"/>
              <a:ext cx="1034415" cy="293370"/>
            </a:xfrm>
            <a:prstGeom prst="rect">
              <a:avLst/>
            </a:prstGeom>
            <a:noFill/>
            <a:ln>
              <a:noFill/>
            </a:ln>
          </p:spPr>
          <p:txBody>
            <a:bodyPr wrap="none" lIns="0" tIns="0" rIns="0" bIns="0" anchor="t" anchorCtr="0">
              <a:spAutoFit/>
            </a:bodyPr>
            <a:lstStyle/>
            <a:p>
              <a:pPr algn="l"/>
              <a:r>
                <a:rPr lang="vi-VN" sz="1500" dirty="0">
                  <a:solidFill>
                    <a:srgbClr val="E3E9F1"/>
                  </a:solidFill>
                  <a:latin typeface="Consolas"/>
                  <a:ea typeface="Consolas"/>
                  <a:cs typeface="Consolas"/>
                </a:rPr>
                <a:t>## Đầu vào</a:t>
              </a:r>
            </a:p>
          </p:txBody>
        </p:sp>
        <p:sp>
          <p:nvSpPr>
            <p:cNvPr id="35" name="TextBox 35"/>
            <p:cNvSpPr txBox="1"/>
            <p:nvPr/>
          </p:nvSpPr>
          <p:spPr>
            <a:xfrm>
              <a:off x="601980" y="5381625"/>
              <a:ext cx="1145014" cy="293370"/>
            </a:xfrm>
            <a:prstGeom prst="rect">
              <a:avLst/>
            </a:prstGeom>
            <a:noFill/>
            <a:ln>
              <a:noFill/>
            </a:ln>
          </p:spPr>
          <p:txBody>
            <a:bodyPr wrap="none" lIns="0" tIns="0" rIns="0" bIns="0" anchor="t" anchorCtr="0">
              <a:spAutoFit/>
            </a:bodyPr>
            <a:lstStyle/>
            <a:p>
              <a:pPr algn="l"/>
              <a:r>
                <a:rPr lang="vi-VN" sz="1500" dirty="0">
                  <a:solidFill>
                    <a:srgbClr val="E3E9F1"/>
                  </a:solidFill>
                  <a:latin typeface="Consolas"/>
                  <a:ea typeface="Consolas"/>
                  <a:cs typeface="Consolas"/>
                </a:rPr>
                <a:t>## Các bước</a:t>
              </a:r>
            </a:p>
          </p:txBody>
        </p:sp>
        <p:sp>
          <p:nvSpPr>
            <p:cNvPr id="36" name="TextBox 36"/>
            <p:cNvSpPr txBox="1"/>
            <p:nvPr/>
          </p:nvSpPr>
          <p:spPr>
            <a:xfrm>
              <a:off x="601980" y="5667375"/>
              <a:ext cx="924001" cy="293370"/>
            </a:xfrm>
            <a:prstGeom prst="rect">
              <a:avLst/>
            </a:prstGeom>
            <a:noFill/>
            <a:ln>
              <a:noFill/>
            </a:ln>
          </p:spPr>
          <p:txBody>
            <a:bodyPr wrap="none" lIns="0" tIns="0" rIns="0" bIns="0" anchor="t" anchorCtr="0">
              <a:spAutoFit/>
            </a:bodyPr>
            <a:lstStyle/>
            <a:p>
              <a:pPr algn="l"/>
              <a:r>
                <a:rPr lang="vi-VN" sz="1500" dirty="0">
                  <a:solidFill>
                    <a:srgbClr val="E3E9F1"/>
                  </a:solidFill>
                  <a:latin typeface="Consolas"/>
                  <a:ea typeface="Consolas"/>
                  <a:cs typeface="Consolas"/>
                </a:rPr>
                <a:t>## Đầu ra</a:t>
              </a:r>
            </a:p>
          </p:txBody>
        </p:sp>
      </p:grpSp>
      <p:grpSp>
        <p:nvGrpSpPr>
          <p:cNvPr id="62" name="Group 62"/>
          <p:cNvGrpSpPr/>
          <p:nvPr/>
        </p:nvGrpSpPr>
        <p:grpSpPr>
          <a:xfrm>
            <a:off x="6096000" y="2228850"/>
            <a:ext cx="4574096" cy="3550920"/>
            <a:chOff x="6096000" y="2228850"/>
            <a:chExt cx="4574096" cy="3550920"/>
          </a:xfrm>
        </p:grpSpPr>
        <p:sp>
          <p:nvSpPr>
            <p:cNvPr id="38" name="Ellipse 38"/>
            <p:cNvSpPr/>
            <p:nvPr/>
          </p:nvSpPr>
          <p:spPr>
            <a:xfrm>
              <a:off x="6096000" y="2228850"/>
              <a:ext cx="304800" cy="304800"/>
            </a:xfrm>
            <a:prstGeom prst="ellipse">
              <a:avLst/>
            </a:prstGeom>
            <a:solidFill>
              <a:srgbClr val="2E5E91"/>
            </a:solidFill>
            <a:ln>
              <a:noFill/>
            </a:ln>
          </p:spPr>
        </p:sp>
        <p:sp>
          <p:nvSpPr>
            <p:cNvPr id="39" name="TextBox 39"/>
            <p:cNvSpPr txBox="1"/>
            <p:nvPr/>
          </p:nvSpPr>
          <p:spPr>
            <a:xfrm>
              <a:off x="6182473" y="228600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1</a:t>
              </a:r>
            </a:p>
          </p:txBody>
        </p:sp>
        <p:sp>
          <p:nvSpPr>
            <p:cNvPr id="40" name="TextBox 40"/>
            <p:cNvSpPr txBox="1"/>
            <p:nvPr/>
          </p:nvSpPr>
          <p:spPr>
            <a:xfrm>
              <a:off x="6544818" y="2269808"/>
              <a:ext cx="408853"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Tên</a:t>
              </a:r>
            </a:p>
          </p:txBody>
        </p:sp>
        <p:sp>
          <p:nvSpPr>
            <p:cNvPr id="41" name="TextBox 41"/>
            <p:cNvSpPr txBox="1"/>
            <p:nvPr/>
          </p:nvSpPr>
          <p:spPr>
            <a:xfrm>
              <a:off x="6545580" y="2533650"/>
              <a:ext cx="3831717" cy="293370"/>
            </a:xfrm>
            <a:prstGeom prst="rect">
              <a:avLst/>
            </a:prstGeom>
            <a:noFill/>
            <a:ln>
              <a:noFill/>
            </a:ln>
          </p:spPr>
          <p:txBody>
            <a:bodyPr wrap="none" lIns="0" tIns="0" rIns="0" bIns="0" anchor="t" anchorCtr="0">
              <a:spAutoFit/>
            </a:bodyPr>
            <a:lstStyle/>
            <a:p>
              <a:pPr algn="l"/>
              <a:r>
                <a:rPr lang="vi-VN" sz="1500" dirty="0">
                  <a:solidFill>
                    <a:srgbClr val="5B6675"/>
                  </a:solidFill>
                  <a:latin typeface="+mn-lt"/>
                  <a:ea typeface="+mn-ea"/>
                  <a:cs typeface="+mn-cs"/>
                </a:rPr>
                <a:t>viết thường, không dấu, nối gạch ngang</a:t>
              </a:r>
            </a:p>
          </p:txBody>
        </p:sp>
        <p:sp>
          <p:nvSpPr>
            <p:cNvPr id="42" name="Ellipse 42"/>
            <p:cNvSpPr/>
            <p:nvPr/>
          </p:nvSpPr>
          <p:spPr>
            <a:xfrm>
              <a:off x="6096000" y="2819400"/>
              <a:ext cx="304800" cy="304800"/>
            </a:xfrm>
            <a:prstGeom prst="ellipse">
              <a:avLst/>
            </a:prstGeom>
            <a:solidFill>
              <a:srgbClr val="2E5E91"/>
            </a:solidFill>
            <a:ln>
              <a:noFill/>
            </a:ln>
          </p:spPr>
        </p:sp>
        <p:sp>
          <p:nvSpPr>
            <p:cNvPr id="43" name="TextBox 43"/>
            <p:cNvSpPr txBox="1"/>
            <p:nvPr/>
          </p:nvSpPr>
          <p:spPr>
            <a:xfrm>
              <a:off x="6182473" y="287655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2</a:t>
              </a:r>
            </a:p>
          </p:txBody>
        </p:sp>
        <p:sp>
          <p:nvSpPr>
            <p:cNvPr id="44" name="TextBox 44"/>
            <p:cNvSpPr txBox="1"/>
            <p:nvPr/>
          </p:nvSpPr>
          <p:spPr>
            <a:xfrm>
              <a:off x="6544818" y="2860358"/>
              <a:ext cx="655394"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Mô tả</a:t>
              </a:r>
            </a:p>
          </p:txBody>
        </p:sp>
        <p:sp>
          <p:nvSpPr>
            <p:cNvPr id="45" name="TextBox 45"/>
            <p:cNvSpPr txBox="1"/>
            <p:nvPr/>
          </p:nvSpPr>
          <p:spPr>
            <a:xfrm>
              <a:off x="6545580" y="3124200"/>
              <a:ext cx="782574" cy="293370"/>
            </a:xfrm>
            <a:prstGeom prst="rect">
              <a:avLst/>
            </a:prstGeom>
            <a:noFill/>
            <a:ln>
              <a:noFill/>
            </a:ln>
          </p:spPr>
          <p:txBody>
            <a:bodyPr wrap="none" lIns="0" tIns="0" rIns="0" bIns="0" anchor="t" anchorCtr="0">
              <a:spAutoFit/>
            </a:bodyPr>
            <a:lstStyle/>
            <a:p>
              <a:pPr algn="l"/>
              <a:r>
                <a:rPr lang="vi-VN" sz="1500" dirty="0">
                  <a:solidFill>
                    <a:srgbClr val="5B6675"/>
                  </a:solidFill>
                  <a:latin typeface="+mn-lt"/>
                  <a:ea typeface="+mn-ea"/>
                  <a:cs typeface="+mn-cs"/>
                </a:rPr>
                <a:t>một câu</a:t>
              </a:r>
            </a:p>
          </p:txBody>
        </p:sp>
        <p:sp>
          <p:nvSpPr>
            <p:cNvPr id="46" name="Ellipse 46"/>
            <p:cNvSpPr/>
            <p:nvPr/>
          </p:nvSpPr>
          <p:spPr>
            <a:xfrm>
              <a:off x="6096000" y="3409950"/>
              <a:ext cx="304800" cy="304800"/>
            </a:xfrm>
            <a:prstGeom prst="ellipse">
              <a:avLst/>
            </a:prstGeom>
            <a:solidFill>
              <a:srgbClr val="2E5E91"/>
            </a:solidFill>
            <a:ln>
              <a:noFill/>
            </a:ln>
          </p:spPr>
        </p:sp>
        <p:sp>
          <p:nvSpPr>
            <p:cNvPr id="47" name="TextBox 47"/>
            <p:cNvSpPr txBox="1"/>
            <p:nvPr/>
          </p:nvSpPr>
          <p:spPr>
            <a:xfrm>
              <a:off x="6182473" y="346710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3</a:t>
              </a:r>
            </a:p>
          </p:txBody>
        </p:sp>
        <p:sp>
          <p:nvSpPr>
            <p:cNvPr id="48" name="TextBox 48"/>
            <p:cNvSpPr txBox="1"/>
            <p:nvPr/>
          </p:nvSpPr>
          <p:spPr>
            <a:xfrm>
              <a:off x="6544818" y="3450908"/>
              <a:ext cx="1388877"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Khi nào dùng</a:t>
              </a:r>
            </a:p>
          </p:txBody>
        </p:sp>
        <p:sp>
          <p:nvSpPr>
            <p:cNvPr id="49" name="TextBox 49"/>
            <p:cNvSpPr txBox="1"/>
            <p:nvPr/>
          </p:nvSpPr>
          <p:spPr>
            <a:xfrm>
              <a:off x="6545580" y="3714750"/>
              <a:ext cx="3670173" cy="293370"/>
            </a:xfrm>
            <a:prstGeom prst="rect">
              <a:avLst/>
            </a:prstGeom>
            <a:noFill/>
            <a:ln>
              <a:noFill/>
            </a:ln>
          </p:spPr>
          <p:txBody>
            <a:bodyPr wrap="none" lIns="0" tIns="0" rIns="0" bIns="0" anchor="t" anchorCtr="0">
              <a:spAutoFit/>
            </a:bodyPr>
            <a:lstStyle/>
            <a:p>
              <a:pPr algn="l"/>
              <a:r>
                <a:rPr lang="vi-VN" sz="1500" dirty="0">
                  <a:solidFill>
                    <a:srgbClr val="5B6675"/>
                  </a:solidFill>
                  <a:latin typeface="+mn-lt"/>
                  <a:ea typeface="+mn-ea"/>
                  <a:cs typeface="+mn-cs"/>
                </a:rPr>
                <a:t>≥ 3 tình huống, và khi nào không dùng</a:t>
              </a:r>
            </a:p>
          </p:txBody>
        </p:sp>
        <p:sp>
          <p:nvSpPr>
            <p:cNvPr id="50" name="Ellipse 50"/>
            <p:cNvSpPr/>
            <p:nvPr/>
          </p:nvSpPr>
          <p:spPr>
            <a:xfrm>
              <a:off x="6096000" y="4000500"/>
              <a:ext cx="304800" cy="304800"/>
            </a:xfrm>
            <a:prstGeom prst="ellipse">
              <a:avLst/>
            </a:prstGeom>
            <a:solidFill>
              <a:srgbClr val="2E5E91"/>
            </a:solidFill>
            <a:ln>
              <a:noFill/>
            </a:ln>
          </p:spPr>
        </p:sp>
        <p:sp>
          <p:nvSpPr>
            <p:cNvPr id="51" name="TextBox 51"/>
            <p:cNvSpPr txBox="1"/>
            <p:nvPr/>
          </p:nvSpPr>
          <p:spPr>
            <a:xfrm>
              <a:off x="6182473" y="405765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4</a:t>
              </a:r>
            </a:p>
          </p:txBody>
        </p:sp>
        <p:sp>
          <p:nvSpPr>
            <p:cNvPr id="52" name="TextBox 52"/>
            <p:cNvSpPr txBox="1"/>
            <p:nvPr/>
          </p:nvSpPr>
          <p:spPr>
            <a:xfrm>
              <a:off x="6544818" y="4041458"/>
              <a:ext cx="864310"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Đầu vào</a:t>
              </a:r>
            </a:p>
          </p:txBody>
        </p:sp>
        <p:sp>
          <p:nvSpPr>
            <p:cNvPr id="53" name="TextBox 53"/>
            <p:cNvSpPr txBox="1"/>
            <p:nvPr/>
          </p:nvSpPr>
          <p:spPr>
            <a:xfrm>
              <a:off x="6545580" y="4305300"/>
              <a:ext cx="3296602" cy="293370"/>
            </a:xfrm>
            <a:prstGeom prst="rect">
              <a:avLst/>
            </a:prstGeom>
            <a:noFill/>
            <a:ln>
              <a:noFill/>
            </a:ln>
          </p:spPr>
          <p:txBody>
            <a:bodyPr wrap="none" lIns="0" tIns="0" rIns="0" bIns="0" anchor="t" anchorCtr="0">
              <a:spAutoFit/>
            </a:bodyPr>
            <a:lstStyle/>
            <a:p>
              <a:pPr algn="l"/>
              <a:r>
                <a:rPr lang="vi-VN" sz="1500" dirty="0">
                  <a:solidFill>
                    <a:srgbClr val="5B6675"/>
                  </a:solidFill>
                  <a:latin typeface="+mn-lt"/>
                  <a:ea typeface="+mn-ea"/>
                  <a:cs typeface="+mn-cs"/>
                </a:rPr>
                <a:t>mục bắt buộc và mục “có thì tốt”</a:t>
              </a:r>
            </a:p>
          </p:txBody>
        </p:sp>
        <p:sp>
          <p:nvSpPr>
            <p:cNvPr id="54" name="Ellipse 54"/>
            <p:cNvSpPr/>
            <p:nvPr/>
          </p:nvSpPr>
          <p:spPr>
            <a:xfrm>
              <a:off x="6096000" y="4591050"/>
              <a:ext cx="304800" cy="304800"/>
            </a:xfrm>
            <a:prstGeom prst="ellipse">
              <a:avLst/>
            </a:prstGeom>
            <a:solidFill>
              <a:schemeClr val="accent2"/>
            </a:solidFill>
            <a:ln>
              <a:noFill/>
            </a:ln>
          </p:spPr>
        </p:sp>
        <p:sp>
          <p:nvSpPr>
            <p:cNvPr id="55" name="TextBox 55"/>
            <p:cNvSpPr txBox="1"/>
            <p:nvPr/>
          </p:nvSpPr>
          <p:spPr>
            <a:xfrm>
              <a:off x="6182473" y="4648200"/>
              <a:ext cx="131855" cy="293370"/>
            </a:xfrm>
            <a:prstGeom prst="rect">
              <a:avLst/>
            </a:prstGeom>
            <a:noFill/>
            <a:ln>
              <a:noFill/>
            </a:ln>
          </p:spPr>
          <p:txBody>
            <a:bodyPr wrap="none" lIns="0" tIns="0" rIns="0" bIns="0" anchor="t" anchorCtr="0">
              <a:spAutoFit/>
            </a:bodyPr>
            <a:lstStyle/>
            <a:p>
              <a:pPr algn="ctr"/>
              <a:r>
                <a:rPr lang="vi-VN" sz="1500" b="1" dirty="0">
                  <a:solidFill>
                    <a:schemeClr val="dk1"/>
                  </a:solidFill>
                  <a:latin typeface="+mn-lt"/>
                  <a:ea typeface="+mn-ea"/>
                  <a:cs typeface="+mn-cs"/>
                </a:rPr>
                <a:t>5</a:t>
              </a:r>
            </a:p>
          </p:txBody>
        </p:sp>
        <p:sp>
          <p:nvSpPr>
            <p:cNvPr id="56" name="TextBox 56"/>
            <p:cNvSpPr txBox="1"/>
            <p:nvPr/>
          </p:nvSpPr>
          <p:spPr>
            <a:xfrm>
              <a:off x="6544818" y="4632008"/>
              <a:ext cx="992492"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Các bước</a:t>
              </a:r>
            </a:p>
          </p:txBody>
        </p:sp>
        <p:sp>
          <p:nvSpPr>
            <p:cNvPr id="57" name="TextBox 57"/>
            <p:cNvSpPr txBox="1"/>
            <p:nvPr/>
          </p:nvSpPr>
          <p:spPr>
            <a:xfrm>
              <a:off x="6545580" y="4895850"/>
              <a:ext cx="4124516"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bước 1 kiểm đủ đầu vào; bước cuối tự rà lại</a:t>
              </a:r>
            </a:p>
          </p:txBody>
        </p:sp>
        <p:sp>
          <p:nvSpPr>
            <p:cNvPr id="58" name="Ellipse 58"/>
            <p:cNvSpPr/>
            <p:nvPr/>
          </p:nvSpPr>
          <p:spPr>
            <a:xfrm>
              <a:off x="6096000" y="5181600"/>
              <a:ext cx="304800" cy="304800"/>
            </a:xfrm>
            <a:prstGeom prst="ellipse">
              <a:avLst/>
            </a:prstGeom>
            <a:solidFill>
              <a:srgbClr val="2E5E91"/>
            </a:solidFill>
            <a:ln>
              <a:noFill/>
            </a:ln>
          </p:spPr>
        </p:sp>
        <p:sp>
          <p:nvSpPr>
            <p:cNvPr id="59" name="TextBox 59"/>
            <p:cNvSpPr txBox="1"/>
            <p:nvPr/>
          </p:nvSpPr>
          <p:spPr>
            <a:xfrm>
              <a:off x="6182473" y="523875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6</a:t>
              </a:r>
            </a:p>
          </p:txBody>
        </p:sp>
        <p:sp>
          <p:nvSpPr>
            <p:cNvPr id="60" name="TextBox 60"/>
            <p:cNvSpPr txBox="1"/>
            <p:nvPr/>
          </p:nvSpPr>
          <p:spPr>
            <a:xfrm>
              <a:off x="6544818" y="5222558"/>
              <a:ext cx="736166"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Đầu ra</a:t>
              </a:r>
            </a:p>
          </p:txBody>
        </p:sp>
        <p:sp>
          <p:nvSpPr>
            <p:cNvPr id="61" name="TextBox 61"/>
            <p:cNvSpPr txBox="1"/>
            <p:nvPr/>
          </p:nvSpPr>
          <p:spPr>
            <a:xfrm>
              <a:off x="6545580" y="5486400"/>
              <a:ext cx="3246120" cy="293370"/>
            </a:xfrm>
            <a:prstGeom prst="rect">
              <a:avLst/>
            </a:prstGeom>
            <a:noFill/>
            <a:ln>
              <a:noFill/>
            </a:ln>
          </p:spPr>
          <p:txBody>
            <a:bodyPr wrap="none" lIns="0" tIns="0" rIns="0" bIns="0" anchor="t" anchorCtr="0">
              <a:spAutoFit/>
            </a:bodyPr>
            <a:lstStyle/>
            <a:p>
              <a:pPr algn="l"/>
              <a:r>
                <a:rPr lang="vi-VN" sz="1500" dirty="0">
                  <a:solidFill>
                    <a:srgbClr val="5B6675"/>
                  </a:solidFill>
                  <a:latin typeface="+mn-lt"/>
                  <a:ea typeface="+mn-ea"/>
                  <a:cs typeface="+mn-cs"/>
                </a:rPr>
                <a:t>kèm một ví dụ mẫu đã điền số liệu</a:t>
              </a:r>
            </a:p>
          </p:txBody>
        </p:sp>
      </p:grpSp>
      <p:sp>
        <p:nvSpPr>
          <p:cNvPr id="63" name="TextBox 63"/>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64" name="TextBox 64"/>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22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1625529" cy="234696"/>
            <a:chOff x="381000" y="346710"/>
            <a:chExt cx="1625529" cy="234696"/>
          </a:xfrm>
        </p:grpSpPr>
        <p:sp>
          <p:nvSpPr>
            <p:cNvPr id="2" name="Rectangle 2"/>
            <p:cNvSpPr/>
            <p:nvPr/>
          </p:nvSpPr>
          <p:spPr>
            <a:xfrm>
              <a:off x="381000" y="361950"/>
              <a:ext cx="114300" cy="114300"/>
            </a:xfrm>
            <a:prstGeom prst="roundRect">
              <a:avLst>
                <a:gd name="adj" fmla="val 25000"/>
              </a:avLst>
            </a:prstGeom>
            <a:solidFill>
              <a:srgbClr val="2E5E91"/>
            </a:solidFill>
            <a:ln>
              <a:noFill/>
            </a:ln>
          </p:spPr>
        </p:sp>
        <p:sp>
          <p:nvSpPr>
            <p:cNvPr id="3" name="TextBox 3"/>
            <p:cNvSpPr txBox="1"/>
            <p:nvPr/>
          </p:nvSpPr>
          <p:spPr>
            <a:xfrm>
              <a:off x="584454" y="346710"/>
              <a:ext cx="1422075"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3 · DEMO</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chemeClr val="accent2"/>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50108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10050256"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Làm tay 5 lượt rồi đóng gói: mỗi lần phải dặn thêm</a:t>
            </a:r>
            <a:br/>
            <a:r>
              <a:rPr lang="vi-VN" sz="3150" b="1" dirty="0">
                <a:solidFill>
                  <a:schemeClr val="accent1"/>
                </a:solidFill>
                <a:latin typeface="+mn-lt"/>
                <a:ea typeface="+mn-ea"/>
                <a:cs typeface="+mn-cs"/>
              </a:rPr>
              <a:t>chính là một mục của skill</a:t>
            </a:r>
          </a:p>
        </p:txBody>
      </p:sp>
      <p:grpSp>
        <p:nvGrpSpPr>
          <p:cNvPr id="22" name="Group 22"/>
          <p:cNvGrpSpPr/>
          <p:nvPr/>
        </p:nvGrpSpPr>
        <p:grpSpPr>
          <a:xfrm>
            <a:off x="381000" y="2114550"/>
            <a:ext cx="10483406" cy="495300"/>
            <a:chOff x="381000" y="2114550"/>
            <a:chExt cx="10483406" cy="495300"/>
          </a:xfrm>
        </p:grpSpPr>
        <p:sp>
          <p:nvSpPr>
            <p:cNvPr id="17" name="Rectangle 17"/>
            <p:cNvSpPr/>
            <p:nvPr/>
          </p:nvSpPr>
          <p:spPr>
            <a:xfrm>
              <a:off x="381000" y="2114550"/>
              <a:ext cx="6286500" cy="495300"/>
            </a:xfrm>
            <a:prstGeom prst="roundRect">
              <a:avLst>
                <a:gd name="adj" fmla="val 50000"/>
              </a:avLst>
            </a:prstGeom>
            <a:solidFill>
              <a:schemeClr val="lt2"/>
            </a:solidFill>
            <a:ln>
              <a:noFill/>
            </a:ln>
          </p:spPr>
        </p:sp>
        <p:sp>
          <p:nvSpPr>
            <p:cNvPr id="18" name="TextBox 18"/>
            <p:cNvSpPr txBox="1"/>
            <p:nvPr/>
          </p:nvSpPr>
          <p:spPr>
            <a:xfrm>
              <a:off x="602742" y="2283142"/>
              <a:ext cx="603965" cy="264033"/>
            </a:xfrm>
            <a:prstGeom prst="rect">
              <a:avLst/>
            </a:prstGeom>
            <a:noFill/>
            <a:ln>
              <a:noFill/>
            </a:ln>
          </p:spPr>
          <p:txBody>
            <a:bodyPr wrap="none" lIns="0" tIns="0" rIns="0" bIns="0" anchor="t" anchorCtr="0">
              <a:spAutoFit/>
            </a:bodyPr>
            <a:lstStyle/>
            <a:p>
              <a:pPr algn="l"/>
              <a:r>
                <a:rPr lang="vi-VN" sz="1350" b="1" dirty="0">
                  <a:solidFill>
                    <a:srgbClr val="2E5E91"/>
                  </a:solidFill>
                  <a:latin typeface="+mn-lt"/>
                  <a:ea typeface="+mn-ea"/>
                  <a:cs typeface="+mn-cs"/>
                </a:rPr>
                <a:t>Lượt 1</a:t>
              </a:r>
            </a:p>
          </p:txBody>
        </p:sp>
        <p:sp>
          <p:nvSpPr>
            <p:cNvPr id="19" name="TextBox 19"/>
            <p:cNvSpPr txBox="1"/>
            <p:nvPr/>
          </p:nvSpPr>
          <p:spPr>
            <a:xfrm>
              <a:off x="1325880" y="2266950"/>
              <a:ext cx="2950431" cy="293370"/>
            </a:xfrm>
            <a:prstGeom prst="rect">
              <a:avLst/>
            </a:prstGeom>
            <a:noFill/>
            <a:ln>
              <a:noFill/>
            </a:ln>
          </p:spPr>
          <p:txBody>
            <a:bodyPr wrap="none" lIns="0" tIns="0" rIns="0" bIns="0" anchor="t" anchorCtr="0">
              <a:spAutoFit/>
            </a:bodyPr>
            <a:lstStyle/>
            <a:p>
              <a:pPr algn="l"/>
              <a:r>
                <a:rPr lang="vi-VN" sz="1500" i="1" dirty="0">
                  <a:solidFill>
                    <a:schemeClr val="dk1"/>
                  </a:solidFill>
                  <a:latin typeface="+mn-lt"/>
                  <a:ea typeface="+mn-ea"/>
                  <a:cs typeface="+mn-cs"/>
                </a:rPr>
                <a:t>“Tóm tắt giúp tôi tài liệu này”</a:t>
              </a:r>
            </a:p>
          </p:txBody>
        </p:sp>
        <p:sp>
          <p:nvSpPr>
            <p:cNvPr id="20" name="Line 20"/>
            <p:cNvSpPr/>
            <p:nvPr/>
          </p:nvSpPr>
          <p:spPr>
            <a:xfrm>
              <a:off x="6781800" y="2362200"/>
              <a:ext cx="457200" cy="1"/>
            </a:xfrm>
            <a:prstGeom prst="line">
              <a:avLst/>
            </a:prstGeom>
            <a:noFill/>
            <a:ln w="19050">
              <a:solidFill>
                <a:srgbClr val="5B6675"/>
              </a:solidFill>
              <a:tailEnd type="triangle" w="lg" len="lg"/>
            </a:ln>
          </p:spPr>
        </p:sp>
        <p:sp>
          <p:nvSpPr>
            <p:cNvPr id="21" name="TextBox 21"/>
            <p:cNvSpPr txBox="1"/>
            <p:nvPr/>
          </p:nvSpPr>
          <p:spPr>
            <a:xfrm>
              <a:off x="7345680" y="2266950"/>
              <a:ext cx="3518726" cy="293370"/>
            </a:xfrm>
            <a:prstGeom prst="rect">
              <a:avLst/>
            </a:prstGeom>
            <a:noFill/>
            <a:ln>
              <a:noFill/>
            </a:ln>
          </p:spPr>
          <p:txBody>
            <a:bodyPr wrap="none" lIns="0" tIns="0" rIns="0" bIns="0" anchor="t" anchorCtr="0">
              <a:spAutoFit/>
            </a:bodyPr>
            <a:lstStyle/>
            <a:p>
              <a:pPr algn="l"/>
              <a:r>
                <a:rPr lang="vi-VN" sz="1500" dirty="0">
                  <a:solidFill>
                    <a:srgbClr val="5B6675"/>
                  </a:solidFill>
                  <a:latin typeface="+mn-lt"/>
                  <a:ea typeface="+mn-ea"/>
                  <a:cs typeface="+mn-cs"/>
                </a:rPr>
                <a:t>kết quả chung chung → lý do cần skill</a:t>
              </a:r>
            </a:p>
          </p:txBody>
        </p:sp>
      </p:grpSp>
      <p:grpSp>
        <p:nvGrpSpPr>
          <p:cNvPr id="29" name="Group 29"/>
          <p:cNvGrpSpPr/>
          <p:nvPr/>
        </p:nvGrpSpPr>
        <p:grpSpPr>
          <a:xfrm>
            <a:off x="381000" y="2705100"/>
            <a:ext cx="11430000" cy="495300"/>
            <a:chOff x="381000" y="2705100"/>
            <a:chExt cx="11430000" cy="495300"/>
          </a:xfrm>
        </p:grpSpPr>
        <p:sp>
          <p:nvSpPr>
            <p:cNvPr id="23" name="Rectangle 23"/>
            <p:cNvSpPr/>
            <p:nvPr/>
          </p:nvSpPr>
          <p:spPr>
            <a:xfrm>
              <a:off x="381000" y="2705100"/>
              <a:ext cx="6286500" cy="495300"/>
            </a:xfrm>
            <a:prstGeom prst="roundRect">
              <a:avLst>
                <a:gd name="adj" fmla="val 50000"/>
              </a:avLst>
            </a:prstGeom>
            <a:solidFill>
              <a:schemeClr val="lt2"/>
            </a:solidFill>
            <a:ln>
              <a:noFill/>
            </a:ln>
          </p:spPr>
        </p:sp>
        <p:sp>
          <p:nvSpPr>
            <p:cNvPr id="24" name="TextBox 24"/>
            <p:cNvSpPr txBox="1"/>
            <p:nvPr/>
          </p:nvSpPr>
          <p:spPr>
            <a:xfrm>
              <a:off x="602742" y="2873692"/>
              <a:ext cx="603965" cy="264033"/>
            </a:xfrm>
            <a:prstGeom prst="rect">
              <a:avLst/>
            </a:prstGeom>
            <a:noFill/>
            <a:ln>
              <a:noFill/>
            </a:ln>
          </p:spPr>
          <p:txBody>
            <a:bodyPr wrap="none" lIns="0" tIns="0" rIns="0" bIns="0" anchor="t" anchorCtr="0">
              <a:spAutoFit/>
            </a:bodyPr>
            <a:lstStyle/>
            <a:p>
              <a:pPr algn="l"/>
              <a:r>
                <a:rPr lang="vi-VN" sz="1350" b="1" dirty="0">
                  <a:solidFill>
                    <a:srgbClr val="2E5E91"/>
                  </a:solidFill>
                  <a:latin typeface="+mn-lt"/>
                  <a:ea typeface="+mn-ea"/>
                  <a:cs typeface="+mn-cs"/>
                </a:rPr>
                <a:t>Lượt 2</a:t>
              </a:r>
            </a:p>
          </p:txBody>
        </p:sp>
        <p:sp>
          <p:nvSpPr>
            <p:cNvPr id="25" name="TextBox 25"/>
            <p:cNvSpPr txBox="1"/>
            <p:nvPr/>
          </p:nvSpPr>
          <p:spPr>
            <a:xfrm>
              <a:off x="1325880" y="2857500"/>
              <a:ext cx="3576393" cy="293370"/>
            </a:xfrm>
            <a:prstGeom prst="rect">
              <a:avLst/>
            </a:prstGeom>
            <a:noFill/>
            <a:ln>
              <a:noFill/>
            </a:ln>
          </p:spPr>
          <p:txBody>
            <a:bodyPr wrap="none" lIns="0" tIns="0" rIns="0" bIns="0" anchor="t" anchorCtr="0">
              <a:spAutoFit/>
            </a:bodyPr>
            <a:lstStyle/>
            <a:p>
              <a:pPr algn="l"/>
              <a:r>
                <a:rPr lang="vi-VN" sz="1500" i="1" dirty="0">
                  <a:solidFill>
                    <a:schemeClr val="dk1"/>
                  </a:solidFill>
                  <a:latin typeface="+mn-lt"/>
                  <a:ea typeface="+mn-ea"/>
                  <a:cs typeface="+mn-cs"/>
                </a:rPr>
                <a:t>“Liệt kê theo từng phần của tài liệu”</a:t>
              </a:r>
            </a:p>
          </p:txBody>
        </p:sp>
        <p:sp>
          <p:nvSpPr>
            <p:cNvPr id="26" name="Line 26"/>
            <p:cNvSpPr/>
            <p:nvPr/>
          </p:nvSpPr>
          <p:spPr>
            <a:xfrm>
              <a:off x="6781800" y="2952750"/>
              <a:ext cx="457200" cy="1"/>
            </a:xfrm>
            <a:prstGeom prst="line">
              <a:avLst/>
            </a:prstGeom>
            <a:noFill/>
            <a:ln w="19050">
              <a:solidFill>
                <a:srgbClr val="5B6675"/>
              </a:solidFill>
              <a:tailEnd type="triangle" w="lg" len="lg"/>
            </a:ln>
          </p:spPr>
        </p:sp>
        <p:sp>
          <p:nvSpPr>
            <p:cNvPr id="27" name="Rectangle 27"/>
            <p:cNvSpPr/>
            <p:nvPr/>
          </p:nvSpPr>
          <p:spPr>
            <a:xfrm>
              <a:off x="7353300" y="2724150"/>
              <a:ext cx="4457700" cy="457200"/>
            </a:xfrm>
            <a:prstGeom prst="roundRect">
              <a:avLst>
                <a:gd name="adj" fmla="val 25000"/>
              </a:avLst>
            </a:prstGeom>
            <a:solidFill>
              <a:srgbClr val="2E5E91"/>
            </a:solidFill>
            <a:ln>
              <a:noFill/>
            </a:ln>
          </p:spPr>
        </p:sp>
        <p:sp>
          <p:nvSpPr>
            <p:cNvPr id="28" name="TextBox 28"/>
            <p:cNvSpPr txBox="1"/>
            <p:nvPr/>
          </p:nvSpPr>
          <p:spPr>
            <a:xfrm>
              <a:off x="7536942" y="2864168"/>
              <a:ext cx="1535986" cy="264033"/>
            </a:xfrm>
            <a:prstGeom prst="rect">
              <a:avLst/>
            </a:prstGeom>
            <a:noFill/>
            <a:ln>
              <a:noFill/>
            </a:ln>
          </p:spPr>
          <p:txBody>
            <a:bodyPr wrap="none" lIns="0" tIns="0" rIns="0" bIns="0" anchor="t" anchorCtr="0">
              <a:spAutoFit/>
            </a:bodyPr>
            <a:lstStyle/>
            <a:p>
              <a:pPr algn="l"/>
              <a:r>
                <a:rPr lang="vi-VN" sz="1350" b="1" dirty="0">
                  <a:solidFill>
                    <a:srgbClr val="FFFFFF"/>
                  </a:solidFill>
                  <a:latin typeface="+mn-lt"/>
                  <a:ea typeface="+mn-ea"/>
                  <a:cs typeface="+mn-cs"/>
                </a:rPr>
                <a:t>Ý CHÍNH CHI TIẾT</a:t>
              </a:r>
            </a:p>
          </p:txBody>
        </p:sp>
      </p:grpSp>
      <p:grpSp>
        <p:nvGrpSpPr>
          <p:cNvPr id="36" name="Group 36"/>
          <p:cNvGrpSpPr/>
          <p:nvPr/>
        </p:nvGrpSpPr>
        <p:grpSpPr>
          <a:xfrm>
            <a:off x="381000" y="3295650"/>
            <a:ext cx="11430000" cy="495300"/>
            <a:chOff x="381000" y="3295650"/>
            <a:chExt cx="11430000" cy="495300"/>
          </a:xfrm>
        </p:grpSpPr>
        <p:sp>
          <p:nvSpPr>
            <p:cNvPr id="30" name="Rectangle 30"/>
            <p:cNvSpPr/>
            <p:nvPr/>
          </p:nvSpPr>
          <p:spPr>
            <a:xfrm>
              <a:off x="381000" y="3295650"/>
              <a:ext cx="6286500" cy="495300"/>
            </a:xfrm>
            <a:prstGeom prst="roundRect">
              <a:avLst>
                <a:gd name="adj" fmla="val 50000"/>
              </a:avLst>
            </a:prstGeom>
            <a:solidFill>
              <a:schemeClr val="lt2"/>
            </a:solidFill>
            <a:ln>
              <a:noFill/>
            </a:ln>
          </p:spPr>
        </p:sp>
        <p:sp>
          <p:nvSpPr>
            <p:cNvPr id="31" name="TextBox 31"/>
            <p:cNvSpPr txBox="1"/>
            <p:nvPr/>
          </p:nvSpPr>
          <p:spPr>
            <a:xfrm>
              <a:off x="602742" y="3464242"/>
              <a:ext cx="603965" cy="264033"/>
            </a:xfrm>
            <a:prstGeom prst="rect">
              <a:avLst/>
            </a:prstGeom>
            <a:noFill/>
            <a:ln>
              <a:noFill/>
            </a:ln>
          </p:spPr>
          <p:txBody>
            <a:bodyPr wrap="none" lIns="0" tIns="0" rIns="0" bIns="0" anchor="t" anchorCtr="0">
              <a:spAutoFit/>
            </a:bodyPr>
            <a:lstStyle/>
            <a:p>
              <a:pPr algn="l"/>
              <a:r>
                <a:rPr lang="vi-VN" sz="1350" b="1" dirty="0">
                  <a:solidFill>
                    <a:srgbClr val="2E5E91"/>
                  </a:solidFill>
                  <a:latin typeface="+mn-lt"/>
                  <a:ea typeface="+mn-ea"/>
                  <a:cs typeface="+mn-cs"/>
                </a:rPr>
                <a:t>Lượt 3</a:t>
              </a:r>
            </a:p>
          </p:txBody>
        </p:sp>
        <p:sp>
          <p:nvSpPr>
            <p:cNvPr id="32" name="TextBox 32"/>
            <p:cNvSpPr txBox="1"/>
            <p:nvPr/>
          </p:nvSpPr>
          <p:spPr>
            <a:xfrm>
              <a:off x="1325880" y="3448050"/>
              <a:ext cx="4031654" cy="293370"/>
            </a:xfrm>
            <a:prstGeom prst="rect">
              <a:avLst/>
            </a:prstGeom>
            <a:noFill/>
            <a:ln>
              <a:noFill/>
            </a:ln>
          </p:spPr>
          <p:txBody>
            <a:bodyPr wrap="none" lIns="0" tIns="0" rIns="0" bIns="0" anchor="t" anchorCtr="0">
              <a:spAutoFit/>
            </a:bodyPr>
            <a:lstStyle/>
            <a:p>
              <a:pPr algn="l"/>
              <a:r>
                <a:rPr lang="vi-VN" sz="1500" i="1" dirty="0">
                  <a:solidFill>
                    <a:schemeClr val="dk1"/>
                  </a:solidFill>
                  <a:latin typeface="+mn-lt"/>
                  <a:ea typeface="+mn-ea"/>
                  <a:cs typeface="+mn-cs"/>
                </a:rPr>
                <a:t>“Bóc mọi con số, mốc thời gian, cam kết”</a:t>
              </a:r>
            </a:p>
          </p:txBody>
        </p:sp>
        <p:sp>
          <p:nvSpPr>
            <p:cNvPr id="33" name="Line 33"/>
            <p:cNvSpPr/>
            <p:nvPr/>
          </p:nvSpPr>
          <p:spPr>
            <a:xfrm>
              <a:off x="6781800" y="3543300"/>
              <a:ext cx="457200" cy="1"/>
            </a:xfrm>
            <a:prstGeom prst="line">
              <a:avLst/>
            </a:prstGeom>
            <a:noFill/>
            <a:ln w="19050">
              <a:solidFill>
                <a:srgbClr val="5B6675"/>
              </a:solidFill>
              <a:tailEnd type="triangle" w="lg" len="lg"/>
            </a:ln>
          </p:spPr>
        </p:sp>
        <p:sp>
          <p:nvSpPr>
            <p:cNvPr id="34" name="Rectangle 34"/>
            <p:cNvSpPr/>
            <p:nvPr/>
          </p:nvSpPr>
          <p:spPr>
            <a:xfrm>
              <a:off x="7353300" y="3314700"/>
              <a:ext cx="4457700" cy="457200"/>
            </a:xfrm>
            <a:prstGeom prst="roundRect">
              <a:avLst>
                <a:gd name="adj" fmla="val 25000"/>
              </a:avLst>
            </a:prstGeom>
            <a:solidFill>
              <a:srgbClr val="2E5E91"/>
            </a:solidFill>
            <a:ln>
              <a:noFill/>
            </a:ln>
          </p:spPr>
        </p:sp>
        <p:sp>
          <p:nvSpPr>
            <p:cNvPr id="35" name="TextBox 35"/>
            <p:cNvSpPr txBox="1"/>
            <p:nvPr/>
          </p:nvSpPr>
          <p:spPr>
            <a:xfrm>
              <a:off x="7536942" y="3454718"/>
              <a:ext cx="2927200" cy="264033"/>
            </a:xfrm>
            <a:prstGeom prst="rect">
              <a:avLst/>
            </a:prstGeom>
            <a:noFill/>
            <a:ln>
              <a:noFill/>
            </a:ln>
          </p:spPr>
          <p:txBody>
            <a:bodyPr wrap="none" lIns="0" tIns="0" rIns="0" bIns="0" anchor="t" anchorCtr="0">
              <a:spAutoFit/>
            </a:bodyPr>
            <a:lstStyle/>
            <a:p>
              <a:pPr algn="l"/>
              <a:r>
                <a:rPr lang="vi-VN" sz="1350" b="1" dirty="0">
                  <a:solidFill>
                    <a:srgbClr val="FFFFFF"/>
                  </a:solidFill>
                  <a:latin typeface="+mn-lt"/>
                  <a:ea typeface="+mn-ea"/>
                  <a:cs typeface="+mn-cs"/>
                </a:rPr>
                <a:t>SỐ LIỆU, NGÀY THÁNG, HẠN CHÓT</a:t>
              </a:r>
            </a:p>
          </p:txBody>
        </p:sp>
      </p:grpSp>
      <p:grpSp>
        <p:nvGrpSpPr>
          <p:cNvPr id="43" name="Group 43"/>
          <p:cNvGrpSpPr/>
          <p:nvPr/>
        </p:nvGrpSpPr>
        <p:grpSpPr>
          <a:xfrm>
            <a:off x="381000" y="3886200"/>
            <a:ext cx="11430000" cy="495300"/>
            <a:chOff x="381000" y="3886200"/>
            <a:chExt cx="11430000" cy="495300"/>
          </a:xfrm>
        </p:grpSpPr>
        <p:sp>
          <p:nvSpPr>
            <p:cNvPr id="37" name="Rectangle 37"/>
            <p:cNvSpPr/>
            <p:nvPr/>
          </p:nvSpPr>
          <p:spPr>
            <a:xfrm>
              <a:off x="381000" y="3886200"/>
              <a:ext cx="6286500" cy="495300"/>
            </a:xfrm>
            <a:prstGeom prst="roundRect">
              <a:avLst>
                <a:gd name="adj" fmla="val 50000"/>
              </a:avLst>
            </a:prstGeom>
            <a:solidFill>
              <a:schemeClr val="lt2"/>
            </a:solidFill>
            <a:ln>
              <a:noFill/>
            </a:ln>
          </p:spPr>
        </p:sp>
        <p:sp>
          <p:nvSpPr>
            <p:cNvPr id="38" name="TextBox 38"/>
            <p:cNvSpPr txBox="1"/>
            <p:nvPr/>
          </p:nvSpPr>
          <p:spPr>
            <a:xfrm>
              <a:off x="602742" y="4054792"/>
              <a:ext cx="603965" cy="264033"/>
            </a:xfrm>
            <a:prstGeom prst="rect">
              <a:avLst/>
            </a:prstGeom>
            <a:noFill/>
            <a:ln>
              <a:noFill/>
            </a:ln>
          </p:spPr>
          <p:txBody>
            <a:bodyPr wrap="none" lIns="0" tIns="0" rIns="0" bIns="0" anchor="t" anchorCtr="0">
              <a:spAutoFit/>
            </a:bodyPr>
            <a:lstStyle/>
            <a:p>
              <a:pPr algn="l"/>
              <a:r>
                <a:rPr lang="vi-VN" sz="1350" b="1" dirty="0">
                  <a:solidFill>
                    <a:srgbClr val="2E5E91"/>
                  </a:solidFill>
                  <a:latin typeface="+mn-lt"/>
                  <a:ea typeface="+mn-ea"/>
                  <a:cs typeface="+mn-cs"/>
                </a:rPr>
                <a:t>Lượt 4</a:t>
              </a:r>
            </a:p>
          </p:txBody>
        </p:sp>
        <p:sp>
          <p:nvSpPr>
            <p:cNvPr id="39" name="TextBox 39"/>
            <p:cNvSpPr txBox="1"/>
            <p:nvPr/>
          </p:nvSpPr>
          <p:spPr>
            <a:xfrm>
              <a:off x="1325880" y="4038600"/>
              <a:ext cx="5293262" cy="293370"/>
            </a:xfrm>
            <a:prstGeom prst="rect">
              <a:avLst/>
            </a:prstGeom>
            <a:noFill/>
            <a:ln>
              <a:noFill/>
            </a:ln>
          </p:spPr>
          <p:txBody>
            <a:bodyPr wrap="none" lIns="0" tIns="0" rIns="0" bIns="0" anchor="t" anchorCtr="0">
              <a:spAutoFit/>
            </a:bodyPr>
            <a:lstStyle/>
            <a:p>
              <a:pPr algn="l"/>
              <a:r>
                <a:rPr lang="vi-VN" sz="1500" i="1" dirty="0">
                  <a:solidFill>
                    <a:schemeClr val="dk1"/>
                  </a:solidFill>
                  <a:latin typeface="+mn-lt"/>
                  <a:ea typeface="+mn-ea"/>
                  <a:cs typeface="+mn-cs"/>
                </a:rPr>
                <a:t>“Có câu nào vượt ranh giới pháp lý, mâu thuẫn không?”</a:t>
              </a:r>
            </a:p>
          </p:txBody>
        </p:sp>
        <p:sp>
          <p:nvSpPr>
            <p:cNvPr id="40" name="Line 40"/>
            <p:cNvSpPr/>
            <p:nvPr/>
          </p:nvSpPr>
          <p:spPr>
            <a:xfrm>
              <a:off x="6781800" y="4133850"/>
              <a:ext cx="457200" cy="1"/>
            </a:xfrm>
            <a:prstGeom prst="line">
              <a:avLst/>
            </a:prstGeom>
            <a:noFill/>
            <a:ln w="19050">
              <a:solidFill>
                <a:srgbClr val="5B6675"/>
              </a:solidFill>
              <a:tailEnd type="triangle" w="lg" len="lg"/>
            </a:ln>
          </p:spPr>
        </p:sp>
        <p:sp>
          <p:nvSpPr>
            <p:cNvPr id="41" name="Rectangle 41"/>
            <p:cNvSpPr/>
            <p:nvPr/>
          </p:nvSpPr>
          <p:spPr>
            <a:xfrm>
              <a:off x="7353300" y="3905250"/>
              <a:ext cx="4457700" cy="457200"/>
            </a:xfrm>
            <a:prstGeom prst="roundRect">
              <a:avLst>
                <a:gd name="adj" fmla="val 25000"/>
              </a:avLst>
            </a:prstGeom>
            <a:solidFill>
              <a:srgbClr val="2E5E91"/>
            </a:solidFill>
            <a:ln>
              <a:noFill/>
            </a:ln>
          </p:spPr>
        </p:sp>
        <p:sp>
          <p:nvSpPr>
            <p:cNvPr id="42" name="TextBox 42"/>
            <p:cNvSpPr txBox="1"/>
            <p:nvPr/>
          </p:nvSpPr>
          <p:spPr>
            <a:xfrm>
              <a:off x="7536942" y="4045268"/>
              <a:ext cx="2241674" cy="264033"/>
            </a:xfrm>
            <a:prstGeom prst="rect">
              <a:avLst/>
            </a:prstGeom>
            <a:noFill/>
            <a:ln>
              <a:noFill/>
            </a:ln>
          </p:spPr>
          <p:txBody>
            <a:bodyPr wrap="none" lIns="0" tIns="0" rIns="0" bIns="0" anchor="t" anchorCtr="0">
              <a:spAutoFit/>
            </a:bodyPr>
            <a:lstStyle/>
            <a:p>
              <a:pPr algn="l"/>
              <a:r>
                <a:rPr lang="vi-VN" sz="1350" b="1" dirty="0">
                  <a:solidFill>
                    <a:srgbClr val="FFFFFF"/>
                  </a:solidFill>
                  <a:latin typeface="+mn-lt"/>
                  <a:ea typeface="+mn-ea"/>
                  <a:cs typeface="+mn-cs"/>
                </a:rPr>
                <a:t>ĐIỂM CẦN LƯU Ý / RỦI RO</a:t>
              </a:r>
            </a:p>
          </p:txBody>
        </p:sp>
      </p:grpSp>
      <p:grpSp>
        <p:nvGrpSpPr>
          <p:cNvPr id="50" name="Group 50"/>
          <p:cNvGrpSpPr/>
          <p:nvPr/>
        </p:nvGrpSpPr>
        <p:grpSpPr>
          <a:xfrm>
            <a:off x="381000" y="4476750"/>
            <a:ext cx="11430000" cy="495300"/>
            <a:chOff x="381000" y="4476750"/>
            <a:chExt cx="11430000" cy="495300"/>
          </a:xfrm>
        </p:grpSpPr>
        <p:sp>
          <p:nvSpPr>
            <p:cNvPr id="44" name="Rectangle 44"/>
            <p:cNvSpPr/>
            <p:nvPr/>
          </p:nvSpPr>
          <p:spPr>
            <a:xfrm>
              <a:off x="381000" y="4476750"/>
              <a:ext cx="6286500" cy="495300"/>
            </a:xfrm>
            <a:prstGeom prst="roundRect">
              <a:avLst>
                <a:gd name="adj" fmla="val 50000"/>
              </a:avLst>
            </a:prstGeom>
            <a:solidFill>
              <a:schemeClr val="lt2"/>
            </a:solidFill>
            <a:ln>
              <a:noFill/>
            </a:ln>
          </p:spPr>
        </p:sp>
        <p:sp>
          <p:nvSpPr>
            <p:cNvPr id="45" name="TextBox 45"/>
            <p:cNvSpPr txBox="1"/>
            <p:nvPr/>
          </p:nvSpPr>
          <p:spPr>
            <a:xfrm>
              <a:off x="602742" y="4645342"/>
              <a:ext cx="603965" cy="264033"/>
            </a:xfrm>
            <a:prstGeom prst="rect">
              <a:avLst/>
            </a:prstGeom>
            <a:noFill/>
            <a:ln>
              <a:noFill/>
            </a:ln>
          </p:spPr>
          <p:txBody>
            <a:bodyPr wrap="none" lIns="0" tIns="0" rIns="0" bIns="0" anchor="t" anchorCtr="0">
              <a:spAutoFit/>
            </a:bodyPr>
            <a:lstStyle/>
            <a:p>
              <a:pPr algn="l"/>
              <a:r>
                <a:rPr lang="vi-VN" sz="1350" b="1" dirty="0">
                  <a:solidFill>
                    <a:srgbClr val="2E5E91"/>
                  </a:solidFill>
                  <a:latin typeface="+mn-lt"/>
                  <a:ea typeface="+mn-ea"/>
                  <a:cs typeface="+mn-cs"/>
                </a:rPr>
                <a:t>Lượt 5</a:t>
              </a:r>
            </a:p>
          </p:txBody>
        </p:sp>
        <p:sp>
          <p:nvSpPr>
            <p:cNvPr id="46" name="TextBox 46"/>
            <p:cNvSpPr txBox="1"/>
            <p:nvPr/>
          </p:nvSpPr>
          <p:spPr>
            <a:xfrm>
              <a:off x="1325880" y="4629150"/>
              <a:ext cx="3970706" cy="293370"/>
            </a:xfrm>
            <a:prstGeom prst="rect">
              <a:avLst/>
            </a:prstGeom>
            <a:noFill/>
            <a:ln>
              <a:noFill/>
            </a:ln>
          </p:spPr>
          <p:txBody>
            <a:bodyPr wrap="none" lIns="0" tIns="0" rIns="0" bIns="0" anchor="t" anchorCtr="0">
              <a:spAutoFit/>
            </a:bodyPr>
            <a:lstStyle/>
            <a:p>
              <a:pPr algn="l"/>
              <a:r>
                <a:rPr lang="vi-VN" sz="1500" i="1" dirty="0">
                  <a:solidFill>
                    <a:schemeClr val="dk1"/>
                  </a:solidFill>
                  <a:latin typeface="+mn-lt"/>
                  <a:ea typeface="+mn-ea"/>
                  <a:cs typeface="+mn-cs"/>
                </a:rPr>
                <a:t>“Chỗ nào bạn tự đoán? Rút 3–5 ý gửi sếp”</a:t>
              </a:r>
            </a:p>
          </p:txBody>
        </p:sp>
        <p:sp>
          <p:nvSpPr>
            <p:cNvPr id="47" name="Line 47"/>
            <p:cNvSpPr/>
            <p:nvPr/>
          </p:nvSpPr>
          <p:spPr>
            <a:xfrm>
              <a:off x="6781800" y="4724400"/>
              <a:ext cx="457200" cy="1"/>
            </a:xfrm>
            <a:prstGeom prst="line">
              <a:avLst/>
            </a:prstGeom>
            <a:noFill/>
            <a:ln w="19050">
              <a:solidFill>
                <a:srgbClr val="5B6675"/>
              </a:solidFill>
              <a:tailEnd type="triangle" w="lg" len="lg"/>
            </a:ln>
          </p:spPr>
        </p:sp>
        <p:sp>
          <p:nvSpPr>
            <p:cNvPr id="48" name="Rectangle 48"/>
            <p:cNvSpPr/>
            <p:nvPr/>
          </p:nvSpPr>
          <p:spPr>
            <a:xfrm>
              <a:off x="7353300" y="4495800"/>
              <a:ext cx="4457700" cy="457200"/>
            </a:xfrm>
            <a:prstGeom prst="roundRect">
              <a:avLst>
                <a:gd name="adj" fmla="val 25000"/>
              </a:avLst>
            </a:prstGeom>
            <a:solidFill>
              <a:srgbClr val="2E5E91"/>
            </a:solidFill>
            <a:ln>
              <a:noFill/>
            </a:ln>
          </p:spPr>
        </p:sp>
        <p:sp>
          <p:nvSpPr>
            <p:cNvPr id="49" name="TextBox 49"/>
            <p:cNvSpPr txBox="1"/>
            <p:nvPr/>
          </p:nvSpPr>
          <p:spPr>
            <a:xfrm>
              <a:off x="7536942" y="4635818"/>
              <a:ext cx="3401019" cy="264033"/>
            </a:xfrm>
            <a:prstGeom prst="rect">
              <a:avLst/>
            </a:prstGeom>
            <a:noFill/>
            <a:ln>
              <a:noFill/>
            </a:ln>
          </p:spPr>
          <p:txBody>
            <a:bodyPr wrap="none" lIns="0" tIns="0" rIns="0" bIns="0" anchor="t" anchorCtr="0">
              <a:spAutoFit/>
            </a:bodyPr>
            <a:lstStyle/>
            <a:p>
              <a:pPr algn="l"/>
              <a:r>
                <a:rPr lang="vi-VN" sz="1350" b="1" dirty="0">
                  <a:solidFill>
                    <a:srgbClr val="FFFFFF"/>
                  </a:solidFill>
                  <a:latin typeface="+mn-lt"/>
                  <a:ea typeface="+mn-ea"/>
                  <a:cs typeface="+mn-cs"/>
                </a:rPr>
                <a:t>QUY TẮC CHỐNG BỊA + TÓM TẮT NHANH</a:t>
              </a:r>
            </a:p>
          </p:txBody>
        </p:sp>
      </p:grpSp>
      <p:grpSp>
        <p:nvGrpSpPr>
          <p:cNvPr id="55" name="Group 55"/>
          <p:cNvGrpSpPr/>
          <p:nvPr/>
        </p:nvGrpSpPr>
        <p:grpSpPr>
          <a:xfrm>
            <a:off x="381000" y="5200650"/>
            <a:ext cx="11430000" cy="952500"/>
            <a:chOff x="381000" y="5200650"/>
            <a:chExt cx="11430000" cy="952500"/>
          </a:xfrm>
        </p:grpSpPr>
        <p:sp>
          <p:nvSpPr>
            <p:cNvPr id="51" name="Rectangle 51"/>
            <p:cNvSpPr/>
            <p:nvPr/>
          </p:nvSpPr>
          <p:spPr>
            <a:xfrm>
              <a:off x="381000" y="5200650"/>
              <a:ext cx="11430000" cy="952500"/>
            </a:xfrm>
            <a:prstGeom prst="roundRect">
              <a:avLst>
                <a:gd name="adj" fmla="val 16000"/>
              </a:avLst>
            </a:prstGeom>
            <a:solidFill>
              <a:srgbClr val="FCEBDD"/>
            </a:solidFill>
            <a:ln>
              <a:noFill/>
            </a:ln>
          </p:spPr>
        </p:sp>
        <p:sp>
          <p:nvSpPr>
            <p:cNvPr id="52" name="Freeform 52"/>
            <p:cNvSpPr/>
            <p:nvPr/>
          </p:nvSpPr>
          <p:spPr>
            <a:xfrm>
              <a:off x="676275" y="5391150"/>
              <a:ext cx="123825" cy="152400"/>
            </a:xfrm>
            <a:custGeom>
              <a:avLst/>
              <a:gdLst/>
              <a:ahLst/>
              <a:cxnLst/>
              <a:rect l="l" t="t" r="r" b="b"/>
              <a:pathLst>
                <a:path w="123825" h="152400">
                  <a:moveTo>
                    <a:pt x="0" y="0"/>
                  </a:moveTo>
                  <a:lnTo>
                    <a:pt x="0" y="152400"/>
                  </a:lnTo>
                  <a:lnTo>
                    <a:pt x="123825" y="76200"/>
                  </a:lnTo>
                  <a:lnTo>
                    <a:pt x="0" y="0"/>
                  </a:lnTo>
                </a:path>
              </a:pathLst>
            </a:custGeom>
            <a:noFill/>
            <a:ln w="19050">
              <a:solidFill>
                <a:schemeClr val="accent1"/>
              </a:solidFill>
            </a:ln>
          </p:spPr>
        </p:sp>
        <p:sp>
          <p:nvSpPr>
            <p:cNvPr id="53" name="TextBox 53"/>
            <p:cNvSpPr txBox="1"/>
            <p:nvPr/>
          </p:nvSpPr>
          <p:spPr>
            <a:xfrm>
              <a:off x="927354" y="5394960"/>
              <a:ext cx="4805964"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KẾT QUẢ DEMO TRÊN TÀI LIỆU CH ALPHA PLUS CỦA WIR</a:t>
              </a:r>
            </a:p>
          </p:txBody>
        </p:sp>
        <p:sp>
          <p:nvSpPr>
            <p:cNvPr id="54" name="TextBox 54"/>
            <p:cNvSpPr txBox="1"/>
            <p:nvPr/>
          </p:nvSpPr>
          <p:spPr>
            <a:xfrm>
              <a:off x="601218" y="5727382"/>
              <a:ext cx="9438136"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ChatGPT bắt được cụm </a:t>
              </a:r>
              <a:r>
                <a:rPr lang="vi-VN" sz="1650" b="1" dirty="0">
                  <a:solidFill>
                    <a:srgbClr val="C0392B"/>
                  </a:solidFill>
                  <a:latin typeface="+mn-lt"/>
                  <a:ea typeface="+mn-ea"/>
                  <a:cs typeface="+mn-cs"/>
                </a:rPr>
                <a:t>“điều trị thoái hóa sụn khớp”</a:t>
              </a:r>
              <a:r>
                <a:rPr lang="vi-VN" sz="1650" dirty="0">
                  <a:solidFill>
                    <a:schemeClr val="dk1"/>
                  </a:solidFill>
                  <a:latin typeface="+mn-lt"/>
                  <a:ea typeface="+mn-ea"/>
                  <a:cs typeface="+mn-cs"/>
                </a:rPr>
                <a:t> — TPCN không được nói “điều trị”.</a:t>
              </a:r>
            </a:p>
          </p:txBody>
        </p:sp>
      </p:grpSp>
      <p:sp>
        <p:nvSpPr>
          <p:cNvPr id="56" name="TextBox 56"/>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57" name="TextBox 57"/>
          <p:cNvSpPr txBox="1"/>
          <p:nvPr/>
        </p:nvSpPr>
        <p:spPr>
          <a:xfrm>
            <a:off x="7057034" y="6554152"/>
            <a:ext cx="4092550"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Nguồn: dữ liệu sản phẩm Wir — bộ “từ cấm” theo tầng pháp lý</a:t>
            </a:r>
          </a:p>
        </p:txBody>
      </p:sp>
      <p:sp>
        <p:nvSpPr>
          <p:cNvPr id="58" name="TextBox 58"/>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23 / 35</a:t>
            </a:r>
          </a:p>
        </p:txBody>
      </p:sp>
      <p:sp>
        <p:nvSpPr>
          <p:cNvPr id="59" name="demo-flag"/>
          <p:cNvSpPr/>
          <p:nvPr/>
        </p:nvSpPr>
        <p:spPr>
          <a:xfrm>
            <a:off x="3810000" y="304800"/>
            <a:ext cx="1638300" cy="228600"/>
          </a:xfrm>
          <a:prstGeom prst="roundRect">
            <a:avLst>
              <a:gd name="adj" fmla="val 50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00" b="1">
                <a:solidFill>
                  <a:srgbClr val="FFFFFF"/>
                </a:solidFill>
              </a:rPr>
              <a:t>▶ CÓ HƯỚNG DẪN DEMO</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4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fade">
                                      <p:cBhvr>
                                        <p:cTn id="27" dur="400"/>
                                        <p:tgtEl>
                                          <p:spTgt spid="5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fade">
                                      <p:cBhvr>
                                        <p:cTn id="32"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1623538" cy="234696"/>
            <a:chOff x="381000" y="346710"/>
            <a:chExt cx="1623538" cy="234696"/>
          </a:xfrm>
        </p:grpSpPr>
        <p:sp>
          <p:nvSpPr>
            <p:cNvPr id="2" name="Rectangle 2"/>
            <p:cNvSpPr/>
            <p:nvPr/>
          </p:nvSpPr>
          <p:spPr>
            <a:xfrm>
              <a:off x="381000" y="361950"/>
              <a:ext cx="114300" cy="114300"/>
            </a:xfrm>
            <a:prstGeom prst="roundRect">
              <a:avLst>
                <a:gd name="adj" fmla="val 25000"/>
              </a:avLst>
            </a:prstGeom>
            <a:solidFill>
              <a:srgbClr val="2E5E91"/>
            </a:solidFill>
            <a:ln>
              <a:noFill/>
            </a:ln>
          </p:spPr>
        </p:sp>
        <p:sp>
          <p:nvSpPr>
            <p:cNvPr id="3" name="TextBox 3"/>
            <p:cNvSpPr txBox="1"/>
            <p:nvPr/>
          </p:nvSpPr>
          <p:spPr>
            <a:xfrm>
              <a:off x="584454" y="346710"/>
              <a:ext cx="1420084"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3 · SKILL</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chemeClr val="accent2"/>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50108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9714214"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Sai thì sửa skill, không sửa tay kết quả;</a:t>
            </a:r>
            <a:br/>
            <a:r>
              <a:rPr lang="vi-VN" sz="3150" b="1" dirty="0">
                <a:solidFill>
                  <a:schemeClr val="accent1"/>
                </a:solidFill>
                <a:latin typeface="+mn-lt"/>
                <a:ea typeface="+mn-ea"/>
                <a:cs typeface="+mn-cs"/>
              </a:rPr>
              <a:t>mỗi skill một việc và phải qua phép thử phiên mới</a:t>
            </a:r>
          </a:p>
        </p:txBody>
      </p:sp>
      <p:grpSp>
        <p:nvGrpSpPr>
          <p:cNvPr id="28" name="Group 28"/>
          <p:cNvGrpSpPr/>
          <p:nvPr/>
        </p:nvGrpSpPr>
        <p:grpSpPr>
          <a:xfrm>
            <a:off x="374142" y="2137410"/>
            <a:ext cx="2894076" cy="3448241"/>
            <a:chOff x="374142" y="2137410"/>
            <a:chExt cx="2894076" cy="3448241"/>
          </a:xfrm>
        </p:grpSpPr>
        <p:sp>
          <p:nvSpPr>
            <p:cNvPr id="17" name="TextBox 17"/>
            <p:cNvSpPr txBox="1"/>
            <p:nvPr/>
          </p:nvSpPr>
          <p:spPr>
            <a:xfrm>
              <a:off x="374904" y="2137410"/>
              <a:ext cx="1242426"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VÒNG CẢI TIẾN</a:t>
              </a:r>
            </a:p>
          </p:txBody>
        </p:sp>
        <p:sp>
          <p:nvSpPr>
            <p:cNvPr id="18" name="Freeform 18"/>
            <p:cNvSpPr/>
            <p:nvPr/>
          </p:nvSpPr>
          <p:spPr>
            <a:xfrm>
              <a:off x="2387918" y="2748915"/>
              <a:ext cx="603572" cy="970597"/>
            </a:xfrm>
            <a:custGeom>
              <a:avLst/>
              <a:gdLst/>
              <a:ahLst/>
              <a:cxnLst/>
              <a:rect l="l" t="t" r="r" b="b"/>
              <a:pathLst>
                <a:path w="603572" h="970597">
                  <a:moveTo>
                    <a:pt x="0" y="0"/>
                  </a:moveTo>
                  <a:cubicBezTo>
                    <a:pt x="377388" y="167876"/>
                    <a:pt x="603572" y="559852"/>
                    <a:pt x="560070" y="970597"/>
                  </a:cubicBezTo>
                </a:path>
              </a:pathLst>
            </a:custGeom>
            <a:noFill/>
            <a:ln w="28575">
              <a:solidFill>
                <a:srgbClr val="2E5E91"/>
              </a:solidFill>
              <a:tailEnd type="triangle" w="lg" len="lg"/>
            </a:ln>
          </p:spPr>
        </p:sp>
        <p:sp>
          <p:nvSpPr>
            <p:cNvPr id="19" name="Freeform 19"/>
            <p:cNvSpPr/>
            <p:nvPr/>
          </p:nvSpPr>
          <p:spPr>
            <a:xfrm>
              <a:off x="1440180" y="4390072"/>
              <a:ext cx="1120140" cy="242747"/>
            </a:xfrm>
            <a:custGeom>
              <a:avLst/>
              <a:gdLst/>
              <a:ahLst/>
              <a:cxnLst/>
              <a:rect l="l" t="t" r="r" b="b"/>
              <a:pathLst>
                <a:path w="1120140" h="242747">
                  <a:moveTo>
                    <a:pt x="1120140" y="0"/>
                  </a:moveTo>
                  <a:cubicBezTo>
                    <a:pt x="786214" y="242747"/>
                    <a:pt x="333926" y="242747"/>
                    <a:pt x="0" y="0"/>
                  </a:cubicBezTo>
                </a:path>
              </a:pathLst>
            </a:custGeom>
            <a:noFill/>
            <a:ln w="28575">
              <a:solidFill>
                <a:srgbClr val="2E5E91"/>
              </a:solidFill>
              <a:tailEnd type="triangle" w="lg" len="lg"/>
            </a:ln>
          </p:spPr>
        </p:sp>
        <p:sp>
          <p:nvSpPr>
            <p:cNvPr id="20" name="Freeform 20"/>
            <p:cNvSpPr/>
            <p:nvPr/>
          </p:nvSpPr>
          <p:spPr>
            <a:xfrm>
              <a:off x="1009010" y="2748915"/>
              <a:ext cx="603572" cy="970597"/>
            </a:xfrm>
            <a:custGeom>
              <a:avLst/>
              <a:gdLst/>
              <a:ahLst/>
              <a:cxnLst/>
              <a:rect l="l" t="t" r="r" b="b"/>
              <a:pathLst>
                <a:path w="603572" h="970597">
                  <a:moveTo>
                    <a:pt x="43502" y="970597"/>
                  </a:moveTo>
                  <a:cubicBezTo>
                    <a:pt x="0" y="559852"/>
                    <a:pt x="226184" y="167876"/>
                    <a:pt x="603572" y="0"/>
                  </a:cubicBezTo>
                </a:path>
              </a:pathLst>
            </a:custGeom>
            <a:noFill/>
            <a:ln w="28575">
              <a:solidFill>
                <a:srgbClr val="2E5E91"/>
              </a:solidFill>
              <a:tailEnd type="triangle" w="lg" len="lg"/>
            </a:ln>
          </p:spPr>
        </p:sp>
        <p:sp>
          <p:nvSpPr>
            <p:cNvPr id="21" name="Ellipse 21"/>
            <p:cNvSpPr/>
            <p:nvPr/>
          </p:nvSpPr>
          <p:spPr>
            <a:xfrm>
              <a:off x="1676400" y="2343150"/>
              <a:ext cx="647700" cy="647700"/>
            </a:xfrm>
            <a:prstGeom prst="ellipse">
              <a:avLst/>
            </a:prstGeom>
            <a:solidFill>
              <a:srgbClr val="2E5E91"/>
            </a:solidFill>
            <a:ln>
              <a:noFill/>
            </a:ln>
          </p:spPr>
        </p:sp>
        <p:sp>
          <p:nvSpPr>
            <p:cNvPr id="22" name="TextBox 22"/>
            <p:cNvSpPr txBox="1"/>
            <p:nvPr/>
          </p:nvSpPr>
          <p:spPr>
            <a:xfrm>
              <a:off x="1756100" y="2571750"/>
              <a:ext cx="488299"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Chạy</a:t>
              </a:r>
            </a:p>
          </p:txBody>
        </p:sp>
        <p:sp>
          <p:nvSpPr>
            <p:cNvPr id="23" name="Ellipse 23"/>
            <p:cNvSpPr/>
            <p:nvPr/>
          </p:nvSpPr>
          <p:spPr>
            <a:xfrm>
              <a:off x="2501265" y="3771900"/>
              <a:ext cx="647700" cy="647700"/>
            </a:xfrm>
            <a:prstGeom prst="ellipse">
              <a:avLst/>
            </a:prstGeom>
            <a:solidFill>
              <a:srgbClr val="2E5E91"/>
            </a:solidFill>
            <a:ln>
              <a:noFill/>
            </a:ln>
          </p:spPr>
        </p:sp>
        <p:sp>
          <p:nvSpPr>
            <p:cNvPr id="24" name="TextBox 24"/>
            <p:cNvSpPr txBox="1"/>
            <p:nvPr/>
          </p:nvSpPr>
          <p:spPr>
            <a:xfrm>
              <a:off x="2666276" y="4000500"/>
              <a:ext cx="317678"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Soi</a:t>
              </a:r>
            </a:p>
          </p:txBody>
        </p:sp>
        <p:sp>
          <p:nvSpPr>
            <p:cNvPr id="25" name="Ellipse 25"/>
            <p:cNvSpPr/>
            <p:nvPr/>
          </p:nvSpPr>
          <p:spPr>
            <a:xfrm>
              <a:off x="851535" y="3771900"/>
              <a:ext cx="647700" cy="647700"/>
            </a:xfrm>
            <a:prstGeom prst="ellipse">
              <a:avLst/>
            </a:prstGeom>
            <a:solidFill>
              <a:schemeClr val="accent2"/>
            </a:solidFill>
            <a:ln>
              <a:noFill/>
            </a:ln>
          </p:spPr>
        </p:sp>
        <p:sp>
          <p:nvSpPr>
            <p:cNvPr id="26" name="TextBox 26"/>
            <p:cNvSpPr txBox="1"/>
            <p:nvPr/>
          </p:nvSpPr>
          <p:spPr>
            <a:xfrm>
              <a:off x="989543" y="4000500"/>
              <a:ext cx="371685" cy="293370"/>
            </a:xfrm>
            <a:prstGeom prst="rect">
              <a:avLst/>
            </a:prstGeom>
            <a:noFill/>
            <a:ln>
              <a:noFill/>
            </a:ln>
          </p:spPr>
          <p:txBody>
            <a:bodyPr wrap="none" lIns="0" tIns="0" rIns="0" bIns="0" anchor="t" anchorCtr="0">
              <a:spAutoFit/>
            </a:bodyPr>
            <a:lstStyle/>
            <a:p>
              <a:pPr algn="ctr"/>
              <a:r>
                <a:rPr lang="vi-VN" sz="1500" b="1" dirty="0">
                  <a:solidFill>
                    <a:schemeClr val="dk1"/>
                  </a:solidFill>
                  <a:latin typeface="+mn-lt"/>
                  <a:ea typeface="+mn-ea"/>
                  <a:cs typeface="+mn-cs"/>
                </a:rPr>
                <a:t>Sửa</a:t>
              </a:r>
            </a:p>
          </p:txBody>
        </p:sp>
        <p:sp>
          <p:nvSpPr>
            <p:cNvPr id="27" name="TextBox 27"/>
            <p:cNvSpPr txBox="1"/>
            <p:nvPr/>
          </p:nvSpPr>
          <p:spPr>
            <a:xfrm>
              <a:off x="374142" y="4826318"/>
              <a:ext cx="2894076" cy="759333"/>
            </a:xfrm>
            <a:prstGeom prst="rect">
              <a:avLst/>
            </a:prstGeom>
            <a:noFill/>
            <a:ln>
              <a:noFill/>
            </a:ln>
          </p:spPr>
          <p:txBody>
            <a:bodyPr wrap="none" lIns="0" tIns="0" rIns="0" bIns="0" anchor="t" anchorCtr="0">
              <a:spAutoFit/>
            </a:bodyPr>
            <a:lstStyle/>
            <a:p>
              <a:pPr algn="l">
                <a:lnSpc>
                  <a:spcPts val="1950"/>
                </a:lnSpc>
              </a:pPr>
              <a:r>
                <a:rPr lang="vi-VN" sz="1350" dirty="0">
                  <a:solidFill>
                    <a:schemeClr val="dk1"/>
                  </a:solidFill>
                  <a:latin typeface="+mn-lt"/>
                  <a:ea typeface="+mn-ea"/>
                  <a:cs typeface="+mn-cs"/>
                </a:rPr>
                <a:t>Chạy trên 3 việc thật</a:t>
              </a:r>
              <a:br/>
              <a:r>
                <a:rPr lang="vi-VN" sz="1350" dirty="0">
                  <a:solidFill>
                    <a:schemeClr val="dk1"/>
                  </a:solidFill>
                  <a:latin typeface="+mn-lt"/>
                  <a:ea typeface="+mn-ea"/>
                  <a:cs typeface="+mn-cs"/>
                </a:rPr>
                <a:t>Ghi lại chỗ phải sửa tay</a:t>
              </a:r>
              <a:br/>
              <a:r>
                <a:rPr lang="vi-VN" sz="1350" dirty="0">
                  <a:solidFill>
                    <a:schemeClr val="dk1"/>
                  </a:solidFill>
                  <a:latin typeface="+mn-lt"/>
                  <a:ea typeface="+mn-ea"/>
                  <a:cs typeface="+mn-cs"/>
                </a:rPr>
                <a:t>Sửa ngược vào skill, ghi “Sửa lần N”</a:t>
              </a:r>
            </a:p>
          </p:txBody>
        </p:sp>
      </p:grpSp>
      <p:grpSp>
        <p:nvGrpSpPr>
          <p:cNvPr id="42" name="Group 42"/>
          <p:cNvGrpSpPr/>
          <p:nvPr/>
        </p:nvGrpSpPr>
        <p:grpSpPr>
          <a:xfrm>
            <a:off x="4314444" y="2137410"/>
            <a:ext cx="3332226" cy="3101340"/>
            <a:chOff x="4314444" y="2137410"/>
            <a:chExt cx="3332226" cy="3101340"/>
          </a:xfrm>
        </p:grpSpPr>
        <p:sp>
          <p:nvSpPr>
            <p:cNvPr id="29" name="TextBox 29"/>
            <p:cNvSpPr txBox="1"/>
            <p:nvPr/>
          </p:nvSpPr>
          <p:spPr>
            <a:xfrm>
              <a:off x="4375404" y="2137410"/>
              <a:ext cx="1815511"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MỘT SKILL MỘT VIỆC</a:t>
              </a:r>
            </a:p>
          </p:txBody>
        </p:sp>
        <p:sp>
          <p:nvSpPr>
            <p:cNvPr id="30" name="Rectangle 30"/>
            <p:cNvSpPr/>
            <p:nvPr/>
          </p:nvSpPr>
          <p:spPr>
            <a:xfrm>
              <a:off x="4381500" y="2571750"/>
              <a:ext cx="3048000" cy="457200"/>
            </a:xfrm>
            <a:prstGeom prst="roundRect">
              <a:avLst>
                <a:gd name="adj" fmla="val 50000"/>
              </a:avLst>
            </a:prstGeom>
            <a:solidFill>
              <a:schemeClr val="lt1"/>
            </a:solidFill>
            <a:ln w="19050">
              <a:solidFill>
                <a:srgbClr val="2E5E91"/>
              </a:solidFill>
            </a:ln>
          </p:spPr>
        </p:sp>
        <p:sp>
          <p:nvSpPr>
            <p:cNvPr id="31" name="TextBox 31"/>
            <p:cNvSpPr txBox="1"/>
            <p:nvPr/>
          </p:nvSpPr>
          <p:spPr>
            <a:xfrm>
              <a:off x="4905894" y="2688908"/>
              <a:ext cx="1999212" cy="322707"/>
            </a:xfrm>
            <a:prstGeom prst="rect">
              <a:avLst/>
            </a:prstGeom>
            <a:noFill/>
            <a:ln>
              <a:noFill/>
            </a:ln>
          </p:spPr>
          <p:txBody>
            <a:bodyPr wrap="none" lIns="0" tIns="0" rIns="0" bIns="0" anchor="t" anchorCtr="0">
              <a:spAutoFit/>
            </a:bodyPr>
            <a:lstStyle/>
            <a:p>
              <a:pPr algn="ctr"/>
              <a:r>
                <a:rPr lang="vi-VN" sz="1650" b="1" dirty="0">
                  <a:solidFill>
                    <a:srgbClr val="2E5E91"/>
                  </a:solidFill>
                  <a:latin typeface="Consolas"/>
                  <a:ea typeface="Consolas"/>
                  <a:cs typeface="Consolas"/>
                </a:rPr>
                <a:t>customer-insight</a:t>
              </a:r>
            </a:p>
          </p:txBody>
        </p:sp>
        <p:sp>
          <p:nvSpPr>
            <p:cNvPr id="32" name="Line 32"/>
            <p:cNvSpPr/>
            <p:nvPr/>
          </p:nvSpPr>
          <p:spPr>
            <a:xfrm>
              <a:off x="5905500" y="3086100"/>
              <a:ext cx="1" cy="400050"/>
            </a:xfrm>
            <a:prstGeom prst="line">
              <a:avLst/>
            </a:prstGeom>
            <a:noFill/>
            <a:ln w="19050">
              <a:solidFill>
                <a:srgbClr val="5B6675"/>
              </a:solidFill>
              <a:tailEnd type="triangle" w="lg" len="lg"/>
            </a:ln>
          </p:spPr>
        </p:sp>
        <p:sp>
          <p:nvSpPr>
            <p:cNvPr id="33" name="Rectangle 33"/>
            <p:cNvSpPr/>
            <p:nvPr/>
          </p:nvSpPr>
          <p:spPr>
            <a:xfrm>
              <a:off x="4381500" y="3562350"/>
              <a:ext cx="3048000" cy="457200"/>
            </a:xfrm>
            <a:prstGeom prst="roundRect">
              <a:avLst>
                <a:gd name="adj" fmla="val 50000"/>
              </a:avLst>
            </a:prstGeom>
            <a:solidFill>
              <a:schemeClr val="lt1"/>
            </a:solidFill>
            <a:ln w="19050">
              <a:solidFill>
                <a:srgbClr val="2E5E91"/>
              </a:solidFill>
            </a:ln>
          </p:spPr>
        </p:sp>
        <p:sp>
          <p:nvSpPr>
            <p:cNvPr id="34" name="TextBox 34"/>
            <p:cNvSpPr txBox="1"/>
            <p:nvPr/>
          </p:nvSpPr>
          <p:spPr>
            <a:xfrm>
              <a:off x="5028339" y="3679508"/>
              <a:ext cx="1754321" cy="322707"/>
            </a:xfrm>
            <a:prstGeom prst="rect">
              <a:avLst/>
            </a:prstGeom>
            <a:noFill/>
            <a:ln>
              <a:noFill/>
            </a:ln>
          </p:spPr>
          <p:txBody>
            <a:bodyPr wrap="none" lIns="0" tIns="0" rIns="0" bIns="0" anchor="t" anchorCtr="0">
              <a:spAutoFit/>
            </a:bodyPr>
            <a:lstStyle/>
            <a:p>
              <a:pPr algn="ctr"/>
              <a:r>
                <a:rPr lang="vi-VN" sz="1650" b="1" dirty="0">
                  <a:solidFill>
                    <a:srgbClr val="2E5E91"/>
                  </a:solidFill>
                  <a:latin typeface="Consolas"/>
                  <a:ea typeface="Consolas"/>
                  <a:cs typeface="Consolas"/>
                </a:rPr>
                <a:t>content-engine</a:t>
              </a:r>
            </a:p>
          </p:txBody>
        </p:sp>
        <p:sp>
          <p:nvSpPr>
            <p:cNvPr id="35" name="TextBox 35"/>
            <p:cNvSpPr txBox="1"/>
            <p:nvPr/>
          </p:nvSpPr>
          <p:spPr>
            <a:xfrm>
              <a:off x="4314444" y="4178618"/>
              <a:ext cx="3182112" cy="264033"/>
            </a:xfrm>
            <a:prstGeom prst="rect">
              <a:avLst/>
            </a:prstGeom>
            <a:noFill/>
            <a:ln>
              <a:noFill/>
            </a:ln>
          </p:spPr>
          <p:txBody>
            <a:bodyPr wrap="none" lIns="0" tIns="0" rIns="0" bIns="0" anchor="t" anchorCtr="0">
              <a:spAutoFit/>
            </a:bodyPr>
            <a:lstStyle/>
            <a:p>
              <a:pPr algn="ctr"/>
              <a:r>
                <a:rPr lang="vi-VN" sz="1350" dirty="0">
                  <a:solidFill>
                    <a:srgbClr val="5B6675"/>
                  </a:solidFill>
                  <a:latin typeface="+mn-lt"/>
                  <a:ea typeface="+mn-ea"/>
                  <a:cs typeface="+mn-cs"/>
                </a:rPr>
                <a:t>Đầu ra skill trước = đầu vào skill sau</a:t>
              </a:r>
            </a:p>
          </p:txBody>
        </p:sp>
        <p:sp>
          <p:nvSpPr>
            <p:cNvPr id="36" name="Rectangle 36"/>
            <p:cNvSpPr/>
            <p:nvPr/>
          </p:nvSpPr>
          <p:spPr>
            <a:xfrm>
              <a:off x="4381500" y="4552950"/>
              <a:ext cx="3048000" cy="685800"/>
            </a:xfrm>
            <a:prstGeom prst="roundRect">
              <a:avLst>
                <a:gd name="adj" fmla="val 16667"/>
              </a:avLst>
            </a:prstGeom>
            <a:solidFill>
              <a:srgbClr val="FCEBDD"/>
            </a:solidFill>
            <a:ln>
              <a:noFill/>
            </a:ln>
          </p:spPr>
        </p:sp>
        <p:grpSp>
          <p:nvGrpSpPr>
            <p:cNvPr id="40" name="Group 40"/>
            <p:cNvGrpSpPr/>
            <p:nvPr/>
          </p:nvGrpSpPr>
          <p:grpSpPr>
            <a:xfrm>
              <a:off x="4550619" y="4709593"/>
              <a:ext cx="176105" cy="151297"/>
              <a:chOff x="4550619" y="4709593"/>
              <a:chExt cx="176105" cy="151297"/>
            </a:xfrm>
          </p:grpSpPr>
          <p:sp>
            <p:nvSpPr>
              <p:cNvPr id="37" name="Freeform 37"/>
              <p:cNvSpPr/>
              <p:nvPr/>
            </p:nvSpPr>
            <p:spPr>
              <a:xfrm>
                <a:off x="4638675" y="4764881"/>
                <a:ext cx="9525" cy="34925"/>
              </a:xfrm>
              <a:custGeom>
                <a:avLst/>
                <a:gdLst/>
                <a:ahLst/>
                <a:cxnLst/>
                <a:rect l="l" t="t" r="r" b="b"/>
                <a:pathLst>
                  <a:path w="9525" h="34925">
                    <a:moveTo>
                      <a:pt x="0" y="0"/>
                    </a:moveTo>
                    <a:lnTo>
                      <a:pt x="0" y="34925"/>
                    </a:lnTo>
                  </a:path>
                </a:pathLst>
              </a:custGeom>
              <a:noFill/>
              <a:ln w="17463">
                <a:solidFill>
                  <a:srgbClr val="C0392B"/>
                </a:solidFill>
              </a:ln>
            </p:spPr>
          </p:sp>
          <p:sp>
            <p:nvSpPr>
              <p:cNvPr id="38" name="Freeform 38"/>
              <p:cNvSpPr/>
              <p:nvPr/>
            </p:nvSpPr>
            <p:spPr>
              <a:xfrm>
                <a:off x="4550619" y="4709593"/>
                <a:ext cx="176105" cy="151297"/>
              </a:xfrm>
              <a:custGeom>
                <a:avLst/>
                <a:gdLst/>
                <a:ahLst/>
                <a:cxnLst/>
                <a:rect l="l" t="t" r="r" b="b"/>
                <a:pathLst>
                  <a:path w="176105" h="151297">
                    <a:moveTo>
                      <a:pt x="73763" y="8061"/>
                    </a:moveTo>
                    <a:lnTo>
                      <a:pt x="2987" y="126230"/>
                    </a:lnTo>
                    <a:cubicBezTo>
                      <a:pt x="18" y="131371"/>
                      <a:pt x="0" y="137702"/>
                      <a:pt x="2939" y="142860"/>
                    </a:cubicBezTo>
                    <a:cubicBezTo>
                      <a:pt x="5879" y="148019"/>
                      <a:pt x="11335" y="151230"/>
                      <a:pt x="17271" y="151297"/>
                    </a:cubicBezTo>
                    <a:lnTo>
                      <a:pt x="158840" y="151297"/>
                    </a:lnTo>
                    <a:cubicBezTo>
                      <a:pt x="164774" y="151229"/>
                      <a:pt x="170227" y="148018"/>
                      <a:pt x="173166" y="142863"/>
                    </a:cubicBezTo>
                    <a:cubicBezTo>
                      <a:pt x="176105" y="137707"/>
                      <a:pt x="176089" y="131379"/>
                      <a:pt x="173124" y="126238"/>
                    </a:cubicBezTo>
                    <a:lnTo>
                      <a:pt x="102349" y="8052"/>
                    </a:lnTo>
                    <a:cubicBezTo>
                      <a:pt x="99320" y="3053"/>
                      <a:pt x="93900" y="0"/>
                      <a:pt x="88056" y="0"/>
                    </a:cubicBezTo>
                    <a:cubicBezTo>
                      <a:pt x="82211" y="0"/>
                      <a:pt x="76791" y="3053"/>
                      <a:pt x="73763" y="8052"/>
                    </a:cubicBezTo>
                  </a:path>
                </a:pathLst>
              </a:custGeom>
              <a:noFill/>
              <a:ln w="17463">
                <a:solidFill>
                  <a:srgbClr val="C0392B"/>
                </a:solidFill>
              </a:ln>
            </p:spPr>
          </p:sp>
          <p:sp>
            <p:nvSpPr>
              <p:cNvPr id="39" name="Freeform 39"/>
              <p:cNvSpPr/>
              <p:nvPr/>
            </p:nvSpPr>
            <p:spPr>
              <a:xfrm>
                <a:off x="4638675" y="4826000"/>
                <a:ext cx="9525" cy="9525"/>
              </a:xfrm>
              <a:custGeom>
                <a:avLst/>
                <a:gdLst/>
                <a:ahLst/>
                <a:cxnLst/>
                <a:rect l="l" t="t" r="r" b="b"/>
                <a:pathLst>
                  <a:path w="9525" h="9525">
                    <a:moveTo>
                      <a:pt x="0" y="0"/>
                    </a:moveTo>
                    <a:lnTo>
                      <a:pt x="87" y="0"/>
                    </a:lnTo>
                  </a:path>
                </a:pathLst>
              </a:custGeom>
              <a:noFill/>
              <a:ln w="17463">
                <a:solidFill>
                  <a:srgbClr val="C0392B"/>
                </a:solidFill>
              </a:ln>
            </p:spPr>
          </p:sp>
        </p:grpSp>
        <p:sp>
          <p:nvSpPr>
            <p:cNvPr id="41" name="TextBox 41"/>
            <p:cNvSpPr txBox="1"/>
            <p:nvPr/>
          </p:nvSpPr>
          <p:spPr>
            <a:xfrm>
              <a:off x="4831080" y="4676775"/>
              <a:ext cx="2815590" cy="54102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Còn </a:t>
              </a:r>
              <a:r>
                <a:rPr lang="vi-VN" sz="1500" b="1" dirty="0">
                  <a:solidFill>
                    <a:srgbClr val="C0392B"/>
                  </a:solidFill>
                  <a:latin typeface="+mn-lt"/>
                  <a:ea typeface="+mn-ea"/>
                  <a:cs typeface="+mn-cs"/>
                </a:rPr>
                <a:t>[CẦN ĐIỀN]</a:t>
              </a:r>
              <a:r>
                <a:rPr lang="vi-VN" sz="1500" dirty="0">
                  <a:solidFill>
                    <a:schemeClr val="dk1"/>
                  </a:solidFill>
                  <a:latin typeface="+mn-lt"/>
                  <a:ea typeface="+mn-ea"/>
                  <a:cs typeface="+mn-cs"/>
                </a:rPr>
                <a:t> thì không chạy</a:t>
              </a:r>
              <a:br/>
              <a:r>
                <a:rPr lang="vi-VN" sz="1500" dirty="0">
                  <a:solidFill>
                    <a:schemeClr val="dk1"/>
                  </a:solidFill>
                  <a:latin typeface="+mn-lt"/>
                  <a:ea typeface="+mn-ea"/>
                  <a:cs typeface="+mn-cs"/>
                </a:rPr>
                <a:t>sang skill sau</a:t>
              </a:r>
            </a:p>
          </p:txBody>
        </p:sp>
      </p:grpSp>
      <p:grpSp>
        <p:nvGrpSpPr>
          <p:cNvPr id="59" name="Group 59"/>
          <p:cNvGrpSpPr/>
          <p:nvPr/>
        </p:nvGrpSpPr>
        <p:grpSpPr>
          <a:xfrm>
            <a:off x="8185404" y="2137410"/>
            <a:ext cx="3625596" cy="2929890"/>
            <a:chOff x="8185404" y="2137410"/>
            <a:chExt cx="3625596" cy="2929890"/>
          </a:xfrm>
        </p:grpSpPr>
        <p:sp>
          <p:nvSpPr>
            <p:cNvPr id="43" name="TextBox 43"/>
            <p:cNvSpPr txBox="1"/>
            <p:nvPr/>
          </p:nvSpPr>
          <p:spPr>
            <a:xfrm>
              <a:off x="8185404" y="2137410"/>
              <a:ext cx="1287231"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PHÉP THỬ CUỐI</a:t>
              </a:r>
            </a:p>
          </p:txBody>
        </p:sp>
        <p:sp>
          <p:nvSpPr>
            <p:cNvPr id="44" name="Rectangle 44"/>
            <p:cNvSpPr/>
            <p:nvPr/>
          </p:nvSpPr>
          <p:spPr>
            <a:xfrm>
              <a:off x="8191500" y="2438400"/>
              <a:ext cx="3619500" cy="2628900"/>
            </a:xfrm>
            <a:prstGeom prst="roundRect">
              <a:avLst>
                <a:gd name="adj" fmla="val 5797"/>
              </a:avLst>
            </a:prstGeom>
            <a:solidFill>
              <a:schemeClr val="lt2"/>
            </a:solidFill>
            <a:ln>
              <a:noFill/>
            </a:ln>
          </p:spPr>
        </p:sp>
        <p:sp>
          <p:nvSpPr>
            <p:cNvPr id="45" name="Ellipse 45"/>
            <p:cNvSpPr/>
            <p:nvPr/>
          </p:nvSpPr>
          <p:spPr>
            <a:xfrm>
              <a:off x="8401050" y="2667000"/>
              <a:ext cx="266700" cy="266700"/>
            </a:xfrm>
            <a:prstGeom prst="ellipse">
              <a:avLst/>
            </a:prstGeom>
            <a:solidFill>
              <a:srgbClr val="2E5E91"/>
            </a:solidFill>
            <a:ln>
              <a:noFill/>
            </a:ln>
          </p:spPr>
        </p:sp>
        <p:sp>
          <p:nvSpPr>
            <p:cNvPr id="46" name="TextBox 46"/>
            <p:cNvSpPr txBox="1"/>
            <p:nvPr/>
          </p:nvSpPr>
          <p:spPr>
            <a:xfrm>
              <a:off x="8481658" y="2727960"/>
              <a:ext cx="105484"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mn-lt"/>
                  <a:ea typeface="+mn-ea"/>
                  <a:cs typeface="+mn-cs"/>
                </a:rPr>
                <a:t>1</a:t>
              </a:r>
            </a:p>
          </p:txBody>
        </p:sp>
        <p:sp>
          <p:nvSpPr>
            <p:cNvPr id="47" name="TextBox 47"/>
            <p:cNvSpPr txBox="1"/>
            <p:nvPr/>
          </p:nvSpPr>
          <p:spPr>
            <a:xfrm>
              <a:off x="8774430" y="2705100"/>
              <a:ext cx="1233678"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Mở phiên mới</a:t>
              </a:r>
            </a:p>
          </p:txBody>
        </p:sp>
        <p:sp>
          <p:nvSpPr>
            <p:cNvPr id="48" name="Ellipse 48"/>
            <p:cNvSpPr/>
            <p:nvPr/>
          </p:nvSpPr>
          <p:spPr>
            <a:xfrm>
              <a:off x="8401050" y="3124200"/>
              <a:ext cx="266700" cy="266700"/>
            </a:xfrm>
            <a:prstGeom prst="ellipse">
              <a:avLst/>
            </a:prstGeom>
            <a:solidFill>
              <a:srgbClr val="2E5E91"/>
            </a:solidFill>
            <a:ln>
              <a:noFill/>
            </a:ln>
          </p:spPr>
        </p:sp>
        <p:sp>
          <p:nvSpPr>
            <p:cNvPr id="49" name="TextBox 49"/>
            <p:cNvSpPr txBox="1"/>
            <p:nvPr/>
          </p:nvSpPr>
          <p:spPr>
            <a:xfrm>
              <a:off x="8481658" y="3185160"/>
              <a:ext cx="105484"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mn-lt"/>
                  <a:ea typeface="+mn-ea"/>
                  <a:cs typeface="+mn-cs"/>
                </a:rPr>
                <a:t>2</a:t>
              </a:r>
            </a:p>
          </p:txBody>
        </p:sp>
        <p:sp>
          <p:nvSpPr>
            <p:cNvPr id="50" name="TextBox 50"/>
            <p:cNvSpPr txBox="1"/>
            <p:nvPr/>
          </p:nvSpPr>
          <p:spPr>
            <a:xfrm>
              <a:off x="8774430" y="3162300"/>
              <a:ext cx="1778246"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Không gọi tên skill</a:t>
              </a:r>
            </a:p>
          </p:txBody>
        </p:sp>
        <p:sp>
          <p:nvSpPr>
            <p:cNvPr id="51" name="Ellipse 51"/>
            <p:cNvSpPr/>
            <p:nvPr/>
          </p:nvSpPr>
          <p:spPr>
            <a:xfrm>
              <a:off x="8401050" y="3581400"/>
              <a:ext cx="266700" cy="266700"/>
            </a:xfrm>
            <a:prstGeom prst="ellipse">
              <a:avLst/>
            </a:prstGeom>
            <a:solidFill>
              <a:srgbClr val="2E5E91"/>
            </a:solidFill>
            <a:ln>
              <a:noFill/>
            </a:ln>
          </p:spPr>
        </p:sp>
        <p:sp>
          <p:nvSpPr>
            <p:cNvPr id="52" name="TextBox 52"/>
            <p:cNvSpPr txBox="1"/>
            <p:nvPr/>
          </p:nvSpPr>
          <p:spPr>
            <a:xfrm>
              <a:off x="8481658" y="3642360"/>
              <a:ext cx="105484"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mn-lt"/>
                  <a:ea typeface="+mn-ea"/>
                  <a:cs typeface="+mn-cs"/>
                </a:rPr>
                <a:t>3</a:t>
              </a:r>
            </a:p>
          </p:txBody>
        </p:sp>
        <p:sp>
          <p:nvSpPr>
            <p:cNvPr id="53" name="TextBox 53"/>
            <p:cNvSpPr txBox="1"/>
            <p:nvPr/>
          </p:nvSpPr>
          <p:spPr>
            <a:xfrm>
              <a:off x="8774430" y="3619500"/>
              <a:ext cx="2596787"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Giao yêu cầu chưa từng làm</a:t>
              </a:r>
            </a:p>
          </p:txBody>
        </p:sp>
        <p:sp>
          <p:nvSpPr>
            <p:cNvPr id="54" name="Line 54"/>
            <p:cNvSpPr/>
            <p:nvPr/>
          </p:nvSpPr>
          <p:spPr>
            <a:xfrm>
              <a:off x="8420100" y="4076700"/>
              <a:ext cx="3162300" cy="9525"/>
            </a:xfrm>
            <a:custGeom>
              <a:avLst/>
              <a:gdLst/>
              <a:ahLst/>
              <a:cxnLst/>
              <a:rect l="l" t="t" r="r" b="b"/>
              <a:pathLst>
                <a:path w="3162300" h="9525">
                  <a:moveTo>
                    <a:pt x="0" y="0"/>
                  </a:moveTo>
                  <a:lnTo>
                    <a:pt x="3162300" y="0"/>
                  </a:lnTo>
                </a:path>
              </a:pathLst>
            </a:custGeom>
            <a:noFill/>
            <a:ln w="9525">
              <a:solidFill>
                <a:schemeClr val="accent4"/>
              </a:solidFill>
            </a:ln>
          </p:spPr>
        </p:sp>
        <p:grpSp>
          <p:nvGrpSpPr>
            <p:cNvPr id="57" name="Group 57"/>
            <p:cNvGrpSpPr/>
            <p:nvPr/>
          </p:nvGrpSpPr>
          <p:grpSpPr>
            <a:xfrm>
              <a:off x="8451056" y="4317206"/>
              <a:ext cx="185737" cy="185737"/>
              <a:chOff x="8451056" y="4317206"/>
              <a:chExt cx="185737" cy="185737"/>
            </a:xfrm>
          </p:grpSpPr>
          <p:sp>
            <p:nvSpPr>
              <p:cNvPr id="55" name="Freeform 55"/>
              <p:cNvSpPr/>
              <p:nvPr/>
            </p:nvSpPr>
            <p:spPr>
              <a:xfrm>
                <a:off x="8451056" y="431720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rgbClr val="2E8B57"/>
                </a:solidFill>
              </a:ln>
            </p:spPr>
          </p:sp>
          <p:sp>
            <p:nvSpPr>
              <p:cNvPr id="56" name="Freeform 56"/>
              <p:cNvSpPr/>
              <p:nvPr/>
            </p:nvSpPr>
            <p:spPr>
              <a:xfrm>
                <a:off x="8512968" y="4389437"/>
                <a:ext cx="61912" cy="41275"/>
              </a:xfrm>
              <a:custGeom>
                <a:avLst/>
                <a:gdLst/>
                <a:ahLst/>
                <a:cxnLst/>
                <a:rect l="l" t="t" r="r" b="b"/>
                <a:pathLst>
                  <a:path w="61912" h="41275">
                    <a:moveTo>
                      <a:pt x="0" y="20637"/>
                    </a:moveTo>
                    <a:lnTo>
                      <a:pt x="20637" y="41275"/>
                    </a:lnTo>
                    <a:lnTo>
                      <a:pt x="61912" y="0"/>
                    </a:lnTo>
                  </a:path>
                </a:pathLst>
              </a:custGeom>
              <a:noFill/>
              <a:ln w="20637">
                <a:solidFill>
                  <a:srgbClr val="2E8B57"/>
                </a:solidFill>
              </a:ln>
            </p:spPr>
          </p:sp>
        </p:grpSp>
        <p:sp>
          <p:nvSpPr>
            <p:cNvPr id="58" name="TextBox 58"/>
            <p:cNvSpPr txBox="1"/>
            <p:nvPr/>
          </p:nvSpPr>
          <p:spPr>
            <a:xfrm>
              <a:off x="8774430" y="4314825"/>
              <a:ext cx="2695575" cy="560070"/>
            </a:xfrm>
            <a:prstGeom prst="rect">
              <a:avLst/>
            </a:prstGeom>
            <a:noFill/>
            <a:ln>
              <a:noFill/>
            </a:ln>
          </p:spPr>
          <p:txBody>
            <a:bodyPr wrap="none" lIns="0" tIns="0" rIns="0" bIns="0" anchor="t" anchorCtr="0">
              <a:spAutoFit/>
            </a:bodyPr>
            <a:lstStyle/>
            <a:p>
              <a:pPr algn="l">
                <a:lnSpc>
                  <a:spcPts val="2100"/>
                </a:lnSpc>
              </a:pPr>
              <a:r>
                <a:rPr lang="vi-VN" sz="1500" b="1" dirty="0">
                  <a:solidFill>
                    <a:srgbClr val="2E8B57"/>
                  </a:solidFill>
                  <a:latin typeface="+mn-lt"/>
                  <a:ea typeface="+mn-ea"/>
                  <a:cs typeface="+mn-cs"/>
                </a:rPr>
                <a:t>Skill tự được gọi và làm đúng</a:t>
              </a:r>
              <a:br/>
              <a:r>
                <a:rPr lang="vi-VN" sz="1500" b="1" dirty="0">
                  <a:solidFill>
                    <a:srgbClr val="2E8B57"/>
                  </a:solidFill>
                  <a:latin typeface="+mn-lt"/>
                  <a:ea typeface="+mn-ea"/>
                  <a:cs typeface="+mn-cs"/>
                </a:rPr>
                <a:t>→ đạt</a:t>
              </a:r>
            </a:p>
          </p:txBody>
        </p:sp>
      </p:grpSp>
      <p:sp>
        <p:nvSpPr>
          <p:cNvPr id="60" name="TextBox 60"/>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61" name="TextBox 61"/>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24 / 35</a:t>
            </a:r>
          </a:p>
        </p:txBody>
      </p:sp>
      <p:sp>
        <p:nvSpPr>
          <p:cNvPr id="62" name="demo-flag"/>
          <p:cNvSpPr/>
          <p:nvPr/>
        </p:nvSpPr>
        <p:spPr>
          <a:xfrm>
            <a:off x="3810000" y="304800"/>
            <a:ext cx="1638300" cy="228600"/>
          </a:xfrm>
          <a:prstGeom prst="roundRect">
            <a:avLst>
              <a:gd name="adj" fmla="val 50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00" b="1">
                <a:solidFill>
                  <a:srgbClr val="FFFFFF"/>
                </a:solidFill>
              </a:rPr>
              <a:t>▶ CÓ HƯỚNG DẪN DEMO</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2793462" cy="234696"/>
            <a:chOff x="381000" y="346710"/>
            <a:chExt cx="2793462" cy="234696"/>
          </a:xfrm>
        </p:grpSpPr>
        <p:sp>
          <p:nvSpPr>
            <p:cNvPr id="2" name="Rectangle 2"/>
            <p:cNvSpPr/>
            <p:nvPr/>
          </p:nvSpPr>
          <p:spPr>
            <a:xfrm>
              <a:off x="381000" y="361950"/>
              <a:ext cx="114300" cy="114300"/>
            </a:xfrm>
            <a:prstGeom prst="roundRect">
              <a:avLst>
                <a:gd name="adj" fmla="val 25000"/>
              </a:avLst>
            </a:prstGeom>
            <a:solidFill>
              <a:srgbClr val="2E5E91"/>
            </a:solidFill>
            <a:ln>
              <a:noFill/>
            </a:ln>
          </p:spPr>
        </p:sp>
        <p:sp>
          <p:nvSpPr>
            <p:cNvPr id="3" name="TextBox 3"/>
            <p:cNvSpPr txBox="1"/>
            <p:nvPr/>
          </p:nvSpPr>
          <p:spPr>
            <a:xfrm>
              <a:off x="584454" y="346710"/>
              <a:ext cx="2590008"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3 · THỰC HÀNH &amp; CHỐT</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chemeClr val="accent2"/>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50108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9252156"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Thực hành tầng 3: tạo skill tom-tat-tai-lieu,</a:t>
            </a:r>
            <a:br/>
            <a:r>
              <a:rPr lang="vi-VN" sz="3150" b="1" dirty="0">
                <a:solidFill>
                  <a:schemeClr val="accent1"/>
                </a:solidFill>
                <a:latin typeface="+mn-lt"/>
                <a:ea typeface="+mn-ea"/>
                <a:cs typeface="+mn-cs"/>
              </a:rPr>
              <a:t>rồi đóng gói một việc lặp lại của chính bạn</a:t>
            </a:r>
          </a:p>
        </p:txBody>
      </p:sp>
      <p:grpSp>
        <p:nvGrpSpPr>
          <p:cNvPr id="25" name="Group 25"/>
          <p:cNvGrpSpPr/>
          <p:nvPr/>
        </p:nvGrpSpPr>
        <p:grpSpPr>
          <a:xfrm>
            <a:off x="381000" y="2095500"/>
            <a:ext cx="6662697" cy="1047750"/>
            <a:chOff x="381000" y="2095500"/>
            <a:chExt cx="6662697" cy="1047750"/>
          </a:xfrm>
        </p:grpSpPr>
        <p:sp>
          <p:nvSpPr>
            <p:cNvPr id="17" name="Rectangle 17"/>
            <p:cNvSpPr/>
            <p:nvPr/>
          </p:nvSpPr>
          <p:spPr>
            <a:xfrm>
              <a:off x="381000" y="2095500"/>
              <a:ext cx="6572250" cy="1047750"/>
            </a:xfrm>
            <a:prstGeom prst="roundRect">
              <a:avLst>
                <a:gd name="adj" fmla="val 12727"/>
              </a:avLst>
            </a:prstGeom>
            <a:solidFill>
              <a:schemeClr val="lt1"/>
            </a:solidFill>
            <a:ln w="14288">
              <a:solidFill>
                <a:schemeClr val="accent4"/>
              </a:solidFill>
            </a:ln>
          </p:spPr>
        </p:sp>
        <p:sp>
          <p:nvSpPr>
            <p:cNvPr id="18" name="Ellipse 18"/>
            <p:cNvSpPr/>
            <p:nvPr/>
          </p:nvSpPr>
          <p:spPr>
            <a:xfrm>
              <a:off x="523875" y="2219325"/>
              <a:ext cx="285750" cy="285750"/>
            </a:xfrm>
            <a:prstGeom prst="ellipse">
              <a:avLst/>
            </a:prstGeom>
            <a:solidFill>
              <a:srgbClr val="2E5E91"/>
            </a:solidFill>
            <a:ln>
              <a:noFill/>
            </a:ln>
          </p:spPr>
        </p:sp>
        <p:sp>
          <p:nvSpPr>
            <p:cNvPr id="19" name="TextBox 19"/>
            <p:cNvSpPr txBox="1"/>
            <p:nvPr/>
          </p:nvSpPr>
          <p:spPr>
            <a:xfrm>
              <a:off x="600823" y="226695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1</a:t>
              </a:r>
            </a:p>
          </p:txBody>
        </p:sp>
        <p:sp>
          <p:nvSpPr>
            <p:cNvPr id="20" name="TextBox 20"/>
            <p:cNvSpPr txBox="1"/>
            <p:nvPr/>
          </p:nvSpPr>
          <p:spPr>
            <a:xfrm>
              <a:off x="925068" y="2260282"/>
              <a:ext cx="2939987"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Tạo skill tom-tat-tai-lieu</a:t>
              </a:r>
            </a:p>
          </p:txBody>
        </p:sp>
        <p:sp>
          <p:nvSpPr>
            <p:cNvPr id="21" name="Rectangle 21"/>
            <p:cNvSpPr/>
            <p:nvPr/>
          </p:nvSpPr>
          <p:spPr>
            <a:xfrm>
              <a:off x="6210300" y="2247900"/>
              <a:ext cx="552450" cy="266700"/>
            </a:xfrm>
            <a:prstGeom prst="roundRect">
              <a:avLst>
                <a:gd name="adj" fmla="val 50000"/>
              </a:avLst>
            </a:prstGeom>
            <a:solidFill>
              <a:srgbClr val="FCEBDD"/>
            </a:solidFill>
            <a:ln>
              <a:noFill/>
            </a:ln>
          </p:spPr>
        </p:sp>
        <p:sp>
          <p:nvSpPr>
            <p:cNvPr id="22" name="TextBox 22"/>
            <p:cNvSpPr txBox="1"/>
            <p:nvPr/>
          </p:nvSpPr>
          <p:spPr>
            <a:xfrm>
              <a:off x="6340492" y="2308860"/>
              <a:ext cx="292067" cy="234696"/>
            </a:xfrm>
            <a:prstGeom prst="rect">
              <a:avLst/>
            </a:prstGeom>
            <a:noFill/>
            <a:ln>
              <a:noFill/>
            </a:ln>
          </p:spPr>
          <p:txBody>
            <a:bodyPr wrap="none" lIns="0" tIns="0" rIns="0" bIns="0" anchor="t" anchorCtr="0">
              <a:spAutoFit/>
            </a:bodyPr>
            <a:lstStyle/>
            <a:p>
              <a:pPr algn="ctr"/>
              <a:r>
                <a:rPr lang="vi-VN" sz="1200" b="1" dirty="0">
                  <a:solidFill>
                    <a:schemeClr val="accent1"/>
                  </a:solidFill>
                  <a:latin typeface="+mn-lt"/>
                  <a:ea typeface="+mn-ea"/>
                  <a:cs typeface="+mn-cs"/>
                </a:rPr>
                <a:t>15'</a:t>
              </a:r>
            </a:p>
          </p:txBody>
        </p:sp>
        <p:sp>
          <p:nvSpPr>
            <p:cNvPr id="23" name="TextBox 23"/>
            <p:cNvSpPr txBox="1"/>
            <p:nvPr/>
          </p:nvSpPr>
          <p:spPr>
            <a:xfrm>
              <a:off x="926592" y="2578418"/>
              <a:ext cx="381762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Chạy trên tài liệu Lactobact Intima của Wir</a:t>
              </a:r>
            </a:p>
          </p:txBody>
        </p:sp>
        <p:sp>
          <p:nvSpPr>
            <p:cNvPr id="24" name="TextBox 24"/>
            <p:cNvSpPr txBox="1"/>
            <p:nvPr/>
          </p:nvSpPr>
          <p:spPr>
            <a:xfrm>
              <a:off x="926592" y="2826068"/>
              <a:ext cx="6117105" cy="264033"/>
            </a:xfrm>
            <a:prstGeom prst="rect">
              <a:avLst/>
            </a:prstGeom>
            <a:noFill/>
            <a:ln>
              <a:noFill/>
            </a:ln>
          </p:spPr>
          <p:txBody>
            <a:bodyPr wrap="none" lIns="0" tIns="0" rIns="0" bIns="0" anchor="t" anchorCtr="0">
              <a:spAutoFit/>
            </a:bodyPr>
            <a:lstStyle/>
            <a:p>
              <a:pPr algn="l"/>
              <a:r>
                <a:rPr lang="vi-VN" sz="1350" b="1" dirty="0">
                  <a:solidFill>
                    <a:srgbClr val="2E8B57"/>
                  </a:solidFill>
                  <a:latin typeface="+mn-lt"/>
                  <a:ea typeface="+mn-ea"/>
                  <a:cs typeface="+mn-cs"/>
                </a:rPr>
                <a:t>Đạt khi:</a:t>
              </a:r>
              <a:r>
                <a:rPr lang="vi-VN" sz="1350" dirty="0">
                  <a:solidFill>
                    <a:schemeClr val="dk1"/>
                  </a:solidFill>
                  <a:latin typeface="+mn-lt"/>
                  <a:ea typeface="+mn-ea"/>
                  <a:cs typeface="+mn-cs"/>
                </a:rPr>
                <a:t> bóc đúng 90% · 75% · 40–45% · 50% và chỉ ra cụm “điều trị”</a:t>
              </a:r>
            </a:p>
          </p:txBody>
        </p:sp>
      </p:grpSp>
      <p:grpSp>
        <p:nvGrpSpPr>
          <p:cNvPr id="33" name="Group 33"/>
          <p:cNvGrpSpPr/>
          <p:nvPr/>
        </p:nvGrpSpPr>
        <p:grpSpPr>
          <a:xfrm>
            <a:off x="381000" y="3238500"/>
            <a:ext cx="6572250" cy="781050"/>
            <a:chOff x="381000" y="3238500"/>
            <a:chExt cx="6572250" cy="781050"/>
          </a:xfrm>
        </p:grpSpPr>
        <p:sp>
          <p:nvSpPr>
            <p:cNvPr id="26" name="Rectangle 26"/>
            <p:cNvSpPr/>
            <p:nvPr/>
          </p:nvSpPr>
          <p:spPr>
            <a:xfrm>
              <a:off x="381000" y="3238500"/>
              <a:ext cx="6572250" cy="781050"/>
            </a:xfrm>
            <a:prstGeom prst="roundRect">
              <a:avLst>
                <a:gd name="adj" fmla="val 17073"/>
              </a:avLst>
            </a:prstGeom>
            <a:solidFill>
              <a:schemeClr val="lt1"/>
            </a:solidFill>
            <a:ln w="14288">
              <a:solidFill>
                <a:schemeClr val="accent4"/>
              </a:solidFill>
            </a:ln>
          </p:spPr>
        </p:sp>
        <p:sp>
          <p:nvSpPr>
            <p:cNvPr id="27" name="Ellipse 27"/>
            <p:cNvSpPr/>
            <p:nvPr/>
          </p:nvSpPr>
          <p:spPr>
            <a:xfrm>
              <a:off x="523875" y="3362325"/>
              <a:ext cx="285750" cy="285750"/>
            </a:xfrm>
            <a:prstGeom prst="ellipse">
              <a:avLst/>
            </a:prstGeom>
            <a:solidFill>
              <a:srgbClr val="2E5E91"/>
            </a:solidFill>
            <a:ln>
              <a:noFill/>
            </a:ln>
          </p:spPr>
        </p:sp>
        <p:sp>
          <p:nvSpPr>
            <p:cNvPr id="28" name="TextBox 28"/>
            <p:cNvSpPr txBox="1"/>
            <p:nvPr/>
          </p:nvSpPr>
          <p:spPr>
            <a:xfrm>
              <a:off x="600823" y="340995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2</a:t>
              </a:r>
            </a:p>
          </p:txBody>
        </p:sp>
        <p:sp>
          <p:nvSpPr>
            <p:cNvPr id="29" name="TextBox 29"/>
            <p:cNvSpPr txBox="1"/>
            <p:nvPr/>
          </p:nvSpPr>
          <p:spPr>
            <a:xfrm>
              <a:off x="925068" y="3403282"/>
              <a:ext cx="3569279"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Tạo skill cho việc lặp lại của bạn</a:t>
              </a:r>
            </a:p>
          </p:txBody>
        </p:sp>
        <p:sp>
          <p:nvSpPr>
            <p:cNvPr id="30" name="Rectangle 30"/>
            <p:cNvSpPr/>
            <p:nvPr/>
          </p:nvSpPr>
          <p:spPr>
            <a:xfrm>
              <a:off x="6210300" y="3390900"/>
              <a:ext cx="552450" cy="266700"/>
            </a:xfrm>
            <a:prstGeom prst="roundRect">
              <a:avLst>
                <a:gd name="adj" fmla="val 50000"/>
              </a:avLst>
            </a:prstGeom>
            <a:solidFill>
              <a:srgbClr val="FCEBDD"/>
            </a:solidFill>
            <a:ln>
              <a:noFill/>
            </a:ln>
          </p:spPr>
        </p:sp>
        <p:sp>
          <p:nvSpPr>
            <p:cNvPr id="31" name="TextBox 31"/>
            <p:cNvSpPr txBox="1"/>
            <p:nvPr/>
          </p:nvSpPr>
          <p:spPr>
            <a:xfrm>
              <a:off x="6340492" y="3451860"/>
              <a:ext cx="292067" cy="234696"/>
            </a:xfrm>
            <a:prstGeom prst="rect">
              <a:avLst/>
            </a:prstGeom>
            <a:noFill/>
            <a:ln>
              <a:noFill/>
            </a:ln>
          </p:spPr>
          <p:txBody>
            <a:bodyPr wrap="none" lIns="0" tIns="0" rIns="0" bIns="0" anchor="t" anchorCtr="0">
              <a:spAutoFit/>
            </a:bodyPr>
            <a:lstStyle/>
            <a:p>
              <a:pPr algn="ctr"/>
              <a:r>
                <a:rPr lang="vi-VN" sz="1200" b="1" dirty="0">
                  <a:solidFill>
                    <a:schemeClr val="accent1"/>
                  </a:solidFill>
                  <a:latin typeface="+mn-lt"/>
                  <a:ea typeface="+mn-ea"/>
                  <a:cs typeface="+mn-cs"/>
                </a:rPr>
                <a:t>30'</a:t>
              </a:r>
            </a:p>
          </p:txBody>
        </p:sp>
        <p:sp>
          <p:nvSpPr>
            <p:cNvPr id="32" name="TextBox 32"/>
            <p:cNvSpPr txBox="1"/>
            <p:nvPr/>
          </p:nvSpPr>
          <p:spPr>
            <a:xfrm>
              <a:off x="926592" y="3721418"/>
              <a:ext cx="2610449"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Chat tay 3–5 lượt rồi đóng gói</a:t>
              </a:r>
            </a:p>
          </p:txBody>
        </p:sp>
      </p:grpSp>
      <p:grpSp>
        <p:nvGrpSpPr>
          <p:cNvPr id="39" name="Group 39"/>
          <p:cNvGrpSpPr/>
          <p:nvPr/>
        </p:nvGrpSpPr>
        <p:grpSpPr>
          <a:xfrm>
            <a:off x="381000" y="4114800"/>
            <a:ext cx="6572250" cy="781050"/>
            <a:chOff x="381000" y="4114800"/>
            <a:chExt cx="6572250" cy="781050"/>
          </a:xfrm>
        </p:grpSpPr>
        <p:sp>
          <p:nvSpPr>
            <p:cNvPr id="34" name="Rectangle 34"/>
            <p:cNvSpPr/>
            <p:nvPr/>
          </p:nvSpPr>
          <p:spPr>
            <a:xfrm>
              <a:off x="381000" y="4114800"/>
              <a:ext cx="6572250" cy="781050"/>
            </a:xfrm>
            <a:prstGeom prst="roundRect">
              <a:avLst>
                <a:gd name="adj" fmla="val 17073"/>
              </a:avLst>
            </a:prstGeom>
            <a:solidFill>
              <a:schemeClr val="lt1"/>
            </a:solidFill>
            <a:ln w="14288">
              <a:solidFill>
                <a:schemeClr val="accent4"/>
              </a:solidFill>
            </a:ln>
          </p:spPr>
        </p:sp>
        <p:sp>
          <p:nvSpPr>
            <p:cNvPr id="35" name="Ellipse 35"/>
            <p:cNvSpPr/>
            <p:nvPr/>
          </p:nvSpPr>
          <p:spPr>
            <a:xfrm>
              <a:off x="523875" y="4238625"/>
              <a:ext cx="285750" cy="285750"/>
            </a:xfrm>
            <a:prstGeom prst="ellipse">
              <a:avLst/>
            </a:prstGeom>
            <a:solidFill>
              <a:srgbClr val="2E5E91"/>
            </a:solidFill>
            <a:ln>
              <a:noFill/>
            </a:ln>
          </p:spPr>
        </p:sp>
        <p:sp>
          <p:nvSpPr>
            <p:cNvPr id="36" name="TextBox 36"/>
            <p:cNvSpPr txBox="1"/>
            <p:nvPr/>
          </p:nvSpPr>
          <p:spPr>
            <a:xfrm>
              <a:off x="600823" y="428625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3</a:t>
              </a:r>
            </a:p>
          </p:txBody>
        </p:sp>
        <p:sp>
          <p:nvSpPr>
            <p:cNvPr id="37" name="TextBox 37"/>
            <p:cNvSpPr txBox="1"/>
            <p:nvPr/>
          </p:nvSpPr>
          <p:spPr>
            <a:xfrm>
              <a:off x="925068" y="4279582"/>
              <a:ext cx="2894504"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Bài về nhà: chạy thử 3 lần</a:t>
              </a:r>
            </a:p>
          </p:txBody>
        </p:sp>
        <p:sp>
          <p:nvSpPr>
            <p:cNvPr id="38" name="TextBox 38"/>
            <p:cNvSpPr txBox="1"/>
            <p:nvPr/>
          </p:nvSpPr>
          <p:spPr>
            <a:xfrm>
              <a:off x="926592" y="4597718"/>
              <a:ext cx="367309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Trên 3 việc khác nhau, sửa ngược vào skill</a:t>
              </a:r>
            </a:p>
          </p:txBody>
        </p:sp>
      </p:grpSp>
      <p:grpSp>
        <p:nvGrpSpPr>
          <p:cNvPr id="45" name="Group 45"/>
          <p:cNvGrpSpPr/>
          <p:nvPr/>
        </p:nvGrpSpPr>
        <p:grpSpPr>
          <a:xfrm>
            <a:off x="381000" y="4991100"/>
            <a:ext cx="6572250" cy="781050"/>
            <a:chOff x="381000" y="4991100"/>
            <a:chExt cx="6572250" cy="781050"/>
          </a:xfrm>
        </p:grpSpPr>
        <p:sp>
          <p:nvSpPr>
            <p:cNvPr id="40" name="Rectangle 40"/>
            <p:cNvSpPr/>
            <p:nvPr/>
          </p:nvSpPr>
          <p:spPr>
            <a:xfrm>
              <a:off x="381000" y="4991100"/>
              <a:ext cx="6572250" cy="781050"/>
            </a:xfrm>
            <a:prstGeom prst="roundRect">
              <a:avLst>
                <a:gd name="adj" fmla="val 17073"/>
              </a:avLst>
            </a:prstGeom>
            <a:solidFill>
              <a:schemeClr val="lt1"/>
            </a:solidFill>
            <a:ln w="14288">
              <a:solidFill>
                <a:schemeClr val="accent4"/>
              </a:solidFill>
            </a:ln>
          </p:spPr>
        </p:sp>
        <p:sp>
          <p:nvSpPr>
            <p:cNvPr id="41" name="Ellipse 41"/>
            <p:cNvSpPr/>
            <p:nvPr/>
          </p:nvSpPr>
          <p:spPr>
            <a:xfrm>
              <a:off x="523875" y="5114925"/>
              <a:ext cx="285750" cy="285750"/>
            </a:xfrm>
            <a:prstGeom prst="ellipse">
              <a:avLst/>
            </a:prstGeom>
            <a:solidFill>
              <a:srgbClr val="2E5E91"/>
            </a:solidFill>
            <a:ln>
              <a:noFill/>
            </a:ln>
          </p:spPr>
        </p:sp>
        <p:sp>
          <p:nvSpPr>
            <p:cNvPr id="42" name="TextBox 42"/>
            <p:cNvSpPr txBox="1"/>
            <p:nvPr/>
          </p:nvSpPr>
          <p:spPr>
            <a:xfrm>
              <a:off x="600823" y="5162550"/>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4</a:t>
              </a:r>
            </a:p>
          </p:txBody>
        </p:sp>
        <p:sp>
          <p:nvSpPr>
            <p:cNvPr id="43" name="TextBox 43"/>
            <p:cNvSpPr txBox="1"/>
            <p:nvPr/>
          </p:nvSpPr>
          <p:spPr>
            <a:xfrm>
              <a:off x="925068" y="5155882"/>
              <a:ext cx="2636323"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Vẽ chuỗi skill của phòng</a:t>
              </a:r>
            </a:p>
          </p:txBody>
        </p:sp>
        <p:sp>
          <p:nvSpPr>
            <p:cNvPr id="44" name="TextBox 44"/>
            <p:cNvSpPr txBox="1"/>
            <p:nvPr/>
          </p:nvSpPr>
          <p:spPr>
            <a:xfrm>
              <a:off x="926592" y="5474018"/>
              <a:ext cx="3236334"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Đầu ra skill trước là đầu vào skill sau</a:t>
              </a:r>
            </a:p>
          </p:txBody>
        </p:sp>
      </p:grpSp>
      <p:grpSp>
        <p:nvGrpSpPr>
          <p:cNvPr id="57" name="Group 57"/>
          <p:cNvGrpSpPr/>
          <p:nvPr/>
        </p:nvGrpSpPr>
        <p:grpSpPr>
          <a:xfrm>
            <a:off x="7181850" y="2095500"/>
            <a:ext cx="4629150" cy="3676650"/>
            <a:chOff x="7181850" y="2095500"/>
            <a:chExt cx="4629150" cy="3676650"/>
          </a:xfrm>
        </p:grpSpPr>
        <p:sp>
          <p:nvSpPr>
            <p:cNvPr id="46" name="Rectangle 46"/>
            <p:cNvSpPr/>
            <p:nvPr/>
          </p:nvSpPr>
          <p:spPr>
            <a:xfrm>
              <a:off x="7181850" y="2095500"/>
              <a:ext cx="4629150" cy="3676650"/>
            </a:xfrm>
            <a:prstGeom prst="roundRect">
              <a:avLst>
                <a:gd name="adj" fmla="val 4145"/>
              </a:avLst>
            </a:prstGeom>
            <a:solidFill>
              <a:schemeClr val="lt2"/>
            </a:solidFill>
            <a:ln>
              <a:noFill/>
            </a:ln>
          </p:spPr>
        </p:sp>
        <p:grpSp>
          <p:nvGrpSpPr>
            <p:cNvPr id="50" name="Group 50"/>
            <p:cNvGrpSpPr/>
            <p:nvPr/>
          </p:nvGrpSpPr>
          <p:grpSpPr>
            <a:xfrm>
              <a:off x="7441406" y="2316956"/>
              <a:ext cx="185737" cy="185737"/>
              <a:chOff x="7441406" y="2316956"/>
              <a:chExt cx="185737" cy="185737"/>
            </a:xfrm>
          </p:grpSpPr>
          <p:sp>
            <p:nvSpPr>
              <p:cNvPr id="47" name="Freeform 47"/>
              <p:cNvSpPr/>
              <p:nvPr/>
            </p:nvSpPr>
            <p:spPr>
              <a:xfrm>
                <a:off x="7441406" y="231695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chemeClr val="accent1"/>
                </a:solidFill>
              </a:ln>
            </p:spPr>
          </p:sp>
          <p:sp>
            <p:nvSpPr>
              <p:cNvPr id="48" name="Freeform 48"/>
              <p:cNvSpPr/>
              <p:nvPr/>
            </p:nvSpPr>
            <p:spPr>
              <a:xfrm>
                <a:off x="7534275" y="2451099"/>
                <a:ext cx="9525" cy="9525"/>
              </a:xfrm>
              <a:custGeom>
                <a:avLst/>
                <a:gdLst/>
                <a:ahLst/>
                <a:cxnLst/>
                <a:rect l="l" t="t" r="r" b="b"/>
                <a:pathLst>
                  <a:path w="9525" h="9525">
                    <a:moveTo>
                      <a:pt x="0" y="0"/>
                    </a:moveTo>
                    <a:lnTo>
                      <a:pt x="0" y="103"/>
                    </a:lnTo>
                  </a:path>
                </a:pathLst>
              </a:custGeom>
              <a:noFill/>
              <a:ln w="20637">
                <a:solidFill>
                  <a:schemeClr val="accent1"/>
                </a:solidFill>
              </a:ln>
            </p:spPr>
          </p:sp>
          <p:sp>
            <p:nvSpPr>
              <p:cNvPr id="49" name="Freeform 49"/>
              <p:cNvSpPr/>
              <p:nvPr/>
            </p:nvSpPr>
            <p:spPr>
              <a:xfrm>
                <a:off x="7518797" y="2376788"/>
                <a:ext cx="37844" cy="43384"/>
              </a:xfrm>
              <a:custGeom>
                <a:avLst/>
                <a:gdLst/>
                <a:ahLst/>
                <a:cxnLst/>
                <a:rect l="l" t="t" r="r" b="b"/>
                <a:pathLst>
                  <a:path w="37844" h="43384">
                    <a:moveTo>
                      <a:pt x="15478" y="43355"/>
                    </a:moveTo>
                    <a:cubicBezTo>
                      <a:pt x="25032" y="43384"/>
                      <a:pt x="33356" y="36852"/>
                      <a:pt x="35600" y="27566"/>
                    </a:cubicBezTo>
                    <a:cubicBezTo>
                      <a:pt x="37844" y="18280"/>
                      <a:pt x="33422" y="8667"/>
                      <a:pt x="24909" y="4330"/>
                    </a:cubicBezTo>
                    <a:cubicBezTo>
                      <a:pt x="16457" y="0"/>
                      <a:pt x="6136" y="2065"/>
                      <a:pt x="0" y="9314"/>
                    </a:cubicBezTo>
                  </a:path>
                </a:pathLst>
              </a:custGeom>
              <a:noFill/>
              <a:ln w="20637">
                <a:solidFill>
                  <a:schemeClr val="accent1"/>
                </a:solidFill>
              </a:ln>
            </p:spPr>
          </p:sp>
        </p:grpSp>
        <p:sp>
          <p:nvSpPr>
            <p:cNvPr id="51" name="TextBox 51"/>
            <p:cNvSpPr txBox="1"/>
            <p:nvPr/>
          </p:nvSpPr>
          <p:spPr>
            <a:xfrm>
              <a:off x="7747254" y="2337435"/>
              <a:ext cx="1177991"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CÂU HỎI CHỐT</a:t>
              </a:r>
            </a:p>
          </p:txBody>
        </p:sp>
        <p:sp>
          <p:nvSpPr>
            <p:cNvPr id="52" name="TextBox 52"/>
            <p:cNvSpPr txBox="1"/>
            <p:nvPr/>
          </p:nvSpPr>
          <p:spPr>
            <a:xfrm>
              <a:off x="7402830" y="2733675"/>
              <a:ext cx="3455670" cy="541020"/>
            </a:xfrm>
            <a:prstGeom prst="rect">
              <a:avLst/>
            </a:prstGeom>
            <a:noFill/>
            <a:ln>
              <a:noFill/>
            </a:ln>
          </p:spPr>
          <p:txBody>
            <a:bodyPr wrap="none" lIns="0" tIns="0" rIns="0" bIns="0" anchor="t" anchorCtr="0">
              <a:spAutoFit/>
            </a:bodyPr>
            <a:lstStyle/>
            <a:p>
              <a:pPr algn="l">
                <a:lnSpc>
                  <a:spcPts val="1950"/>
                </a:lnSpc>
              </a:pPr>
              <a:r>
                <a:rPr lang="vi-VN" sz="1500" b="1" dirty="0">
                  <a:solidFill>
                    <a:schemeClr val="accent1"/>
                  </a:solidFill>
                  <a:latin typeface="+mn-lt"/>
                  <a:ea typeface="+mn-ea"/>
                  <a:cs typeface="+mn-cs"/>
                </a:rPr>
                <a:t>ChatGPT đọc phần nào để quyết định</a:t>
              </a:r>
              <a:br/>
              <a:r>
                <a:rPr lang="vi-VN" sz="1500" b="1" dirty="0">
                  <a:solidFill>
                    <a:schemeClr val="accent1"/>
                  </a:solidFill>
                  <a:latin typeface="+mn-lt"/>
                  <a:ea typeface="+mn-ea"/>
                  <a:cs typeface="+mn-cs"/>
                </a:rPr>
                <a:t>dùng skill?</a:t>
              </a:r>
            </a:p>
          </p:txBody>
        </p:sp>
        <p:sp>
          <p:nvSpPr>
            <p:cNvPr id="53" name="Line 53"/>
            <p:cNvSpPr/>
            <p:nvPr/>
          </p:nvSpPr>
          <p:spPr>
            <a:xfrm>
              <a:off x="7410450" y="3657600"/>
              <a:ext cx="4171950" cy="9525"/>
            </a:xfrm>
            <a:custGeom>
              <a:avLst/>
              <a:gdLst/>
              <a:ahLst/>
              <a:cxnLst/>
              <a:rect l="l" t="t" r="r" b="b"/>
              <a:pathLst>
                <a:path w="4171950" h="9525">
                  <a:moveTo>
                    <a:pt x="0" y="0"/>
                  </a:moveTo>
                  <a:lnTo>
                    <a:pt x="4171950" y="0"/>
                  </a:lnTo>
                </a:path>
              </a:pathLst>
            </a:custGeom>
            <a:noFill/>
            <a:ln w="9525">
              <a:solidFill>
                <a:schemeClr val="accent4"/>
              </a:solidFill>
            </a:ln>
          </p:spPr>
        </p:sp>
        <p:sp>
          <p:nvSpPr>
            <p:cNvPr id="54" name="TextBox 54"/>
            <p:cNvSpPr txBox="1"/>
            <p:nvPr/>
          </p:nvSpPr>
          <p:spPr>
            <a:xfrm>
              <a:off x="7402830" y="3838575"/>
              <a:ext cx="2630935"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Bước 1 của mọi skill là gì?</a:t>
              </a:r>
            </a:p>
          </p:txBody>
        </p:sp>
        <p:sp>
          <p:nvSpPr>
            <p:cNvPr id="55" name="Line 55"/>
            <p:cNvSpPr/>
            <p:nvPr/>
          </p:nvSpPr>
          <p:spPr>
            <a:xfrm>
              <a:off x="7410450" y="4514850"/>
              <a:ext cx="4171950" cy="9525"/>
            </a:xfrm>
            <a:custGeom>
              <a:avLst/>
              <a:gdLst/>
              <a:ahLst/>
              <a:cxnLst/>
              <a:rect l="l" t="t" r="r" b="b"/>
              <a:pathLst>
                <a:path w="4171950" h="9525">
                  <a:moveTo>
                    <a:pt x="0" y="0"/>
                  </a:moveTo>
                  <a:lnTo>
                    <a:pt x="4171950" y="0"/>
                  </a:lnTo>
                </a:path>
              </a:pathLst>
            </a:custGeom>
            <a:noFill/>
            <a:ln w="9525">
              <a:solidFill>
                <a:schemeClr val="accent4"/>
              </a:solidFill>
            </a:ln>
          </p:spPr>
        </p:sp>
        <p:sp>
          <p:nvSpPr>
            <p:cNvPr id="56" name="TextBox 56"/>
            <p:cNvSpPr txBox="1"/>
            <p:nvPr/>
          </p:nvSpPr>
          <p:spPr>
            <a:xfrm>
              <a:off x="7402830" y="4695825"/>
              <a:ext cx="3171582"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Skill ra kết quả sai, sửa ở đâu?</a:t>
              </a:r>
            </a:p>
          </p:txBody>
        </p:sp>
      </p:grpSp>
      <p:grpSp>
        <p:nvGrpSpPr>
          <p:cNvPr id="59" name="Group 59"/>
          <p:cNvGrpSpPr/>
          <p:nvPr/>
        </p:nvGrpSpPr>
        <p:grpSpPr>
          <a:xfrm>
            <a:off x="7402830" y="3267075"/>
            <a:ext cx="2501122" cy="293370"/>
            <a:chOff x="7402830" y="3267075"/>
            <a:chExt cx="2501122" cy="293370"/>
          </a:xfrm>
        </p:grpSpPr>
        <p:sp>
          <p:nvSpPr>
            <p:cNvPr id="58" name="TextBox 58"/>
            <p:cNvSpPr txBox="1"/>
            <p:nvPr/>
          </p:nvSpPr>
          <p:spPr>
            <a:xfrm>
              <a:off x="7402830" y="3267075"/>
              <a:ext cx="2501122" cy="293370"/>
            </a:xfrm>
            <a:prstGeom prst="rect">
              <a:avLst/>
            </a:prstGeom>
            <a:noFill/>
            <a:ln>
              <a:noFill/>
            </a:ln>
          </p:spPr>
          <p:txBody>
            <a:bodyPr wrap="none" lIns="0" tIns="0" rIns="0" bIns="0" anchor="t" anchorCtr="0">
              <a:spAutoFit/>
            </a:bodyPr>
            <a:lstStyle/>
            <a:p>
              <a:pPr algn="l"/>
              <a:r>
                <a:rPr lang="vi-VN" sz="1500" b="1" dirty="0">
                  <a:solidFill>
                    <a:srgbClr val="2E8B57"/>
                  </a:solidFill>
                  <a:latin typeface="+mn-lt"/>
                  <a:ea typeface="+mn-ea"/>
                  <a:cs typeface="+mn-cs"/>
                </a:rPr>
                <a:t>→</a:t>
              </a:r>
              <a:r>
                <a:rPr lang="vi-VN" sz="1500" dirty="0">
                  <a:solidFill>
                    <a:schemeClr val="dk1"/>
                  </a:solidFill>
                  <a:latin typeface="+mn-lt"/>
                  <a:ea typeface="+mn-ea"/>
                  <a:cs typeface="+mn-cs"/>
                </a:rPr>
                <a:t> Tên và dòng description</a:t>
              </a:r>
            </a:p>
          </p:txBody>
        </p:sp>
      </p:grpSp>
      <p:grpSp>
        <p:nvGrpSpPr>
          <p:cNvPr id="61" name="Group 61"/>
          <p:cNvGrpSpPr/>
          <p:nvPr/>
        </p:nvGrpSpPr>
        <p:grpSpPr>
          <a:xfrm>
            <a:off x="7402830" y="4124325"/>
            <a:ext cx="3804038" cy="293370"/>
            <a:chOff x="7402830" y="4124325"/>
            <a:chExt cx="3804038" cy="293370"/>
          </a:xfrm>
        </p:grpSpPr>
        <p:sp>
          <p:nvSpPr>
            <p:cNvPr id="60" name="TextBox 60"/>
            <p:cNvSpPr txBox="1"/>
            <p:nvPr/>
          </p:nvSpPr>
          <p:spPr>
            <a:xfrm>
              <a:off x="7402830" y="4124325"/>
              <a:ext cx="3804038" cy="293370"/>
            </a:xfrm>
            <a:prstGeom prst="rect">
              <a:avLst/>
            </a:prstGeom>
            <a:noFill/>
            <a:ln>
              <a:noFill/>
            </a:ln>
          </p:spPr>
          <p:txBody>
            <a:bodyPr wrap="none" lIns="0" tIns="0" rIns="0" bIns="0" anchor="t" anchorCtr="0">
              <a:spAutoFit/>
            </a:bodyPr>
            <a:lstStyle/>
            <a:p>
              <a:pPr algn="l"/>
              <a:r>
                <a:rPr lang="vi-VN" sz="1500" b="1" dirty="0">
                  <a:solidFill>
                    <a:srgbClr val="2E8B57"/>
                  </a:solidFill>
                  <a:latin typeface="+mn-lt"/>
                  <a:ea typeface="+mn-ea"/>
                  <a:cs typeface="+mn-cs"/>
                </a:rPr>
                <a:t>→</a:t>
              </a:r>
              <a:r>
                <a:rPr lang="vi-VN" sz="1500" dirty="0">
                  <a:solidFill>
                    <a:schemeClr val="dk1"/>
                  </a:solidFill>
                  <a:latin typeface="+mn-lt"/>
                  <a:ea typeface="+mn-ea"/>
                  <a:cs typeface="+mn-cs"/>
                </a:rPr>
                <a:t> Kiểm tra đủ đầu vào, thiếu thì hỏi lại</a:t>
              </a:r>
            </a:p>
          </p:txBody>
        </p:sp>
      </p:grpSp>
      <p:grpSp>
        <p:nvGrpSpPr>
          <p:cNvPr id="63" name="Group 63"/>
          <p:cNvGrpSpPr/>
          <p:nvPr/>
        </p:nvGrpSpPr>
        <p:grpSpPr>
          <a:xfrm>
            <a:off x="7402830" y="4981575"/>
            <a:ext cx="3915070" cy="293370"/>
            <a:chOff x="7402830" y="4981575"/>
            <a:chExt cx="3915070" cy="293370"/>
          </a:xfrm>
        </p:grpSpPr>
        <p:sp>
          <p:nvSpPr>
            <p:cNvPr id="62" name="TextBox 62"/>
            <p:cNvSpPr txBox="1"/>
            <p:nvPr/>
          </p:nvSpPr>
          <p:spPr>
            <a:xfrm>
              <a:off x="7402830" y="4981575"/>
              <a:ext cx="3915070" cy="293370"/>
            </a:xfrm>
            <a:prstGeom prst="rect">
              <a:avLst/>
            </a:prstGeom>
            <a:noFill/>
            <a:ln>
              <a:noFill/>
            </a:ln>
          </p:spPr>
          <p:txBody>
            <a:bodyPr wrap="none" lIns="0" tIns="0" rIns="0" bIns="0" anchor="t" anchorCtr="0">
              <a:spAutoFit/>
            </a:bodyPr>
            <a:lstStyle/>
            <a:p>
              <a:pPr algn="l"/>
              <a:r>
                <a:rPr lang="vi-VN" sz="1500" b="1" dirty="0">
                  <a:solidFill>
                    <a:srgbClr val="2E8B57"/>
                  </a:solidFill>
                  <a:latin typeface="+mn-lt"/>
                  <a:ea typeface="+mn-ea"/>
                  <a:cs typeface="+mn-cs"/>
                </a:rPr>
                <a:t>→</a:t>
              </a:r>
              <a:r>
                <a:rPr lang="vi-VN" sz="1500" dirty="0">
                  <a:solidFill>
                    <a:schemeClr val="dk1"/>
                  </a:solidFill>
                  <a:latin typeface="+mn-lt"/>
                  <a:ea typeface="+mn-ea"/>
                  <a:cs typeface="+mn-cs"/>
                </a:rPr>
                <a:t> Sửa trong skill, không sửa tay kết quả</a:t>
              </a:r>
            </a:p>
          </p:txBody>
        </p:sp>
      </p:grpSp>
      <p:sp>
        <p:nvSpPr>
          <p:cNvPr id="64" name="TextBox 64"/>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65" name="TextBox 65"/>
          <p:cNvSpPr txBox="1"/>
          <p:nvPr/>
        </p:nvSpPr>
        <p:spPr>
          <a:xfrm>
            <a:off x="7946678" y="6554152"/>
            <a:ext cx="3202906"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Số liệu Lactobact Intima: tài liệu sản phẩm Wir</a:t>
            </a:r>
          </a:p>
        </p:txBody>
      </p:sp>
      <p:sp>
        <p:nvSpPr>
          <p:cNvPr id="66" name="TextBox 66"/>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25 / 35</a:t>
            </a:r>
          </a:p>
        </p:txBody>
      </p:sp>
      <p:sp>
        <p:nvSpPr>
          <p:cNvPr id="67" name="demo-flag"/>
          <p:cNvSpPr/>
          <p:nvPr/>
        </p:nvSpPr>
        <p:spPr>
          <a:xfrm>
            <a:off x="3810000" y="304800"/>
            <a:ext cx="1638300" cy="228600"/>
          </a:xfrm>
          <a:prstGeom prst="roundRect">
            <a:avLst>
              <a:gd name="adj" fmla="val 50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00" b="1">
                <a:solidFill>
                  <a:srgbClr val="FFFFFF"/>
                </a:solidFill>
              </a:rPr>
              <a:t>▶ CÓ HƯỚNG DẪN DEMO</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300"/>
                                        <p:tgtEl>
                                          <p:spTgt spid="5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
                                        </p:tgtEl>
                                        <p:attrNameLst>
                                          <p:attrName>style.visibility</p:attrName>
                                        </p:attrNameLst>
                                      </p:cBhvr>
                                      <p:to>
                                        <p:strVal val="visible"/>
                                      </p:to>
                                    </p:set>
                                    <p:animEffect transition="in" filter="fade">
                                      <p:cBhvr>
                                        <p:cTn id="12" dur="300"/>
                                        <p:tgtEl>
                                          <p:spTgt spid="6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fade">
                                      <p:cBhvr>
                                        <p:cTn id="17" dur="3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3" name="Group 13"/>
          <p:cNvGrpSpPr/>
          <p:nvPr/>
        </p:nvGrpSpPr>
        <p:grpSpPr>
          <a:xfrm>
            <a:off x="0" y="0"/>
            <a:ext cx="4381500" cy="6858000"/>
            <a:chOff x="0" y="0"/>
            <a:chExt cx="4381500" cy="6858000"/>
          </a:xfrm>
        </p:grpSpPr>
        <p:sp>
          <p:nvSpPr>
            <p:cNvPr id="2" name="Rectangle 2"/>
            <p:cNvSpPr/>
            <p:nvPr/>
          </p:nvSpPr>
          <p:spPr>
            <a:xfrm>
              <a:off x="0" y="0"/>
              <a:ext cx="4381500" cy="6858000"/>
            </a:xfrm>
            <a:prstGeom prst="rect">
              <a:avLst/>
            </a:prstGeom>
            <a:solidFill>
              <a:schemeClr val="accent1"/>
            </a:solidFill>
            <a:ln>
              <a:noFill/>
            </a:ln>
          </p:spPr>
        </p:sp>
        <p:sp>
          <p:nvSpPr>
            <p:cNvPr id="3" name="TextBox 3"/>
            <p:cNvSpPr txBox="1"/>
            <p:nvPr/>
          </p:nvSpPr>
          <p:spPr>
            <a:xfrm>
              <a:off x="522732" y="1106805"/>
              <a:ext cx="1191296" cy="410718"/>
            </a:xfrm>
            <a:prstGeom prst="rect">
              <a:avLst/>
            </a:prstGeom>
            <a:noFill/>
            <a:ln>
              <a:noFill/>
            </a:ln>
          </p:spPr>
          <p:txBody>
            <a:bodyPr wrap="none" lIns="0" tIns="0" rIns="0" bIns="0" anchor="t" anchorCtr="0">
              <a:spAutoFit/>
            </a:bodyPr>
            <a:lstStyle/>
            <a:p>
              <a:pPr algn="l"/>
              <a:r>
                <a:rPr lang="vi-VN" sz="2100" b="1" spc="300" dirty="0">
                  <a:solidFill>
                    <a:srgbClr val="FFFFFF"/>
                  </a:solidFill>
                  <a:latin typeface="+mn-lt"/>
                  <a:ea typeface="+mn-ea"/>
                  <a:cs typeface="+mn-cs"/>
                </a:rPr>
                <a:t>TẦNG 4</a:t>
              </a:r>
            </a:p>
          </p:txBody>
        </p:sp>
        <p:sp>
          <p:nvSpPr>
            <p:cNvPr id="4" name="TextBox 4"/>
            <p:cNvSpPr txBox="1"/>
            <p:nvPr/>
          </p:nvSpPr>
          <p:spPr>
            <a:xfrm>
              <a:off x="438150" y="2190750"/>
              <a:ext cx="1204246" cy="2876550"/>
            </a:xfrm>
            <a:prstGeom prst="rect">
              <a:avLst/>
            </a:prstGeom>
            <a:noFill/>
            <a:ln>
              <a:noFill/>
            </a:ln>
          </p:spPr>
          <p:txBody>
            <a:bodyPr wrap="none" lIns="0" tIns="0" rIns="0" bIns="0" anchor="t" anchorCtr="0">
              <a:spAutoFit/>
            </a:bodyPr>
            <a:lstStyle/>
            <a:p>
              <a:pPr algn="l"/>
              <a:r>
                <a:rPr lang="vi-VN" sz="15000" b="1" dirty="0">
                  <a:solidFill>
                    <a:srgbClr val="FFFFFF"/>
                  </a:solidFill>
                  <a:latin typeface="+mn-lt"/>
                  <a:ea typeface="+mn-ea"/>
                  <a:cs typeface="+mn-cs"/>
                </a:rPr>
                <a:t>4</a:t>
              </a:r>
            </a:p>
          </p:txBody>
        </p:sp>
        <p:sp>
          <p:nvSpPr>
            <p:cNvPr id="5" name="TextBox 5"/>
            <p:cNvSpPr txBox="1"/>
            <p:nvPr/>
          </p:nvSpPr>
          <p:spPr>
            <a:xfrm>
              <a:off x="514350" y="4208145"/>
              <a:ext cx="1596215" cy="762000"/>
            </a:xfrm>
            <a:prstGeom prst="rect">
              <a:avLst/>
            </a:prstGeom>
            <a:noFill/>
            <a:ln>
              <a:noFill/>
            </a:ln>
          </p:spPr>
          <p:txBody>
            <a:bodyPr wrap="none" lIns="0" tIns="0" rIns="0" bIns="0" anchor="t" anchorCtr="0">
              <a:spAutoFit/>
            </a:bodyPr>
            <a:lstStyle/>
            <a:p>
              <a:pPr algn="l"/>
              <a:r>
                <a:rPr lang="vi-VN" sz="3900" b="1" dirty="0">
                  <a:solidFill>
                    <a:srgbClr val="FFFFFF"/>
                  </a:solidFill>
                  <a:latin typeface="+mn-lt"/>
                  <a:ea typeface="+mn-ea"/>
                  <a:cs typeface="+mn-cs"/>
                </a:rPr>
                <a:t>Plugin</a:t>
              </a:r>
            </a:p>
          </p:txBody>
        </p:sp>
        <p:grpSp>
          <p:nvGrpSpPr>
            <p:cNvPr id="12" name="Group 12"/>
            <p:cNvGrpSpPr/>
            <p:nvPr/>
          </p:nvGrpSpPr>
          <p:grpSpPr>
            <a:xfrm>
              <a:off x="609600" y="5410200"/>
              <a:ext cx="457201" cy="457201"/>
              <a:chOff x="609600" y="5410200"/>
              <a:chExt cx="457201" cy="457201"/>
            </a:xfrm>
          </p:grpSpPr>
          <p:sp>
            <p:nvSpPr>
              <p:cNvPr id="6" name="Freeform 6"/>
              <p:cNvSpPr/>
              <p:nvPr/>
            </p:nvSpPr>
            <p:spPr>
              <a:xfrm>
                <a:off x="640465" y="5638800"/>
                <a:ext cx="197735" cy="197735"/>
              </a:xfrm>
              <a:custGeom>
                <a:avLst/>
                <a:gdLst/>
                <a:ahLst/>
                <a:cxnLst/>
                <a:rect l="l" t="t" r="r" b="b"/>
                <a:pathLst>
                  <a:path w="197735" h="197735">
                    <a:moveTo>
                      <a:pt x="70735" y="0"/>
                    </a:moveTo>
                    <a:lnTo>
                      <a:pt x="197735" y="127000"/>
                    </a:lnTo>
                    <a:lnTo>
                      <a:pt x="159635" y="165100"/>
                    </a:lnTo>
                    <a:cubicBezTo>
                      <a:pt x="137075" y="188405"/>
                      <a:pt x="103703" y="197735"/>
                      <a:pt x="72328" y="189510"/>
                    </a:cubicBezTo>
                    <a:cubicBezTo>
                      <a:pt x="40953" y="181285"/>
                      <a:pt x="16450" y="156782"/>
                      <a:pt x="8225" y="125407"/>
                    </a:cubicBezTo>
                    <a:cubicBezTo>
                      <a:pt x="0" y="94032"/>
                      <a:pt x="9330" y="60660"/>
                      <a:pt x="32635" y="38100"/>
                    </a:cubicBezTo>
                    <a:lnTo>
                      <a:pt x="70735" y="0"/>
                    </a:lnTo>
                  </a:path>
                </a:pathLst>
              </a:custGeom>
              <a:noFill/>
              <a:ln w="50800">
                <a:solidFill>
                  <a:srgbClr val="FFFFFF"/>
                </a:solidFill>
              </a:ln>
            </p:spPr>
          </p:sp>
          <p:sp>
            <p:nvSpPr>
              <p:cNvPr id="7" name="Freeform 7"/>
              <p:cNvSpPr/>
              <p:nvPr/>
            </p:nvSpPr>
            <p:spPr>
              <a:xfrm>
                <a:off x="838200" y="5441065"/>
                <a:ext cx="197735" cy="197735"/>
              </a:xfrm>
              <a:custGeom>
                <a:avLst/>
                <a:gdLst/>
                <a:ahLst/>
                <a:cxnLst/>
                <a:rect l="l" t="t" r="r" b="b"/>
                <a:pathLst>
                  <a:path w="197735" h="197735">
                    <a:moveTo>
                      <a:pt x="127000" y="197735"/>
                    </a:moveTo>
                    <a:lnTo>
                      <a:pt x="0" y="70735"/>
                    </a:lnTo>
                    <a:lnTo>
                      <a:pt x="38100" y="32635"/>
                    </a:lnTo>
                    <a:cubicBezTo>
                      <a:pt x="60660" y="9330"/>
                      <a:pt x="94032" y="0"/>
                      <a:pt x="125407" y="8225"/>
                    </a:cubicBezTo>
                    <a:cubicBezTo>
                      <a:pt x="156782" y="16450"/>
                      <a:pt x="181285" y="40953"/>
                      <a:pt x="189510" y="72328"/>
                    </a:cubicBezTo>
                    <a:cubicBezTo>
                      <a:pt x="197735" y="103703"/>
                      <a:pt x="188405" y="137075"/>
                      <a:pt x="165100" y="159635"/>
                    </a:cubicBezTo>
                    <a:lnTo>
                      <a:pt x="127000" y="197735"/>
                    </a:lnTo>
                  </a:path>
                </a:pathLst>
              </a:custGeom>
              <a:noFill/>
              <a:ln w="50800">
                <a:solidFill>
                  <a:srgbClr val="FFFFFF"/>
                </a:solidFill>
              </a:ln>
            </p:spPr>
          </p:sp>
          <p:sp>
            <p:nvSpPr>
              <p:cNvPr id="8" name="Freeform 8"/>
              <p:cNvSpPr/>
              <p:nvPr/>
            </p:nvSpPr>
            <p:spPr>
              <a:xfrm>
                <a:off x="609600" y="5803901"/>
                <a:ext cx="63500" cy="63500"/>
              </a:xfrm>
              <a:custGeom>
                <a:avLst/>
                <a:gdLst/>
                <a:ahLst/>
                <a:cxnLst/>
                <a:rect l="l" t="t" r="r" b="b"/>
                <a:pathLst>
                  <a:path w="63500" h="63500">
                    <a:moveTo>
                      <a:pt x="0" y="63500"/>
                    </a:moveTo>
                    <a:lnTo>
                      <a:pt x="63500" y="0"/>
                    </a:lnTo>
                  </a:path>
                </a:pathLst>
              </a:custGeom>
              <a:noFill/>
              <a:ln w="50800">
                <a:solidFill>
                  <a:srgbClr val="FFFFFF"/>
                </a:solidFill>
              </a:ln>
            </p:spPr>
          </p:sp>
          <p:sp>
            <p:nvSpPr>
              <p:cNvPr id="9" name="Freeform 9"/>
              <p:cNvSpPr/>
              <p:nvPr/>
            </p:nvSpPr>
            <p:spPr>
              <a:xfrm>
                <a:off x="1003301" y="5410200"/>
                <a:ext cx="63500" cy="63500"/>
              </a:xfrm>
              <a:custGeom>
                <a:avLst/>
                <a:gdLst/>
                <a:ahLst/>
                <a:cxnLst/>
                <a:rect l="l" t="t" r="r" b="b"/>
                <a:pathLst>
                  <a:path w="63500" h="63500">
                    <a:moveTo>
                      <a:pt x="0" y="63500"/>
                    </a:moveTo>
                    <a:lnTo>
                      <a:pt x="63500" y="0"/>
                    </a:lnTo>
                  </a:path>
                </a:pathLst>
              </a:custGeom>
              <a:noFill/>
              <a:ln w="50800">
                <a:solidFill>
                  <a:srgbClr val="FFFFFF"/>
                </a:solidFill>
              </a:ln>
            </p:spPr>
          </p:sp>
          <p:sp>
            <p:nvSpPr>
              <p:cNvPr id="10" name="Freeform 10"/>
              <p:cNvSpPr/>
              <p:nvPr/>
            </p:nvSpPr>
            <p:spPr>
              <a:xfrm>
                <a:off x="736600" y="5613400"/>
                <a:ext cx="50800" cy="50800"/>
              </a:xfrm>
              <a:custGeom>
                <a:avLst/>
                <a:gdLst/>
                <a:ahLst/>
                <a:cxnLst/>
                <a:rect l="l" t="t" r="r" b="b"/>
                <a:pathLst>
                  <a:path w="50800" h="50800">
                    <a:moveTo>
                      <a:pt x="50800" y="0"/>
                    </a:moveTo>
                    <a:lnTo>
                      <a:pt x="0" y="50800"/>
                    </a:lnTo>
                  </a:path>
                </a:pathLst>
              </a:custGeom>
              <a:noFill/>
              <a:ln w="50800">
                <a:solidFill>
                  <a:srgbClr val="FFFFFF"/>
                </a:solidFill>
              </a:ln>
            </p:spPr>
          </p:sp>
          <p:sp>
            <p:nvSpPr>
              <p:cNvPr id="11" name="Freeform 11"/>
              <p:cNvSpPr/>
              <p:nvPr/>
            </p:nvSpPr>
            <p:spPr>
              <a:xfrm>
                <a:off x="812800" y="5689600"/>
                <a:ext cx="50800" cy="50800"/>
              </a:xfrm>
              <a:custGeom>
                <a:avLst/>
                <a:gdLst/>
                <a:ahLst/>
                <a:cxnLst/>
                <a:rect l="l" t="t" r="r" b="b"/>
                <a:pathLst>
                  <a:path w="50800" h="50800">
                    <a:moveTo>
                      <a:pt x="50800" y="0"/>
                    </a:moveTo>
                    <a:lnTo>
                      <a:pt x="0" y="50800"/>
                    </a:lnTo>
                  </a:path>
                </a:pathLst>
              </a:custGeom>
              <a:noFill/>
              <a:ln w="50800">
                <a:solidFill>
                  <a:srgbClr val="FFFFFF"/>
                </a:solidFill>
              </a:ln>
            </p:spPr>
          </p:sp>
        </p:grpSp>
      </p:grpSp>
      <p:grpSp>
        <p:nvGrpSpPr>
          <p:cNvPr id="24" name="Group 24"/>
          <p:cNvGrpSpPr/>
          <p:nvPr/>
        </p:nvGrpSpPr>
        <p:grpSpPr>
          <a:xfrm>
            <a:off x="5785104" y="190500"/>
            <a:ext cx="6025896" cy="543306"/>
            <a:chOff x="5785104" y="190500"/>
            <a:chExt cx="6025896" cy="543306"/>
          </a:xfrm>
        </p:grpSpPr>
        <p:sp>
          <p:nvSpPr>
            <p:cNvPr id="14" name="Rectangle 14"/>
            <p:cNvSpPr/>
            <p:nvPr/>
          </p:nvSpPr>
          <p:spPr>
            <a:xfrm>
              <a:off x="5791200" y="342900"/>
              <a:ext cx="1143000" cy="76200"/>
            </a:xfrm>
            <a:prstGeom prst="roundRect">
              <a:avLst>
                <a:gd name="adj" fmla="val 37500"/>
              </a:avLst>
            </a:prstGeom>
            <a:solidFill>
              <a:srgbClr val="E3E9F1"/>
            </a:solidFill>
            <a:ln>
              <a:noFill/>
            </a:ln>
          </p:spPr>
        </p:sp>
        <p:sp>
          <p:nvSpPr>
            <p:cNvPr id="15" name="Rectangle 15"/>
            <p:cNvSpPr/>
            <p:nvPr/>
          </p:nvSpPr>
          <p:spPr>
            <a:xfrm>
              <a:off x="7010400" y="304800"/>
              <a:ext cx="1143000" cy="114300"/>
            </a:xfrm>
            <a:prstGeom prst="roundRect">
              <a:avLst>
                <a:gd name="adj" fmla="val 25000"/>
              </a:avLst>
            </a:prstGeom>
            <a:solidFill>
              <a:srgbClr val="E3E9F1"/>
            </a:solidFill>
            <a:ln>
              <a:noFill/>
            </a:ln>
          </p:spPr>
        </p:sp>
        <p:sp>
          <p:nvSpPr>
            <p:cNvPr id="16" name="Rectangle 16"/>
            <p:cNvSpPr/>
            <p:nvPr/>
          </p:nvSpPr>
          <p:spPr>
            <a:xfrm>
              <a:off x="8229600" y="266700"/>
              <a:ext cx="1143000" cy="152400"/>
            </a:xfrm>
            <a:prstGeom prst="roundRect">
              <a:avLst>
                <a:gd name="adj" fmla="val 18750"/>
              </a:avLst>
            </a:prstGeom>
            <a:solidFill>
              <a:srgbClr val="E3E9F1"/>
            </a:solidFill>
            <a:ln>
              <a:noFill/>
            </a:ln>
          </p:spPr>
        </p:sp>
        <p:sp>
          <p:nvSpPr>
            <p:cNvPr id="17" name="Rectangle 17"/>
            <p:cNvSpPr/>
            <p:nvPr/>
          </p:nvSpPr>
          <p:spPr>
            <a:xfrm>
              <a:off x="9448800" y="228600"/>
              <a:ext cx="1143000" cy="190500"/>
            </a:xfrm>
            <a:prstGeom prst="roundRect">
              <a:avLst>
                <a:gd name="adj" fmla="val 15000"/>
              </a:avLst>
            </a:prstGeom>
            <a:solidFill>
              <a:schemeClr val="accent2"/>
            </a:solidFill>
            <a:ln>
              <a:noFill/>
            </a:ln>
          </p:spPr>
        </p:sp>
        <p:sp>
          <p:nvSpPr>
            <p:cNvPr id="18" name="Rectangle 18"/>
            <p:cNvSpPr/>
            <p:nvPr/>
          </p:nvSpPr>
          <p:spPr>
            <a:xfrm>
              <a:off x="10668000" y="190500"/>
              <a:ext cx="1143000" cy="228600"/>
            </a:xfrm>
            <a:prstGeom prst="roundRect">
              <a:avLst>
                <a:gd name="adj" fmla="val 12500"/>
              </a:avLst>
            </a:prstGeom>
            <a:solidFill>
              <a:srgbClr val="E3E9F1"/>
            </a:solidFill>
            <a:ln>
              <a:noFill/>
            </a:ln>
          </p:spPr>
        </p:sp>
        <p:sp>
          <p:nvSpPr>
            <p:cNvPr id="19" name="TextBox 19"/>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20" name="TextBox 20"/>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21" name="TextBox 21"/>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22" name="TextBox 22"/>
            <p:cNvSpPr txBox="1"/>
            <p:nvPr/>
          </p:nvSpPr>
          <p:spPr>
            <a:xfrm>
              <a:off x="9442704" y="499110"/>
              <a:ext cx="63715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4 Plugin</a:t>
              </a:r>
            </a:p>
          </p:txBody>
        </p:sp>
        <p:sp>
          <p:nvSpPr>
            <p:cNvPr id="23" name="TextBox 23"/>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25" name="TextBox 25"/>
          <p:cNvSpPr txBox="1"/>
          <p:nvPr/>
        </p:nvSpPr>
        <p:spPr>
          <a:xfrm>
            <a:off x="4936998" y="1260158"/>
            <a:ext cx="5996750"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Cho ChatGPT tay chân,</a:t>
            </a:r>
            <a:br/>
            <a:r>
              <a:rPr lang="vi-VN" sz="3150" b="1" dirty="0">
                <a:solidFill>
                  <a:schemeClr val="accent1"/>
                </a:solidFill>
                <a:latin typeface="+mn-lt"/>
                <a:ea typeface="+mn-ea"/>
                <a:cs typeface="+mn-cs"/>
              </a:rPr>
              <a:t>đóng gói bộ công cụ của phòng</a:t>
            </a:r>
          </a:p>
        </p:txBody>
      </p:sp>
      <p:grpSp>
        <p:nvGrpSpPr>
          <p:cNvPr id="32" name="Group 32"/>
          <p:cNvGrpSpPr/>
          <p:nvPr/>
        </p:nvGrpSpPr>
        <p:grpSpPr>
          <a:xfrm>
            <a:off x="4944618" y="2400300"/>
            <a:ext cx="6933486" cy="1020889"/>
            <a:chOff x="4944618" y="2400300"/>
            <a:chExt cx="6933486" cy="1020889"/>
          </a:xfrm>
        </p:grpSpPr>
        <p:sp>
          <p:nvSpPr>
            <p:cNvPr id="26" name="Rectangle 26"/>
            <p:cNvSpPr/>
            <p:nvPr/>
          </p:nvSpPr>
          <p:spPr>
            <a:xfrm>
              <a:off x="4953000" y="2400300"/>
              <a:ext cx="6781800" cy="457200"/>
            </a:xfrm>
            <a:prstGeom prst="roundRect">
              <a:avLst>
                <a:gd name="adj" fmla="val 50000"/>
              </a:avLst>
            </a:prstGeom>
            <a:solidFill>
              <a:schemeClr val="lt2"/>
            </a:solidFill>
            <a:ln>
              <a:noFill/>
            </a:ln>
          </p:spPr>
        </p:sp>
        <p:grpSp>
          <p:nvGrpSpPr>
            <p:cNvPr id="29" name="Group 29"/>
            <p:cNvGrpSpPr/>
            <p:nvPr/>
          </p:nvGrpSpPr>
          <p:grpSpPr>
            <a:xfrm>
              <a:off x="5172075" y="2543177"/>
              <a:ext cx="171448" cy="171448"/>
              <a:chOff x="5172075" y="2543177"/>
              <a:chExt cx="171448" cy="171448"/>
            </a:xfrm>
          </p:grpSpPr>
          <p:sp>
            <p:nvSpPr>
              <p:cNvPr id="27" name="Freeform 27"/>
              <p:cNvSpPr/>
              <p:nvPr/>
            </p:nvSpPr>
            <p:spPr>
              <a:xfrm>
                <a:off x="5172075" y="2543177"/>
                <a:ext cx="171448" cy="171448"/>
              </a:xfrm>
              <a:custGeom>
                <a:avLst/>
                <a:gdLst/>
                <a:ahLst/>
                <a:cxnLst/>
                <a:rect l="l" t="t" r="r" b="b"/>
                <a:pathLst>
                  <a:path w="171448" h="171448">
                    <a:moveTo>
                      <a:pt x="129111" y="8028"/>
                    </a:moveTo>
                    <a:lnTo>
                      <a:pt x="163420" y="42337"/>
                    </a:lnTo>
                    <a:cubicBezTo>
                      <a:pt x="168560" y="47476"/>
                      <a:pt x="171448" y="54447"/>
                      <a:pt x="171448" y="61715"/>
                    </a:cubicBezTo>
                    <a:cubicBezTo>
                      <a:pt x="171448" y="68984"/>
                      <a:pt x="168560" y="75955"/>
                      <a:pt x="163420" y="81094"/>
                    </a:cubicBezTo>
                    <a:lnTo>
                      <a:pt x="138246" y="106269"/>
                    </a:lnTo>
                    <a:cubicBezTo>
                      <a:pt x="133107" y="111409"/>
                      <a:pt x="126136" y="114296"/>
                      <a:pt x="118867" y="114296"/>
                    </a:cubicBezTo>
                    <a:cubicBezTo>
                      <a:pt x="111599" y="114296"/>
                      <a:pt x="104628" y="111409"/>
                      <a:pt x="99489" y="106269"/>
                    </a:cubicBezTo>
                    <a:lnTo>
                      <a:pt x="96622" y="103402"/>
                    </a:lnTo>
                    <a:lnTo>
                      <a:pt x="34157" y="165867"/>
                    </a:lnTo>
                    <a:cubicBezTo>
                      <a:pt x="30992" y="169031"/>
                      <a:pt x="26814" y="170980"/>
                      <a:pt x="22355" y="171372"/>
                    </a:cubicBezTo>
                    <a:lnTo>
                      <a:pt x="20688" y="171448"/>
                    </a:lnTo>
                    <a:lnTo>
                      <a:pt x="9525" y="171448"/>
                    </a:lnTo>
                    <a:cubicBezTo>
                      <a:pt x="4696" y="171448"/>
                      <a:pt x="632" y="167833"/>
                      <a:pt x="67" y="163038"/>
                    </a:cubicBezTo>
                    <a:lnTo>
                      <a:pt x="0" y="161923"/>
                    </a:lnTo>
                    <a:lnTo>
                      <a:pt x="0" y="150760"/>
                    </a:lnTo>
                    <a:cubicBezTo>
                      <a:pt x="1" y="146287"/>
                      <a:pt x="1576" y="141958"/>
                      <a:pt x="4448" y="138530"/>
                    </a:cubicBezTo>
                    <a:lnTo>
                      <a:pt x="5582" y="137292"/>
                    </a:lnTo>
                    <a:lnTo>
                      <a:pt x="9525" y="133348"/>
                    </a:lnTo>
                    <a:lnTo>
                      <a:pt x="28575" y="133348"/>
                    </a:lnTo>
                    <a:lnTo>
                      <a:pt x="28575" y="114298"/>
                    </a:lnTo>
                    <a:lnTo>
                      <a:pt x="47625" y="114298"/>
                    </a:lnTo>
                    <a:lnTo>
                      <a:pt x="47625" y="95248"/>
                    </a:lnTo>
                    <a:lnTo>
                      <a:pt x="68047" y="74827"/>
                    </a:lnTo>
                    <a:lnTo>
                      <a:pt x="65180" y="71960"/>
                    </a:lnTo>
                    <a:cubicBezTo>
                      <a:pt x="60040" y="66820"/>
                      <a:pt x="57152" y="59849"/>
                      <a:pt x="57152" y="52581"/>
                    </a:cubicBezTo>
                    <a:cubicBezTo>
                      <a:pt x="57152" y="45312"/>
                      <a:pt x="60040" y="38342"/>
                      <a:pt x="65180" y="33202"/>
                    </a:cubicBezTo>
                    <a:lnTo>
                      <a:pt x="90354" y="8028"/>
                    </a:lnTo>
                    <a:cubicBezTo>
                      <a:pt x="95493" y="2888"/>
                      <a:pt x="102464" y="0"/>
                      <a:pt x="109733" y="0"/>
                    </a:cubicBezTo>
                    <a:cubicBezTo>
                      <a:pt x="117001" y="0"/>
                      <a:pt x="123972" y="2888"/>
                      <a:pt x="129111" y="8028"/>
                    </a:cubicBezTo>
                  </a:path>
                </a:pathLst>
              </a:custGeom>
              <a:noFill/>
              <a:ln w="19050">
                <a:solidFill>
                  <a:schemeClr val="accent1"/>
                </a:solidFill>
              </a:ln>
            </p:spPr>
          </p:sp>
          <p:sp>
            <p:nvSpPr>
              <p:cNvPr id="28" name="Freeform 28"/>
              <p:cNvSpPr/>
              <p:nvPr/>
            </p:nvSpPr>
            <p:spPr>
              <a:xfrm>
                <a:off x="5286375" y="2600325"/>
                <a:ext cx="9525" cy="9525"/>
              </a:xfrm>
              <a:custGeom>
                <a:avLst/>
                <a:gdLst/>
                <a:ahLst/>
                <a:cxnLst/>
                <a:rect l="l" t="t" r="r" b="b"/>
                <a:pathLst>
                  <a:path w="9525" h="9525">
                    <a:moveTo>
                      <a:pt x="0" y="0"/>
                    </a:moveTo>
                    <a:lnTo>
                      <a:pt x="95" y="0"/>
                    </a:lnTo>
                  </a:path>
                </a:pathLst>
              </a:custGeom>
              <a:noFill/>
              <a:ln w="19050">
                <a:solidFill>
                  <a:schemeClr val="accent1"/>
                </a:solidFill>
              </a:ln>
            </p:spPr>
          </p:sp>
        </p:grpSp>
        <p:sp>
          <p:nvSpPr>
            <p:cNvPr id="30" name="TextBox 30"/>
            <p:cNvSpPr txBox="1"/>
            <p:nvPr/>
          </p:nvSpPr>
          <p:spPr>
            <a:xfrm>
              <a:off x="5478018" y="2526982"/>
              <a:ext cx="6400086" cy="322707"/>
            </a:xfrm>
            <a:prstGeom prst="rect">
              <a:avLst/>
            </a:prstGeom>
            <a:noFill/>
            <a:ln>
              <a:noFill/>
            </a:ln>
          </p:spPr>
          <p:txBody>
            <a:bodyPr wrap="none" lIns="0" tIns="0" rIns="0" bIns="0" anchor="t" anchorCtr="0">
              <a:spAutoFit/>
            </a:bodyPr>
            <a:lstStyle/>
            <a:p>
              <a:pPr algn="l"/>
              <a:r>
                <a:rPr lang="vi-VN" sz="1650" dirty="0">
                  <a:solidFill>
                    <a:schemeClr val="accent1"/>
                  </a:solidFill>
                  <a:latin typeface="+mn-lt"/>
                  <a:ea typeface="+mn-ea"/>
                  <a:cs typeface="+mn-cs"/>
                </a:rPr>
                <a:t>Cấp thẻ ra vào, chìa khóa tủ hồ sơ — bàn giao thùng đồ nghề</a:t>
              </a:r>
            </a:p>
          </p:txBody>
        </p:sp>
        <p:sp>
          <p:nvSpPr>
            <p:cNvPr id="31" name="TextBox 31"/>
            <p:cNvSpPr txBox="1"/>
            <p:nvPr/>
          </p:nvSpPr>
          <p:spPr>
            <a:xfrm>
              <a:off x="4944618" y="3098482"/>
              <a:ext cx="6456554" cy="322707"/>
            </a:xfrm>
            <a:prstGeom prst="rect">
              <a:avLst/>
            </a:prstGeom>
            <a:noFill/>
            <a:ln>
              <a:noFill/>
            </a:ln>
          </p:spPr>
          <p:txBody>
            <a:bodyPr wrap="none" lIns="0" tIns="0" rIns="0" bIns="0" anchor="t" anchorCtr="0">
              <a:spAutoFit/>
            </a:bodyPr>
            <a:lstStyle/>
            <a:p>
              <a:pPr algn="l"/>
              <a:r>
                <a:rPr lang="vi-VN" sz="1650" i="1" dirty="0">
                  <a:solidFill>
                    <a:srgbClr val="5B6675"/>
                  </a:solidFill>
                  <a:latin typeface="+mn-lt"/>
                  <a:ea typeface="+mn-ea"/>
                  <a:cs typeface="+mn-cs"/>
                </a:rPr>
                <a:t>ChatGPT chỉ làm việc trên những gì bạn dán vào khung chat.</a:t>
              </a:r>
            </a:p>
          </p:txBody>
        </p:sp>
      </p:grpSp>
      <p:grpSp>
        <p:nvGrpSpPr>
          <p:cNvPr id="46" name="Group 46"/>
          <p:cNvGrpSpPr/>
          <p:nvPr/>
        </p:nvGrpSpPr>
        <p:grpSpPr>
          <a:xfrm>
            <a:off x="4946904" y="3718560"/>
            <a:ext cx="7031527" cy="2350579"/>
            <a:chOff x="4946904" y="3718560"/>
            <a:chExt cx="7031527" cy="2350579"/>
          </a:xfrm>
        </p:grpSpPr>
        <p:sp>
          <p:nvSpPr>
            <p:cNvPr id="33" name="TextBox 33"/>
            <p:cNvSpPr txBox="1"/>
            <p:nvPr/>
          </p:nvSpPr>
          <p:spPr>
            <a:xfrm>
              <a:off x="4946904" y="3718560"/>
              <a:ext cx="2653589"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HỌC XONG TẦNG NÀY, BẠN SẼ:</a:t>
              </a:r>
            </a:p>
          </p:txBody>
        </p:sp>
        <p:sp>
          <p:nvSpPr>
            <p:cNvPr id="34" name="Ellipse 34"/>
            <p:cNvSpPr/>
            <p:nvPr/>
          </p:nvSpPr>
          <p:spPr>
            <a:xfrm>
              <a:off x="4962525" y="4038600"/>
              <a:ext cx="285750" cy="285750"/>
            </a:xfrm>
            <a:prstGeom prst="ellipse">
              <a:avLst/>
            </a:prstGeom>
            <a:solidFill>
              <a:schemeClr val="accent1"/>
            </a:solidFill>
            <a:ln>
              <a:noFill/>
            </a:ln>
          </p:spPr>
        </p:sp>
        <p:sp>
          <p:nvSpPr>
            <p:cNvPr id="35" name="TextBox 35"/>
            <p:cNvSpPr txBox="1"/>
            <p:nvPr/>
          </p:nvSpPr>
          <p:spPr>
            <a:xfrm>
              <a:off x="5039473" y="408622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1</a:t>
              </a:r>
            </a:p>
          </p:txBody>
        </p:sp>
        <p:sp>
          <p:nvSpPr>
            <p:cNvPr id="36" name="TextBox 36"/>
            <p:cNvSpPr txBox="1"/>
            <p:nvPr/>
          </p:nvSpPr>
          <p:spPr>
            <a:xfrm>
              <a:off x="5382768" y="4070032"/>
              <a:ext cx="5307902"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dk1"/>
                  </a:solidFill>
                  <a:latin typeface="+mn-lt"/>
                  <a:ea typeface="+mn-ea"/>
                  <a:cs typeface="+mn-cs"/>
                </a:rPr>
                <a:t>Nối Gmail, Google Drive; đọc hiểu màn hình cấp quyền</a:t>
              </a:r>
              <a:br/>
              <a:r>
                <a:rPr lang="vi-VN" sz="1650" dirty="0">
                  <a:solidFill>
                    <a:schemeClr val="dk1"/>
                  </a:solidFill>
                  <a:latin typeface="+mn-lt"/>
                  <a:ea typeface="+mn-ea"/>
                  <a:cs typeface="+mn-cs"/>
                </a:rPr>
                <a:t>và gỡ được quyền</a:t>
              </a:r>
            </a:p>
          </p:txBody>
        </p:sp>
        <p:sp>
          <p:nvSpPr>
            <p:cNvPr id="37" name="Ellipse 37"/>
            <p:cNvSpPr/>
            <p:nvPr/>
          </p:nvSpPr>
          <p:spPr>
            <a:xfrm>
              <a:off x="4962525" y="4800600"/>
              <a:ext cx="285750" cy="285750"/>
            </a:xfrm>
            <a:prstGeom prst="ellipse">
              <a:avLst/>
            </a:prstGeom>
            <a:solidFill>
              <a:schemeClr val="accent1"/>
            </a:solidFill>
            <a:ln>
              <a:noFill/>
            </a:ln>
          </p:spPr>
        </p:sp>
        <p:sp>
          <p:nvSpPr>
            <p:cNvPr id="38" name="TextBox 38"/>
            <p:cNvSpPr txBox="1"/>
            <p:nvPr/>
          </p:nvSpPr>
          <p:spPr>
            <a:xfrm>
              <a:off x="5039473" y="484822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2</a:t>
              </a:r>
            </a:p>
          </p:txBody>
        </p:sp>
        <p:sp>
          <p:nvSpPr>
            <p:cNvPr id="39" name="TextBox 39"/>
            <p:cNvSpPr txBox="1"/>
            <p:nvPr/>
          </p:nvSpPr>
          <p:spPr>
            <a:xfrm>
              <a:off x="5382768" y="4832032"/>
              <a:ext cx="4722975"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Phân biệt 3 mức quyền đọc, ghi, gửi ra ngoài</a:t>
              </a:r>
            </a:p>
          </p:txBody>
        </p:sp>
        <p:sp>
          <p:nvSpPr>
            <p:cNvPr id="40" name="Ellipse 40"/>
            <p:cNvSpPr/>
            <p:nvPr/>
          </p:nvSpPr>
          <p:spPr>
            <a:xfrm>
              <a:off x="4962525" y="5257800"/>
              <a:ext cx="285750" cy="285750"/>
            </a:xfrm>
            <a:prstGeom prst="ellipse">
              <a:avLst/>
            </a:prstGeom>
            <a:solidFill>
              <a:schemeClr val="accent1"/>
            </a:solidFill>
            <a:ln>
              <a:noFill/>
            </a:ln>
          </p:spPr>
        </p:sp>
        <p:sp>
          <p:nvSpPr>
            <p:cNvPr id="41" name="TextBox 41"/>
            <p:cNvSpPr txBox="1"/>
            <p:nvPr/>
          </p:nvSpPr>
          <p:spPr>
            <a:xfrm>
              <a:off x="5039473" y="530542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3</a:t>
              </a:r>
            </a:p>
          </p:txBody>
        </p:sp>
        <p:sp>
          <p:nvSpPr>
            <p:cNvPr id="42" name="TextBox 42"/>
            <p:cNvSpPr txBox="1"/>
            <p:nvPr/>
          </p:nvSpPr>
          <p:spPr>
            <a:xfrm>
              <a:off x="5382768" y="5289232"/>
              <a:ext cx="6288691"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Thiết kế luồng tự động có 2 lớp phanh: người duyệt, hẹn giờ</a:t>
              </a:r>
            </a:p>
          </p:txBody>
        </p:sp>
        <p:sp>
          <p:nvSpPr>
            <p:cNvPr id="43" name="Ellipse 43"/>
            <p:cNvSpPr/>
            <p:nvPr/>
          </p:nvSpPr>
          <p:spPr>
            <a:xfrm>
              <a:off x="4962525" y="5715000"/>
              <a:ext cx="285750" cy="285750"/>
            </a:xfrm>
            <a:prstGeom prst="ellipse">
              <a:avLst/>
            </a:prstGeom>
            <a:solidFill>
              <a:schemeClr val="accent1"/>
            </a:solidFill>
            <a:ln>
              <a:noFill/>
            </a:ln>
          </p:spPr>
        </p:sp>
        <p:sp>
          <p:nvSpPr>
            <p:cNvPr id="44" name="TextBox 44"/>
            <p:cNvSpPr txBox="1"/>
            <p:nvPr/>
          </p:nvSpPr>
          <p:spPr>
            <a:xfrm>
              <a:off x="5039473" y="5762625"/>
              <a:ext cx="13185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4</a:t>
              </a:r>
            </a:p>
          </p:txBody>
        </p:sp>
        <p:sp>
          <p:nvSpPr>
            <p:cNvPr id="45" name="TextBox 45"/>
            <p:cNvSpPr txBox="1"/>
            <p:nvPr/>
          </p:nvSpPr>
          <p:spPr>
            <a:xfrm>
              <a:off x="5382768" y="5746432"/>
              <a:ext cx="6595663"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Đóng gói skill, file, app thành plugin của phòng, kèm Playbook</a:t>
              </a:r>
            </a:p>
          </p:txBody>
        </p:sp>
      </p:grpSp>
      <p:sp>
        <p:nvSpPr>
          <p:cNvPr id="47" name="TextBox 47"/>
          <p:cNvSpPr txBox="1"/>
          <p:nvPr/>
        </p:nvSpPr>
        <p:spPr>
          <a:xfrm>
            <a:off x="4947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48" name="TextBox 48"/>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26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1738041" cy="234696"/>
            <a:chOff x="381000" y="346710"/>
            <a:chExt cx="1738041" cy="234696"/>
          </a:xfrm>
        </p:grpSpPr>
        <p:sp>
          <p:nvSpPr>
            <p:cNvPr id="2" name="Rectangle 2"/>
            <p:cNvSpPr/>
            <p:nvPr/>
          </p:nvSpPr>
          <p:spPr>
            <a:xfrm>
              <a:off x="381000" y="361950"/>
              <a:ext cx="114300" cy="114300"/>
            </a:xfrm>
            <a:prstGeom prst="roundRect">
              <a:avLst>
                <a:gd name="adj" fmla="val 25000"/>
              </a:avLst>
            </a:prstGeom>
            <a:solidFill>
              <a:schemeClr val="accent1"/>
            </a:solidFill>
            <a:ln>
              <a:noFill/>
            </a:ln>
          </p:spPr>
        </p:sp>
        <p:sp>
          <p:nvSpPr>
            <p:cNvPr id="3" name="TextBox 3"/>
            <p:cNvSpPr txBox="1"/>
            <p:nvPr/>
          </p:nvSpPr>
          <p:spPr>
            <a:xfrm>
              <a:off x="584454" y="346710"/>
              <a:ext cx="1534587"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4 · PLUGIN</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chemeClr val="accent2"/>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3715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7676960"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Skill dạy ChatGPT làm đúng,</a:t>
            </a:r>
            <a:br/>
            <a:r>
              <a:rPr lang="vi-VN" sz="3150" b="1" dirty="0">
                <a:solidFill>
                  <a:schemeClr val="accent1"/>
                </a:solidFill>
                <a:latin typeface="+mn-lt"/>
                <a:ea typeface="+mn-ea"/>
                <a:cs typeface="+mn-cs"/>
              </a:rPr>
              <a:t>Plugin cho ChatGPT với tới dữ liệu thật</a:t>
            </a:r>
          </a:p>
        </p:txBody>
      </p:sp>
      <p:grpSp>
        <p:nvGrpSpPr>
          <p:cNvPr id="40" name="Group 40"/>
          <p:cNvGrpSpPr/>
          <p:nvPr/>
        </p:nvGrpSpPr>
        <p:grpSpPr>
          <a:xfrm>
            <a:off x="381000" y="2114550"/>
            <a:ext cx="5524500" cy="2857500"/>
            <a:chOff x="381000" y="2114550"/>
            <a:chExt cx="5524500" cy="2857500"/>
          </a:xfrm>
        </p:grpSpPr>
        <p:sp>
          <p:nvSpPr>
            <p:cNvPr id="17" name="Rectangle 17"/>
            <p:cNvSpPr/>
            <p:nvPr/>
          </p:nvSpPr>
          <p:spPr>
            <a:xfrm>
              <a:off x="381000" y="2114550"/>
              <a:ext cx="5524500" cy="2857500"/>
            </a:xfrm>
            <a:prstGeom prst="roundRect">
              <a:avLst>
                <a:gd name="adj" fmla="val 6000"/>
              </a:avLst>
            </a:prstGeom>
            <a:solidFill>
              <a:schemeClr val="lt1"/>
            </a:solidFill>
            <a:ln w="14288">
              <a:solidFill>
                <a:schemeClr val="accent4"/>
              </a:solidFill>
            </a:ln>
          </p:spPr>
        </p:sp>
        <p:sp>
          <p:nvSpPr>
            <p:cNvPr id="18" name="Ellipse 18"/>
            <p:cNvSpPr/>
            <p:nvPr/>
          </p:nvSpPr>
          <p:spPr>
            <a:xfrm>
              <a:off x="647700" y="2381250"/>
              <a:ext cx="533400" cy="533400"/>
            </a:xfrm>
            <a:prstGeom prst="ellipse">
              <a:avLst/>
            </a:prstGeom>
            <a:solidFill>
              <a:schemeClr val="lt2"/>
            </a:solidFill>
            <a:ln>
              <a:noFill/>
            </a:ln>
          </p:spPr>
        </p:sp>
        <p:grpSp>
          <p:nvGrpSpPr>
            <p:cNvPr id="25" name="Group 25"/>
            <p:cNvGrpSpPr/>
            <p:nvPr/>
          </p:nvGrpSpPr>
          <p:grpSpPr>
            <a:xfrm>
              <a:off x="785812" y="2519362"/>
              <a:ext cx="257176" cy="257176"/>
              <a:chOff x="785812" y="2519362"/>
              <a:chExt cx="257176" cy="257176"/>
            </a:xfrm>
          </p:grpSpPr>
          <p:sp>
            <p:nvSpPr>
              <p:cNvPr id="19" name="Freeform 19"/>
              <p:cNvSpPr/>
              <p:nvPr/>
            </p:nvSpPr>
            <p:spPr>
              <a:xfrm>
                <a:off x="803174" y="2647950"/>
                <a:ext cx="111226" cy="111226"/>
              </a:xfrm>
              <a:custGeom>
                <a:avLst/>
                <a:gdLst/>
                <a:ahLst/>
                <a:cxnLst/>
                <a:rect l="l" t="t" r="r" b="b"/>
                <a:pathLst>
                  <a:path w="111226" h="111226">
                    <a:moveTo>
                      <a:pt x="39788" y="0"/>
                    </a:moveTo>
                    <a:lnTo>
                      <a:pt x="111226" y="71438"/>
                    </a:lnTo>
                    <a:lnTo>
                      <a:pt x="89795" y="92869"/>
                    </a:lnTo>
                    <a:cubicBezTo>
                      <a:pt x="77105" y="105978"/>
                      <a:pt x="58333" y="111226"/>
                      <a:pt x="40684" y="106599"/>
                    </a:cubicBezTo>
                    <a:cubicBezTo>
                      <a:pt x="23036" y="101973"/>
                      <a:pt x="9253" y="88190"/>
                      <a:pt x="4627" y="70541"/>
                    </a:cubicBezTo>
                    <a:cubicBezTo>
                      <a:pt x="0" y="52893"/>
                      <a:pt x="5248" y="34121"/>
                      <a:pt x="18357" y="21431"/>
                    </a:cubicBezTo>
                    <a:lnTo>
                      <a:pt x="39788" y="0"/>
                    </a:lnTo>
                  </a:path>
                </a:pathLst>
              </a:custGeom>
              <a:noFill/>
              <a:ln w="28575">
                <a:solidFill>
                  <a:schemeClr val="accent1"/>
                </a:solidFill>
              </a:ln>
            </p:spPr>
          </p:sp>
          <p:sp>
            <p:nvSpPr>
              <p:cNvPr id="20" name="Freeform 20"/>
              <p:cNvSpPr/>
              <p:nvPr/>
            </p:nvSpPr>
            <p:spPr>
              <a:xfrm>
                <a:off x="914400" y="2536724"/>
                <a:ext cx="111226" cy="111226"/>
              </a:xfrm>
              <a:custGeom>
                <a:avLst/>
                <a:gdLst/>
                <a:ahLst/>
                <a:cxnLst/>
                <a:rect l="l" t="t" r="r" b="b"/>
                <a:pathLst>
                  <a:path w="111226" h="111226">
                    <a:moveTo>
                      <a:pt x="71438" y="111226"/>
                    </a:moveTo>
                    <a:lnTo>
                      <a:pt x="0" y="39788"/>
                    </a:lnTo>
                    <a:lnTo>
                      <a:pt x="21431" y="18357"/>
                    </a:lnTo>
                    <a:cubicBezTo>
                      <a:pt x="34121" y="5248"/>
                      <a:pt x="52893" y="0"/>
                      <a:pt x="70541" y="4627"/>
                    </a:cubicBezTo>
                    <a:cubicBezTo>
                      <a:pt x="88190" y="9253"/>
                      <a:pt x="101973" y="23036"/>
                      <a:pt x="106599" y="40684"/>
                    </a:cubicBezTo>
                    <a:cubicBezTo>
                      <a:pt x="111226" y="58333"/>
                      <a:pt x="105978" y="77105"/>
                      <a:pt x="92869" y="89795"/>
                    </a:cubicBezTo>
                    <a:lnTo>
                      <a:pt x="71438" y="111226"/>
                    </a:lnTo>
                  </a:path>
                </a:pathLst>
              </a:custGeom>
              <a:noFill/>
              <a:ln w="28575">
                <a:solidFill>
                  <a:schemeClr val="accent1"/>
                </a:solidFill>
              </a:ln>
            </p:spPr>
          </p:sp>
          <p:sp>
            <p:nvSpPr>
              <p:cNvPr id="21" name="Freeform 21"/>
              <p:cNvSpPr/>
              <p:nvPr/>
            </p:nvSpPr>
            <p:spPr>
              <a:xfrm>
                <a:off x="785812" y="2740819"/>
                <a:ext cx="35719" cy="35719"/>
              </a:xfrm>
              <a:custGeom>
                <a:avLst/>
                <a:gdLst/>
                <a:ahLst/>
                <a:cxnLst/>
                <a:rect l="l" t="t" r="r" b="b"/>
                <a:pathLst>
                  <a:path w="35719" h="35719">
                    <a:moveTo>
                      <a:pt x="0" y="35719"/>
                    </a:moveTo>
                    <a:lnTo>
                      <a:pt x="35719" y="0"/>
                    </a:lnTo>
                  </a:path>
                </a:pathLst>
              </a:custGeom>
              <a:noFill/>
              <a:ln w="28575">
                <a:solidFill>
                  <a:schemeClr val="accent1"/>
                </a:solidFill>
              </a:ln>
            </p:spPr>
          </p:sp>
          <p:sp>
            <p:nvSpPr>
              <p:cNvPr id="22" name="Freeform 22"/>
              <p:cNvSpPr/>
              <p:nvPr/>
            </p:nvSpPr>
            <p:spPr>
              <a:xfrm>
                <a:off x="1007269" y="2519362"/>
                <a:ext cx="35719" cy="35719"/>
              </a:xfrm>
              <a:custGeom>
                <a:avLst/>
                <a:gdLst/>
                <a:ahLst/>
                <a:cxnLst/>
                <a:rect l="l" t="t" r="r" b="b"/>
                <a:pathLst>
                  <a:path w="35719" h="35719">
                    <a:moveTo>
                      <a:pt x="0" y="35719"/>
                    </a:moveTo>
                    <a:lnTo>
                      <a:pt x="35719" y="0"/>
                    </a:lnTo>
                  </a:path>
                </a:pathLst>
              </a:custGeom>
              <a:noFill/>
              <a:ln w="28575">
                <a:solidFill>
                  <a:schemeClr val="accent1"/>
                </a:solidFill>
              </a:ln>
            </p:spPr>
          </p:sp>
          <p:sp>
            <p:nvSpPr>
              <p:cNvPr id="23" name="Freeform 23"/>
              <p:cNvSpPr/>
              <p:nvPr/>
            </p:nvSpPr>
            <p:spPr>
              <a:xfrm>
                <a:off x="857250" y="2633662"/>
                <a:ext cx="28575" cy="28575"/>
              </a:xfrm>
              <a:custGeom>
                <a:avLst/>
                <a:gdLst/>
                <a:ahLst/>
                <a:cxnLst/>
                <a:rect l="l" t="t" r="r" b="b"/>
                <a:pathLst>
                  <a:path w="28575" h="28575">
                    <a:moveTo>
                      <a:pt x="28575" y="0"/>
                    </a:moveTo>
                    <a:lnTo>
                      <a:pt x="0" y="28575"/>
                    </a:lnTo>
                  </a:path>
                </a:pathLst>
              </a:custGeom>
              <a:noFill/>
              <a:ln w="28575">
                <a:solidFill>
                  <a:schemeClr val="accent1"/>
                </a:solidFill>
              </a:ln>
            </p:spPr>
          </p:sp>
          <p:sp>
            <p:nvSpPr>
              <p:cNvPr id="24" name="Freeform 24"/>
              <p:cNvSpPr/>
              <p:nvPr/>
            </p:nvSpPr>
            <p:spPr>
              <a:xfrm>
                <a:off x="900112" y="2676525"/>
                <a:ext cx="28575" cy="28575"/>
              </a:xfrm>
              <a:custGeom>
                <a:avLst/>
                <a:gdLst/>
                <a:ahLst/>
                <a:cxnLst/>
                <a:rect l="l" t="t" r="r" b="b"/>
                <a:pathLst>
                  <a:path w="28575" h="28575">
                    <a:moveTo>
                      <a:pt x="28575" y="0"/>
                    </a:moveTo>
                    <a:lnTo>
                      <a:pt x="0" y="28575"/>
                    </a:lnTo>
                  </a:path>
                </a:pathLst>
              </a:custGeom>
              <a:noFill/>
              <a:ln w="28575">
                <a:solidFill>
                  <a:schemeClr val="accent1"/>
                </a:solidFill>
              </a:ln>
            </p:spPr>
          </p:sp>
        </p:grpSp>
        <p:sp>
          <p:nvSpPr>
            <p:cNvPr id="26" name="TextBox 26"/>
            <p:cNvSpPr txBox="1"/>
            <p:nvPr/>
          </p:nvSpPr>
          <p:spPr>
            <a:xfrm>
              <a:off x="1322832" y="2516505"/>
              <a:ext cx="1856278" cy="410718"/>
            </a:xfrm>
            <a:prstGeom prst="rect">
              <a:avLst/>
            </a:prstGeom>
            <a:noFill/>
            <a:ln>
              <a:noFill/>
            </a:ln>
          </p:spPr>
          <p:txBody>
            <a:bodyPr wrap="none" lIns="0" tIns="0" rIns="0" bIns="0" anchor="t" anchorCtr="0">
              <a:spAutoFit/>
            </a:bodyPr>
            <a:lstStyle/>
            <a:p>
              <a:pPr algn="l"/>
              <a:r>
                <a:rPr lang="vi-VN" sz="2100" b="1" dirty="0">
                  <a:solidFill>
                    <a:schemeClr val="accent1"/>
                  </a:solidFill>
                  <a:latin typeface="+mn-lt"/>
                  <a:ea typeface="+mn-ea"/>
                  <a:cs typeface="+mn-cs"/>
                </a:rPr>
                <a:t>Plugin có sẵn</a:t>
              </a:r>
            </a:p>
          </p:txBody>
        </p:sp>
        <p:sp>
          <p:nvSpPr>
            <p:cNvPr id="27" name="TextBox 27"/>
            <p:cNvSpPr txBox="1"/>
            <p:nvPr/>
          </p:nvSpPr>
          <p:spPr>
            <a:xfrm>
              <a:off x="677418" y="3117532"/>
              <a:ext cx="3275266"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dk1"/>
                  </a:solidFill>
                  <a:latin typeface="+mn-lt"/>
                  <a:ea typeface="+mn-ea"/>
                  <a:cs typeface="+mn-cs"/>
                </a:rPr>
                <a:t>Kết nối do nhà cung cấp làm sẵn,</a:t>
              </a:r>
              <a:br/>
              <a:r>
                <a:rPr lang="vi-VN" sz="1650" dirty="0">
                  <a:solidFill>
                    <a:schemeClr val="dk1"/>
                  </a:solidFill>
                  <a:latin typeface="+mn-lt"/>
                  <a:ea typeface="+mn-ea"/>
                  <a:cs typeface="+mn-cs"/>
                </a:rPr>
                <a:t>bấm Connect là dùng</a:t>
              </a:r>
            </a:p>
          </p:txBody>
        </p:sp>
        <p:sp>
          <p:nvSpPr>
            <p:cNvPr id="28" name="Rectangle 28"/>
            <p:cNvSpPr/>
            <p:nvPr/>
          </p:nvSpPr>
          <p:spPr>
            <a:xfrm>
              <a:off x="685800" y="3924300"/>
              <a:ext cx="762000" cy="323850"/>
            </a:xfrm>
            <a:prstGeom prst="roundRect">
              <a:avLst>
                <a:gd name="adj" fmla="val 50000"/>
              </a:avLst>
            </a:prstGeom>
            <a:solidFill>
              <a:schemeClr val="lt2"/>
            </a:solidFill>
            <a:ln>
              <a:noFill/>
            </a:ln>
          </p:spPr>
        </p:sp>
        <p:sp>
          <p:nvSpPr>
            <p:cNvPr id="29" name="TextBox 29"/>
            <p:cNvSpPr txBox="1"/>
            <p:nvPr/>
          </p:nvSpPr>
          <p:spPr>
            <a:xfrm>
              <a:off x="823536" y="3997642"/>
              <a:ext cx="486527" cy="264033"/>
            </a:xfrm>
            <a:prstGeom prst="rect">
              <a:avLst/>
            </a:prstGeom>
            <a:noFill/>
            <a:ln>
              <a:noFill/>
            </a:ln>
          </p:spPr>
          <p:txBody>
            <a:bodyPr wrap="none" lIns="0" tIns="0" rIns="0" bIns="0" anchor="t" anchorCtr="0">
              <a:spAutoFit/>
            </a:bodyPr>
            <a:lstStyle/>
            <a:p>
              <a:pPr algn="ctr"/>
              <a:r>
                <a:rPr lang="vi-VN" sz="1350" b="1" dirty="0">
                  <a:solidFill>
                    <a:schemeClr val="accent1"/>
                  </a:solidFill>
                  <a:latin typeface="+mn-lt"/>
                  <a:ea typeface="+mn-ea"/>
                  <a:cs typeface="+mn-cs"/>
                </a:rPr>
                <a:t>Gmail</a:t>
              </a:r>
            </a:p>
          </p:txBody>
        </p:sp>
        <p:sp>
          <p:nvSpPr>
            <p:cNvPr id="30" name="Rectangle 30"/>
            <p:cNvSpPr/>
            <p:nvPr/>
          </p:nvSpPr>
          <p:spPr>
            <a:xfrm>
              <a:off x="1524000" y="3924300"/>
              <a:ext cx="1371600" cy="323850"/>
            </a:xfrm>
            <a:prstGeom prst="roundRect">
              <a:avLst>
                <a:gd name="adj" fmla="val 50000"/>
              </a:avLst>
            </a:prstGeom>
            <a:solidFill>
              <a:schemeClr val="lt2"/>
            </a:solidFill>
            <a:ln>
              <a:noFill/>
            </a:ln>
          </p:spPr>
        </p:sp>
        <p:sp>
          <p:nvSpPr>
            <p:cNvPr id="31" name="TextBox 31"/>
            <p:cNvSpPr txBox="1"/>
            <p:nvPr/>
          </p:nvSpPr>
          <p:spPr>
            <a:xfrm>
              <a:off x="1639038" y="3997642"/>
              <a:ext cx="1141524" cy="264033"/>
            </a:xfrm>
            <a:prstGeom prst="rect">
              <a:avLst/>
            </a:prstGeom>
            <a:noFill/>
            <a:ln>
              <a:noFill/>
            </a:ln>
          </p:spPr>
          <p:txBody>
            <a:bodyPr wrap="none" lIns="0" tIns="0" rIns="0" bIns="0" anchor="t" anchorCtr="0">
              <a:spAutoFit/>
            </a:bodyPr>
            <a:lstStyle/>
            <a:p>
              <a:pPr algn="ctr"/>
              <a:r>
                <a:rPr lang="vi-VN" sz="1350" b="1" dirty="0">
                  <a:solidFill>
                    <a:schemeClr val="accent1"/>
                  </a:solidFill>
                  <a:latin typeface="+mn-lt"/>
                  <a:ea typeface="+mn-ea"/>
                  <a:cs typeface="+mn-cs"/>
                </a:rPr>
                <a:t>Google Drive</a:t>
              </a:r>
            </a:p>
          </p:txBody>
        </p:sp>
        <p:sp>
          <p:nvSpPr>
            <p:cNvPr id="32" name="Rectangle 32"/>
            <p:cNvSpPr/>
            <p:nvPr/>
          </p:nvSpPr>
          <p:spPr>
            <a:xfrm>
              <a:off x="2971800" y="3924300"/>
              <a:ext cx="1066800" cy="323850"/>
            </a:xfrm>
            <a:prstGeom prst="roundRect">
              <a:avLst>
                <a:gd name="adj" fmla="val 50000"/>
              </a:avLst>
            </a:prstGeom>
            <a:solidFill>
              <a:schemeClr val="lt2"/>
            </a:solidFill>
            <a:ln>
              <a:noFill/>
            </a:ln>
          </p:spPr>
        </p:sp>
        <p:sp>
          <p:nvSpPr>
            <p:cNvPr id="33" name="TextBox 33"/>
            <p:cNvSpPr txBox="1"/>
            <p:nvPr/>
          </p:nvSpPr>
          <p:spPr>
            <a:xfrm>
              <a:off x="3099581" y="3997642"/>
              <a:ext cx="811238" cy="264033"/>
            </a:xfrm>
            <a:prstGeom prst="rect">
              <a:avLst/>
            </a:prstGeom>
            <a:noFill/>
            <a:ln>
              <a:noFill/>
            </a:ln>
          </p:spPr>
          <p:txBody>
            <a:bodyPr wrap="none" lIns="0" tIns="0" rIns="0" bIns="0" anchor="t" anchorCtr="0">
              <a:spAutoFit/>
            </a:bodyPr>
            <a:lstStyle/>
            <a:p>
              <a:pPr algn="ctr"/>
              <a:r>
                <a:rPr lang="vi-VN" sz="1350" b="1" dirty="0">
                  <a:solidFill>
                    <a:schemeClr val="accent1"/>
                  </a:solidFill>
                  <a:latin typeface="+mn-lt"/>
                  <a:ea typeface="+mn-ea"/>
                  <a:cs typeface="+mn-cs"/>
                </a:rPr>
                <a:t>Calendar</a:t>
              </a:r>
            </a:p>
          </p:txBody>
        </p:sp>
        <p:sp>
          <p:nvSpPr>
            <p:cNvPr id="34" name="Rectangle 34"/>
            <p:cNvSpPr/>
            <p:nvPr/>
          </p:nvSpPr>
          <p:spPr>
            <a:xfrm>
              <a:off x="685800" y="4343400"/>
              <a:ext cx="876300" cy="323850"/>
            </a:xfrm>
            <a:prstGeom prst="roundRect">
              <a:avLst>
                <a:gd name="adj" fmla="val 50000"/>
              </a:avLst>
            </a:prstGeom>
            <a:solidFill>
              <a:schemeClr val="lt2"/>
            </a:solidFill>
            <a:ln>
              <a:noFill/>
            </a:ln>
          </p:spPr>
        </p:sp>
        <p:sp>
          <p:nvSpPr>
            <p:cNvPr id="35" name="TextBox 35"/>
            <p:cNvSpPr txBox="1"/>
            <p:nvPr/>
          </p:nvSpPr>
          <p:spPr>
            <a:xfrm>
              <a:off x="823340" y="4416742"/>
              <a:ext cx="601219" cy="264033"/>
            </a:xfrm>
            <a:prstGeom prst="rect">
              <a:avLst/>
            </a:prstGeom>
            <a:noFill/>
            <a:ln>
              <a:noFill/>
            </a:ln>
          </p:spPr>
          <p:txBody>
            <a:bodyPr wrap="none" lIns="0" tIns="0" rIns="0" bIns="0" anchor="t" anchorCtr="0">
              <a:spAutoFit/>
            </a:bodyPr>
            <a:lstStyle/>
            <a:p>
              <a:pPr algn="ctr"/>
              <a:r>
                <a:rPr lang="vi-VN" sz="1350" b="1" dirty="0">
                  <a:solidFill>
                    <a:schemeClr val="accent1"/>
                  </a:solidFill>
                  <a:latin typeface="+mn-lt"/>
                  <a:ea typeface="+mn-ea"/>
                  <a:cs typeface="+mn-cs"/>
                </a:rPr>
                <a:t>Notion</a:t>
              </a:r>
            </a:p>
          </p:txBody>
        </p:sp>
        <p:sp>
          <p:nvSpPr>
            <p:cNvPr id="36" name="Rectangle 36"/>
            <p:cNvSpPr/>
            <p:nvPr/>
          </p:nvSpPr>
          <p:spPr>
            <a:xfrm>
              <a:off x="1638300" y="4343400"/>
              <a:ext cx="762000" cy="323850"/>
            </a:xfrm>
            <a:prstGeom prst="roundRect">
              <a:avLst>
                <a:gd name="adj" fmla="val 50000"/>
              </a:avLst>
            </a:prstGeom>
            <a:solidFill>
              <a:schemeClr val="lt2"/>
            </a:solidFill>
            <a:ln>
              <a:noFill/>
            </a:ln>
          </p:spPr>
        </p:sp>
        <p:sp>
          <p:nvSpPr>
            <p:cNvPr id="37" name="TextBox 37"/>
            <p:cNvSpPr txBox="1"/>
            <p:nvPr/>
          </p:nvSpPr>
          <p:spPr>
            <a:xfrm>
              <a:off x="1771212" y="4416742"/>
              <a:ext cx="496176" cy="264033"/>
            </a:xfrm>
            <a:prstGeom prst="rect">
              <a:avLst/>
            </a:prstGeom>
            <a:noFill/>
            <a:ln>
              <a:noFill/>
            </a:ln>
          </p:spPr>
          <p:txBody>
            <a:bodyPr wrap="none" lIns="0" tIns="0" rIns="0" bIns="0" anchor="t" anchorCtr="0">
              <a:spAutoFit/>
            </a:bodyPr>
            <a:lstStyle/>
            <a:p>
              <a:pPr algn="ctr"/>
              <a:r>
                <a:rPr lang="vi-VN" sz="1350" b="1" dirty="0">
                  <a:solidFill>
                    <a:schemeClr val="accent1"/>
                  </a:solidFill>
                  <a:latin typeface="+mn-lt"/>
                  <a:ea typeface="+mn-ea"/>
                  <a:cs typeface="+mn-cs"/>
                </a:rPr>
                <a:t>Slack</a:t>
              </a:r>
            </a:p>
          </p:txBody>
        </p:sp>
        <p:sp>
          <p:nvSpPr>
            <p:cNvPr id="38" name="Rectangle 38"/>
            <p:cNvSpPr/>
            <p:nvPr/>
          </p:nvSpPr>
          <p:spPr>
            <a:xfrm>
              <a:off x="2476500" y="4343400"/>
              <a:ext cx="1257300" cy="323850"/>
            </a:xfrm>
            <a:prstGeom prst="roundRect">
              <a:avLst>
                <a:gd name="adj" fmla="val 50000"/>
              </a:avLst>
            </a:prstGeom>
            <a:solidFill>
              <a:schemeClr val="lt2"/>
            </a:solidFill>
            <a:ln>
              <a:noFill/>
            </a:ln>
          </p:spPr>
        </p:sp>
        <p:sp>
          <p:nvSpPr>
            <p:cNvPr id="39" name="TextBox 39"/>
            <p:cNvSpPr txBox="1"/>
            <p:nvPr/>
          </p:nvSpPr>
          <p:spPr>
            <a:xfrm>
              <a:off x="2591709" y="4416742"/>
              <a:ext cx="1026883" cy="264033"/>
            </a:xfrm>
            <a:prstGeom prst="rect">
              <a:avLst/>
            </a:prstGeom>
            <a:noFill/>
            <a:ln>
              <a:noFill/>
            </a:ln>
          </p:spPr>
          <p:txBody>
            <a:bodyPr wrap="none" lIns="0" tIns="0" rIns="0" bIns="0" anchor="t" anchorCtr="0">
              <a:spAutoFit/>
            </a:bodyPr>
            <a:lstStyle/>
            <a:p>
              <a:pPr algn="ctr"/>
              <a:r>
                <a:rPr lang="vi-VN" sz="1350" b="1" dirty="0">
                  <a:solidFill>
                    <a:schemeClr val="accent1"/>
                  </a:solidFill>
                  <a:latin typeface="+mn-lt"/>
                  <a:ea typeface="+mn-ea"/>
                  <a:cs typeface="+mn-cs"/>
                </a:rPr>
                <a:t>SharePoint</a:t>
              </a:r>
            </a:p>
          </p:txBody>
        </p:sp>
      </p:grpSp>
      <p:grpSp>
        <p:nvGrpSpPr>
          <p:cNvPr id="60" name="Group 60"/>
          <p:cNvGrpSpPr/>
          <p:nvPr/>
        </p:nvGrpSpPr>
        <p:grpSpPr>
          <a:xfrm>
            <a:off x="6286500" y="2114550"/>
            <a:ext cx="5524500" cy="2857500"/>
            <a:chOff x="6286500" y="2114550"/>
            <a:chExt cx="5524500" cy="2857500"/>
          </a:xfrm>
        </p:grpSpPr>
        <p:sp>
          <p:nvSpPr>
            <p:cNvPr id="41" name="Rectangle 41"/>
            <p:cNvSpPr/>
            <p:nvPr/>
          </p:nvSpPr>
          <p:spPr>
            <a:xfrm>
              <a:off x="6286500" y="2114550"/>
              <a:ext cx="5524500" cy="2857500"/>
            </a:xfrm>
            <a:prstGeom prst="roundRect">
              <a:avLst>
                <a:gd name="adj" fmla="val 6000"/>
              </a:avLst>
            </a:prstGeom>
            <a:solidFill>
              <a:schemeClr val="lt1"/>
            </a:solidFill>
            <a:ln w="19050">
              <a:solidFill>
                <a:schemeClr val="accent1"/>
              </a:solidFill>
            </a:ln>
          </p:spPr>
        </p:sp>
        <p:sp>
          <p:nvSpPr>
            <p:cNvPr id="42" name="Ellipse 42"/>
            <p:cNvSpPr/>
            <p:nvPr/>
          </p:nvSpPr>
          <p:spPr>
            <a:xfrm>
              <a:off x="6553200" y="2381250"/>
              <a:ext cx="533400" cy="533400"/>
            </a:xfrm>
            <a:prstGeom prst="ellipse">
              <a:avLst/>
            </a:prstGeom>
            <a:solidFill>
              <a:schemeClr val="lt2"/>
            </a:solidFill>
            <a:ln>
              <a:noFill/>
            </a:ln>
          </p:spPr>
        </p:sp>
        <p:grpSp>
          <p:nvGrpSpPr>
            <p:cNvPr id="48" name="Group 48"/>
            <p:cNvGrpSpPr/>
            <p:nvPr/>
          </p:nvGrpSpPr>
          <p:grpSpPr>
            <a:xfrm>
              <a:off x="6705600" y="2519362"/>
              <a:ext cx="228600" cy="257176"/>
              <a:chOff x="6705600" y="2519362"/>
              <a:chExt cx="228600" cy="257176"/>
            </a:xfrm>
          </p:grpSpPr>
          <p:sp>
            <p:nvSpPr>
              <p:cNvPr id="43" name="Freeform 43"/>
              <p:cNvSpPr/>
              <p:nvPr/>
            </p:nvSpPr>
            <p:spPr>
              <a:xfrm>
                <a:off x="6705600" y="2519362"/>
                <a:ext cx="228600" cy="257175"/>
              </a:xfrm>
              <a:custGeom>
                <a:avLst/>
                <a:gdLst/>
                <a:ahLst/>
                <a:cxnLst/>
                <a:rect l="l" t="t" r="r" b="b"/>
                <a:pathLst>
                  <a:path w="228600" h="257175">
                    <a:moveTo>
                      <a:pt x="114300" y="0"/>
                    </a:moveTo>
                    <a:lnTo>
                      <a:pt x="228600" y="64294"/>
                    </a:lnTo>
                    <a:lnTo>
                      <a:pt x="228600" y="192881"/>
                    </a:lnTo>
                    <a:lnTo>
                      <a:pt x="114300" y="257175"/>
                    </a:lnTo>
                    <a:lnTo>
                      <a:pt x="0" y="192881"/>
                    </a:lnTo>
                    <a:lnTo>
                      <a:pt x="0" y="64294"/>
                    </a:lnTo>
                    <a:lnTo>
                      <a:pt x="114300" y="0"/>
                    </a:lnTo>
                  </a:path>
                </a:pathLst>
              </a:custGeom>
              <a:noFill/>
              <a:ln w="28575">
                <a:solidFill>
                  <a:schemeClr val="accent1"/>
                </a:solidFill>
              </a:ln>
            </p:spPr>
          </p:sp>
          <p:sp>
            <p:nvSpPr>
              <p:cNvPr id="44" name="Freeform 44"/>
              <p:cNvSpPr/>
              <p:nvPr/>
            </p:nvSpPr>
            <p:spPr>
              <a:xfrm>
                <a:off x="6819900" y="2583656"/>
                <a:ext cx="114300" cy="64294"/>
              </a:xfrm>
              <a:custGeom>
                <a:avLst/>
                <a:gdLst/>
                <a:ahLst/>
                <a:cxnLst/>
                <a:rect l="l" t="t" r="r" b="b"/>
                <a:pathLst>
                  <a:path w="114300" h="64294">
                    <a:moveTo>
                      <a:pt x="0" y="64294"/>
                    </a:moveTo>
                    <a:lnTo>
                      <a:pt x="114300" y="0"/>
                    </a:lnTo>
                  </a:path>
                </a:pathLst>
              </a:custGeom>
              <a:noFill/>
              <a:ln w="28575">
                <a:solidFill>
                  <a:schemeClr val="accent1"/>
                </a:solidFill>
              </a:ln>
            </p:spPr>
          </p:sp>
          <p:sp>
            <p:nvSpPr>
              <p:cNvPr id="45" name="Freeform 45"/>
              <p:cNvSpPr/>
              <p:nvPr/>
            </p:nvSpPr>
            <p:spPr>
              <a:xfrm>
                <a:off x="6819900" y="2647950"/>
                <a:ext cx="9525" cy="128588"/>
              </a:xfrm>
              <a:custGeom>
                <a:avLst/>
                <a:gdLst/>
                <a:ahLst/>
                <a:cxnLst/>
                <a:rect l="l" t="t" r="r" b="b"/>
                <a:pathLst>
                  <a:path w="9525" h="128588">
                    <a:moveTo>
                      <a:pt x="0" y="0"/>
                    </a:moveTo>
                    <a:lnTo>
                      <a:pt x="0" y="128588"/>
                    </a:lnTo>
                  </a:path>
                </a:pathLst>
              </a:custGeom>
              <a:noFill/>
              <a:ln w="28575">
                <a:solidFill>
                  <a:schemeClr val="accent1"/>
                </a:solidFill>
              </a:ln>
            </p:spPr>
          </p:sp>
          <p:sp>
            <p:nvSpPr>
              <p:cNvPr id="46" name="Freeform 46"/>
              <p:cNvSpPr/>
              <p:nvPr/>
            </p:nvSpPr>
            <p:spPr>
              <a:xfrm>
                <a:off x="6705600" y="2583656"/>
                <a:ext cx="114300" cy="64294"/>
              </a:xfrm>
              <a:custGeom>
                <a:avLst/>
                <a:gdLst/>
                <a:ahLst/>
                <a:cxnLst/>
                <a:rect l="l" t="t" r="r" b="b"/>
                <a:pathLst>
                  <a:path w="114300" h="64294">
                    <a:moveTo>
                      <a:pt x="114300" y="64294"/>
                    </a:moveTo>
                    <a:lnTo>
                      <a:pt x="0" y="0"/>
                    </a:lnTo>
                  </a:path>
                </a:pathLst>
              </a:custGeom>
              <a:noFill/>
              <a:ln w="28575">
                <a:solidFill>
                  <a:schemeClr val="accent1"/>
                </a:solidFill>
              </a:ln>
            </p:spPr>
          </p:sp>
          <p:sp>
            <p:nvSpPr>
              <p:cNvPr id="47" name="Freeform 47"/>
              <p:cNvSpPr/>
              <p:nvPr/>
            </p:nvSpPr>
            <p:spPr>
              <a:xfrm>
                <a:off x="6762750" y="2551509"/>
                <a:ext cx="114300" cy="64294"/>
              </a:xfrm>
              <a:custGeom>
                <a:avLst/>
                <a:gdLst/>
                <a:ahLst/>
                <a:cxnLst/>
                <a:rect l="l" t="t" r="r" b="b"/>
                <a:pathLst>
                  <a:path w="114300" h="64294">
                    <a:moveTo>
                      <a:pt x="114300" y="0"/>
                    </a:moveTo>
                    <a:lnTo>
                      <a:pt x="0" y="64294"/>
                    </a:lnTo>
                  </a:path>
                </a:pathLst>
              </a:custGeom>
              <a:noFill/>
              <a:ln w="28575">
                <a:solidFill>
                  <a:schemeClr val="accent1"/>
                </a:solidFill>
              </a:ln>
            </p:spPr>
          </p:sp>
        </p:grpSp>
        <p:sp>
          <p:nvSpPr>
            <p:cNvPr id="49" name="TextBox 49"/>
            <p:cNvSpPr txBox="1"/>
            <p:nvPr/>
          </p:nvSpPr>
          <p:spPr>
            <a:xfrm>
              <a:off x="7228332" y="2516505"/>
              <a:ext cx="1856278" cy="410718"/>
            </a:xfrm>
            <a:prstGeom prst="rect">
              <a:avLst/>
            </a:prstGeom>
            <a:noFill/>
            <a:ln>
              <a:noFill/>
            </a:ln>
          </p:spPr>
          <p:txBody>
            <a:bodyPr wrap="none" lIns="0" tIns="0" rIns="0" bIns="0" anchor="t" anchorCtr="0">
              <a:spAutoFit/>
            </a:bodyPr>
            <a:lstStyle/>
            <a:p>
              <a:pPr algn="l"/>
              <a:r>
                <a:rPr lang="vi-VN" sz="2100" b="1" dirty="0">
                  <a:solidFill>
                    <a:schemeClr val="accent1"/>
                  </a:solidFill>
                  <a:latin typeface="+mn-lt"/>
                  <a:ea typeface="+mn-ea"/>
                  <a:cs typeface="+mn-cs"/>
                </a:rPr>
                <a:t>Plugin tự tạo</a:t>
              </a:r>
            </a:p>
          </p:txBody>
        </p:sp>
        <p:sp>
          <p:nvSpPr>
            <p:cNvPr id="50" name="TextBox 50"/>
            <p:cNvSpPr txBox="1"/>
            <p:nvPr/>
          </p:nvSpPr>
          <p:spPr>
            <a:xfrm>
              <a:off x="6582918" y="3117532"/>
              <a:ext cx="3128582"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dk1"/>
                  </a:solidFill>
                  <a:latin typeface="+mn-lt"/>
                  <a:ea typeface="+mn-ea"/>
                  <a:cs typeface="+mn-cs"/>
                </a:rPr>
                <a:t>Gói Skill + File tham chiếu + App</a:t>
              </a:r>
              <a:br/>
              <a:r>
                <a:rPr lang="vi-VN" sz="1650" dirty="0">
                  <a:solidFill>
                    <a:schemeClr val="dk1"/>
                  </a:solidFill>
                  <a:latin typeface="+mn-lt"/>
                  <a:ea typeface="+mn-ea"/>
                  <a:cs typeface="+mn-cs"/>
                </a:rPr>
                <a:t>cho một quy trình trọn vẹn</a:t>
              </a:r>
            </a:p>
          </p:txBody>
        </p:sp>
        <p:sp>
          <p:nvSpPr>
            <p:cNvPr id="51" name="Rectangle 51"/>
            <p:cNvSpPr/>
            <p:nvPr/>
          </p:nvSpPr>
          <p:spPr>
            <a:xfrm>
              <a:off x="6591300" y="3867150"/>
              <a:ext cx="1047750" cy="419100"/>
            </a:xfrm>
            <a:prstGeom prst="roundRect">
              <a:avLst>
                <a:gd name="adj" fmla="val 27273"/>
              </a:avLst>
            </a:prstGeom>
            <a:solidFill>
              <a:srgbClr val="2E5E91"/>
            </a:solidFill>
            <a:ln>
              <a:noFill/>
            </a:ln>
          </p:spPr>
        </p:sp>
        <p:sp>
          <p:nvSpPr>
            <p:cNvPr id="52" name="TextBox 52"/>
            <p:cNvSpPr txBox="1"/>
            <p:nvPr/>
          </p:nvSpPr>
          <p:spPr>
            <a:xfrm>
              <a:off x="6893128" y="3981450"/>
              <a:ext cx="444094"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Skill</a:t>
              </a:r>
            </a:p>
          </p:txBody>
        </p:sp>
        <p:sp>
          <p:nvSpPr>
            <p:cNvPr id="53" name="TextBox 53"/>
            <p:cNvSpPr txBox="1"/>
            <p:nvPr/>
          </p:nvSpPr>
          <p:spPr>
            <a:xfrm>
              <a:off x="7705745" y="3942398"/>
              <a:ext cx="171411" cy="381381"/>
            </a:xfrm>
            <a:prstGeom prst="rect">
              <a:avLst/>
            </a:prstGeom>
            <a:noFill/>
            <a:ln>
              <a:noFill/>
            </a:ln>
          </p:spPr>
          <p:txBody>
            <a:bodyPr wrap="none" lIns="0" tIns="0" rIns="0" bIns="0" anchor="t" anchorCtr="0">
              <a:spAutoFit/>
            </a:bodyPr>
            <a:lstStyle/>
            <a:p>
              <a:pPr algn="ctr"/>
              <a:r>
                <a:rPr lang="vi-VN" sz="1950" b="1" dirty="0">
                  <a:solidFill>
                    <a:srgbClr val="5B6675"/>
                  </a:solidFill>
                  <a:latin typeface="+mn-lt"/>
                  <a:ea typeface="+mn-ea"/>
                  <a:cs typeface="+mn-cs"/>
                </a:rPr>
                <a:t>+</a:t>
              </a:r>
            </a:p>
          </p:txBody>
        </p:sp>
        <p:sp>
          <p:nvSpPr>
            <p:cNvPr id="54" name="Rectangle 54"/>
            <p:cNvSpPr/>
            <p:nvPr/>
          </p:nvSpPr>
          <p:spPr>
            <a:xfrm>
              <a:off x="7962900" y="3867150"/>
              <a:ext cx="1714500" cy="419100"/>
            </a:xfrm>
            <a:prstGeom prst="roundRect">
              <a:avLst>
                <a:gd name="adj" fmla="val 27273"/>
              </a:avLst>
            </a:prstGeom>
            <a:solidFill>
              <a:schemeClr val="accent3"/>
            </a:solidFill>
            <a:ln>
              <a:noFill/>
            </a:ln>
          </p:spPr>
        </p:sp>
        <p:sp>
          <p:nvSpPr>
            <p:cNvPr id="55" name="TextBox 55"/>
            <p:cNvSpPr txBox="1"/>
            <p:nvPr/>
          </p:nvSpPr>
          <p:spPr>
            <a:xfrm>
              <a:off x="8045911" y="3981450"/>
              <a:ext cx="1548478"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File tham chiếu</a:t>
              </a:r>
            </a:p>
          </p:txBody>
        </p:sp>
        <p:sp>
          <p:nvSpPr>
            <p:cNvPr id="56" name="TextBox 56"/>
            <p:cNvSpPr txBox="1"/>
            <p:nvPr/>
          </p:nvSpPr>
          <p:spPr>
            <a:xfrm>
              <a:off x="9744095" y="3942398"/>
              <a:ext cx="171411" cy="381381"/>
            </a:xfrm>
            <a:prstGeom prst="rect">
              <a:avLst/>
            </a:prstGeom>
            <a:noFill/>
            <a:ln>
              <a:noFill/>
            </a:ln>
          </p:spPr>
          <p:txBody>
            <a:bodyPr wrap="none" lIns="0" tIns="0" rIns="0" bIns="0" anchor="t" anchorCtr="0">
              <a:spAutoFit/>
            </a:bodyPr>
            <a:lstStyle/>
            <a:p>
              <a:pPr algn="ctr"/>
              <a:r>
                <a:rPr lang="vi-VN" sz="1950" b="1" dirty="0">
                  <a:solidFill>
                    <a:srgbClr val="5B6675"/>
                  </a:solidFill>
                  <a:latin typeface="+mn-lt"/>
                  <a:ea typeface="+mn-ea"/>
                  <a:cs typeface="+mn-cs"/>
                </a:rPr>
                <a:t>+</a:t>
              </a:r>
            </a:p>
          </p:txBody>
        </p:sp>
        <p:sp>
          <p:nvSpPr>
            <p:cNvPr id="57" name="Rectangle 57"/>
            <p:cNvSpPr/>
            <p:nvPr/>
          </p:nvSpPr>
          <p:spPr>
            <a:xfrm>
              <a:off x="10001250" y="3867150"/>
              <a:ext cx="1047750" cy="419100"/>
            </a:xfrm>
            <a:prstGeom prst="roundRect">
              <a:avLst>
                <a:gd name="adj" fmla="val 27273"/>
              </a:avLst>
            </a:prstGeom>
            <a:solidFill>
              <a:schemeClr val="accent1"/>
            </a:solidFill>
            <a:ln>
              <a:noFill/>
            </a:ln>
          </p:spPr>
        </p:sp>
        <p:sp>
          <p:nvSpPr>
            <p:cNvPr id="58" name="TextBox 58"/>
            <p:cNvSpPr txBox="1"/>
            <p:nvPr/>
          </p:nvSpPr>
          <p:spPr>
            <a:xfrm>
              <a:off x="10339283" y="3981450"/>
              <a:ext cx="371685" cy="293370"/>
            </a:xfrm>
            <a:prstGeom prst="rect">
              <a:avLst/>
            </a:prstGeom>
            <a:noFill/>
            <a:ln>
              <a:noFill/>
            </a:ln>
          </p:spPr>
          <p:txBody>
            <a:bodyPr wrap="none" lIns="0" tIns="0" rIns="0" bIns="0" anchor="t" anchorCtr="0">
              <a:spAutoFit/>
            </a:bodyPr>
            <a:lstStyle/>
            <a:p>
              <a:pPr algn="ctr"/>
              <a:r>
                <a:rPr lang="vi-VN" sz="1500" b="1" dirty="0">
                  <a:solidFill>
                    <a:srgbClr val="FFFFFF"/>
                  </a:solidFill>
                  <a:latin typeface="+mn-lt"/>
                  <a:ea typeface="+mn-ea"/>
                  <a:cs typeface="+mn-cs"/>
                </a:rPr>
                <a:t>App</a:t>
              </a:r>
            </a:p>
          </p:txBody>
        </p:sp>
        <p:sp>
          <p:nvSpPr>
            <p:cNvPr id="59" name="TextBox 59"/>
            <p:cNvSpPr txBox="1"/>
            <p:nvPr/>
          </p:nvSpPr>
          <p:spPr>
            <a:xfrm>
              <a:off x="6583680" y="4543425"/>
              <a:ext cx="4763262" cy="293370"/>
            </a:xfrm>
            <a:prstGeom prst="rect">
              <a:avLst/>
            </a:prstGeom>
            <a:noFill/>
            <a:ln>
              <a:noFill/>
            </a:ln>
          </p:spPr>
          <p:txBody>
            <a:bodyPr wrap="none" lIns="0" tIns="0" rIns="0" bIns="0" anchor="t" anchorCtr="0">
              <a:spAutoFit/>
            </a:bodyPr>
            <a:lstStyle/>
            <a:p>
              <a:pPr algn="l"/>
              <a:r>
                <a:rPr lang="vi-VN" sz="1500" dirty="0">
                  <a:solidFill>
                    <a:srgbClr val="5B6675"/>
                  </a:solidFill>
                  <a:latin typeface="+mn-lt"/>
                  <a:ea typeface="+mn-ea"/>
                  <a:cs typeface="+mn-cs"/>
                </a:rPr>
                <a:t>Ví dụ: “Plugin Marketing Wir”, “Plugin Sale Wir”</a:t>
              </a:r>
            </a:p>
          </p:txBody>
        </p:sp>
      </p:grpSp>
      <p:grpSp>
        <p:nvGrpSpPr>
          <p:cNvPr id="66" name="Group 66"/>
          <p:cNvGrpSpPr/>
          <p:nvPr/>
        </p:nvGrpSpPr>
        <p:grpSpPr>
          <a:xfrm>
            <a:off x="419100" y="5486402"/>
            <a:ext cx="8293948" cy="367282"/>
            <a:chOff x="419100" y="5486402"/>
            <a:chExt cx="8293948" cy="367282"/>
          </a:xfrm>
        </p:grpSpPr>
        <p:grpSp>
          <p:nvGrpSpPr>
            <p:cNvPr id="63" name="Group 63"/>
            <p:cNvGrpSpPr/>
            <p:nvPr/>
          </p:nvGrpSpPr>
          <p:grpSpPr>
            <a:xfrm>
              <a:off x="419100" y="5486402"/>
              <a:ext cx="228597" cy="228597"/>
              <a:chOff x="419100" y="5486402"/>
              <a:chExt cx="228597" cy="228597"/>
            </a:xfrm>
          </p:grpSpPr>
          <p:sp>
            <p:nvSpPr>
              <p:cNvPr id="61" name="Freeform 61"/>
              <p:cNvSpPr/>
              <p:nvPr/>
            </p:nvSpPr>
            <p:spPr>
              <a:xfrm>
                <a:off x="419100" y="5486402"/>
                <a:ext cx="228597" cy="228597"/>
              </a:xfrm>
              <a:custGeom>
                <a:avLst/>
                <a:gdLst/>
                <a:ahLst/>
                <a:cxnLst/>
                <a:rect l="l" t="t" r="r" b="b"/>
                <a:pathLst>
                  <a:path w="228597" h="228597">
                    <a:moveTo>
                      <a:pt x="172148" y="10704"/>
                    </a:moveTo>
                    <a:lnTo>
                      <a:pt x="217893" y="56449"/>
                    </a:lnTo>
                    <a:cubicBezTo>
                      <a:pt x="224747" y="63301"/>
                      <a:pt x="228597" y="72596"/>
                      <a:pt x="228597" y="82287"/>
                    </a:cubicBezTo>
                    <a:cubicBezTo>
                      <a:pt x="228597" y="91978"/>
                      <a:pt x="224747" y="101273"/>
                      <a:pt x="217893" y="108125"/>
                    </a:cubicBezTo>
                    <a:lnTo>
                      <a:pt x="184327" y="141691"/>
                    </a:lnTo>
                    <a:cubicBezTo>
                      <a:pt x="177475" y="148544"/>
                      <a:pt x="168181" y="152395"/>
                      <a:pt x="158489" y="152395"/>
                    </a:cubicBezTo>
                    <a:cubicBezTo>
                      <a:pt x="148798" y="152395"/>
                      <a:pt x="139503" y="148544"/>
                      <a:pt x="132651" y="141691"/>
                    </a:cubicBezTo>
                    <a:lnTo>
                      <a:pt x="128828" y="137868"/>
                    </a:lnTo>
                    <a:lnTo>
                      <a:pt x="45542" y="221155"/>
                    </a:lnTo>
                    <a:cubicBezTo>
                      <a:pt x="41322" y="225374"/>
                      <a:pt x="35751" y="227973"/>
                      <a:pt x="29807" y="228495"/>
                    </a:cubicBezTo>
                    <a:lnTo>
                      <a:pt x="27584" y="228597"/>
                    </a:lnTo>
                    <a:lnTo>
                      <a:pt x="12700" y="228597"/>
                    </a:lnTo>
                    <a:cubicBezTo>
                      <a:pt x="6261" y="228596"/>
                      <a:pt x="842" y="223777"/>
                      <a:pt x="89" y="217383"/>
                    </a:cubicBezTo>
                    <a:lnTo>
                      <a:pt x="0" y="215897"/>
                    </a:lnTo>
                    <a:lnTo>
                      <a:pt x="0" y="201013"/>
                    </a:lnTo>
                    <a:cubicBezTo>
                      <a:pt x="1" y="195049"/>
                      <a:pt x="2101" y="189277"/>
                      <a:pt x="5931" y="184706"/>
                    </a:cubicBezTo>
                    <a:lnTo>
                      <a:pt x="7442" y="183055"/>
                    </a:lnTo>
                    <a:lnTo>
                      <a:pt x="12700" y="177797"/>
                    </a:lnTo>
                    <a:lnTo>
                      <a:pt x="38100" y="177797"/>
                    </a:lnTo>
                    <a:lnTo>
                      <a:pt x="38100" y="152397"/>
                    </a:lnTo>
                    <a:lnTo>
                      <a:pt x="63500" y="152397"/>
                    </a:lnTo>
                    <a:lnTo>
                      <a:pt x="63500" y="126997"/>
                    </a:lnTo>
                    <a:lnTo>
                      <a:pt x="90729" y="99769"/>
                    </a:lnTo>
                    <a:lnTo>
                      <a:pt x="86906" y="95946"/>
                    </a:lnTo>
                    <a:cubicBezTo>
                      <a:pt x="80053" y="89093"/>
                      <a:pt x="76202" y="79799"/>
                      <a:pt x="76202" y="70108"/>
                    </a:cubicBezTo>
                    <a:cubicBezTo>
                      <a:pt x="76202" y="60416"/>
                      <a:pt x="80053" y="51122"/>
                      <a:pt x="86906" y="44270"/>
                    </a:cubicBezTo>
                    <a:lnTo>
                      <a:pt x="120472" y="10704"/>
                    </a:lnTo>
                    <a:cubicBezTo>
                      <a:pt x="127324" y="3850"/>
                      <a:pt x="136619" y="0"/>
                      <a:pt x="146310" y="0"/>
                    </a:cubicBezTo>
                    <a:cubicBezTo>
                      <a:pt x="156001" y="0"/>
                      <a:pt x="165296" y="3850"/>
                      <a:pt x="172148" y="10704"/>
                    </a:cubicBezTo>
                  </a:path>
                </a:pathLst>
              </a:custGeom>
              <a:noFill/>
              <a:ln w="25400">
                <a:solidFill>
                  <a:schemeClr val="accent2"/>
                </a:solidFill>
              </a:ln>
            </p:spPr>
          </p:sp>
          <p:sp>
            <p:nvSpPr>
              <p:cNvPr id="62" name="Freeform 62"/>
              <p:cNvSpPr/>
              <p:nvPr/>
            </p:nvSpPr>
            <p:spPr>
              <a:xfrm>
                <a:off x="571500" y="5562600"/>
                <a:ext cx="9525" cy="9525"/>
              </a:xfrm>
              <a:custGeom>
                <a:avLst/>
                <a:gdLst/>
                <a:ahLst/>
                <a:cxnLst/>
                <a:rect l="l" t="t" r="r" b="b"/>
                <a:pathLst>
                  <a:path w="9525" h="9525">
                    <a:moveTo>
                      <a:pt x="0" y="0"/>
                    </a:moveTo>
                    <a:lnTo>
                      <a:pt x="127" y="0"/>
                    </a:lnTo>
                  </a:path>
                </a:pathLst>
              </a:custGeom>
              <a:noFill/>
              <a:ln w="25400">
                <a:solidFill>
                  <a:schemeClr val="accent2"/>
                </a:solidFill>
              </a:ln>
            </p:spPr>
          </p:sp>
        </p:grpSp>
        <p:sp>
          <p:nvSpPr>
            <p:cNvPr id="64" name="TextBox 64"/>
            <p:cNvSpPr txBox="1"/>
            <p:nvPr/>
          </p:nvSpPr>
          <p:spPr>
            <a:xfrm>
              <a:off x="810006" y="5501640"/>
              <a:ext cx="7903042" cy="352044"/>
            </a:xfrm>
            <a:prstGeom prst="rect">
              <a:avLst/>
            </a:prstGeom>
            <a:noFill/>
            <a:ln>
              <a:noFill/>
            </a:ln>
          </p:spPr>
          <p:txBody>
            <a:bodyPr wrap="none" lIns="0" tIns="0" rIns="0" bIns="0" anchor="t" anchorCtr="0">
              <a:spAutoFit/>
            </a:bodyPr>
            <a:lstStyle/>
            <a:p>
              <a:pPr algn="l"/>
              <a:r>
                <a:rPr lang="vi-VN" sz="1800" i="1" dirty="0">
                  <a:solidFill>
                    <a:schemeClr val="accent1"/>
                  </a:solidFill>
                  <a:latin typeface="+mn-lt"/>
                  <a:ea typeface="+mn-ea"/>
                  <a:cs typeface="+mn-cs"/>
                </a:rPr>
                <a:t>“Cấp chìa nào thì mở được tủ đó, nên phải cấp đúng và cấp vừa đủ.”</a:t>
              </a:r>
            </a:p>
          </p:txBody>
        </p:sp>
      </p:grpSp>
      <p:sp>
        <p:nvSpPr>
          <p:cNvPr id="67" name="TextBox 67"/>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68" name="TextBox 68"/>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27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1738041" cy="234696"/>
            <a:chOff x="381000" y="346710"/>
            <a:chExt cx="1738041" cy="234696"/>
          </a:xfrm>
        </p:grpSpPr>
        <p:sp>
          <p:nvSpPr>
            <p:cNvPr id="2" name="Rectangle 2"/>
            <p:cNvSpPr/>
            <p:nvPr/>
          </p:nvSpPr>
          <p:spPr>
            <a:xfrm>
              <a:off x="381000" y="361950"/>
              <a:ext cx="114300" cy="114300"/>
            </a:xfrm>
            <a:prstGeom prst="roundRect">
              <a:avLst>
                <a:gd name="adj" fmla="val 25000"/>
              </a:avLst>
            </a:prstGeom>
            <a:solidFill>
              <a:schemeClr val="accent1"/>
            </a:solidFill>
            <a:ln>
              <a:noFill/>
            </a:ln>
          </p:spPr>
        </p:sp>
        <p:sp>
          <p:nvSpPr>
            <p:cNvPr id="3" name="TextBox 3"/>
            <p:cNvSpPr txBox="1"/>
            <p:nvPr/>
          </p:nvSpPr>
          <p:spPr>
            <a:xfrm>
              <a:off x="584454" y="346710"/>
              <a:ext cx="1534587"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4 · PLUGIN</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chemeClr val="accent2"/>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3715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6920865"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Mở quyền từng nấc đọc → ghi → gửi;</a:t>
            </a:r>
            <a:br/>
            <a:r>
              <a:rPr lang="vi-VN" sz="3150" b="1" dirty="0">
                <a:solidFill>
                  <a:schemeClr val="accent1"/>
                </a:solidFill>
                <a:latin typeface="+mn-lt"/>
                <a:ea typeface="+mn-ea"/>
                <a:cs typeface="+mn-cs"/>
              </a:rPr>
              <a:t>Gmail luôn để mức Always ask</a:t>
            </a:r>
          </a:p>
        </p:txBody>
      </p:sp>
      <p:grpSp>
        <p:nvGrpSpPr>
          <p:cNvPr id="24" name="Group 24"/>
          <p:cNvGrpSpPr/>
          <p:nvPr/>
        </p:nvGrpSpPr>
        <p:grpSpPr>
          <a:xfrm>
            <a:off x="381000" y="2686050"/>
            <a:ext cx="3619500" cy="1428750"/>
            <a:chOff x="381000" y="2686050"/>
            <a:chExt cx="3619500" cy="1428750"/>
          </a:xfrm>
        </p:grpSpPr>
        <p:sp>
          <p:nvSpPr>
            <p:cNvPr id="17" name="Rectangle 17"/>
            <p:cNvSpPr/>
            <p:nvPr/>
          </p:nvSpPr>
          <p:spPr>
            <a:xfrm>
              <a:off x="381000" y="2686050"/>
              <a:ext cx="3619500" cy="1428750"/>
            </a:xfrm>
            <a:prstGeom prst="roundRect">
              <a:avLst>
                <a:gd name="adj" fmla="val 10667"/>
              </a:avLst>
            </a:prstGeom>
            <a:solidFill>
              <a:schemeClr val="lt2"/>
            </a:solidFill>
            <a:ln>
              <a:noFill/>
            </a:ln>
          </p:spPr>
        </p:sp>
        <p:grpSp>
          <p:nvGrpSpPr>
            <p:cNvPr id="20" name="Group 20"/>
            <p:cNvGrpSpPr/>
            <p:nvPr/>
          </p:nvGrpSpPr>
          <p:grpSpPr>
            <a:xfrm>
              <a:off x="642938" y="2924175"/>
              <a:ext cx="200026" cy="133350"/>
              <a:chOff x="642938" y="2924175"/>
              <a:chExt cx="200026" cy="133350"/>
            </a:xfrm>
          </p:grpSpPr>
          <p:sp>
            <p:nvSpPr>
              <p:cNvPr id="18" name="Freeform 18"/>
              <p:cNvSpPr/>
              <p:nvPr/>
            </p:nvSpPr>
            <p:spPr>
              <a:xfrm>
                <a:off x="720725" y="2968625"/>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22225">
                <a:solidFill>
                  <a:schemeClr val="accent1"/>
                </a:solidFill>
              </a:ln>
            </p:spPr>
          </p:sp>
          <p:sp>
            <p:nvSpPr>
              <p:cNvPr id="19" name="Freeform 19"/>
              <p:cNvSpPr/>
              <p:nvPr/>
            </p:nvSpPr>
            <p:spPr>
              <a:xfrm>
                <a:off x="642938" y="2924175"/>
                <a:ext cx="200026" cy="133350"/>
              </a:xfrm>
              <a:custGeom>
                <a:avLst/>
                <a:gdLst/>
                <a:ahLst/>
                <a:cxnLst/>
                <a:rect l="l" t="t" r="r" b="b"/>
                <a:pathLst>
                  <a:path w="200026" h="133350">
                    <a:moveTo>
                      <a:pt x="200026" y="66675"/>
                    </a:moveTo>
                    <a:cubicBezTo>
                      <a:pt x="173355" y="111125"/>
                      <a:pt x="140018" y="133350"/>
                      <a:pt x="100013" y="133350"/>
                    </a:cubicBezTo>
                    <a:cubicBezTo>
                      <a:pt x="60008" y="133350"/>
                      <a:pt x="26670" y="111125"/>
                      <a:pt x="0" y="66675"/>
                    </a:cubicBezTo>
                    <a:cubicBezTo>
                      <a:pt x="26670" y="22225"/>
                      <a:pt x="60008" y="0"/>
                      <a:pt x="100013" y="0"/>
                    </a:cubicBezTo>
                    <a:cubicBezTo>
                      <a:pt x="140018" y="0"/>
                      <a:pt x="173355" y="22225"/>
                      <a:pt x="200026" y="66675"/>
                    </a:cubicBezTo>
                  </a:path>
                </a:pathLst>
              </a:custGeom>
              <a:noFill/>
              <a:ln w="22225">
                <a:solidFill>
                  <a:schemeClr val="accent1"/>
                </a:solidFill>
              </a:ln>
            </p:spPr>
          </p:sp>
        </p:grpSp>
        <p:sp>
          <p:nvSpPr>
            <p:cNvPr id="21" name="TextBox 21"/>
            <p:cNvSpPr txBox="1"/>
            <p:nvPr/>
          </p:nvSpPr>
          <p:spPr>
            <a:xfrm>
              <a:off x="962406" y="2872740"/>
              <a:ext cx="446021" cy="352044"/>
            </a:xfrm>
            <a:prstGeom prst="rect">
              <a:avLst/>
            </a:prstGeom>
            <a:noFill/>
            <a:ln>
              <a:noFill/>
            </a:ln>
          </p:spPr>
          <p:txBody>
            <a:bodyPr wrap="none" lIns="0" tIns="0" rIns="0" bIns="0" anchor="t" anchorCtr="0">
              <a:spAutoFit/>
            </a:bodyPr>
            <a:lstStyle/>
            <a:p>
              <a:pPr algn="l"/>
              <a:r>
                <a:rPr lang="vi-VN" sz="1800" b="1" dirty="0">
                  <a:solidFill>
                    <a:schemeClr val="accent1"/>
                  </a:solidFill>
                  <a:latin typeface="+mn-lt"/>
                  <a:ea typeface="+mn-ea"/>
                  <a:cs typeface="+mn-cs"/>
                </a:rPr>
                <a:t>Đọc</a:t>
              </a:r>
            </a:p>
          </p:txBody>
        </p:sp>
        <p:sp>
          <p:nvSpPr>
            <p:cNvPr id="22" name="TextBox 22"/>
            <p:cNvSpPr txBox="1"/>
            <p:nvPr/>
          </p:nvSpPr>
          <p:spPr>
            <a:xfrm>
              <a:off x="601980" y="3228975"/>
              <a:ext cx="1739118"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Xem thư, xem file</a:t>
              </a:r>
            </a:p>
          </p:txBody>
        </p:sp>
        <p:sp>
          <p:nvSpPr>
            <p:cNvPr id="23" name="TextBox 23"/>
            <p:cNvSpPr txBox="1"/>
            <p:nvPr/>
          </p:nvSpPr>
          <p:spPr>
            <a:xfrm>
              <a:off x="602742" y="3530918"/>
              <a:ext cx="1933956" cy="492633"/>
            </a:xfrm>
            <a:prstGeom prst="rect">
              <a:avLst/>
            </a:prstGeom>
            <a:noFill/>
            <a:ln>
              <a:noFill/>
            </a:ln>
          </p:spPr>
          <p:txBody>
            <a:bodyPr wrap="none" lIns="0" tIns="0" rIns="0" bIns="0" anchor="t" anchorCtr="0">
              <a:spAutoFit/>
            </a:bodyPr>
            <a:lstStyle/>
            <a:p>
              <a:pPr algn="l">
                <a:lnSpc>
                  <a:spcPts val="1800"/>
                </a:lnSpc>
              </a:pPr>
              <a:r>
                <a:rPr lang="vi-VN" sz="1350" dirty="0">
                  <a:solidFill>
                    <a:srgbClr val="5B6675"/>
                  </a:solidFill>
                  <a:latin typeface="+mn-lt"/>
                  <a:ea typeface="+mn-ea"/>
                  <a:cs typeface="+mn-cs"/>
                </a:rPr>
                <a:t>Rủi ro: lộ thông tin nếu</a:t>
              </a:r>
              <a:br/>
              <a:r>
                <a:rPr lang="vi-VN" sz="1350" dirty="0">
                  <a:solidFill>
                    <a:srgbClr val="5B6675"/>
                  </a:solidFill>
                  <a:latin typeface="+mn-lt"/>
                  <a:ea typeface="+mn-ea"/>
                  <a:cs typeface="+mn-cs"/>
                </a:rPr>
                <a:t>nối nhầm tài khoản</a:t>
              </a:r>
            </a:p>
          </p:txBody>
        </p:sp>
      </p:grpSp>
      <p:grpSp>
        <p:nvGrpSpPr>
          <p:cNvPr id="32" name="Group 32"/>
          <p:cNvGrpSpPr/>
          <p:nvPr/>
        </p:nvGrpSpPr>
        <p:grpSpPr>
          <a:xfrm>
            <a:off x="4191000" y="2400300"/>
            <a:ext cx="3619500" cy="1714500"/>
            <a:chOff x="4191000" y="2400300"/>
            <a:chExt cx="3619500" cy="1714500"/>
          </a:xfrm>
        </p:grpSpPr>
        <p:sp>
          <p:nvSpPr>
            <p:cNvPr id="25" name="Rectangle 25"/>
            <p:cNvSpPr/>
            <p:nvPr/>
          </p:nvSpPr>
          <p:spPr>
            <a:xfrm>
              <a:off x="4191000" y="2400300"/>
              <a:ext cx="3619500" cy="1714500"/>
            </a:xfrm>
            <a:prstGeom prst="roundRect">
              <a:avLst>
                <a:gd name="adj" fmla="val 8889"/>
              </a:avLst>
            </a:prstGeom>
            <a:solidFill>
              <a:schemeClr val="lt2"/>
            </a:solidFill>
            <a:ln>
              <a:noFill/>
            </a:ln>
          </p:spPr>
        </p:sp>
        <p:grpSp>
          <p:nvGrpSpPr>
            <p:cNvPr id="28" name="Group 28"/>
            <p:cNvGrpSpPr/>
            <p:nvPr/>
          </p:nvGrpSpPr>
          <p:grpSpPr>
            <a:xfrm>
              <a:off x="4464050" y="2620594"/>
              <a:ext cx="173406" cy="173406"/>
              <a:chOff x="4464050" y="2620594"/>
              <a:chExt cx="173406" cy="173406"/>
            </a:xfrm>
          </p:grpSpPr>
          <p:sp>
            <p:nvSpPr>
              <p:cNvPr id="26" name="Freeform 26"/>
              <p:cNvSpPr/>
              <p:nvPr/>
            </p:nvSpPr>
            <p:spPr>
              <a:xfrm>
                <a:off x="4464050" y="2620594"/>
                <a:ext cx="173406" cy="173406"/>
              </a:xfrm>
              <a:custGeom>
                <a:avLst/>
                <a:gdLst/>
                <a:ahLst/>
                <a:cxnLst/>
                <a:rect l="l" t="t" r="r" b="b"/>
                <a:pathLst>
                  <a:path w="173406" h="173406">
                    <a:moveTo>
                      <a:pt x="0" y="173406"/>
                    </a:moveTo>
                    <a:lnTo>
                      <a:pt x="44450" y="173406"/>
                    </a:lnTo>
                    <a:lnTo>
                      <a:pt x="161132" y="56725"/>
                    </a:lnTo>
                    <a:cubicBezTo>
                      <a:pt x="173406" y="44450"/>
                      <a:pt x="173406" y="24549"/>
                      <a:pt x="161132" y="12275"/>
                    </a:cubicBezTo>
                    <a:cubicBezTo>
                      <a:pt x="148857" y="0"/>
                      <a:pt x="128956" y="0"/>
                      <a:pt x="116682" y="12275"/>
                    </a:cubicBezTo>
                    <a:lnTo>
                      <a:pt x="0" y="128956"/>
                    </a:lnTo>
                    <a:lnTo>
                      <a:pt x="0" y="173406"/>
                    </a:lnTo>
                  </a:path>
                </a:pathLst>
              </a:custGeom>
              <a:noFill/>
              <a:ln w="22225">
                <a:solidFill>
                  <a:schemeClr val="accent1"/>
                </a:solidFill>
              </a:ln>
            </p:spPr>
          </p:sp>
          <p:sp>
            <p:nvSpPr>
              <p:cNvPr id="27" name="Freeform 27"/>
              <p:cNvSpPr/>
              <p:nvPr/>
            </p:nvSpPr>
            <p:spPr>
              <a:xfrm>
                <a:off x="4569619" y="2643981"/>
                <a:ext cx="44450" cy="44450"/>
              </a:xfrm>
              <a:custGeom>
                <a:avLst/>
                <a:gdLst/>
                <a:ahLst/>
                <a:cxnLst/>
                <a:rect l="l" t="t" r="r" b="b"/>
                <a:pathLst>
                  <a:path w="44450" h="44450">
                    <a:moveTo>
                      <a:pt x="0" y="0"/>
                    </a:moveTo>
                    <a:lnTo>
                      <a:pt x="44450" y="44450"/>
                    </a:lnTo>
                  </a:path>
                </a:pathLst>
              </a:custGeom>
              <a:noFill/>
              <a:ln w="22225">
                <a:solidFill>
                  <a:schemeClr val="accent1"/>
                </a:solidFill>
              </a:ln>
            </p:spPr>
          </p:sp>
        </p:grpSp>
        <p:sp>
          <p:nvSpPr>
            <p:cNvPr id="29" name="TextBox 29"/>
            <p:cNvSpPr txBox="1"/>
            <p:nvPr/>
          </p:nvSpPr>
          <p:spPr>
            <a:xfrm>
              <a:off x="4772406" y="2586990"/>
              <a:ext cx="381213" cy="352044"/>
            </a:xfrm>
            <a:prstGeom prst="rect">
              <a:avLst/>
            </a:prstGeom>
            <a:noFill/>
            <a:ln>
              <a:noFill/>
            </a:ln>
          </p:spPr>
          <p:txBody>
            <a:bodyPr wrap="none" lIns="0" tIns="0" rIns="0" bIns="0" anchor="t" anchorCtr="0">
              <a:spAutoFit/>
            </a:bodyPr>
            <a:lstStyle/>
            <a:p>
              <a:pPr algn="l"/>
              <a:r>
                <a:rPr lang="vi-VN" sz="1800" b="1" dirty="0">
                  <a:solidFill>
                    <a:schemeClr val="accent1"/>
                  </a:solidFill>
                  <a:latin typeface="+mn-lt"/>
                  <a:ea typeface="+mn-ea"/>
                  <a:cs typeface="+mn-cs"/>
                </a:rPr>
                <a:t>Ghi</a:t>
              </a:r>
            </a:p>
          </p:txBody>
        </p:sp>
        <p:sp>
          <p:nvSpPr>
            <p:cNvPr id="30" name="TextBox 30"/>
            <p:cNvSpPr txBox="1"/>
            <p:nvPr/>
          </p:nvSpPr>
          <p:spPr>
            <a:xfrm>
              <a:off x="4411980" y="2943225"/>
              <a:ext cx="2607259"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Tạo thư nháp, tạo/sửa file</a:t>
              </a:r>
            </a:p>
          </p:txBody>
        </p:sp>
        <p:sp>
          <p:nvSpPr>
            <p:cNvPr id="31" name="TextBox 31"/>
            <p:cNvSpPr txBox="1"/>
            <p:nvPr/>
          </p:nvSpPr>
          <p:spPr>
            <a:xfrm>
              <a:off x="4412742" y="3245168"/>
              <a:ext cx="1910074" cy="264033"/>
            </a:xfrm>
            <a:prstGeom prst="rect">
              <a:avLst/>
            </a:prstGeom>
            <a:noFill/>
            <a:ln>
              <a:noFill/>
            </a:ln>
          </p:spPr>
          <p:txBody>
            <a:bodyPr wrap="none" lIns="0" tIns="0" rIns="0" bIns="0" anchor="t" anchorCtr="0">
              <a:spAutoFit/>
            </a:bodyPr>
            <a:lstStyle/>
            <a:p>
              <a:pPr algn="l"/>
              <a:r>
                <a:rPr lang="vi-VN" sz="1350" dirty="0">
                  <a:solidFill>
                    <a:srgbClr val="5B6675"/>
                  </a:solidFill>
                  <a:latin typeface="+mn-lt"/>
                  <a:ea typeface="+mn-ea"/>
                  <a:cs typeface="+mn-cs"/>
                </a:rPr>
                <a:t>Rủi ro: ghi đè file gốc</a:t>
              </a:r>
            </a:p>
          </p:txBody>
        </p:sp>
      </p:grpSp>
      <p:grpSp>
        <p:nvGrpSpPr>
          <p:cNvPr id="40" name="Group 40"/>
          <p:cNvGrpSpPr/>
          <p:nvPr/>
        </p:nvGrpSpPr>
        <p:grpSpPr>
          <a:xfrm>
            <a:off x="8001000" y="2114550"/>
            <a:ext cx="3810000" cy="2000250"/>
            <a:chOff x="8001000" y="2114550"/>
            <a:chExt cx="3810000" cy="2000250"/>
          </a:xfrm>
        </p:grpSpPr>
        <p:sp>
          <p:nvSpPr>
            <p:cNvPr id="33" name="Rectangle 33"/>
            <p:cNvSpPr/>
            <p:nvPr/>
          </p:nvSpPr>
          <p:spPr>
            <a:xfrm>
              <a:off x="8001000" y="2114550"/>
              <a:ext cx="3810000" cy="2000250"/>
            </a:xfrm>
            <a:prstGeom prst="roundRect">
              <a:avLst>
                <a:gd name="adj" fmla="val 7619"/>
              </a:avLst>
            </a:prstGeom>
            <a:solidFill>
              <a:schemeClr val="lt1"/>
            </a:solidFill>
            <a:ln w="19050">
              <a:solidFill>
                <a:srgbClr val="C0392B"/>
              </a:solidFill>
            </a:ln>
          </p:spPr>
        </p:sp>
        <p:grpSp>
          <p:nvGrpSpPr>
            <p:cNvPr id="36" name="Group 36"/>
            <p:cNvGrpSpPr/>
            <p:nvPr/>
          </p:nvGrpSpPr>
          <p:grpSpPr>
            <a:xfrm>
              <a:off x="8259372" y="2319338"/>
              <a:ext cx="203591" cy="203591"/>
              <a:chOff x="8259372" y="2319338"/>
              <a:chExt cx="203591" cy="203591"/>
            </a:xfrm>
          </p:grpSpPr>
          <p:sp>
            <p:nvSpPr>
              <p:cNvPr id="34" name="Freeform 34"/>
              <p:cNvSpPr/>
              <p:nvPr/>
            </p:nvSpPr>
            <p:spPr>
              <a:xfrm>
                <a:off x="8340725" y="2319338"/>
                <a:ext cx="122238" cy="122238"/>
              </a:xfrm>
              <a:custGeom>
                <a:avLst/>
                <a:gdLst/>
                <a:ahLst/>
                <a:cxnLst/>
                <a:rect l="l" t="t" r="r" b="b"/>
                <a:pathLst>
                  <a:path w="122238" h="122238">
                    <a:moveTo>
                      <a:pt x="0" y="122238"/>
                    </a:moveTo>
                    <a:lnTo>
                      <a:pt x="122238" y="0"/>
                    </a:lnTo>
                  </a:path>
                </a:pathLst>
              </a:custGeom>
              <a:noFill/>
              <a:ln w="22225">
                <a:solidFill>
                  <a:srgbClr val="C0392B"/>
                </a:solidFill>
              </a:ln>
            </p:spPr>
          </p:sp>
          <p:sp>
            <p:nvSpPr>
              <p:cNvPr id="35" name="Freeform 35"/>
              <p:cNvSpPr/>
              <p:nvPr/>
            </p:nvSpPr>
            <p:spPr>
              <a:xfrm>
                <a:off x="8259372" y="2319338"/>
                <a:ext cx="203591" cy="203591"/>
              </a:xfrm>
              <a:custGeom>
                <a:avLst/>
                <a:gdLst/>
                <a:ahLst/>
                <a:cxnLst/>
                <a:rect l="l" t="t" r="r" b="b"/>
                <a:pathLst>
                  <a:path w="203591" h="203591">
                    <a:moveTo>
                      <a:pt x="203591" y="0"/>
                    </a:moveTo>
                    <a:lnTo>
                      <a:pt x="131360" y="200026"/>
                    </a:lnTo>
                    <a:cubicBezTo>
                      <a:pt x="130364" y="202198"/>
                      <a:pt x="128193" y="203591"/>
                      <a:pt x="125804" y="203591"/>
                    </a:cubicBezTo>
                    <a:cubicBezTo>
                      <a:pt x="123414" y="203591"/>
                      <a:pt x="121243" y="202198"/>
                      <a:pt x="120247" y="200026"/>
                    </a:cubicBezTo>
                    <a:lnTo>
                      <a:pt x="81353" y="122238"/>
                    </a:lnTo>
                    <a:lnTo>
                      <a:pt x="3566" y="83344"/>
                    </a:lnTo>
                    <a:cubicBezTo>
                      <a:pt x="1393" y="82348"/>
                      <a:pt x="0" y="80178"/>
                      <a:pt x="0" y="77788"/>
                    </a:cubicBezTo>
                    <a:cubicBezTo>
                      <a:pt x="0" y="75398"/>
                      <a:pt x="1393" y="73227"/>
                      <a:pt x="3566" y="72231"/>
                    </a:cubicBezTo>
                    <a:lnTo>
                      <a:pt x="203591" y="0"/>
                    </a:lnTo>
                  </a:path>
                </a:pathLst>
              </a:custGeom>
              <a:noFill/>
              <a:ln w="22225">
                <a:solidFill>
                  <a:srgbClr val="C0392B"/>
                </a:solidFill>
              </a:ln>
            </p:spPr>
          </p:sp>
        </p:grpSp>
        <p:sp>
          <p:nvSpPr>
            <p:cNvPr id="37" name="TextBox 37"/>
            <p:cNvSpPr txBox="1"/>
            <p:nvPr/>
          </p:nvSpPr>
          <p:spPr>
            <a:xfrm>
              <a:off x="8582406" y="2301240"/>
              <a:ext cx="1451171" cy="352044"/>
            </a:xfrm>
            <a:prstGeom prst="rect">
              <a:avLst/>
            </a:prstGeom>
            <a:noFill/>
            <a:ln>
              <a:noFill/>
            </a:ln>
          </p:spPr>
          <p:txBody>
            <a:bodyPr wrap="none" lIns="0" tIns="0" rIns="0" bIns="0" anchor="t" anchorCtr="0">
              <a:spAutoFit/>
            </a:bodyPr>
            <a:lstStyle/>
            <a:p>
              <a:pPr algn="l"/>
              <a:r>
                <a:rPr lang="vi-VN" sz="1800" b="1" dirty="0">
                  <a:solidFill>
                    <a:srgbClr val="C0392B"/>
                  </a:solidFill>
                  <a:latin typeface="+mn-lt"/>
                  <a:ea typeface="+mn-ea"/>
                  <a:cs typeface="+mn-cs"/>
                </a:rPr>
                <a:t>Gửi ra ngoài</a:t>
              </a:r>
            </a:p>
          </p:txBody>
        </p:sp>
        <p:sp>
          <p:nvSpPr>
            <p:cNvPr id="38" name="TextBox 38"/>
            <p:cNvSpPr txBox="1"/>
            <p:nvPr/>
          </p:nvSpPr>
          <p:spPr>
            <a:xfrm>
              <a:off x="8221980" y="2657475"/>
              <a:ext cx="1819199"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Gửi email, đăng bài</a:t>
              </a:r>
            </a:p>
          </p:txBody>
        </p:sp>
        <p:sp>
          <p:nvSpPr>
            <p:cNvPr id="39" name="TextBox 39"/>
            <p:cNvSpPr txBox="1"/>
            <p:nvPr/>
          </p:nvSpPr>
          <p:spPr>
            <a:xfrm>
              <a:off x="8222742" y="2959418"/>
              <a:ext cx="2367492" cy="264033"/>
            </a:xfrm>
            <a:prstGeom prst="rect">
              <a:avLst/>
            </a:prstGeom>
            <a:noFill/>
            <a:ln>
              <a:noFill/>
            </a:ln>
          </p:spPr>
          <p:txBody>
            <a:bodyPr wrap="none" lIns="0" tIns="0" rIns="0" bIns="0" anchor="t" anchorCtr="0">
              <a:spAutoFit/>
            </a:bodyPr>
            <a:lstStyle/>
            <a:p>
              <a:pPr algn="l"/>
              <a:r>
                <a:rPr lang="vi-VN" sz="1350" b="1" dirty="0">
                  <a:solidFill>
                    <a:srgbClr val="C0392B"/>
                  </a:solidFill>
                  <a:latin typeface="+mn-lt"/>
                  <a:ea typeface="+mn-ea"/>
                  <a:cs typeface="+mn-cs"/>
                </a:rPr>
                <a:t>Rủi ro: không rút lại được</a:t>
              </a:r>
            </a:p>
          </p:txBody>
        </p:sp>
      </p:grpSp>
      <p:grpSp>
        <p:nvGrpSpPr>
          <p:cNvPr id="54" name="Group 54"/>
          <p:cNvGrpSpPr/>
          <p:nvPr/>
        </p:nvGrpSpPr>
        <p:grpSpPr>
          <a:xfrm>
            <a:off x="374904" y="4271010"/>
            <a:ext cx="11436096" cy="1409891"/>
            <a:chOff x="374904" y="4271010"/>
            <a:chExt cx="11436096" cy="1409891"/>
          </a:xfrm>
        </p:grpSpPr>
        <p:sp>
          <p:nvSpPr>
            <p:cNvPr id="41" name="TextBox 41"/>
            <p:cNvSpPr txBox="1"/>
            <p:nvPr/>
          </p:nvSpPr>
          <p:spPr>
            <a:xfrm>
              <a:off x="374904" y="4271010"/>
              <a:ext cx="5661965"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MỨC QUYỀN CHO MỖI PLUGIN · SETTINGS → PLUGINS → TÊN PLUGIN → PERMISSION</a:t>
              </a:r>
            </a:p>
          </p:txBody>
        </p:sp>
        <p:sp>
          <p:nvSpPr>
            <p:cNvPr id="42" name="Rectangle 42"/>
            <p:cNvSpPr/>
            <p:nvPr/>
          </p:nvSpPr>
          <p:spPr>
            <a:xfrm>
              <a:off x="381000" y="4533900"/>
              <a:ext cx="2781300" cy="1104900"/>
            </a:xfrm>
            <a:prstGeom prst="roundRect">
              <a:avLst>
                <a:gd name="adj" fmla="val 12069"/>
              </a:avLst>
            </a:prstGeom>
            <a:solidFill>
              <a:srgbClr val="FCEBDD"/>
            </a:solidFill>
            <a:ln w="28575">
              <a:solidFill>
                <a:schemeClr val="accent2"/>
              </a:solidFill>
            </a:ln>
          </p:spPr>
        </p:sp>
        <p:sp>
          <p:nvSpPr>
            <p:cNvPr id="43" name="TextBox 43"/>
            <p:cNvSpPr txBox="1"/>
            <p:nvPr/>
          </p:nvSpPr>
          <p:spPr>
            <a:xfrm>
              <a:off x="563880" y="4676775"/>
              <a:ext cx="1124712"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Always ask</a:t>
              </a:r>
            </a:p>
          </p:txBody>
        </p:sp>
        <p:sp>
          <p:nvSpPr>
            <p:cNvPr id="44" name="TextBox 44"/>
            <p:cNvSpPr txBox="1"/>
            <p:nvPr/>
          </p:nvSpPr>
          <p:spPr>
            <a:xfrm>
              <a:off x="564642" y="4959668"/>
              <a:ext cx="2300002" cy="492633"/>
            </a:xfrm>
            <a:prstGeom prst="rect">
              <a:avLst/>
            </a:prstGeom>
            <a:noFill/>
            <a:ln>
              <a:noFill/>
            </a:ln>
          </p:spPr>
          <p:txBody>
            <a:bodyPr wrap="none" lIns="0" tIns="0" rIns="0" bIns="0" anchor="t" anchorCtr="0">
              <a:spAutoFit/>
            </a:bodyPr>
            <a:lstStyle/>
            <a:p>
              <a:pPr algn="l">
                <a:lnSpc>
                  <a:spcPts val="1800"/>
                </a:lnSpc>
              </a:pPr>
              <a:r>
                <a:rPr lang="vi-VN" sz="1350" dirty="0">
                  <a:solidFill>
                    <a:schemeClr val="dk1"/>
                  </a:solidFill>
                  <a:latin typeface="+mn-lt"/>
                  <a:ea typeface="+mn-ea"/>
                  <a:cs typeface="+mn-cs"/>
                </a:rPr>
                <a:t>Hỏi trước mọi hành động</a:t>
              </a:r>
              <a:br/>
              <a:r>
                <a:rPr lang="vi-VN" sz="1350" b="1" dirty="0">
                  <a:solidFill>
                    <a:schemeClr val="accent1"/>
                  </a:solidFill>
                  <a:latin typeface="+mn-lt"/>
                  <a:ea typeface="+mn-ea"/>
                  <a:cs typeface="+mn-cs"/>
                </a:rPr>
                <a:t>Mặc định cho Gmail khi học</a:t>
              </a:r>
            </a:p>
          </p:txBody>
        </p:sp>
        <p:sp>
          <p:nvSpPr>
            <p:cNvPr id="45" name="Rectangle 45"/>
            <p:cNvSpPr/>
            <p:nvPr/>
          </p:nvSpPr>
          <p:spPr>
            <a:xfrm>
              <a:off x="3257550" y="4533900"/>
              <a:ext cx="2781300" cy="1104900"/>
            </a:xfrm>
            <a:prstGeom prst="roundRect">
              <a:avLst>
                <a:gd name="adj" fmla="val 12069"/>
              </a:avLst>
            </a:prstGeom>
            <a:solidFill>
              <a:schemeClr val="lt1"/>
            </a:solidFill>
            <a:ln w="14288">
              <a:solidFill>
                <a:schemeClr val="accent4"/>
              </a:solidFill>
            </a:ln>
          </p:spPr>
        </p:sp>
        <p:sp>
          <p:nvSpPr>
            <p:cNvPr id="46" name="TextBox 46"/>
            <p:cNvSpPr txBox="1"/>
            <p:nvPr/>
          </p:nvSpPr>
          <p:spPr>
            <a:xfrm>
              <a:off x="3440430" y="4676775"/>
              <a:ext cx="1071372"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Allow read-only tools</a:t>
              </a:r>
            </a:p>
          </p:txBody>
        </p:sp>
        <p:sp>
          <p:nvSpPr>
            <p:cNvPr id="47" name="TextBox 47"/>
            <p:cNvSpPr txBox="1"/>
            <p:nvPr/>
          </p:nvSpPr>
          <p:spPr>
            <a:xfrm>
              <a:off x="3441192" y="4959668"/>
              <a:ext cx="2409999"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Tự đọc; ghi hoặc gửi thì hỏi</a:t>
              </a:r>
            </a:p>
          </p:txBody>
        </p:sp>
        <p:sp>
          <p:nvSpPr>
            <p:cNvPr id="48" name="Rectangle 48"/>
            <p:cNvSpPr/>
            <p:nvPr/>
          </p:nvSpPr>
          <p:spPr>
            <a:xfrm>
              <a:off x="6134100" y="4533900"/>
              <a:ext cx="2781300" cy="1104900"/>
            </a:xfrm>
            <a:prstGeom prst="roundRect">
              <a:avLst>
                <a:gd name="adj" fmla="val 12069"/>
              </a:avLst>
            </a:prstGeom>
            <a:solidFill>
              <a:schemeClr val="lt1"/>
            </a:solidFill>
            <a:ln w="14288">
              <a:solidFill>
                <a:schemeClr val="accent4"/>
              </a:solidFill>
            </a:ln>
          </p:spPr>
        </p:sp>
        <p:sp>
          <p:nvSpPr>
            <p:cNvPr id="49" name="TextBox 49"/>
            <p:cNvSpPr txBox="1"/>
            <p:nvPr/>
          </p:nvSpPr>
          <p:spPr>
            <a:xfrm>
              <a:off x="6316980" y="4676775"/>
              <a:ext cx="1474472"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Allow low-risk tools</a:t>
              </a:r>
            </a:p>
          </p:txBody>
        </p:sp>
        <p:sp>
          <p:nvSpPr>
            <p:cNvPr id="50" name="TextBox 50"/>
            <p:cNvSpPr txBox="1"/>
            <p:nvPr/>
          </p:nvSpPr>
          <p:spPr>
            <a:xfrm>
              <a:off x="6317742" y="4959668"/>
              <a:ext cx="1968246" cy="492633"/>
            </a:xfrm>
            <a:prstGeom prst="rect">
              <a:avLst/>
            </a:prstGeom>
            <a:noFill/>
            <a:ln>
              <a:noFill/>
            </a:ln>
          </p:spPr>
          <p:txBody>
            <a:bodyPr wrap="none" lIns="0" tIns="0" rIns="0" bIns="0" anchor="t" anchorCtr="0">
              <a:spAutoFit/>
            </a:bodyPr>
            <a:lstStyle/>
            <a:p>
              <a:pPr algn="l">
                <a:lnSpc>
                  <a:spcPts val="1800"/>
                </a:lnSpc>
              </a:pPr>
              <a:r>
                <a:rPr lang="vi-VN" sz="1350" dirty="0">
                  <a:solidFill>
                    <a:schemeClr val="dk1"/>
                  </a:solidFill>
                  <a:latin typeface="+mn-lt"/>
                  <a:ea typeface="+mn-ea"/>
                  <a:cs typeface="+mn-cs"/>
                </a:rPr>
                <a:t>Mặc định hiện nay. Tự làm việc</a:t>
              </a:r>
              <a:br/>
              <a:r>
                <a:rPr lang="vi-VN" sz="1350" dirty="0">
                  <a:solidFill>
                    <a:schemeClr val="dk1"/>
                  </a:solidFill>
                  <a:latin typeface="+mn-lt"/>
                  <a:ea typeface="+mn-ea"/>
                  <a:cs typeface="+mn-cs"/>
                </a:rPr>
                <a:t>rủi ro thấp, rủi ro cao thì hỏi</a:t>
              </a:r>
            </a:p>
          </p:txBody>
        </p:sp>
        <p:sp>
          <p:nvSpPr>
            <p:cNvPr id="51" name="Rectangle 51"/>
            <p:cNvSpPr/>
            <p:nvPr/>
          </p:nvSpPr>
          <p:spPr>
            <a:xfrm>
              <a:off x="9010650" y="4533900"/>
              <a:ext cx="2800350" cy="1104900"/>
            </a:xfrm>
            <a:prstGeom prst="roundRect">
              <a:avLst>
                <a:gd name="adj" fmla="val 12069"/>
              </a:avLst>
            </a:prstGeom>
            <a:solidFill>
              <a:schemeClr val="lt1"/>
            </a:solidFill>
            <a:ln w="14288">
              <a:solidFill>
                <a:srgbClr val="C0392B"/>
              </a:solidFill>
            </a:ln>
          </p:spPr>
        </p:sp>
        <p:sp>
          <p:nvSpPr>
            <p:cNvPr id="52" name="TextBox 52"/>
            <p:cNvSpPr txBox="1"/>
            <p:nvPr/>
          </p:nvSpPr>
          <p:spPr>
            <a:xfrm>
              <a:off x="9193530" y="4676775"/>
              <a:ext cx="847994" cy="293370"/>
            </a:xfrm>
            <a:prstGeom prst="rect">
              <a:avLst/>
            </a:prstGeom>
            <a:noFill/>
            <a:ln>
              <a:noFill/>
            </a:ln>
          </p:spPr>
          <p:txBody>
            <a:bodyPr wrap="none" lIns="0" tIns="0" rIns="0" bIns="0" anchor="t" anchorCtr="0">
              <a:spAutoFit/>
            </a:bodyPr>
            <a:lstStyle/>
            <a:p>
              <a:pPr algn="l"/>
              <a:r>
                <a:rPr lang="vi-VN" sz="1500" b="1" dirty="0" strike="sngStrike">
                  <a:solidFill>
                    <a:srgbClr val="C0392B"/>
                  </a:solidFill>
                  <a:latin typeface="+mn-lt"/>
                  <a:ea typeface="+mn-ea"/>
                  <a:cs typeface="+mn-cs"/>
                </a:rPr>
                <a:t>Allow all tools</a:t>
              </a:r>
            </a:p>
          </p:txBody>
        </p:sp>
        <p:sp>
          <p:nvSpPr>
            <p:cNvPr id="53" name="TextBox 53"/>
            <p:cNvSpPr txBox="1"/>
            <p:nvPr/>
          </p:nvSpPr>
          <p:spPr>
            <a:xfrm>
              <a:off x="9194292" y="4959668"/>
              <a:ext cx="1813941" cy="721233"/>
            </a:xfrm>
            <a:prstGeom prst="rect">
              <a:avLst/>
            </a:prstGeom>
            <a:noFill/>
            <a:ln>
              <a:noFill/>
            </a:ln>
          </p:spPr>
          <p:txBody>
            <a:bodyPr wrap="none" lIns="0" tIns="0" rIns="0" bIns="0" anchor="t" anchorCtr="0">
              <a:spAutoFit/>
            </a:bodyPr>
            <a:lstStyle/>
            <a:p>
              <a:pPr algn="l">
                <a:lnSpc>
                  <a:spcPts val="1800"/>
                </a:lnSpc>
              </a:pPr>
              <a:r>
                <a:rPr lang="vi-VN" sz="1350" dirty="0">
                  <a:solidFill>
                    <a:schemeClr val="dk1"/>
                  </a:solidFill>
                  <a:latin typeface="+mn-lt"/>
                  <a:ea typeface="+mn-ea"/>
                  <a:cs typeface="+mn-cs"/>
                </a:rPr>
                <a:t>Làm hết, không hỏi; ChatGPT</a:t>
              </a:r>
              <a:br/>
              <a:r>
                <a:rPr lang="vi-VN" sz="1350" dirty="0">
                  <a:solidFill>
                    <a:schemeClr val="dk1"/>
                  </a:solidFill>
                  <a:latin typeface="+mn-lt"/>
                  <a:ea typeface="+mn-ea"/>
                  <a:cs typeface="+mn-cs"/>
                </a:rPr>
                <a:t>gắn nhãn rủi ro cao. Không dùng</a:t>
              </a:r>
              <a:br/>
              <a:r>
                <a:rPr lang="vi-VN" sz="1350" dirty="0">
                  <a:solidFill>
                    <a:schemeClr val="dk1"/>
                  </a:solidFill>
                  <a:latin typeface="+mn-lt"/>
                  <a:ea typeface="+mn-ea"/>
                  <a:cs typeface="+mn-cs"/>
                </a:rPr>
                <a:t>cho Gmail, kênh gửi ra ngoài</a:t>
              </a:r>
            </a:p>
          </p:txBody>
        </p:sp>
      </p:grpSp>
      <p:grpSp>
        <p:nvGrpSpPr>
          <p:cNvPr id="61" name="Group 61"/>
          <p:cNvGrpSpPr/>
          <p:nvPr/>
        </p:nvGrpSpPr>
        <p:grpSpPr>
          <a:xfrm>
            <a:off x="420478" y="5853112"/>
            <a:ext cx="9471286" cy="339853"/>
            <a:chOff x="420478" y="5853112"/>
            <a:chExt cx="9471286" cy="339853"/>
          </a:xfrm>
        </p:grpSpPr>
        <p:grpSp>
          <p:nvGrpSpPr>
            <p:cNvPr id="59" name="Group 59"/>
            <p:cNvGrpSpPr/>
            <p:nvPr/>
          </p:nvGrpSpPr>
          <p:grpSpPr>
            <a:xfrm>
              <a:off x="420478" y="5853112"/>
              <a:ext cx="198647" cy="238130"/>
              <a:chOff x="420478" y="5853112"/>
              <a:chExt cx="198647" cy="238130"/>
            </a:xfrm>
          </p:grpSpPr>
          <p:sp>
            <p:nvSpPr>
              <p:cNvPr id="55" name="Freeform 55"/>
              <p:cNvSpPr/>
              <p:nvPr/>
            </p:nvSpPr>
            <p:spPr>
              <a:xfrm>
                <a:off x="476250" y="5876925"/>
                <a:ext cx="35719" cy="107156"/>
              </a:xfrm>
              <a:custGeom>
                <a:avLst/>
                <a:gdLst/>
                <a:ahLst/>
                <a:cxnLst/>
                <a:rect l="l" t="t" r="r" b="b"/>
                <a:pathLst>
                  <a:path w="35719" h="107156">
                    <a:moveTo>
                      <a:pt x="0" y="107156"/>
                    </a:moveTo>
                    <a:lnTo>
                      <a:pt x="0" y="17859"/>
                    </a:lnTo>
                    <a:cubicBezTo>
                      <a:pt x="0" y="7996"/>
                      <a:pt x="7996" y="0"/>
                      <a:pt x="17859" y="0"/>
                    </a:cubicBezTo>
                    <a:cubicBezTo>
                      <a:pt x="27723" y="0"/>
                      <a:pt x="35719" y="7996"/>
                      <a:pt x="35719" y="17859"/>
                    </a:cubicBezTo>
                    <a:lnTo>
                      <a:pt x="35719" y="95250"/>
                    </a:lnTo>
                  </a:path>
                </a:pathLst>
              </a:custGeom>
              <a:noFill/>
              <a:ln w="23812">
                <a:solidFill>
                  <a:srgbClr val="C0392B"/>
                </a:solidFill>
              </a:ln>
            </p:spPr>
          </p:sp>
          <p:sp>
            <p:nvSpPr>
              <p:cNvPr id="56" name="Freeform 56"/>
              <p:cNvSpPr/>
              <p:nvPr/>
            </p:nvSpPr>
            <p:spPr>
              <a:xfrm>
                <a:off x="511969" y="5853112"/>
                <a:ext cx="35719" cy="119062"/>
              </a:xfrm>
              <a:custGeom>
                <a:avLst/>
                <a:gdLst/>
                <a:ahLst/>
                <a:cxnLst/>
                <a:rect l="l" t="t" r="r" b="b"/>
                <a:pathLst>
                  <a:path w="35719" h="119062">
                    <a:moveTo>
                      <a:pt x="0" y="41672"/>
                    </a:moveTo>
                    <a:lnTo>
                      <a:pt x="0" y="17859"/>
                    </a:lnTo>
                    <a:cubicBezTo>
                      <a:pt x="0" y="7996"/>
                      <a:pt x="7996" y="0"/>
                      <a:pt x="17859" y="0"/>
                    </a:cubicBezTo>
                    <a:cubicBezTo>
                      <a:pt x="27723" y="0"/>
                      <a:pt x="35719" y="7996"/>
                      <a:pt x="35719" y="17859"/>
                    </a:cubicBezTo>
                    <a:lnTo>
                      <a:pt x="35719" y="119062"/>
                    </a:lnTo>
                  </a:path>
                </a:pathLst>
              </a:custGeom>
              <a:noFill/>
              <a:ln w="23812">
                <a:solidFill>
                  <a:srgbClr val="C0392B"/>
                </a:solidFill>
              </a:ln>
            </p:spPr>
          </p:sp>
          <p:sp>
            <p:nvSpPr>
              <p:cNvPr id="57" name="Freeform 57"/>
              <p:cNvSpPr/>
              <p:nvPr/>
            </p:nvSpPr>
            <p:spPr>
              <a:xfrm>
                <a:off x="547688" y="5876925"/>
                <a:ext cx="35719" cy="95250"/>
              </a:xfrm>
              <a:custGeom>
                <a:avLst/>
                <a:gdLst/>
                <a:ahLst/>
                <a:cxnLst/>
                <a:rect l="l" t="t" r="r" b="b"/>
                <a:pathLst>
                  <a:path w="35719" h="95250">
                    <a:moveTo>
                      <a:pt x="0" y="17859"/>
                    </a:moveTo>
                    <a:cubicBezTo>
                      <a:pt x="0" y="7996"/>
                      <a:pt x="7996" y="0"/>
                      <a:pt x="17859" y="0"/>
                    </a:cubicBezTo>
                    <a:cubicBezTo>
                      <a:pt x="27723" y="0"/>
                      <a:pt x="35719" y="7996"/>
                      <a:pt x="35719" y="17859"/>
                    </a:cubicBezTo>
                    <a:lnTo>
                      <a:pt x="35719" y="95250"/>
                    </a:lnTo>
                  </a:path>
                </a:pathLst>
              </a:custGeom>
              <a:noFill/>
              <a:ln w="23812">
                <a:solidFill>
                  <a:srgbClr val="C0392B"/>
                </a:solidFill>
              </a:ln>
            </p:spPr>
          </p:sp>
          <p:sp>
            <p:nvSpPr>
              <p:cNvPr id="58" name="Freeform 58"/>
              <p:cNvSpPr/>
              <p:nvPr/>
            </p:nvSpPr>
            <p:spPr>
              <a:xfrm>
                <a:off x="420478" y="5900738"/>
                <a:ext cx="198647" cy="190504"/>
              </a:xfrm>
              <a:custGeom>
                <a:avLst/>
                <a:gdLst/>
                <a:ahLst/>
                <a:cxnLst/>
                <a:rect l="l" t="t" r="r" b="b"/>
                <a:pathLst>
                  <a:path w="198647" h="190504">
                    <a:moveTo>
                      <a:pt x="162929" y="17859"/>
                    </a:moveTo>
                    <a:cubicBezTo>
                      <a:pt x="162929" y="7996"/>
                      <a:pt x="170925" y="0"/>
                      <a:pt x="180788" y="0"/>
                    </a:cubicBezTo>
                    <a:cubicBezTo>
                      <a:pt x="190651" y="0"/>
                      <a:pt x="198647" y="7996"/>
                      <a:pt x="198647" y="17859"/>
                    </a:cubicBezTo>
                    <a:lnTo>
                      <a:pt x="198647" y="119062"/>
                    </a:lnTo>
                    <a:cubicBezTo>
                      <a:pt x="198647" y="158516"/>
                      <a:pt x="166664" y="190500"/>
                      <a:pt x="127210" y="190500"/>
                    </a:cubicBezTo>
                    <a:lnTo>
                      <a:pt x="103397" y="190500"/>
                    </a:lnTo>
                    <a:lnTo>
                      <a:pt x="105874" y="190500"/>
                    </a:lnTo>
                    <a:cubicBezTo>
                      <a:pt x="81842" y="190504"/>
                      <a:pt x="59418" y="178424"/>
                      <a:pt x="46200" y="158353"/>
                    </a:cubicBezTo>
                    <a:cubicBezTo>
                      <a:pt x="45419" y="157165"/>
                      <a:pt x="44641" y="155974"/>
                      <a:pt x="43866" y="154781"/>
                    </a:cubicBezTo>
                    <a:cubicBezTo>
                      <a:pt x="40151" y="149078"/>
                      <a:pt x="27114" y="126349"/>
                      <a:pt x="4742" y="86582"/>
                    </a:cubicBezTo>
                    <a:cubicBezTo>
                      <a:pt x="0" y="78153"/>
                      <a:pt x="2829" y="67481"/>
                      <a:pt x="11124" y="62508"/>
                    </a:cubicBezTo>
                    <a:cubicBezTo>
                      <a:pt x="19866" y="57262"/>
                      <a:pt x="31057" y="58636"/>
                      <a:pt x="38270" y="65842"/>
                    </a:cubicBezTo>
                    <a:lnTo>
                      <a:pt x="55772" y="83344"/>
                    </a:lnTo>
                  </a:path>
                </a:pathLst>
              </a:custGeom>
              <a:noFill/>
              <a:ln w="23812">
                <a:solidFill>
                  <a:srgbClr val="C0392B"/>
                </a:solidFill>
              </a:ln>
            </p:spPr>
          </p:sp>
        </p:grpSp>
        <p:sp>
          <p:nvSpPr>
            <p:cNvPr id="60" name="TextBox 60"/>
            <p:cNvSpPr txBox="1"/>
            <p:nvPr/>
          </p:nvSpPr>
          <p:spPr>
            <a:xfrm>
              <a:off x="772668" y="5870258"/>
              <a:ext cx="9119096"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Khi ChatGPT hỏi duyệt: </a:t>
              </a:r>
              <a:r>
                <a:rPr lang="vi-VN" sz="1650" b="1" dirty="0">
                  <a:solidFill>
                    <a:srgbClr val="C0392B"/>
                  </a:solidFill>
                  <a:latin typeface="+mn-lt"/>
                  <a:ea typeface="+mn-ea"/>
                  <a:cs typeface="+mn-cs"/>
                </a:rPr>
                <a:t>không bấm “Always allow”</a:t>
              </a:r>
              <a:r>
                <a:rPr lang="vi-VN" sz="1650" dirty="0">
                  <a:solidFill>
                    <a:schemeClr val="dk1"/>
                  </a:solidFill>
                  <a:latin typeface="+mn-lt"/>
                  <a:ea typeface="+mn-ea"/>
                  <a:cs typeface="+mn-cs"/>
                </a:rPr>
                <a:t> — bấm là bỏ luôn chốt người duyệt.</a:t>
              </a:r>
            </a:p>
          </p:txBody>
        </p:sp>
      </p:grpSp>
      <p:sp>
        <p:nvSpPr>
          <p:cNvPr id="62" name="TextBox 62"/>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63" name="TextBox 63"/>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28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4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up)">
                                      <p:cBhvr>
                                        <p:cTn id="12" dur="4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wipe(up)">
                                      <p:cBhvr>
                                        <p:cTn id="17" dur="400"/>
                                        <p:tgtEl>
                                          <p:spTgt spid="4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400"/>
                                        <p:tgtEl>
                                          <p:spTgt spid="5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1738041" cy="234696"/>
            <a:chOff x="381000" y="346710"/>
            <a:chExt cx="1738041" cy="234696"/>
          </a:xfrm>
        </p:grpSpPr>
        <p:sp>
          <p:nvSpPr>
            <p:cNvPr id="2" name="Rectangle 2"/>
            <p:cNvSpPr/>
            <p:nvPr/>
          </p:nvSpPr>
          <p:spPr>
            <a:xfrm>
              <a:off x="381000" y="361950"/>
              <a:ext cx="114300" cy="114300"/>
            </a:xfrm>
            <a:prstGeom prst="roundRect">
              <a:avLst>
                <a:gd name="adj" fmla="val 25000"/>
              </a:avLst>
            </a:prstGeom>
            <a:solidFill>
              <a:schemeClr val="accent1"/>
            </a:solidFill>
            <a:ln>
              <a:noFill/>
            </a:ln>
          </p:spPr>
        </p:sp>
        <p:sp>
          <p:nvSpPr>
            <p:cNvPr id="3" name="TextBox 3"/>
            <p:cNvSpPr txBox="1"/>
            <p:nvPr/>
          </p:nvSpPr>
          <p:spPr>
            <a:xfrm>
              <a:off x="584454" y="346710"/>
              <a:ext cx="1534587"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4 · PLUGIN</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chemeClr val="accent2"/>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3715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11037380"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Nối tài khoản cá nhân, đọc hết quyền trước khi đồng ý,</a:t>
            </a:r>
            <a:br/>
            <a:r>
              <a:rPr lang="vi-VN" sz="3150" b="1" dirty="0">
                <a:solidFill>
                  <a:schemeClr val="accent1"/>
                </a:solidFill>
                <a:latin typeface="+mn-lt"/>
                <a:ea typeface="+mn-ea"/>
                <a:cs typeface="+mn-cs"/>
              </a:rPr>
              <a:t>gỡ quyền ngay tối hôm đó</a:t>
            </a:r>
          </a:p>
        </p:txBody>
      </p:sp>
      <p:grpSp>
        <p:nvGrpSpPr>
          <p:cNvPr id="18" name="Group 18"/>
          <p:cNvGrpSpPr/>
          <p:nvPr/>
        </p:nvGrpSpPr>
        <p:grpSpPr>
          <a:xfrm>
            <a:off x="533400" y="2257425"/>
            <a:ext cx="11125200" cy="9525"/>
            <a:chOff x="533400" y="2257425"/>
            <a:chExt cx="11125200" cy="9525"/>
          </a:xfrm>
        </p:grpSpPr>
        <p:sp>
          <p:nvSpPr>
            <p:cNvPr id="17" name="Line 17"/>
            <p:cNvSpPr/>
            <p:nvPr/>
          </p:nvSpPr>
          <p:spPr>
            <a:xfrm>
              <a:off x="533400" y="2257425"/>
              <a:ext cx="11125200" cy="9525"/>
            </a:xfrm>
            <a:custGeom>
              <a:avLst/>
              <a:gdLst/>
              <a:ahLst/>
              <a:cxnLst/>
              <a:rect l="l" t="t" r="r" b="b"/>
              <a:pathLst>
                <a:path w="11125200" h="9525">
                  <a:moveTo>
                    <a:pt x="0" y="0"/>
                  </a:moveTo>
                  <a:lnTo>
                    <a:pt x="11125200" y="0"/>
                  </a:lnTo>
                </a:path>
              </a:pathLst>
            </a:custGeom>
            <a:noFill/>
            <a:ln w="19050">
              <a:solidFill>
                <a:schemeClr val="accent4"/>
              </a:solidFill>
            </a:ln>
          </p:spPr>
        </p:sp>
      </p:grpSp>
      <p:grpSp>
        <p:nvGrpSpPr>
          <p:cNvPr id="32" name="Group 32"/>
          <p:cNvGrpSpPr/>
          <p:nvPr/>
        </p:nvGrpSpPr>
        <p:grpSpPr>
          <a:xfrm>
            <a:off x="381000" y="2114550"/>
            <a:ext cx="3657600" cy="3771900"/>
            <a:chOff x="381000" y="2114550"/>
            <a:chExt cx="3657600" cy="3771900"/>
          </a:xfrm>
        </p:grpSpPr>
        <p:sp>
          <p:nvSpPr>
            <p:cNvPr id="19" name="Ellipse 19"/>
            <p:cNvSpPr/>
            <p:nvPr/>
          </p:nvSpPr>
          <p:spPr>
            <a:xfrm>
              <a:off x="438150" y="2162175"/>
              <a:ext cx="190500" cy="190500"/>
            </a:xfrm>
            <a:prstGeom prst="ellipse">
              <a:avLst/>
            </a:prstGeom>
            <a:solidFill>
              <a:schemeClr val="accent1"/>
            </a:solidFill>
            <a:ln>
              <a:noFill/>
            </a:ln>
          </p:spPr>
        </p:sp>
        <p:sp>
          <p:nvSpPr>
            <p:cNvPr id="20" name="Rectangle 20"/>
            <p:cNvSpPr/>
            <p:nvPr/>
          </p:nvSpPr>
          <p:spPr>
            <a:xfrm>
              <a:off x="723900" y="2114550"/>
              <a:ext cx="1600200" cy="285750"/>
            </a:xfrm>
            <a:prstGeom prst="rect">
              <a:avLst/>
            </a:prstGeom>
            <a:solidFill>
              <a:schemeClr val="lt1"/>
            </a:solidFill>
            <a:ln>
              <a:noFill/>
            </a:ln>
          </p:spPr>
        </p:sp>
        <p:sp>
          <p:nvSpPr>
            <p:cNvPr id="21" name="TextBox 21"/>
            <p:cNvSpPr txBox="1"/>
            <p:nvPr/>
          </p:nvSpPr>
          <p:spPr>
            <a:xfrm>
              <a:off x="752856" y="2139315"/>
              <a:ext cx="1591095" cy="352044"/>
            </a:xfrm>
            <a:prstGeom prst="rect">
              <a:avLst/>
            </a:prstGeom>
            <a:noFill/>
            <a:ln>
              <a:noFill/>
            </a:ln>
          </p:spPr>
          <p:txBody>
            <a:bodyPr wrap="none" lIns="0" tIns="0" rIns="0" bIns="0" anchor="t" anchorCtr="0">
              <a:spAutoFit/>
            </a:bodyPr>
            <a:lstStyle/>
            <a:p>
              <a:pPr algn="l"/>
              <a:r>
                <a:rPr lang="vi-VN" sz="1800" b="1" dirty="0">
                  <a:solidFill>
                    <a:schemeClr val="accent1"/>
                  </a:solidFill>
                  <a:latin typeface="+mn-lt"/>
                  <a:ea typeface="+mn-ea"/>
                  <a:cs typeface="+mn-cs"/>
                </a:rPr>
                <a:t>Trước khi nối</a:t>
              </a:r>
            </a:p>
          </p:txBody>
        </p:sp>
        <p:sp>
          <p:nvSpPr>
            <p:cNvPr id="22" name="Rectangle 22"/>
            <p:cNvSpPr/>
            <p:nvPr/>
          </p:nvSpPr>
          <p:spPr>
            <a:xfrm>
              <a:off x="381000" y="2552700"/>
              <a:ext cx="3657600" cy="3333750"/>
            </a:xfrm>
            <a:prstGeom prst="roundRect">
              <a:avLst>
                <a:gd name="adj" fmla="val 4571"/>
              </a:avLst>
            </a:prstGeom>
            <a:solidFill>
              <a:schemeClr val="lt2"/>
            </a:solidFill>
            <a:ln>
              <a:noFill/>
            </a:ln>
          </p:spPr>
        </p:sp>
        <p:sp>
          <p:nvSpPr>
            <p:cNvPr id="23" name="Rectangle 23"/>
            <p:cNvSpPr/>
            <p:nvPr/>
          </p:nvSpPr>
          <p:spPr>
            <a:xfrm>
              <a:off x="609600" y="2800350"/>
              <a:ext cx="190500" cy="190500"/>
            </a:xfrm>
            <a:prstGeom prst="roundRect">
              <a:avLst>
                <a:gd name="adj" fmla="val 25000"/>
              </a:avLst>
            </a:prstGeom>
            <a:solidFill>
              <a:schemeClr val="lt1"/>
            </a:solidFill>
            <a:ln w="19050">
              <a:solidFill>
                <a:schemeClr val="accent1"/>
              </a:solidFill>
            </a:ln>
          </p:spPr>
        </p:sp>
        <p:sp>
          <p:nvSpPr>
            <p:cNvPr id="24" name="TextBox 24"/>
            <p:cNvSpPr txBox="1"/>
            <p:nvPr/>
          </p:nvSpPr>
          <p:spPr>
            <a:xfrm>
              <a:off x="944880" y="2800350"/>
              <a:ext cx="2291715" cy="54102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Đăng xuất Google công ty</a:t>
              </a:r>
              <a:br/>
              <a:r>
                <a:rPr lang="vi-VN" sz="1500" dirty="0">
                  <a:solidFill>
                    <a:schemeClr val="dk1"/>
                  </a:solidFill>
                  <a:latin typeface="+mn-lt"/>
                  <a:ea typeface="+mn-ea"/>
                  <a:cs typeface="+mn-cs"/>
                </a:rPr>
                <a:t>trên trình duyệt</a:t>
              </a:r>
            </a:p>
          </p:txBody>
        </p:sp>
        <p:sp>
          <p:nvSpPr>
            <p:cNvPr id="25" name="Rectangle 25"/>
            <p:cNvSpPr/>
            <p:nvPr/>
          </p:nvSpPr>
          <p:spPr>
            <a:xfrm>
              <a:off x="533400" y="3448050"/>
              <a:ext cx="3352800" cy="742950"/>
            </a:xfrm>
            <a:prstGeom prst="roundRect">
              <a:avLst>
                <a:gd name="adj" fmla="val 15385"/>
              </a:avLst>
            </a:prstGeom>
            <a:solidFill>
              <a:schemeClr val="lt1"/>
            </a:solidFill>
            <a:ln w="19050">
              <a:solidFill>
                <a:srgbClr val="C0392B"/>
              </a:solidFill>
            </a:ln>
          </p:spPr>
        </p:sp>
        <p:grpSp>
          <p:nvGrpSpPr>
            <p:cNvPr id="28" name="Group 28"/>
            <p:cNvGrpSpPr/>
            <p:nvPr/>
          </p:nvGrpSpPr>
          <p:grpSpPr>
            <a:xfrm>
              <a:off x="635794" y="3626644"/>
              <a:ext cx="157163" cy="157163"/>
              <a:chOff x="635794" y="3626644"/>
              <a:chExt cx="157163" cy="157163"/>
            </a:xfrm>
          </p:grpSpPr>
          <p:sp>
            <p:nvSpPr>
              <p:cNvPr id="26" name="Freeform 26"/>
              <p:cNvSpPr/>
              <p:nvPr/>
            </p:nvSpPr>
            <p:spPr>
              <a:xfrm>
                <a:off x="635794" y="3626644"/>
                <a:ext cx="157163" cy="157163"/>
              </a:xfrm>
              <a:custGeom>
                <a:avLst/>
                <a:gdLst/>
                <a:ahLst/>
                <a:cxnLst/>
                <a:rect l="l" t="t" r="r" b="b"/>
                <a:pathLst>
                  <a:path w="157163" h="157163">
                    <a:moveTo>
                      <a:pt x="0" y="78581"/>
                    </a:moveTo>
                    <a:cubicBezTo>
                      <a:pt x="0" y="121981"/>
                      <a:pt x="35182" y="157163"/>
                      <a:pt x="78581" y="157163"/>
                    </a:cubicBezTo>
                    <a:cubicBezTo>
                      <a:pt x="121981" y="157163"/>
                      <a:pt x="157163" y="121981"/>
                      <a:pt x="157163" y="78581"/>
                    </a:cubicBezTo>
                    <a:cubicBezTo>
                      <a:pt x="157163" y="35182"/>
                      <a:pt x="121981" y="0"/>
                      <a:pt x="78581" y="0"/>
                    </a:cubicBezTo>
                    <a:cubicBezTo>
                      <a:pt x="35182" y="0"/>
                      <a:pt x="0" y="35182"/>
                      <a:pt x="0" y="78581"/>
                    </a:cubicBezTo>
                  </a:path>
                </a:pathLst>
              </a:custGeom>
              <a:noFill/>
              <a:ln w="17463">
                <a:solidFill>
                  <a:srgbClr val="C0392B"/>
                </a:solidFill>
              </a:ln>
            </p:spPr>
          </p:sp>
          <p:sp>
            <p:nvSpPr>
              <p:cNvPr id="27" name="Freeform 27"/>
              <p:cNvSpPr/>
              <p:nvPr/>
            </p:nvSpPr>
            <p:spPr>
              <a:xfrm>
                <a:off x="659368" y="3650218"/>
                <a:ext cx="110014" cy="110014"/>
              </a:xfrm>
              <a:custGeom>
                <a:avLst/>
                <a:gdLst/>
                <a:ahLst/>
                <a:cxnLst/>
                <a:rect l="l" t="t" r="r" b="b"/>
                <a:pathLst>
                  <a:path w="110014" h="110014">
                    <a:moveTo>
                      <a:pt x="0" y="0"/>
                    </a:moveTo>
                    <a:lnTo>
                      <a:pt x="110014" y="110014"/>
                    </a:lnTo>
                  </a:path>
                </a:pathLst>
              </a:custGeom>
              <a:noFill/>
              <a:ln w="17463">
                <a:solidFill>
                  <a:srgbClr val="C0392B"/>
                </a:solidFill>
              </a:ln>
            </p:spPr>
          </p:sp>
        </p:grpSp>
        <p:sp>
          <p:nvSpPr>
            <p:cNvPr id="29" name="TextBox 29"/>
            <p:cNvSpPr txBox="1"/>
            <p:nvPr/>
          </p:nvSpPr>
          <p:spPr>
            <a:xfrm>
              <a:off x="944880" y="3600450"/>
              <a:ext cx="2795588" cy="541020"/>
            </a:xfrm>
            <a:prstGeom prst="rect">
              <a:avLst/>
            </a:prstGeom>
            <a:noFill/>
            <a:ln>
              <a:noFill/>
            </a:ln>
          </p:spPr>
          <p:txBody>
            <a:bodyPr wrap="none" lIns="0" tIns="0" rIns="0" bIns="0" anchor="t" anchorCtr="0">
              <a:spAutoFit/>
            </a:bodyPr>
            <a:lstStyle/>
            <a:p>
              <a:pPr algn="l">
                <a:lnSpc>
                  <a:spcPts val="1950"/>
                </a:lnSpc>
              </a:pPr>
              <a:r>
                <a:rPr lang="vi-VN" sz="1500" b="1" dirty="0">
                  <a:solidFill>
                    <a:srgbClr val="C0392B"/>
                  </a:solidFill>
                  <a:latin typeface="+mn-lt"/>
                  <a:ea typeface="+mn-ea"/>
                  <a:cs typeface="+mn-cs"/>
                </a:rPr>
                <a:t>Không nối hộp thư công ty</a:t>
              </a:r>
              <a:br/>
              <a:r>
                <a:rPr lang="vi-VN" sz="1500" b="1" dirty="0">
                  <a:solidFill>
                    <a:srgbClr val="C0392B"/>
                  </a:solidFill>
                  <a:latin typeface="+mn-lt"/>
                  <a:ea typeface="+mn-ea"/>
                  <a:cs typeface="+mn-cs"/>
                </a:rPr>
                <a:t>khi đang học (quy định cứng)</a:t>
              </a:r>
            </a:p>
          </p:txBody>
        </p:sp>
        <p:sp>
          <p:nvSpPr>
            <p:cNvPr id="30" name="Rectangle 30"/>
            <p:cNvSpPr/>
            <p:nvPr/>
          </p:nvSpPr>
          <p:spPr>
            <a:xfrm>
              <a:off x="609600" y="4400550"/>
              <a:ext cx="190500" cy="190500"/>
            </a:xfrm>
            <a:prstGeom prst="roundRect">
              <a:avLst>
                <a:gd name="adj" fmla="val 25000"/>
              </a:avLst>
            </a:prstGeom>
            <a:solidFill>
              <a:schemeClr val="lt1"/>
            </a:solidFill>
            <a:ln w="19050">
              <a:solidFill>
                <a:schemeClr val="accent1"/>
              </a:solidFill>
            </a:ln>
          </p:spPr>
        </p:sp>
        <p:sp>
          <p:nvSpPr>
            <p:cNvPr id="31" name="TextBox 31"/>
            <p:cNvSpPr txBox="1"/>
            <p:nvPr/>
          </p:nvSpPr>
          <p:spPr>
            <a:xfrm>
              <a:off x="944880" y="4400550"/>
              <a:ext cx="2358390" cy="54102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Đã nối nhiều tài khoản thì</a:t>
              </a:r>
              <a:br/>
              <a:r>
                <a:rPr lang="vi-VN" sz="1500" dirty="0">
                  <a:solidFill>
                    <a:schemeClr val="dk1"/>
                  </a:solidFill>
                  <a:latin typeface="+mn-lt"/>
                  <a:ea typeface="+mn-ea"/>
                  <a:cs typeface="+mn-cs"/>
                </a:rPr>
                <a:t>kiểm tra kỹ</a:t>
              </a:r>
            </a:p>
          </p:txBody>
        </p:sp>
      </p:grpSp>
      <p:grpSp>
        <p:nvGrpSpPr>
          <p:cNvPr id="43" name="Group 43"/>
          <p:cNvGrpSpPr/>
          <p:nvPr/>
        </p:nvGrpSpPr>
        <p:grpSpPr>
          <a:xfrm>
            <a:off x="4267200" y="2114550"/>
            <a:ext cx="3657600" cy="3771900"/>
            <a:chOff x="4267200" y="2114550"/>
            <a:chExt cx="3657600" cy="3771900"/>
          </a:xfrm>
        </p:grpSpPr>
        <p:sp>
          <p:nvSpPr>
            <p:cNvPr id="33" name="Ellipse 33"/>
            <p:cNvSpPr/>
            <p:nvPr/>
          </p:nvSpPr>
          <p:spPr>
            <a:xfrm>
              <a:off x="4324350" y="2162175"/>
              <a:ext cx="190500" cy="190500"/>
            </a:xfrm>
            <a:prstGeom prst="ellipse">
              <a:avLst/>
            </a:prstGeom>
            <a:solidFill>
              <a:schemeClr val="accent1"/>
            </a:solidFill>
            <a:ln>
              <a:noFill/>
            </a:ln>
          </p:spPr>
        </p:sp>
        <p:sp>
          <p:nvSpPr>
            <p:cNvPr id="34" name="Rectangle 34"/>
            <p:cNvSpPr/>
            <p:nvPr/>
          </p:nvSpPr>
          <p:spPr>
            <a:xfrm>
              <a:off x="4610100" y="2114550"/>
              <a:ext cx="1676400" cy="285750"/>
            </a:xfrm>
            <a:prstGeom prst="rect">
              <a:avLst/>
            </a:prstGeom>
            <a:solidFill>
              <a:schemeClr val="lt1"/>
            </a:solidFill>
            <a:ln>
              <a:noFill/>
            </a:ln>
          </p:spPr>
        </p:sp>
        <p:sp>
          <p:nvSpPr>
            <p:cNvPr id="35" name="TextBox 35"/>
            <p:cNvSpPr txBox="1"/>
            <p:nvPr/>
          </p:nvSpPr>
          <p:spPr>
            <a:xfrm>
              <a:off x="4639056" y="2139315"/>
              <a:ext cx="1655031" cy="352044"/>
            </a:xfrm>
            <a:prstGeom prst="rect">
              <a:avLst/>
            </a:prstGeom>
            <a:noFill/>
            <a:ln>
              <a:noFill/>
            </a:ln>
          </p:spPr>
          <p:txBody>
            <a:bodyPr wrap="none" lIns="0" tIns="0" rIns="0" bIns="0" anchor="t" anchorCtr="0">
              <a:spAutoFit/>
            </a:bodyPr>
            <a:lstStyle/>
            <a:p>
              <a:pPr algn="l"/>
              <a:r>
                <a:rPr lang="vi-VN" sz="1800" b="1" dirty="0">
                  <a:solidFill>
                    <a:schemeClr val="accent1"/>
                  </a:solidFill>
                  <a:latin typeface="+mn-lt"/>
                  <a:ea typeface="+mn-ea"/>
                  <a:cs typeface="+mn-cs"/>
                </a:rPr>
                <a:t>Khi cấp quyền</a:t>
              </a:r>
            </a:p>
          </p:txBody>
        </p:sp>
        <p:sp>
          <p:nvSpPr>
            <p:cNvPr id="36" name="Rectangle 36"/>
            <p:cNvSpPr/>
            <p:nvPr/>
          </p:nvSpPr>
          <p:spPr>
            <a:xfrm>
              <a:off x="4267200" y="2552700"/>
              <a:ext cx="3657600" cy="3333750"/>
            </a:xfrm>
            <a:prstGeom prst="roundRect">
              <a:avLst>
                <a:gd name="adj" fmla="val 4571"/>
              </a:avLst>
            </a:prstGeom>
            <a:solidFill>
              <a:schemeClr val="lt2"/>
            </a:solidFill>
            <a:ln>
              <a:noFill/>
            </a:ln>
          </p:spPr>
        </p:sp>
        <p:sp>
          <p:nvSpPr>
            <p:cNvPr id="37" name="Rectangle 37"/>
            <p:cNvSpPr/>
            <p:nvPr/>
          </p:nvSpPr>
          <p:spPr>
            <a:xfrm>
              <a:off x="4495800" y="2800350"/>
              <a:ext cx="190500" cy="190500"/>
            </a:xfrm>
            <a:prstGeom prst="roundRect">
              <a:avLst>
                <a:gd name="adj" fmla="val 25000"/>
              </a:avLst>
            </a:prstGeom>
            <a:solidFill>
              <a:schemeClr val="lt1"/>
            </a:solidFill>
            <a:ln w="19050">
              <a:solidFill>
                <a:schemeClr val="accent1"/>
              </a:solidFill>
            </a:ln>
          </p:spPr>
        </p:sp>
        <p:sp>
          <p:nvSpPr>
            <p:cNvPr id="38" name="TextBox 38"/>
            <p:cNvSpPr txBox="1"/>
            <p:nvPr/>
          </p:nvSpPr>
          <p:spPr>
            <a:xfrm>
              <a:off x="4831080" y="2800350"/>
              <a:ext cx="2374733"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Đọc hết danh sách quyền</a:t>
              </a:r>
            </a:p>
          </p:txBody>
        </p:sp>
        <p:sp>
          <p:nvSpPr>
            <p:cNvPr id="39" name="Rectangle 39"/>
            <p:cNvSpPr/>
            <p:nvPr/>
          </p:nvSpPr>
          <p:spPr>
            <a:xfrm>
              <a:off x="4495800" y="3295650"/>
              <a:ext cx="190500" cy="190500"/>
            </a:xfrm>
            <a:prstGeom prst="roundRect">
              <a:avLst>
                <a:gd name="adj" fmla="val 25000"/>
              </a:avLst>
            </a:prstGeom>
            <a:solidFill>
              <a:schemeClr val="lt1"/>
            </a:solidFill>
            <a:ln w="19050">
              <a:solidFill>
                <a:schemeClr val="accent1"/>
              </a:solidFill>
            </a:ln>
          </p:spPr>
        </p:sp>
        <p:sp>
          <p:nvSpPr>
            <p:cNvPr id="40" name="TextBox 40"/>
            <p:cNvSpPr txBox="1"/>
            <p:nvPr/>
          </p:nvSpPr>
          <p:spPr>
            <a:xfrm>
              <a:off x="4831080" y="3295650"/>
              <a:ext cx="2529840" cy="78867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Quyền Gmail gộp đọc, soạn,</a:t>
              </a:r>
              <a:br/>
              <a:r>
                <a:rPr lang="vi-VN" sz="1500" dirty="0">
                  <a:solidFill>
                    <a:schemeClr val="dk1"/>
                  </a:solidFill>
                  <a:latin typeface="+mn-lt"/>
                  <a:ea typeface="+mn-ea"/>
                  <a:cs typeface="+mn-cs"/>
                </a:rPr>
                <a:t>gửi → chặn gửi bằng</a:t>
              </a:r>
              <a:br/>
              <a:r>
                <a:rPr lang="vi-VN" sz="1500" b="1" dirty="0">
                  <a:solidFill>
                    <a:schemeClr val="accent1"/>
                  </a:solidFill>
                  <a:latin typeface="+mn-lt"/>
                  <a:ea typeface="+mn-ea"/>
                  <a:cs typeface="+mn-cs"/>
                </a:rPr>
                <a:t>Always ask</a:t>
              </a:r>
            </a:p>
          </p:txBody>
        </p:sp>
        <p:sp>
          <p:nvSpPr>
            <p:cNvPr id="41" name="Rectangle 41"/>
            <p:cNvSpPr/>
            <p:nvPr/>
          </p:nvSpPr>
          <p:spPr>
            <a:xfrm>
              <a:off x="4495800" y="4286250"/>
              <a:ext cx="190500" cy="190500"/>
            </a:xfrm>
            <a:prstGeom prst="roundRect">
              <a:avLst>
                <a:gd name="adj" fmla="val 25000"/>
              </a:avLst>
            </a:prstGeom>
            <a:solidFill>
              <a:schemeClr val="lt1"/>
            </a:solidFill>
            <a:ln w="19050">
              <a:solidFill>
                <a:schemeClr val="accent1"/>
              </a:solidFill>
            </a:ln>
          </p:spPr>
        </p:sp>
        <p:sp>
          <p:nvSpPr>
            <p:cNvPr id="42" name="TextBox 42"/>
            <p:cNvSpPr txBox="1"/>
            <p:nvPr/>
          </p:nvSpPr>
          <p:spPr>
            <a:xfrm>
              <a:off x="4831080" y="4286250"/>
              <a:ext cx="2339340" cy="78867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Thấy “ứng dụng chưa được</a:t>
              </a:r>
              <a:br/>
              <a:r>
                <a:rPr lang="vi-VN" sz="1500" dirty="0">
                  <a:solidFill>
                    <a:schemeClr val="dk1"/>
                  </a:solidFill>
                  <a:latin typeface="+mn-lt"/>
                  <a:ea typeface="+mn-ea"/>
                  <a:cs typeface="+mn-cs"/>
                </a:rPr>
                <a:t>xác minh” thì dừng, gọi</a:t>
              </a:r>
              <a:br/>
              <a:r>
                <a:rPr lang="vi-VN" sz="1500" dirty="0">
                  <a:solidFill>
                    <a:schemeClr val="dk1"/>
                  </a:solidFill>
                  <a:latin typeface="+mn-lt"/>
                  <a:ea typeface="+mn-ea"/>
                  <a:cs typeface="+mn-cs"/>
                </a:rPr>
                <a:t>giảng viên</a:t>
              </a:r>
            </a:p>
          </p:txBody>
        </p:sp>
      </p:grpSp>
      <p:grpSp>
        <p:nvGrpSpPr>
          <p:cNvPr id="52" name="Group 52"/>
          <p:cNvGrpSpPr/>
          <p:nvPr/>
        </p:nvGrpSpPr>
        <p:grpSpPr>
          <a:xfrm>
            <a:off x="8153400" y="2114550"/>
            <a:ext cx="3657600" cy="3771900"/>
            <a:chOff x="8153400" y="2114550"/>
            <a:chExt cx="3657600" cy="3771900"/>
          </a:xfrm>
        </p:grpSpPr>
        <p:sp>
          <p:nvSpPr>
            <p:cNvPr id="44" name="Ellipse 44"/>
            <p:cNvSpPr/>
            <p:nvPr/>
          </p:nvSpPr>
          <p:spPr>
            <a:xfrm>
              <a:off x="8210550" y="2162175"/>
              <a:ext cx="190500" cy="190500"/>
            </a:xfrm>
            <a:prstGeom prst="ellipse">
              <a:avLst/>
            </a:prstGeom>
            <a:solidFill>
              <a:schemeClr val="accent2"/>
            </a:solidFill>
            <a:ln>
              <a:noFill/>
            </a:ln>
          </p:spPr>
        </p:sp>
        <p:sp>
          <p:nvSpPr>
            <p:cNvPr id="45" name="Rectangle 45"/>
            <p:cNvSpPr/>
            <p:nvPr/>
          </p:nvSpPr>
          <p:spPr>
            <a:xfrm>
              <a:off x="8496300" y="2114550"/>
              <a:ext cx="1562100" cy="285750"/>
            </a:xfrm>
            <a:prstGeom prst="rect">
              <a:avLst/>
            </a:prstGeom>
            <a:solidFill>
              <a:schemeClr val="lt1"/>
            </a:solidFill>
            <a:ln>
              <a:noFill/>
            </a:ln>
          </p:spPr>
        </p:sp>
        <p:sp>
          <p:nvSpPr>
            <p:cNvPr id="46" name="TextBox 46"/>
            <p:cNvSpPr txBox="1"/>
            <p:nvPr/>
          </p:nvSpPr>
          <p:spPr>
            <a:xfrm>
              <a:off x="8525256" y="2139315"/>
              <a:ext cx="1515139" cy="352044"/>
            </a:xfrm>
            <a:prstGeom prst="rect">
              <a:avLst/>
            </a:prstGeom>
            <a:noFill/>
            <a:ln>
              <a:noFill/>
            </a:ln>
          </p:spPr>
          <p:txBody>
            <a:bodyPr wrap="none" lIns="0" tIns="0" rIns="0" bIns="0" anchor="t" anchorCtr="0">
              <a:spAutoFit/>
            </a:bodyPr>
            <a:lstStyle/>
            <a:p>
              <a:pPr algn="l"/>
              <a:r>
                <a:rPr lang="vi-VN" sz="1800" b="1" dirty="0">
                  <a:solidFill>
                    <a:schemeClr val="accent1"/>
                  </a:solidFill>
                  <a:latin typeface="+mn-lt"/>
                  <a:ea typeface="+mn-ea"/>
                  <a:cs typeface="+mn-cs"/>
                </a:rPr>
                <a:t>Sau buổi học</a:t>
              </a:r>
            </a:p>
          </p:txBody>
        </p:sp>
        <p:sp>
          <p:nvSpPr>
            <p:cNvPr id="47" name="Rectangle 47"/>
            <p:cNvSpPr/>
            <p:nvPr/>
          </p:nvSpPr>
          <p:spPr>
            <a:xfrm>
              <a:off x="8153400" y="2552700"/>
              <a:ext cx="3657600" cy="3333750"/>
            </a:xfrm>
            <a:prstGeom prst="roundRect">
              <a:avLst>
                <a:gd name="adj" fmla="val 4571"/>
              </a:avLst>
            </a:prstGeom>
            <a:solidFill>
              <a:schemeClr val="lt2"/>
            </a:solidFill>
            <a:ln>
              <a:noFill/>
            </a:ln>
          </p:spPr>
        </p:sp>
        <p:sp>
          <p:nvSpPr>
            <p:cNvPr id="48" name="Rectangle 48"/>
            <p:cNvSpPr/>
            <p:nvPr/>
          </p:nvSpPr>
          <p:spPr>
            <a:xfrm>
              <a:off x="8382000" y="2800350"/>
              <a:ext cx="190500" cy="190500"/>
            </a:xfrm>
            <a:prstGeom prst="roundRect">
              <a:avLst>
                <a:gd name="adj" fmla="val 25000"/>
              </a:avLst>
            </a:prstGeom>
            <a:solidFill>
              <a:schemeClr val="lt1"/>
            </a:solidFill>
            <a:ln w="19050">
              <a:solidFill>
                <a:schemeClr val="accent1"/>
              </a:solidFill>
            </a:ln>
          </p:spPr>
        </p:sp>
        <p:sp>
          <p:nvSpPr>
            <p:cNvPr id="49" name="TextBox 49"/>
            <p:cNvSpPr txBox="1"/>
            <p:nvPr/>
          </p:nvSpPr>
          <p:spPr>
            <a:xfrm>
              <a:off x="8717280" y="2800350"/>
              <a:ext cx="2644140" cy="78867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Vào myaccount.google.com/</a:t>
              </a:r>
              <a:br/>
              <a:r>
                <a:rPr lang="vi-VN" sz="1500" dirty="0">
                  <a:solidFill>
                    <a:schemeClr val="dk1"/>
                  </a:solidFill>
                  <a:latin typeface="+mn-lt"/>
                  <a:ea typeface="+mn-ea"/>
                  <a:cs typeface="+mn-cs"/>
                </a:rPr>
                <a:t>linkedapps → ChatGPT/OpenAI</a:t>
              </a:r>
              <a:br/>
              <a:r>
                <a:rPr lang="vi-VN" sz="1500" dirty="0">
                  <a:solidFill>
                    <a:schemeClr val="dk1"/>
                  </a:solidFill>
                  <a:latin typeface="+mn-lt"/>
                  <a:ea typeface="+mn-ea"/>
                  <a:cs typeface="+mn-cs"/>
                </a:rPr>
                <a:t>→ </a:t>
              </a:r>
              <a:r>
                <a:rPr lang="vi-VN" sz="1500" b="1" dirty="0">
                  <a:solidFill>
                    <a:schemeClr val="accent1"/>
                  </a:solidFill>
                  <a:latin typeface="+mn-lt"/>
                  <a:ea typeface="+mn-ea"/>
                  <a:cs typeface="+mn-cs"/>
                </a:rPr>
                <a:t>Remove access</a:t>
              </a:r>
            </a:p>
          </p:txBody>
        </p:sp>
        <p:sp>
          <p:nvSpPr>
            <p:cNvPr id="50" name="Rectangle 50"/>
            <p:cNvSpPr/>
            <p:nvPr/>
          </p:nvSpPr>
          <p:spPr>
            <a:xfrm>
              <a:off x="8382000" y="3790950"/>
              <a:ext cx="190500" cy="190500"/>
            </a:xfrm>
            <a:prstGeom prst="roundRect">
              <a:avLst>
                <a:gd name="adj" fmla="val 25000"/>
              </a:avLst>
            </a:prstGeom>
            <a:solidFill>
              <a:schemeClr val="lt1"/>
            </a:solidFill>
            <a:ln w="19050">
              <a:solidFill>
                <a:schemeClr val="accent1"/>
              </a:solidFill>
            </a:ln>
          </p:spPr>
        </p:sp>
        <p:sp>
          <p:nvSpPr>
            <p:cNvPr id="51" name="TextBox 51"/>
            <p:cNvSpPr txBox="1"/>
            <p:nvPr/>
          </p:nvSpPr>
          <p:spPr>
            <a:xfrm>
              <a:off x="8717280" y="3790950"/>
              <a:ext cx="2558415" cy="54102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ChatGPT: Settings → Plugins</a:t>
              </a:r>
              <a:br/>
              <a:r>
                <a:rPr lang="vi-VN" sz="1500" dirty="0">
                  <a:solidFill>
                    <a:schemeClr val="dk1"/>
                  </a:solidFill>
                  <a:latin typeface="+mn-lt"/>
                  <a:ea typeface="+mn-ea"/>
                  <a:cs typeface="+mn-cs"/>
                </a:rPr>
                <a:t>→ </a:t>
              </a:r>
              <a:r>
                <a:rPr lang="vi-VN" sz="1500" b="1" dirty="0">
                  <a:solidFill>
                    <a:schemeClr val="accent1"/>
                  </a:solidFill>
                  <a:latin typeface="+mn-lt"/>
                  <a:ea typeface="+mn-ea"/>
                  <a:cs typeface="+mn-cs"/>
                </a:rPr>
                <a:t>ngắt kết nối</a:t>
              </a:r>
            </a:p>
          </p:txBody>
        </p:sp>
      </p:grpSp>
      <p:sp>
        <p:nvSpPr>
          <p:cNvPr id="53" name="TextBox 53"/>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54" name="TextBox 54"/>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29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1738041" cy="234696"/>
            <a:chOff x="381000" y="346710"/>
            <a:chExt cx="1738041" cy="234696"/>
          </a:xfrm>
        </p:grpSpPr>
        <p:sp>
          <p:nvSpPr>
            <p:cNvPr id="2" name="Rectangle 2"/>
            <p:cNvSpPr/>
            <p:nvPr/>
          </p:nvSpPr>
          <p:spPr>
            <a:xfrm>
              <a:off x="381000" y="361950"/>
              <a:ext cx="114300" cy="114300"/>
            </a:xfrm>
            <a:prstGeom prst="roundRect">
              <a:avLst>
                <a:gd name="adj" fmla="val 25000"/>
              </a:avLst>
            </a:prstGeom>
            <a:solidFill>
              <a:schemeClr val="accent1"/>
            </a:solidFill>
            <a:ln>
              <a:noFill/>
            </a:ln>
          </p:spPr>
        </p:sp>
        <p:sp>
          <p:nvSpPr>
            <p:cNvPr id="3" name="TextBox 3"/>
            <p:cNvSpPr txBox="1"/>
            <p:nvPr/>
          </p:nvSpPr>
          <p:spPr>
            <a:xfrm>
              <a:off x="584454" y="346710"/>
              <a:ext cx="1534587"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4 · PLUGIN</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chemeClr val="accent2"/>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3715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10260282"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Chỉ tự động việc lặp lại, quy tắc rõ, sai sửa được —</a:t>
            </a:r>
            <a:br/>
            <a:r>
              <a:rPr lang="vi-VN" sz="3150" b="1" dirty="0">
                <a:solidFill>
                  <a:schemeClr val="accent1"/>
                </a:solidFill>
                <a:latin typeface="+mn-lt"/>
                <a:ea typeface="+mn-ea"/>
                <a:cs typeface="+mn-cs"/>
              </a:rPr>
              <a:t>và luôn giữ hai lớp phanh</a:t>
            </a:r>
          </a:p>
        </p:txBody>
      </p:sp>
      <p:grpSp>
        <p:nvGrpSpPr>
          <p:cNvPr id="31" name="Group 31"/>
          <p:cNvGrpSpPr/>
          <p:nvPr/>
        </p:nvGrpSpPr>
        <p:grpSpPr>
          <a:xfrm>
            <a:off x="381000" y="2114550"/>
            <a:ext cx="3810000" cy="1428750"/>
            <a:chOff x="381000" y="2114550"/>
            <a:chExt cx="3810000" cy="1428750"/>
          </a:xfrm>
        </p:grpSpPr>
        <p:sp>
          <p:nvSpPr>
            <p:cNvPr id="17" name="Rectangle 17"/>
            <p:cNvSpPr/>
            <p:nvPr/>
          </p:nvSpPr>
          <p:spPr>
            <a:xfrm>
              <a:off x="381000" y="2114550"/>
              <a:ext cx="3810000" cy="1428750"/>
            </a:xfrm>
            <a:prstGeom prst="roundRect">
              <a:avLst>
                <a:gd name="adj" fmla="val 10667"/>
              </a:avLst>
            </a:prstGeom>
            <a:solidFill>
              <a:schemeClr val="lt2"/>
            </a:solidFill>
            <a:ln>
              <a:noFill/>
            </a:ln>
          </p:spPr>
        </p:sp>
        <p:sp>
          <p:nvSpPr>
            <p:cNvPr id="18" name="TextBox 18"/>
            <p:cNvSpPr txBox="1"/>
            <p:nvPr/>
          </p:nvSpPr>
          <p:spPr>
            <a:xfrm>
              <a:off x="603504" y="2270760"/>
              <a:ext cx="1460906" cy="234696"/>
            </a:xfrm>
            <a:prstGeom prst="rect">
              <a:avLst/>
            </a:prstGeom>
            <a:noFill/>
            <a:ln>
              <a:noFill/>
            </a:ln>
          </p:spPr>
          <p:txBody>
            <a:bodyPr wrap="none" lIns="0" tIns="0" rIns="0" bIns="0" anchor="t" anchorCtr="0">
              <a:spAutoFit/>
            </a:bodyPr>
            <a:lstStyle/>
            <a:p>
              <a:pPr algn="l"/>
              <a:r>
                <a:rPr lang="vi-VN" sz="1200" b="1" spc="75" dirty="0">
                  <a:solidFill>
                    <a:schemeClr val="accent1"/>
                  </a:solidFill>
                  <a:latin typeface="+mn-lt"/>
                  <a:ea typeface="+mn-ea"/>
                  <a:cs typeface="+mn-cs"/>
                </a:rPr>
                <a:t>CHỈ TỰ ĐỘNG KHI</a:t>
              </a:r>
            </a:p>
          </p:txBody>
        </p:sp>
        <p:grpSp>
          <p:nvGrpSpPr>
            <p:cNvPr id="21" name="Group 21"/>
            <p:cNvGrpSpPr/>
            <p:nvPr/>
          </p:nvGrpSpPr>
          <p:grpSpPr>
            <a:xfrm>
              <a:off x="635794" y="2626519"/>
              <a:ext cx="157163" cy="157163"/>
              <a:chOff x="635794" y="2626519"/>
              <a:chExt cx="157163" cy="157163"/>
            </a:xfrm>
          </p:grpSpPr>
          <p:sp>
            <p:nvSpPr>
              <p:cNvPr id="19" name="Freeform 19"/>
              <p:cNvSpPr/>
              <p:nvPr/>
            </p:nvSpPr>
            <p:spPr>
              <a:xfrm>
                <a:off x="635794" y="2626519"/>
                <a:ext cx="157163" cy="157163"/>
              </a:xfrm>
              <a:custGeom>
                <a:avLst/>
                <a:gdLst/>
                <a:ahLst/>
                <a:cxnLst/>
                <a:rect l="l" t="t" r="r" b="b"/>
                <a:pathLst>
                  <a:path w="157163" h="157163">
                    <a:moveTo>
                      <a:pt x="0" y="78581"/>
                    </a:moveTo>
                    <a:cubicBezTo>
                      <a:pt x="0" y="121981"/>
                      <a:pt x="35182" y="157163"/>
                      <a:pt x="78581" y="157163"/>
                    </a:cubicBezTo>
                    <a:cubicBezTo>
                      <a:pt x="121981" y="157163"/>
                      <a:pt x="157163" y="121981"/>
                      <a:pt x="157163" y="78581"/>
                    </a:cubicBezTo>
                    <a:cubicBezTo>
                      <a:pt x="157163" y="35182"/>
                      <a:pt x="121981" y="0"/>
                      <a:pt x="78581" y="0"/>
                    </a:cubicBezTo>
                    <a:cubicBezTo>
                      <a:pt x="35182" y="0"/>
                      <a:pt x="0" y="35182"/>
                      <a:pt x="0" y="78581"/>
                    </a:cubicBezTo>
                  </a:path>
                </a:pathLst>
              </a:custGeom>
              <a:noFill/>
              <a:ln w="17463">
                <a:solidFill>
                  <a:srgbClr val="2E8B57"/>
                </a:solidFill>
              </a:ln>
            </p:spPr>
          </p:sp>
          <p:sp>
            <p:nvSpPr>
              <p:cNvPr id="20" name="Freeform 20"/>
              <p:cNvSpPr/>
              <p:nvPr/>
            </p:nvSpPr>
            <p:spPr>
              <a:xfrm>
                <a:off x="688181" y="2687638"/>
                <a:ext cx="52388" cy="34925"/>
              </a:xfrm>
              <a:custGeom>
                <a:avLst/>
                <a:gdLst/>
                <a:ahLst/>
                <a:cxnLst/>
                <a:rect l="l" t="t" r="r" b="b"/>
                <a:pathLst>
                  <a:path w="52388" h="34925">
                    <a:moveTo>
                      <a:pt x="0" y="17463"/>
                    </a:moveTo>
                    <a:lnTo>
                      <a:pt x="17463" y="34925"/>
                    </a:lnTo>
                    <a:lnTo>
                      <a:pt x="52388" y="0"/>
                    </a:lnTo>
                  </a:path>
                </a:pathLst>
              </a:custGeom>
              <a:noFill/>
              <a:ln w="17463">
                <a:solidFill>
                  <a:srgbClr val="2E8B57"/>
                </a:solidFill>
              </a:ln>
            </p:spPr>
          </p:sp>
        </p:grpSp>
        <p:sp>
          <p:nvSpPr>
            <p:cNvPr id="22" name="TextBox 22"/>
            <p:cNvSpPr txBox="1"/>
            <p:nvPr/>
          </p:nvSpPr>
          <p:spPr>
            <a:xfrm>
              <a:off x="906780" y="2609850"/>
              <a:ext cx="1839039"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Việc lặp lại đều đặn</a:t>
              </a:r>
            </a:p>
          </p:txBody>
        </p:sp>
        <p:grpSp>
          <p:nvGrpSpPr>
            <p:cNvPr id="25" name="Group 25"/>
            <p:cNvGrpSpPr/>
            <p:nvPr/>
          </p:nvGrpSpPr>
          <p:grpSpPr>
            <a:xfrm>
              <a:off x="635794" y="2931319"/>
              <a:ext cx="157163" cy="157163"/>
              <a:chOff x="635794" y="2931319"/>
              <a:chExt cx="157163" cy="157163"/>
            </a:xfrm>
          </p:grpSpPr>
          <p:sp>
            <p:nvSpPr>
              <p:cNvPr id="23" name="Freeform 23"/>
              <p:cNvSpPr/>
              <p:nvPr/>
            </p:nvSpPr>
            <p:spPr>
              <a:xfrm>
                <a:off x="635794" y="2931319"/>
                <a:ext cx="157163" cy="157163"/>
              </a:xfrm>
              <a:custGeom>
                <a:avLst/>
                <a:gdLst/>
                <a:ahLst/>
                <a:cxnLst/>
                <a:rect l="l" t="t" r="r" b="b"/>
                <a:pathLst>
                  <a:path w="157163" h="157163">
                    <a:moveTo>
                      <a:pt x="0" y="78581"/>
                    </a:moveTo>
                    <a:cubicBezTo>
                      <a:pt x="0" y="121981"/>
                      <a:pt x="35182" y="157163"/>
                      <a:pt x="78581" y="157163"/>
                    </a:cubicBezTo>
                    <a:cubicBezTo>
                      <a:pt x="121981" y="157163"/>
                      <a:pt x="157163" y="121981"/>
                      <a:pt x="157163" y="78581"/>
                    </a:cubicBezTo>
                    <a:cubicBezTo>
                      <a:pt x="157163" y="35182"/>
                      <a:pt x="121981" y="0"/>
                      <a:pt x="78581" y="0"/>
                    </a:cubicBezTo>
                    <a:cubicBezTo>
                      <a:pt x="35182" y="0"/>
                      <a:pt x="0" y="35182"/>
                      <a:pt x="0" y="78581"/>
                    </a:cubicBezTo>
                  </a:path>
                </a:pathLst>
              </a:custGeom>
              <a:noFill/>
              <a:ln w="17463">
                <a:solidFill>
                  <a:srgbClr val="2E8B57"/>
                </a:solidFill>
              </a:ln>
            </p:spPr>
          </p:sp>
          <p:sp>
            <p:nvSpPr>
              <p:cNvPr id="24" name="Freeform 24"/>
              <p:cNvSpPr/>
              <p:nvPr/>
            </p:nvSpPr>
            <p:spPr>
              <a:xfrm>
                <a:off x="688181" y="2992438"/>
                <a:ext cx="52388" cy="34925"/>
              </a:xfrm>
              <a:custGeom>
                <a:avLst/>
                <a:gdLst/>
                <a:ahLst/>
                <a:cxnLst/>
                <a:rect l="l" t="t" r="r" b="b"/>
                <a:pathLst>
                  <a:path w="52388" h="34925">
                    <a:moveTo>
                      <a:pt x="0" y="17463"/>
                    </a:moveTo>
                    <a:lnTo>
                      <a:pt x="17463" y="34925"/>
                    </a:lnTo>
                    <a:lnTo>
                      <a:pt x="52388" y="0"/>
                    </a:lnTo>
                  </a:path>
                </a:pathLst>
              </a:custGeom>
              <a:noFill/>
              <a:ln w="17463">
                <a:solidFill>
                  <a:srgbClr val="2E8B57"/>
                </a:solidFill>
              </a:ln>
            </p:spPr>
          </p:sp>
        </p:grpSp>
        <p:sp>
          <p:nvSpPr>
            <p:cNvPr id="26" name="TextBox 26"/>
            <p:cNvSpPr txBox="1"/>
            <p:nvPr/>
          </p:nvSpPr>
          <p:spPr>
            <a:xfrm>
              <a:off x="906780" y="2914650"/>
              <a:ext cx="1577435"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Quy tắc rõ ràng</a:t>
              </a:r>
            </a:p>
          </p:txBody>
        </p:sp>
        <p:grpSp>
          <p:nvGrpSpPr>
            <p:cNvPr id="29" name="Group 29"/>
            <p:cNvGrpSpPr/>
            <p:nvPr/>
          </p:nvGrpSpPr>
          <p:grpSpPr>
            <a:xfrm>
              <a:off x="635794" y="3236119"/>
              <a:ext cx="157163" cy="157163"/>
              <a:chOff x="635794" y="3236119"/>
              <a:chExt cx="157163" cy="157163"/>
            </a:xfrm>
          </p:grpSpPr>
          <p:sp>
            <p:nvSpPr>
              <p:cNvPr id="27" name="Freeform 27"/>
              <p:cNvSpPr/>
              <p:nvPr/>
            </p:nvSpPr>
            <p:spPr>
              <a:xfrm>
                <a:off x="635794" y="3236119"/>
                <a:ext cx="157163" cy="157163"/>
              </a:xfrm>
              <a:custGeom>
                <a:avLst/>
                <a:gdLst/>
                <a:ahLst/>
                <a:cxnLst/>
                <a:rect l="l" t="t" r="r" b="b"/>
                <a:pathLst>
                  <a:path w="157163" h="157163">
                    <a:moveTo>
                      <a:pt x="0" y="78581"/>
                    </a:moveTo>
                    <a:cubicBezTo>
                      <a:pt x="0" y="121981"/>
                      <a:pt x="35182" y="157163"/>
                      <a:pt x="78581" y="157163"/>
                    </a:cubicBezTo>
                    <a:cubicBezTo>
                      <a:pt x="121981" y="157163"/>
                      <a:pt x="157163" y="121981"/>
                      <a:pt x="157163" y="78581"/>
                    </a:cubicBezTo>
                    <a:cubicBezTo>
                      <a:pt x="157163" y="35182"/>
                      <a:pt x="121981" y="0"/>
                      <a:pt x="78581" y="0"/>
                    </a:cubicBezTo>
                    <a:cubicBezTo>
                      <a:pt x="35182" y="0"/>
                      <a:pt x="0" y="35182"/>
                      <a:pt x="0" y="78581"/>
                    </a:cubicBezTo>
                  </a:path>
                </a:pathLst>
              </a:custGeom>
              <a:noFill/>
              <a:ln w="17463">
                <a:solidFill>
                  <a:srgbClr val="2E8B57"/>
                </a:solidFill>
              </a:ln>
            </p:spPr>
          </p:sp>
          <p:sp>
            <p:nvSpPr>
              <p:cNvPr id="28" name="Freeform 28"/>
              <p:cNvSpPr/>
              <p:nvPr/>
            </p:nvSpPr>
            <p:spPr>
              <a:xfrm>
                <a:off x="688181" y="3297238"/>
                <a:ext cx="52388" cy="34925"/>
              </a:xfrm>
              <a:custGeom>
                <a:avLst/>
                <a:gdLst/>
                <a:ahLst/>
                <a:cxnLst/>
                <a:rect l="l" t="t" r="r" b="b"/>
                <a:pathLst>
                  <a:path w="52388" h="34925">
                    <a:moveTo>
                      <a:pt x="0" y="17463"/>
                    </a:moveTo>
                    <a:lnTo>
                      <a:pt x="17463" y="34925"/>
                    </a:lnTo>
                    <a:lnTo>
                      <a:pt x="52388" y="0"/>
                    </a:lnTo>
                  </a:path>
                </a:pathLst>
              </a:custGeom>
              <a:noFill/>
              <a:ln w="17463">
                <a:solidFill>
                  <a:srgbClr val="2E8B57"/>
                </a:solidFill>
              </a:ln>
            </p:spPr>
          </p:sp>
        </p:grpSp>
        <p:sp>
          <p:nvSpPr>
            <p:cNvPr id="30" name="TextBox 30"/>
            <p:cNvSpPr txBox="1"/>
            <p:nvPr/>
          </p:nvSpPr>
          <p:spPr>
            <a:xfrm>
              <a:off x="906780" y="3219450"/>
              <a:ext cx="2031552"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Làm sai thì sửa được</a:t>
              </a:r>
            </a:p>
          </p:txBody>
        </p:sp>
      </p:grpSp>
      <p:grpSp>
        <p:nvGrpSpPr>
          <p:cNvPr id="46" name="Group 46"/>
          <p:cNvGrpSpPr/>
          <p:nvPr/>
        </p:nvGrpSpPr>
        <p:grpSpPr>
          <a:xfrm>
            <a:off x="381000" y="3695700"/>
            <a:ext cx="3810000" cy="1428750"/>
            <a:chOff x="381000" y="3695700"/>
            <a:chExt cx="3810000" cy="1428750"/>
          </a:xfrm>
        </p:grpSpPr>
        <p:sp>
          <p:nvSpPr>
            <p:cNvPr id="32" name="Rectangle 32"/>
            <p:cNvSpPr/>
            <p:nvPr/>
          </p:nvSpPr>
          <p:spPr>
            <a:xfrm>
              <a:off x="381000" y="3695700"/>
              <a:ext cx="3810000" cy="1428750"/>
            </a:xfrm>
            <a:prstGeom prst="roundRect">
              <a:avLst>
                <a:gd name="adj" fmla="val 10667"/>
              </a:avLst>
            </a:prstGeom>
            <a:solidFill>
              <a:schemeClr val="lt1"/>
            </a:solidFill>
            <a:ln w="14288">
              <a:solidFill>
                <a:srgbClr val="C0392B"/>
              </a:solidFill>
            </a:ln>
          </p:spPr>
        </p:sp>
        <p:sp>
          <p:nvSpPr>
            <p:cNvPr id="33" name="TextBox 33"/>
            <p:cNvSpPr txBox="1"/>
            <p:nvPr/>
          </p:nvSpPr>
          <p:spPr>
            <a:xfrm>
              <a:off x="603504" y="3851910"/>
              <a:ext cx="1332037" cy="234696"/>
            </a:xfrm>
            <a:prstGeom prst="rect">
              <a:avLst/>
            </a:prstGeom>
            <a:noFill/>
            <a:ln>
              <a:noFill/>
            </a:ln>
          </p:spPr>
          <p:txBody>
            <a:bodyPr wrap="none" lIns="0" tIns="0" rIns="0" bIns="0" anchor="t" anchorCtr="0">
              <a:spAutoFit/>
            </a:bodyPr>
            <a:lstStyle/>
            <a:p>
              <a:pPr algn="l"/>
              <a:r>
                <a:rPr lang="vi-VN" sz="1200" b="1" spc="75" dirty="0">
                  <a:solidFill>
                    <a:srgbClr val="C0392B"/>
                  </a:solidFill>
                  <a:latin typeface="+mn-lt"/>
                  <a:ea typeface="+mn-ea"/>
                  <a:cs typeface="+mn-cs"/>
                </a:rPr>
                <a:t>KHÔNG TỰ ĐỘNG</a:t>
              </a:r>
            </a:p>
          </p:txBody>
        </p:sp>
        <p:grpSp>
          <p:nvGrpSpPr>
            <p:cNvPr id="36" name="Group 36"/>
            <p:cNvGrpSpPr/>
            <p:nvPr/>
          </p:nvGrpSpPr>
          <p:grpSpPr>
            <a:xfrm>
              <a:off x="635794" y="4207669"/>
              <a:ext cx="157163" cy="157163"/>
              <a:chOff x="635794" y="4207669"/>
              <a:chExt cx="157163" cy="157163"/>
            </a:xfrm>
          </p:grpSpPr>
          <p:sp>
            <p:nvSpPr>
              <p:cNvPr id="34" name="Freeform 34"/>
              <p:cNvSpPr/>
              <p:nvPr/>
            </p:nvSpPr>
            <p:spPr>
              <a:xfrm>
                <a:off x="635794" y="4207669"/>
                <a:ext cx="157163" cy="157163"/>
              </a:xfrm>
              <a:custGeom>
                <a:avLst/>
                <a:gdLst/>
                <a:ahLst/>
                <a:cxnLst/>
                <a:rect l="l" t="t" r="r" b="b"/>
                <a:pathLst>
                  <a:path w="157163" h="157163">
                    <a:moveTo>
                      <a:pt x="0" y="78581"/>
                    </a:moveTo>
                    <a:cubicBezTo>
                      <a:pt x="0" y="121981"/>
                      <a:pt x="35182" y="157163"/>
                      <a:pt x="78581" y="157163"/>
                    </a:cubicBezTo>
                    <a:cubicBezTo>
                      <a:pt x="121981" y="157163"/>
                      <a:pt x="157163" y="121981"/>
                      <a:pt x="157163" y="78581"/>
                    </a:cubicBezTo>
                    <a:cubicBezTo>
                      <a:pt x="157163" y="35182"/>
                      <a:pt x="121981" y="0"/>
                      <a:pt x="78581" y="0"/>
                    </a:cubicBezTo>
                    <a:cubicBezTo>
                      <a:pt x="35182" y="0"/>
                      <a:pt x="0" y="35182"/>
                      <a:pt x="0" y="78581"/>
                    </a:cubicBezTo>
                  </a:path>
                </a:pathLst>
              </a:custGeom>
              <a:noFill/>
              <a:ln w="17463">
                <a:solidFill>
                  <a:srgbClr val="C0392B"/>
                </a:solidFill>
              </a:ln>
            </p:spPr>
          </p:sp>
          <p:sp>
            <p:nvSpPr>
              <p:cNvPr id="35" name="Freeform 35"/>
              <p:cNvSpPr/>
              <p:nvPr/>
            </p:nvSpPr>
            <p:spPr>
              <a:xfrm>
                <a:off x="659368" y="4231243"/>
                <a:ext cx="110014" cy="110014"/>
              </a:xfrm>
              <a:custGeom>
                <a:avLst/>
                <a:gdLst/>
                <a:ahLst/>
                <a:cxnLst/>
                <a:rect l="l" t="t" r="r" b="b"/>
                <a:pathLst>
                  <a:path w="110014" h="110014">
                    <a:moveTo>
                      <a:pt x="0" y="0"/>
                    </a:moveTo>
                    <a:lnTo>
                      <a:pt x="110014" y="110014"/>
                    </a:lnTo>
                  </a:path>
                </a:pathLst>
              </a:custGeom>
              <a:noFill/>
              <a:ln w="17463">
                <a:solidFill>
                  <a:srgbClr val="C0392B"/>
                </a:solidFill>
              </a:ln>
            </p:spPr>
          </p:sp>
        </p:grpSp>
        <p:sp>
          <p:nvSpPr>
            <p:cNvPr id="37" name="TextBox 37"/>
            <p:cNvSpPr txBox="1"/>
            <p:nvPr/>
          </p:nvSpPr>
          <p:spPr>
            <a:xfrm>
              <a:off x="906780" y="4191000"/>
              <a:ext cx="1717853"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Việc dính tới tiền</a:t>
              </a:r>
            </a:p>
          </p:txBody>
        </p:sp>
        <p:grpSp>
          <p:nvGrpSpPr>
            <p:cNvPr id="40" name="Group 40"/>
            <p:cNvGrpSpPr/>
            <p:nvPr/>
          </p:nvGrpSpPr>
          <p:grpSpPr>
            <a:xfrm>
              <a:off x="635794" y="4512469"/>
              <a:ext cx="157163" cy="157163"/>
              <a:chOff x="635794" y="4512469"/>
              <a:chExt cx="157163" cy="157163"/>
            </a:xfrm>
          </p:grpSpPr>
          <p:sp>
            <p:nvSpPr>
              <p:cNvPr id="38" name="Freeform 38"/>
              <p:cNvSpPr/>
              <p:nvPr/>
            </p:nvSpPr>
            <p:spPr>
              <a:xfrm>
                <a:off x="635794" y="4512469"/>
                <a:ext cx="157163" cy="157163"/>
              </a:xfrm>
              <a:custGeom>
                <a:avLst/>
                <a:gdLst/>
                <a:ahLst/>
                <a:cxnLst/>
                <a:rect l="l" t="t" r="r" b="b"/>
                <a:pathLst>
                  <a:path w="157163" h="157163">
                    <a:moveTo>
                      <a:pt x="0" y="78581"/>
                    </a:moveTo>
                    <a:cubicBezTo>
                      <a:pt x="0" y="121981"/>
                      <a:pt x="35182" y="157163"/>
                      <a:pt x="78581" y="157163"/>
                    </a:cubicBezTo>
                    <a:cubicBezTo>
                      <a:pt x="121981" y="157163"/>
                      <a:pt x="157163" y="121981"/>
                      <a:pt x="157163" y="78581"/>
                    </a:cubicBezTo>
                    <a:cubicBezTo>
                      <a:pt x="157163" y="35182"/>
                      <a:pt x="121981" y="0"/>
                      <a:pt x="78581" y="0"/>
                    </a:cubicBezTo>
                    <a:cubicBezTo>
                      <a:pt x="35182" y="0"/>
                      <a:pt x="0" y="35182"/>
                      <a:pt x="0" y="78581"/>
                    </a:cubicBezTo>
                  </a:path>
                </a:pathLst>
              </a:custGeom>
              <a:noFill/>
              <a:ln w="17463">
                <a:solidFill>
                  <a:srgbClr val="C0392B"/>
                </a:solidFill>
              </a:ln>
            </p:spPr>
          </p:sp>
          <p:sp>
            <p:nvSpPr>
              <p:cNvPr id="39" name="Freeform 39"/>
              <p:cNvSpPr/>
              <p:nvPr/>
            </p:nvSpPr>
            <p:spPr>
              <a:xfrm>
                <a:off x="659368" y="4536043"/>
                <a:ext cx="110014" cy="110014"/>
              </a:xfrm>
              <a:custGeom>
                <a:avLst/>
                <a:gdLst/>
                <a:ahLst/>
                <a:cxnLst/>
                <a:rect l="l" t="t" r="r" b="b"/>
                <a:pathLst>
                  <a:path w="110014" h="110014">
                    <a:moveTo>
                      <a:pt x="0" y="0"/>
                    </a:moveTo>
                    <a:lnTo>
                      <a:pt x="110014" y="110014"/>
                    </a:lnTo>
                  </a:path>
                </a:pathLst>
              </a:custGeom>
              <a:noFill/>
              <a:ln w="17463">
                <a:solidFill>
                  <a:srgbClr val="C0392B"/>
                </a:solidFill>
              </a:ln>
            </p:spPr>
          </p:sp>
        </p:grpSp>
        <p:sp>
          <p:nvSpPr>
            <p:cNvPr id="41" name="TextBox 41"/>
            <p:cNvSpPr txBox="1"/>
            <p:nvPr/>
          </p:nvSpPr>
          <p:spPr>
            <a:xfrm>
              <a:off x="906780" y="4495800"/>
              <a:ext cx="1748722"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Cam kết với khách</a:t>
              </a:r>
            </a:p>
          </p:txBody>
        </p:sp>
        <p:grpSp>
          <p:nvGrpSpPr>
            <p:cNvPr id="44" name="Group 44"/>
            <p:cNvGrpSpPr/>
            <p:nvPr/>
          </p:nvGrpSpPr>
          <p:grpSpPr>
            <a:xfrm>
              <a:off x="635794" y="4817269"/>
              <a:ext cx="157163" cy="157163"/>
              <a:chOff x="635794" y="4817269"/>
              <a:chExt cx="157163" cy="157163"/>
            </a:xfrm>
          </p:grpSpPr>
          <p:sp>
            <p:nvSpPr>
              <p:cNvPr id="42" name="Freeform 42"/>
              <p:cNvSpPr/>
              <p:nvPr/>
            </p:nvSpPr>
            <p:spPr>
              <a:xfrm>
                <a:off x="635794" y="4817269"/>
                <a:ext cx="157163" cy="157163"/>
              </a:xfrm>
              <a:custGeom>
                <a:avLst/>
                <a:gdLst/>
                <a:ahLst/>
                <a:cxnLst/>
                <a:rect l="l" t="t" r="r" b="b"/>
                <a:pathLst>
                  <a:path w="157163" h="157163">
                    <a:moveTo>
                      <a:pt x="0" y="78581"/>
                    </a:moveTo>
                    <a:cubicBezTo>
                      <a:pt x="0" y="121981"/>
                      <a:pt x="35182" y="157163"/>
                      <a:pt x="78581" y="157163"/>
                    </a:cubicBezTo>
                    <a:cubicBezTo>
                      <a:pt x="121981" y="157163"/>
                      <a:pt x="157163" y="121981"/>
                      <a:pt x="157163" y="78581"/>
                    </a:cubicBezTo>
                    <a:cubicBezTo>
                      <a:pt x="157163" y="35182"/>
                      <a:pt x="121981" y="0"/>
                      <a:pt x="78581" y="0"/>
                    </a:cubicBezTo>
                    <a:cubicBezTo>
                      <a:pt x="35182" y="0"/>
                      <a:pt x="0" y="35182"/>
                      <a:pt x="0" y="78581"/>
                    </a:cubicBezTo>
                  </a:path>
                </a:pathLst>
              </a:custGeom>
              <a:noFill/>
              <a:ln w="17463">
                <a:solidFill>
                  <a:srgbClr val="C0392B"/>
                </a:solidFill>
              </a:ln>
            </p:spPr>
          </p:sp>
          <p:sp>
            <p:nvSpPr>
              <p:cNvPr id="43" name="Freeform 43"/>
              <p:cNvSpPr/>
              <p:nvPr/>
            </p:nvSpPr>
            <p:spPr>
              <a:xfrm>
                <a:off x="659368" y="4840843"/>
                <a:ext cx="110014" cy="110014"/>
              </a:xfrm>
              <a:custGeom>
                <a:avLst/>
                <a:gdLst/>
                <a:ahLst/>
                <a:cxnLst/>
                <a:rect l="l" t="t" r="r" b="b"/>
                <a:pathLst>
                  <a:path w="110014" h="110014">
                    <a:moveTo>
                      <a:pt x="0" y="0"/>
                    </a:moveTo>
                    <a:lnTo>
                      <a:pt x="110014" y="110014"/>
                    </a:lnTo>
                  </a:path>
                </a:pathLst>
              </a:custGeom>
              <a:noFill/>
              <a:ln w="17463">
                <a:solidFill>
                  <a:srgbClr val="C0392B"/>
                </a:solidFill>
              </a:ln>
            </p:spPr>
          </p:sp>
        </p:grpSp>
        <p:sp>
          <p:nvSpPr>
            <p:cNvPr id="45" name="TextBox 45"/>
            <p:cNvSpPr txBox="1"/>
            <p:nvPr/>
          </p:nvSpPr>
          <p:spPr>
            <a:xfrm>
              <a:off x="906780" y="4800600"/>
              <a:ext cx="1859737"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Quy trình còn loạn</a:t>
              </a:r>
            </a:p>
          </p:txBody>
        </p:sp>
      </p:grpSp>
      <p:grpSp>
        <p:nvGrpSpPr>
          <p:cNvPr id="48" name="Group 48"/>
          <p:cNvGrpSpPr/>
          <p:nvPr/>
        </p:nvGrpSpPr>
        <p:grpSpPr>
          <a:xfrm>
            <a:off x="4470654" y="2156460"/>
            <a:ext cx="1897868" cy="234696"/>
            <a:chOff x="4470654" y="2156460"/>
            <a:chExt cx="1897868" cy="234696"/>
          </a:xfrm>
        </p:grpSpPr>
        <p:sp>
          <p:nvSpPr>
            <p:cNvPr id="47" name="TextBox 47"/>
            <p:cNvSpPr txBox="1"/>
            <p:nvPr/>
          </p:nvSpPr>
          <p:spPr>
            <a:xfrm>
              <a:off x="4470654" y="2156460"/>
              <a:ext cx="1897868"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LUỒNG TỰ ĐỘNG 3 LỚP</a:t>
              </a:r>
            </a:p>
          </p:txBody>
        </p:sp>
      </p:grpSp>
      <p:grpSp>
        <p:nvGrpSpPr>
          <p:cNvPr id="51" name="Group 51"/>
          <p:cNvGrpSpPr/>
          <p:nvPr/>
        </p:nvGrpSpPr>
        <p:grpSpPr>
          <a:xfrm>
            <a:off x="4476750" y="2438400"/>
            <a:ext cx="2286000" cy="571500"/>
            <a:chOff x="4476750" y="2438400"/>
            <a:chExt cx="2286000" cy="571500"/>
          </a:xfrm>
        </p:grpSpPr>
        <p:sp>
          <p:nvSpPr>
            <p:cNvPr id="49" name="Freeform 49"/>
            <p:cNvSpPr/>
            <p:nvPr/>
          </p:nvSpPr>
          <p:spPr>
            <a:xfrm>
              <a:off x="4476750" y="2438400"/>
              <a:ext cx="2286000" cy="571500"/>
            </a:xfrm>
            <a:prstGeom prst="homePlate">
              <a:avLst/>
            </a:prstGeom>
            <a:solidFill>
              <a:schemeClr val="accent1"/>
            </a:solidFill>
            <a:ln>
              <a:noFill/>
            </a:ln>
          </p:spPr>
        </p:sp>
        <p:sp>
          <p:nvSpPr>
            <p:cNvPr id="50" name="TextBox 50"/>
            <p:cNvSpPr txBox="1"/>
            <p:nvPr/>
          </p:nvSpPr>
          <p:spPr>
            <a:xfrm>
              <a:off x="4677918" y="2622232"/>
              <a:ext cx="1120697" cy="322707"/>
            </a:xfrm>
            <a:prstGeom prst="rect">
              <a:avLst/>
            </a:prstGeom>
            <a:noFill/>
            <a:ln>
              <a:noFill/>
            </a:ln>
          </p:spPr>
          <p:txBody>
            <a:bodyPr wrap="none" lIns="0" tIns="0" rIns="0" bIns="0" anchor="t" anchorCtr="0">
              <a:spAutoFit/>
            </a:bodyPr>
            <a:lstStyle/>
            <a:p>
              <a:pPr algn="l"/>
              <a:r>
                <a:rPr lang="vi-VN" sz="1650" b="1" dirty="0">
                  <a:solidFill>
                    <a:srgbClr val="FFFFFF"/>
                  </a:solidFill>
                  <a:latin typeface="+mn-lt"/>
                  <a:ea typeface="+mn-ea"/>
                  <a:cs typeface="+mn-cs"/>
                </a:rPr>
                <a:t>Kích hoạt</a:t>
              </a:r>
            </a:p>
          </p:txBody>
        </p:sp>
      </p:grpSp>
      <p:grpSp>
        <p:nvGrpSpPr>
          <p:cNvPr id="54" name="Group 54"/>
          <p:cNvGrpSpPr/>
          <p:nvPr/>
        </p:nvGrpSpPr>
        <p:grpSpPr>
          <a:xfrm>
            <a:off x="6877050" y="2438400"/>
            <a:ext cx="2286000" cy="571500"/>
            <a:chOff x="6877050" y="2438400"/>
            <a:chExt cx="2286000" cy="571500"/>
          </a:xfrm>
        </p:grpSpPr>
        <p:sp>
          <p:nvSpPr>
            <p:cNvPr id="52" name="Freeform 52"/>
            <p:cNvSpPr/>
            <p:nvPr/>
          </p:nvSpPr>
          <p:spPr>
            <a:xfrm>
              <a:off x="6877050" y="2438400"/>
              <a:ext cx="2286000" cy="571500"/>
            </a:xfrm>
            <a:prstGeom prst="chevron">
              <a:avLst/>
            </a:prstGeom>
            <a:solidFill>
              <a:schemeClr val="accent1"/>
            </a:solidFill>
            <a:ln>
              <a:noFill/>
            </a:ln>
          </p:spPr>
        </p:sp>
        <p:sp>
          <p:nvSpPr>
            <p:cNvPr id="53" name="TextBox 53"/>
            <p:cNvSpPr txBox="1"/>
            <p:nvPr/>
          </p:nvSpPr>
          <p:spPr>
            <a:xfrm>
              <a:off x="7344918" y="2622232"/>
              <a:ext cx="548956" cy="322707"/>
            </a:xfrm>
            <a:prstGeom prst="rect">
              <a:avLst/>
            </a:prstGeom>
            <a:noFill/>
            <a:ln>
              <a:noFill/>
            </a:ln>
          </p:spPr>
          <p:txBody>
            <a:bodyPr wrap="none" lIns="0" tIns="0" rIns="0" bIns="0" anchor="t" anchorCtr="0">
              <a:spAutoFit/>
            </a:bodyPr>
            <a:lstStyle/>
            <a:p>
              <a:pPr algn="l"/>
              <a:r>
                <a:rPr lang="vi-VN" sz="1650" b="1" dirty="0">
                  <a:solidFill>
                    <a:srgbClr val="FFFFFF"/>
                  </a:solidFill>
                  <a:latin typeface="+mn-lt"/>
                  <a:ea typeface="+mn-ea"/>
                  <a:cs typeface="+mn-cs"/>
                </a:rPr>
                <a:t>Xử lý</a:t>
              </a:r>
            </a:p>
          </p:txBody>
        </p:sp>
      </p:grpSp>
      <p:grpSp>
        <p:nvGrpSpPr>
          <p:cNvPr id="57" name="Group 57"/>
          <p:cNvGrpSpPr/>
          <p:nvPr/>
        </p:nvGrpSpPr>
        <p:grpSpPr>
          <a:xfrm>
            <a:off x="9525000" y="2438400"/>
            <a:ext cx="2286000" cy="571500"/>
            <a:chOff x="9525000" y="2438400"/>
            <a:chExt cx="2286000" cy="571500"/>
          </a:xfrm>
        </p:grpSpPr>
        <p:sp>
          <p:nvSpPr>
            <p:cNvPr id="55" name="Freeform 55"/>
            <p:cNvSpPr/>
            <p:nvPr/>
          </p:nvSpPr>
          <p:spPr>
            <a:xfrm>
              <a:off x="9525000" y="2438400"/>
              <a:ext cx="2286000" cy="571500"/>
            </a:xfrm>
            <a:prstGeom prst="chevron">
              <a:avLst/>
            </a:prstGeom>
            <a:solidFill>
              <a:schemeClr val="accent1"/>
            </a:solidFill>
            <a:ln>
              <a:noFill/>
            </a:ln>
          </p:spPr>
        </p:sp>
        <p:sp>
          <p:nvSpPr>
            <p:cNvPr id="56" name="TextBox 56"/>
            <p:cNvSpPr txBox="1"/>
            <p:nvPr/>
          </p:nvSpPr>
          <p:spPr>
            <a:xfrm>
              <a:off x="9992868" y="2622232"/>
              <a:ext cx="736166" cy="322707"/>
            </a:xfrm>
            <a:prstGeom prst="rect">
              <a:avLst/>
            </a:prstGeom>
            <a:noFill/>
            <a:ln>
              <a:noFill/>
            </a:ln>
          </p:spPr>
          <p:txBody>
            <a:bodyPr wrap="none" lIns="0" tIns="0" rIns="0" bIns="0" anchor="t" anchorCtr="0">
              <a:spAutoFit/>
            </a:bodyPr>
            <a:lstStyle/>
            <a:p>
              <a:pPr algn="l"/>
              <a:r>
                <a:rPr lang="vi-VN" sz="1650" b="1" dirty="0">
                  <a:solidFill>
                    <a:srgbClr val="FFFFFF"/>
                  </a:solidFill>
                  <a:latin typeface="+mn-lt"/>
                  <a:ea typeface="+mn-ea"/>
                  <a:cs typeface="+mn-cs"/>
                </a:rPr>
                <a:t>Đưa ra</a:t>
              </a:r>
            </a:p>
          </p:txBody>
        </p:sp>
      </p:grpSp>
      <p:grpSp>
        <p:nvGrpSpPr>
          <p:cNvPr id="65" name="Group 65"/>
          <p:cNvGrpSpPr/>
          <p:nvPr/>
        </p:nvGrpSpPr>
        <p:grpSpPr>
          <a:xfrm>
            <a:off x="8864566" y="2514600"/>
            <a:ext cx="958918" cy="790956"/>
            <a:chOff x="8864566" y="2514600"/>
            <a:chExt cx="958918" cy="790956"/>
          </a:xfrm>
        </p:grpSpPr>
        <p:sp>
          <p:nvSpPr>
            <p:cNvPr id="58" name="Ellipse 58"/>
            <p:cNvSpPr/>
            <p:nvPr/>
          </p:nvSpPr>
          <p:spPr>
            <a:xfrm>
              <a:off x="9134475" y="2514600"/>
              <a:ext cx="419100" cy="419100"/>
            </a:xfrm>
            <a:prstGeom prst="ellipse">
              <a:avLst/>
            </a:prstGeom>
            <a:solidFill>
              <a:schemeClr val="accent2"/>
            </a:solidFill>
            <a:ln w="28575">
              <a:solidFill>
                <a:srgbClr val="FFFFFF"/>
              </a:solidFill>
            </a:ln>
          </p:spPr>
        </p:sp>
        <p:grpSp>
          <p:nvGrpSpPr>
            <p:cNvPr id="63" name="Group 63"/>
            <p:cNvGrpSpPr/>
            <p:nvPr/>
          </p:nvGrpSpPr>
          <p:grpSpPr>
            <a:xfrm>
              <a:off x="9268200" y="2636838"/>
              <a:ext cx="145675" cy="174628"/>
              <a:chOff x="9268200" y="2636838"/>
              <a:chExt cx="145675" cy="174628"/>
            </a:xfrm>
          </p:grpSpPr>
          <p:sp>
            <p:nvSpPr>
              <p:cNvPr id="59" name="Freeform 59"/>
              <p:cNvSpPr/>
              <p:nvPr/>
            </p:nvSpPr>
            <p:spPr>
              <a:xfrm>
                <a:off x="9309100" y="2654300"/>
                <a:ext cx="26194" cy="78581"/>
              </a:xfrm>
              <a:custGeom>
                <a:avLst/>
                <a:gdLst/>
                <a:ahLst/>
                <a:cxnLst/>
                <a:rect l="l" t="t" r="r" b="b"/>
                <a:pathLst>
                  <a:path w="26194" h="78581">
                    <a:moveTo>
                      <a:pt x="0" y="78581"/>
                    </a:moveTo>
                    <a:lnTo>
                      <a:pt x="0" y="13097"/>
                    </a:lnTo>
                    <a:cubicBezTo>
                      <a:pt x="0" y="5864"/>
                      <a:pt x="5864" y="0"/>
                      <a:pt x="13097" y="0"/>
                    </a:cubicBezTo>
                    <a:cubicBezTo>
                      <a:pt x="20330" y="0"/>
                      <a:pt x="26194" y="5864"/>
                      <a:pt x="26194" y="13097"/>
                    </a:cubicBezTo>
                    <a:lnTo>
                      <a:pt x="26194" y="69850"/>
                    </a:lnTo>
                  </a:path>
                </a:pathLst>
              </a:custGeom>
              <a:noFill/>
              <a:ln w="17463">
                <a:solidFill>
                  <a:schemeClr val="dk1"/>
                </a:solidFill>
              </a:ln>
            </p:spPr>
          </p:sp>
          <p:sp>
            <p:nvSpPr>
              <p:cNvPr id="60" name="Freeform 60"/>
              <p:cNvSpPr/>
              <p:nvPr/>
            </p:nvSpPr>
            <p:spPr>
              <a:xfrm>
                <a:off x="9335294" y="2636838"/>
                <a:ext cx="26194" cy="87313"/>
              </a:xfrm>
              <a:custGeom>
                <a:avLst/>
                <a:gdLst/>
                <a:ahLst/>
                <a:cxnLst/>
                <a:rect l="l" t="t" r="r" b="b"/>
                <a:pathLst>
                  <a:path w="26194" h="87313">
                    <a:moveTo>
                      <a:pt x="0" y="30559"/>
                    </a:moveTo>
                    <a:lnTo>
                      <a:pt x="0" y="13097"/>
                    </a:lnTo>
                    <a:cubicBezTo>
                      <a:pt x="0" y="5864"/>
                      <a:pt x="5864" y="0"/>
                      <a:pt x="13097" y="0"/>
                    </a:cubicBezTo>
                    <a:cubicBezTo>
                      <a:pt x="20330" y="0"/>
                      <a:pt x="26194" y="5864"/>
                      <a:pt x="26194" y="13097"/>
                    </a:cubicBezTo>
                    <a:lnTo>
                      <a:pt x="26194" y="87313"/>
                    </a:lnTo>
                  </a:path>
                </a:pathLst>
              </a:custGeom>
              <a:noFill/>
              <a:ln w="17463">
                <a:solidFill>
                  <a:schemeClr val="dk1"/>
                </a:solidFill>
              </a:ln>
            </p:spPr>
          </p:sp>
          <p:sp>
            <p:nvSpPr>
              <p:cNvPr id="61" name="Freeform 61"/>
              <p:cNvSpPr/>
              <p:nvPr/>
            </p:nvSpPr>
            <p:spPr>
              <a:xfrm>
                <a:off x="9361488" y="2654300"/>
                <a:ext cx="26194" cy="69850"/>
              </a:xfrm>
              <a:custGeom>
                <a:avLst/>
                <a:gdLst/>
                <a:ahLst/>
                <a:cxnLst/>
                <a:rect l="l" t="t" r="r" b="b"/>
                <a:pathLst>
                  <a:path w="26194" h="69850">
                    <a:moveTo>
                      <a:pt x="0" y="13097"/>
                    </a:moveTo>
                    <a:cubicBezTo>
                      <a:pt x="0" y="5864"/>
                      <a:pt x="5864" y="0"/>
                      <a:pt x="13097" y="0"/>
                    </a:cubicBezTo>
                    <a:cubicBezTo>
                      <a:pt x="20330" y="0"/>
                      <a:pt x="26194" y="5864"/>
                      <a:pt x="26194" y="13097"/>
                    </a:cubicBezTo>
                    <a:lnTo>
                      <a:pt x="26194" y="69850"/>
                    </a:lnTo>
                  </a:path>
                </a:pathLst>
              </a:custGeom>
              <a:noFill/>
              <a:ln w="17463">
                <a:solidFill>
                  <a:schemeClr val="dk1"/>
                </a:solidFill>
              </a:ln>
            </p:spPr>
          </p:sp>
          <p:sp>
            <p:nvSpPr>
              <p:cNvPr id="62" name="Freeform 62"/>
              <p:cNvSpPr/>
              <p:nvPr/>
            </p:nvSpPr>
            <p:spPr>
              <a:xfrm>
                <a:off x="9268200" y="2671763"/>
                <a:ext cx="145675" cy="139703"/>
              </a:xfrm>
              <a:custGeom>
                <a:avLst/>
                <a:gdLst/>
                <a:ahLst/>
                <a:cxnLst/>
                <a:rect l="l" t="t" r="r" b="b"/>
                <a:pathLst>
                  <a:path w="145675" h="139703">
                    <a:moveTo>
                      <a:pt x="119481" y="13097"/>
                    </a:moveTo>
                    <a:cubicBezTo>
                      <a:pt x="119481" y="5864"/>
                      <a:pt x="125345" y="0"/>
                      <a:pt x="132578" y="0"/>
                    </a:cubicBezTo>
                    <a:cubicBezTo>
                      <a:pt x="139811" y="0"/>
                      <a:pt x="145675" y="5864"/>
                      <a:pt x="145675" y="13097"/>
                    </a:cubicBezTo>
                    <a:lnTo>
                      <a:pt x="145675" y="87313"/>
                    </a:lnTo>
                    <a:cubicBezTo>
                      <a:pt x="145675" y="116245"/>
                      <a:pt x="122220" y="139700"/>
                      <a:pt x="93287" y="139700"/>
                    </a:cubicBezTo>
                    <a:lnTo>
                      <a:pt x="75825" y="139700"/>
                    </a:lnTo>
                    <a:lnTo>
                      <a:pt x="77641" y="139700"/>
                    </a:lnTo>
                    <a:cubicBezTo>
                      <a:pt x="60017" y="139703"/>
                      <a:pt x="43573" y="130844"/>
                      <a:pt x="33880" y="116126"/>
                    </a:cubicBezTo>
                    <a:cubicBezTo>
                      <a:pt x="33307" y="115254"/>
                      <a:pt x="32737" y="114381"/>
                      <a:pt x="32169" y="113506"/>
                    </a:cubicBezTo>
                    <a:cubicBezTo>
                      <a:pt x="29444" y="109324"/>
                      <a:pt x="19884" y="92656"/>
                      <a:pt x="3478" y="63494"/>
                    </a:cubicBezTo>
                    <a:cubicBezTo>
                      <a:pt x="0" y="57312"/>
                      <a:pt x="2075" y="49486"/>
                      <a:pt x="8158" y="45839"/>
                    </a:cubicBezTo>
                    <a:cubicBezTo>
                      <a:pt x="14569" y="41992"/>
                      <a:pt x="22775" y="43000"/>
                      <a:pt x="28065" y="48284"/>
                    </a:cubicBezTo>
                    <a:lnTo>
                      <a:pt x="40900" y="61119"/>
                    </a:lnTo>
                  </a:path>
                </a:pathLst>
              </a:custGeom>
              <a:noFill/>
              <a:ln w="17463">
                <a:solidFill>
                  <a:schemeClr val="dk1"/>
                </a:solidFill>
              </a:ln>
            </p:spPr>
          </p:sp>
        </p:grpSp>
        <p:sp>
          <p:nvSpPr>
            <p:cNvPr id="64" name="TextBox 64"/>
            <p:cNvSpPr txBox="1"/>
            <p:nvPr/>
          </p:nvSpPr>
          <p:spPr>
            <a:xfrm>
              <a:off x="8864566" y="3070860"/>
              <a:ext cx="958918" cy="234696"/>
            </a:xfrm>
            <a:prstGeom prst="rect">
              <a:avLst/>
            </a:prstGeom>
            <a:noFill/>
            <a:ln>
              <a:noFill/>
            </a:ln>
          </p:spPr>
          <p:txBody>
            <a:bodyPr wrap="none" lIns="0" tIns="0" rIns="0" bIns="0" anchor="t" anchorCtr="0">
              <a:spAutoFit/>
            </a:bodyPr>
            <a:lstStyle/>
            <a:p>
              <a:pPr algn="ctr"/>
              <a:r>
                <a:rPr lang="vi-VN" sz="1200" b="1" dirty="0">
                  <a:solidFill>
                    <a:schemeClr val="accent1"/>
                  </a:solidFill>
                  <a:latin typeface="+mn-lt"/>
                  <a:ea typeface="+mn-ea"/>
                  <a:cs typeface="+mn-cs"/>
                </a:rPr>
                <a:t>Người duyệt</a:t>
              </a:r>
            </a:p>
          </p:txBody>
        </p:sp>
      </p:grpSp>
      <p:grpSp>
        <p:nvGrpSpPr>
          <p:cNvPr id="69" name="Group 69"/>
          <p:cNvGrpSpPr/>
          <p:nvPr/>
        </p:nvGrpSpPr>
        <p:grpSpPr>
          <a:xfrm>
            <a:off x="4476750" y="3352800"/>
            <a:ext cx="7334250" cy="1179195"/>
            <a:chOff x="4476750" y="3352800"/>
            <a:chExt cx="7334250" cy="1179195"/>
          </a:xfrm>
        </p:grpSpPr>
        <p:sp>
          <p:nvSpPr>
            <p:cNvPr id="66" name="Rectangle 66"/>
            <p:cNvSpPr/>
            <p:nvPr/>
          </p:nvSpPr>
          <p:spPr>
            <a:xfrm>
              <a:off x="4476750" y="3352800"/>
              <a:ext cx="7334250" cy="1162050"/>
            </a:xfrm>
            <a:prstGeom prst="roundRect">
              <a:avLst>
                <a:gd name="adj" fmla="val 11475"/>
              </a:avLst>
            </a:prstGeom>
            <a:solidFill>
              <a:schemeClr val="lt2"/>
            </a:solidFill>
            <a:ln>
              <a:noFill/>
            </a:ln>
          </p:spPr>
        </p:sp>
        <p:sp>
          <p:nvSpPr>
            <p:cNvPr id="67" name="TextBox 67"/>
            <p:cNvSpPr txBox="1"/>
            <p:nvPr/>
          </p:nvSpPr>
          <p:spPr>
            <a:xfrm>
              <a:off x="4699254" y="3489960"/>
              <a:ext cx="2417186"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VÍ DỤ WIR · BÁO CÁO TUẦN</a:t>
              </a:r>
            </a:p>
          </p:txBody>
        </p:sp>
        <p:sp>
          <p:nvSpPr>
            <p:cNvPr id="68" name="TextBox 68"/>
            <p:cNvSpPr txBox="1"/>
            <p:nvPr/>
          </p:nvSpPr>
          <p:spPr>
            <a:xfrm>
              <a:off x="4697730" y="3743325"/>
              <a:ext cx="5562124" cy="78867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07:00 thứ Hai: đọc file đơn hàng tuần trên Drive → lập bảng</a:t>
              </a:r>
              <a:br/>
              <a:r>
                <a:rPr lang="vi-VN" sz="1500" dirty="0">
                  <a:solidFill>
                    <a:schemeClr val="dk1"/>
                  </a:solidFill>
                  <a:latin typeface="+mn-lt"/>
                  <a:ea typeface="+mn-ea"/>
                  <a:cs typeface="+mn-cs"/>
                </a:rPr>
                <a:t>doanh thu theo sản phẩm, đánh dấu cảnh báo → </a:t>
              </a:r>
              <a:r>
                <a:rPr lang="vi-VN" sz="1500" b="1" dirty="0">
                  <a:solidFill>
                    <a:schemeClr val="accent1"/>
                  </a:solidFill>
                  <a:latin typeface="+mn-lt"/>
                  <a:ea typeface="+mn-ea"/>
                  <a:cs typeface="+mn-cs"/>
                </a:rPr>
                <a:t>Trưởng phòng</a:t>
              </a:r>
              <a:br/>
              <a:r>
                <a:rPr lang="vi-VN" sz="1500" b="1" dirty="0">
                  <a:solidFill>
                    <a:schemeClr val="accent1"/>
                  </a:solidFill>
                  <a:latin typeface="+mn-lt"/>
                  <a:ea typeface="+mn-ea"/>
                  <a:cs typeface="+mn-cs"/>
                </a:rPr>
                <a:t>duyệt</a:t>
              </a:r>
              <a:r>
                <a:rPr lang="vi-VN" sz="1500" dirty="0">
                  <a:solidFill>
                    <a:schemeClr val="dk1"/>
                  </a:solidFill>
                  <a:latin typeface="+mn-lt"/>
                  <a:ea typeface="+mn-ea"/>
                  <a:cs typeface="+mn-cs"/>
                </a:rPr>
                <a:t> → gửi Ban giám đốc</a:t>
              </a:r>
            </a:p>
          </p:txBody>
        </p:sp>
      </p:grpSp>
      <p:grpSp>
        <p:nvGrpSpPr>
          <p:cNvPr id="81" name="Group 81"/>
          <p:cNvGrpSpPr/>
          <p:nvPr/>
        </p:nvGrpSpPr>
        <p:grpSpPr>
          <a:xfrm>
            <a:off x="4476750" y="4667250"/>
            <a:ext cx="5294227" cy="760095"/>
            <a:chOff x="4476750" y="4667250"/>
            <a:chExt cx="5294227" cy="760095"/>
          </a:xfrm>
        </p:grpSpPr>
        <p:sp>
          <p:nvSpPr>
            <p:cNvPr id="70" name="Rectangle 70"/>
            <p:cNvSpPr/>
            <p:nvPr/>
          </p:nvSpPr>
          <p:spPr>
            <a:xfrm>
              <a:off x="4476750" y="4667250"/>
              <a:ext cx="2095500" cy="323850"/>
            </a:xfrm>
            <a:prstGeom prst="roundRect">
              <a:avLst>
                <a:gd name="adj" fmla="val 50000"/>
              </a:avLst>
            </a:prstGeom>
            <a:solidFill>
              <a:srgbClr val="FCEBDD"/>
            </a:solidFill>
            <a:ln>
              <a:noFill/>
            </a:ln>
          </p:spPr>
        </p:sp>
        <p:sp>
          <p:nvSpPr>
            <p:cNvPr id="71" name="TextBox 71"/>
            <p:cNvSpPr txBox="1"/>
            <p:nvPr/>
          </p:nvSpPr>
          <p:spPr>
            <a:xfrm>
              <a:off x="4622292" y="4740592"/>
              <a:ext cx="1994036"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Phanh 1 · Người duyệt</a:t>
              </a:r>
            </a:p>
          </p:txBody>
        </p:sp>
        <p:sp>
          <p:nvSpPr>
            <p:cNvPr id="72" name="Rectangle 72"/>
            <p:cNvSpPr/>
            <p:nvPr/>
          </p:nvSpPr>
          <p:spPr>
            <a:xfrm>
              <a:off x="6667500" y="4667250"/>
              <a:ext cx="3009900" cy="323850"/>
            </a:xfrm>
            <a:prstGeom prst="roundRect">
              <a:avLst>
                <a:gd name="adj" fmla="val 50000"/>
              </a:avLst>
            </a:prstGeom>
            <a:solidFill>
              <a:srgbClr val="FCEBDD"/>
            </a:solidFill>
            <a:ln>
              <a:noFill/>
            </a:ln>
          </p:spPr>
        </p:sp>
        <p:sp>
          <p:nvSpPr>
            <p:cNvPr id="73" name="TextBox 73"/>
            <p:cNvSpPr txBox="1"/>
            <p:nvPr/>
          </p:nvSpPr>
          <p:spPr>
            <a:xfrm>
              <a:off x="6813042" y="4740592"/>
              <a:ext cx="2957935"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Phanh 2 · Hẹn giờ để còn kịp hủy</a:t>
              </a:r>
            </a:p>
          </p:txBody>
        </p:sp>
        <p:grpSp>
          <p:nvGrpSpPr>
            <p:cNvPr id="79" name="Group 79"/>
            <p:cNvGrpSpPr/>
            <p:nvPr/>
          </p:nvGrpSpPr>
          <p:grpSpPr>
            <a:xfrm>
              <a:off x="4520406" y="5150644"/>
              <a:ext cx="122238" cy="157163"/>
              <a:chOff x="4520406" y="5150644"/>
              <a:chExt cx="122238" cy="157163"/>
            </a:xfrm>
          </p:grpSpPr>
          <p:sp>
            <p:nvSpPr>
              <p:cNvPr id="74" name="Freeform 74"/>
              <p:cNvSpPr/>
              <p:nvPr/>
            </p:nvSpPr>
            <p:spPr>
              <a:xfrm>
                <a:off x="4598988" y="5150644"/>
                <a:ext cx="43656" cy="43656"/>
              </a:xfrm>
              <a:custGeom>
                <a:avLst/>
                <a:gdLst/>
                <a:ahLst/>
                <a:cxnLst/>
                <a:rect l="l" t="t" r="r" b="b"/>
                <a:pathLst>
                  <a:path w="43656" h="43656">
                    <a:moveTo>
                      <a:pt x="0" y="0"/>
                    </a:moveTo>
                    <a:lnTo>
                      <a:pt x="0" y="34925"/>
                    </a:lnTo>
                    <a:cubicBezTo>
                      <a:pt x="0" y="39747"/>
                      <a:pt x="3909" y="43656"/>
                      <a:pt x="8731" y="43656"/>
                    </a:cubicBezTo>
                    <a:lnTo>
                      <a:pt x="43656" y="43656"/>
                    </a:lnTo>
                  </a:path>
                </a:pathLst>
              </a:custGeom>
              <a:noFill/>
              <a:ln w="17463">
                <a:solidFill>
                  <a:schemeClr val="accent1"/>
                </a:solidFill>
              </a:ln>
            </p:spPr>
          </p:sp>
          <p:sp>
            <p:nvSpPr>
              <p:cNvPr id="75" name="Freeform 75"/>
              <p:cNvSpPr/>
              <p:nvPr/>
            </p:nvSpPr>
            <p:spPr>
              <a:xfrm>
                <a:off x="4520406" y="5150644"/>
                <a:ext cx="122238" cy="157163"/>
              </a:xfrm>
              <a:custGeom>
                <a:avLst/>
                <a:gdLst/>
                <a:ahLst/>
                <a:cxnLst/>
                <a:rect l="l" t="t" r="r" b="b"/>
                <a:pathLst>
                  <a:path w="122238" h="157163">
                    <a:moveTo>
                      <a:pt x="104775" y="157163"/>
                    </a:moveTo>
                    <a:lnTo>
                      <a:pt x="17463" y="157163"/>
                    </a:lnTo>
                    <a:cubicBezTo>
                      <a:pt x="7818" y="157163"/>
                      <a:pt x="0" y="149344"/>
                      <a:pt x="0" y="139700"/>
                    </a:cubicBezTo>
                    <a:lnTo>
                      <a:pt x="0" y="17463"/>
                    </a:lnTo>
                    <a:cubicBezTo>
                      <a:pt x="0" y="7818"/>
                      <a:pt x="7818" y="0"/>
                      <a:pt x="17463" y="0"/>
                    </a:cubicBezTo>
                    <a:lnTo>
                      <a:pt x="78581" y="0"/>
                    </a:lnTo>
                    <a:lnTo>
                      <a:pt x="122238" y="43656"/>
                    </a:lnTo>
                    <a:lnTo>
                      <a:pt x="122238" y="139700"/>
                    </a:lnTo>
                    <a:cubicBezTo>
                      <a:pt x="122238" y="149344"/>
                      <a:pt x="114419" y="157163"/>
                      <a:pt x="104775" y="157163"/>
                    </a:cubicBezTo>
                  </a:path>
                </a:pathLst>
              </a:custGeom>
              <a:noFill/>
              <a:ln w="17463">
                <a:solidFill>
                  <a:schemeClr val="accent1"/>
                </a:solidFill>
              </a:ln>
            </p:spPr>
          </p:sp>
          <p:sp>
            <p:nvSpPr>
              <p:cNvPr id="76" name="Freeform 76"/>
              <p:cNvSpPr/>
              <p:nvPr/>
            </p:nvSpPr>
            <p:spPr>
              <a:xfrm>
                <a:off x="4555331" y="5203031"/>
                <a:ext cx="9525" cy="9525"/>
              </a:xfrm>
              <a:custGeom>
                <a:avLst/>
                <a:gdLst/>
                <a:ahLst/>
                <a:cxnLst/>
                <a:rect l="l" t="t" r="r" b="b"/>
                <a:pathLst>
                  <a:path w="9525" h="9525">
                    <a:moveTo>
                      <a:pt x="0" y="0"/>
                    </a:moveTo>
                    <a:lnTo>
                      <a:pt x="8731" y="0"/>
                    </a:lnTo>
                  </a:path>
                </a:pathLst>
              </a:custGeom>
              <a:noFill/>
              <a:ln w="17463">
                <a:solidFill>
                  <a:schemeClr val="accent1"/>
                </a:solidFill>
              </a:ln>
            </p:spPr>
          </p:sp>
          <p:sp>
            <p:nvSpPr>
              <p:cNvPr id="77" name="Freeform 77"/>
              <p:cNvSpPr/>
              <p:nvPr/>
            </p:nvSpPr>
            <p:spPr>
              <a:xfrm>
                <a:off x="4555331" y="5237956"/>
                <a:ext cx="52388" cy="9525"/>
              </a:xfrm>
              <a:custGeom>
                <a:avLst/>
                <a:gdLst/>
                <a:ahLst/>
                <a:cxnLst/>
                <a:rect l="l" t="t" r="r" b="b"/>
                <a:pathLst>
                  <a:path w="52388" h="9525">
                    <a:moveTo>
                      <a:pt x="0" y="0"/>
                    </a:moveTo>
                    <a:lnTo>
                      <a:pt x="52388" y="0"/>
                    </a:lnTo>
                  </a:path>
                </a:pathLst>
              </a:custGeom>
              <a:noFill/>
              <a:ln w="17463">
                <a:solidFill>
                  <a:schemeClr val="accent1"/>
                </a:solidFill>
              </a:ln>
            </p:spPr>
          </p:sp>
          <p:sp>
            <p:nvSpPr>
              <p:cNvPr id="78" name="Freeform 78"/>
              <p:cNvSpPr/>
              <p:nvPr/>
            </p:nvSpPr>
            <p:spPr>
              <a:xfrm>
                <a:off x="4555331" y="5272881"/>
                <a:ext cx="52388" cy="9525"/>
              </a:xfrm>
              <a:custGeom>
                <a:avLst/>
                <a:gdLst/>
                <a:ahLst/>
                <a:cxnLst/>
                <a:rect l="l" t="t" r="r" b="b"/>
                <a:pathLst>
                  <a:path w="52388" h="9525">
                    <a:moveTo>
                      <a:pt x="0" y="0"/>
                    </a:moveTo>
                    <a:lnTo>
                      <a:pt x="52388" y="0"/>
                    </a:lnTo>
                  </a:path>
                </a:pathLst>
              </a:custGeom>
              <a:noFill/>
              <a:ln w="17463">
                <a:solidFill>
                  <a:schemeClr val="accent1"/>
                </a:solidFill>
              </a:ln>
            </p:spPr>
          </p:sp>
        </p:grpSp>
        <p:sp>
          <p:nvSpPr>
            <p:cNvPr id="80" name="TextBox 80"/>
            <p:cNvSpPr txBox="1"/>
            <p:nvPr/>
          </p:nvSpPr>
          <p:spPr>
            <a:xfrm>
              <a:off x="4773930" y="5133975"/>
              <a:ext cx="3465642"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Ghi log: lúc chạy, kết quả, ai duyệt</a:t>
              </a:r>
            </a:p>
          </p:txBody>
        </p:sp>
      </p:grpSp>
      <p:grpSp>
        <p:nvGrpSpPr>
          <p:cNvPr id="89" name="Group 89"/>
          <p:cNvGrpSpPr/>
          <p:nvPr/>
        </p:nvGrpSpPr>
        <p:grpSpPr>
          <a:xfrm>
            <a:off x="374904" y="5619750"/>
            <a:ext cx="11219335" cy="346901"/>
            <a:chOff x="374904" y="5619750"/>
            <a:chExt cx="11219335" cy="346901"/>
          </a:xfrm>
        </p:grpSpPr>
        <p:sp>
          <p:nvSpPr>
            <p:cNvPr id="82" name="TextBox 82"/>
            <p:cNvSpPr txBox="1"/>
            <p:nvPr/>
          </p:nvSpPr>
          <p:spPr>
            <a:xfrm>
              <a:off x="374904" y="5718810"/>
              <a:ext cx="721401"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CÔNG CỤ</a:t>
              </a:r>
            </a:p>
          </p:txBody>
        </p:sp>
        <p:sp>
          <p:nvSpPr>
            <p:cNvPr id="83" name="Rectangle 83"/>
            <p:cNvSpPr/>
            <p:nvPr/>
          </p:nvSpPr>
          <p:spPr>
            <a:xfrm>
              <a:off x="1238250" y="5619750"/>
              <a:ext cx="2400300" cy="342900"/>
            </a:xfrm>
            <a:prstGeom prst="roundRect">
              <a:avLst>
                <a:gd name="adj" fmla="val 50000"/>
              </a:avLst>
            </a:prstGeom>
            <a:solidFill>
              <a:schemeClr val="lt1"/>
            </a:solidFill>
            <a:ln w="14288">
              <a:solidFill>
                <a:schemeClr val="accent4"/>
              </a:solidFill>
            </a:ln>
          </p:spPr>
        </p:sp>
        <p:sp>
          <p:nvSpPr>
            <p:cNvPr id="84" name="TextBox 84"/>
            <p:cNvSpPr txBox="1"/>
            <p:nvPr/>
          </p:nvSpPr>
          <p:spPr>
            <a:xfrm>
              <a:off x="1383792" y="5702618"/>
              <a:ext cx="2411357"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Scheduled task</a:t>
              </a:r>
              <a:r>
                <a:rPr lang="vi-VN" sz="1350" dirty="0">
                  <a:solidFill>
                    <a:schemeClr val="dk1"/>
                  </a:solidFill>
                  <a:latin typeface="+mn-lt"/>
                  <a:ea typeface="+mn-ea"/>
                  <a:cs typeface="+mn-cs"/>
                </a:rPr>
                <a:t> · theo lịch</a:t>
              </a:r>
            </a:p>
          </p:txBody>
        </p:sp>
        <p:sp>
          <p:nvSpPr>
            <p:cNvPr id="85" name="Rectangle 85"/>
            <p:cNvSpPr/>
            <p:nvPr/>
          </p:nvSpPr>
          <p:spPr>
            <a:xfrm>
              <a:off x="3733800" y="5619750"/>
              <a:ext cx="3543300" cy="342900"/>
            </a:xfrm>
            <a:prstGeom prst="roundRect">
              <a:avLst>
                <a:gd name="adj" fmla="val 50000"/>
              </a:avLst>
            </a:prstGeom>
            <a:solidFill>
              <a:schemeClr val="lt1"/>
            </a:solidFill>
            <a:ln w="14288">
              <a:solidFill>
                <a:schemeClr val="accent4"/>
              </a:solidFill>
            </a:ln>
          </p:spPr>
        </p:sp>
        <p:sp>
          <p:nvSpPr>
            <p:cNvPr id="86" name="TextBox 86"/>
            <p:cNvSpPr txBox="1"/>
            <p:nvPr/>
          </p:nvSpPr>
          <p:spPr>
            <a:xfrm>
              <a:off x="3879342" y="5702618"/>
              <a:ext cx="3590184"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Task theo sự kiện</a:t>
              </a:r>
              <a:r>
                <a:rPr lang="vi-VN" sz="1350" dirty="0">
                  <a:solidFill>
                    <a:schemeClr val="dk1"/>
                  </a:solidFill>
                  <a:latin typeface="+mn-lt"/>
                  <a:ea typeface="+mn-ea"/>
                  <a:cs typeface="+mn-cs"/>
                </a:rPr>
                <a:t> · thư Gmail mới, Slack</a:t>
              </a:r>
            </a:p>
          </p:txBody>
        </p:sp>
        <p:sp>
          <p:nvSpPr>
            <p:cNvPr id="87" name="Rectangle 87"/>
            <p:cNvSpPr/>
            <p:nvPr/>
          </p:nvSpPr>
          <p:spPr>
            <a:xfrm>
              <a:off x="7372350" y="5619750"/>
              <a:ext cx="4191000" cy="342900"/>
            </a:xfrm>
            <a:prstGeom prst="roundRect">
              <a:avLst>
                <a:gd name="adj" fmla="val 50000"/>
              </a:avLst>
            </a:prstGeom>
            <a:solidFill>
              <a:schemeClr val="lt1"/>
            </a:solidFill>
            <a:ln w="14288">
              <a:solidFill>
                <a:schemeClr val="accent4"/>
              </a:solidFill>
            </a:ln>
          </p:spPr>
        </p:sp>
        <p:sp>
          <p:nvSpPr>
            <p:cNvPr id="88" name="TextBox 88"/>
            <p:cNvSpPr txBox="1"/>
            <p:nvPr/>
          </p:nvSpPr>
          <p:spPr>
            <a:xfrm>
              <a:off x="7517892" y="5702618"/>
              <a:ext cx="4076347"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ChatGPT Work</a:t>
              </a:r>
              <a:r>
                <a:rPr lang="vi-VN" sz="1350" dirty="0">
                  <a:solidFill>
                    <a:schemeClr val="dk1"/>
                  </a:solidFill>
                  <a:latin typeface="+mn-lt"/>
                  <a:ea typeface="+mn-ea"/>
                  <a:cs typeface="+mn-cs"/>
                </a:rPr>
                <a:t> · giao trọn mục tiêu nhiều bước</a:t>
              </a:r>
            </a:p>
          </p:txBody>
        </p:sp>
      </p:grpSp>
      <p:sp>
        <p:nvSpPr>
          <p:cNvPr id="90" name="TextBox 90"/>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91" name="TextBox 91"/>
          <p:cNvSpPr txBox="1"/>
          <p:nvPr/>
        </p:nvSpPr>
        <p:spPr>
          <a:xfrm>
            <a:off x="8040407" y="6554152"/>
            <a:ext cx="3109177"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Ví dụ minh hoạ trên dữ liệu demo đơn hàng Wir</a:t>
            </a:r>
          </a:p>
        </p:txBody>
      </p:sp>
      <p:sp>
        <p:nvSpPr>
          <p:cNvPr id="92" name="TextBox 92"/>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30 / 35</a:t>
            </a:r>
          </a:p>
        </p:txBody>
      </p:sp>
      <p:sp>
        <p:nvSpPr>
          <p:cNvPr id="93" name="demo-flag"/>
          <p:cNvSpPr/>
          <p:nvPr/>
        </p:nvSpPr>
        <p:spPr>
          <a:xfrm>
            <a:off x="3810000" y="304800"/>
            <a:ext cx="1638300" cy="228600"/>
          </a:xfrm>
          <a:prstGeom prst="roundRect">
            <a:avLst>
              <a:gd name="adj" fmla="val 50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00" b="1">
                <a:solidFill>
                  <a:srgbClr val="FFFFFF"/>
                </a:solidFill>
              </a:rPr>
              <a:t>▶ CÓ HƯỚNG DẪN DEMO</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1738041" cy="234696"/>
            <a:chOff x="381000" y="346710"/>
            <a:chExt cx="1738041" cy="234696"/>
          </a:xfrm>
        </p:grpSpPr>
        <p:sp>
          <p:nvSpPr>
            <p:cNvPr id="2" name="Rectangle 2"/>
            <p:cNvSpPr/>
            <p:nvPr/>
          </p:nvSpPr>
          <p:spPr>
            <a:xfrm>
              <a:off x="381000" y="361950"/>
              <a:ext cx="114300" cy="114300"/>
            </a:xfrm>
            <a:prstGeom prst="roundRect">
              <a:avLst>
                <a:gd name="adj" fmla="val 25000"/>
              </a:avLst>
            </a:prstGeom>
            <a:solidFill>
              <a:schemeClr val="accent1"/>
            </a:solidFill>
            <a:ln>
              <a:noFill/>
            </a:ln>
          </p:spPr>
        </p:sp>
        <p:sp>
          <p:nvSpPr>
            <p:cNvPr id="3" name="TextBox 3"/>
            <p:cNvSpPr txBox="1"/>
            <p:nvPr/>
          </p:nvSpPr>
          <p:spPr>
            <a:xfrm>
              <a:off x="584454" y="346710"/>
              <a:ext cx="1534587"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4 · PLUGIN</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chemeClr val="accent2"/>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3715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8559070"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Plugin tự tạo là thùng đồ nghề bàn giao:</a:t>
            </a:r>
            <a:br/>
            <a:r>
              <a:rPr lang="vi-VN" sz="3150" b="1" dirty="0">
                <a:solidFill>
                  <a:schemeClr val="accent1"/>
                </a:solidFill>
                <a:latin typeface="+mn-lt"/>
                <a:ea typeface="+mn-ea"/>
                <a:cs typeface="+mn-cs"/>
              </a:rPr>
              <a:t>Skill + File tham chiếu + App, kèm Playbook</a:t>
            </a:r>
          </a:p>
        </p:txBody>
      </p:sp>
      <p:grpSp>
        <p:nvGrpSpPr>
          <p:cNvPr id="26" name="Group 26"/>
          <p:cNvGrpSpPr/>
          <p:nvPr/>
        </p:nvGrpSpPr>
        <p:grpSpPr>
          <a:xfrm>
            <a:off x="381000" y="2114550"/>
            <a:ext cx="5334000" cy="3619500"/>
            <a:chOff x="381000" y="2114550"/>
            <a:chExt cx="5334000" cy="3619500"/>
          </a:xfrm>
        </p:grpSpPr>
        <p:sp>
          <p:nvSpPr>
            <p:cNvPr id="17" name="Rectangle 17"/>
            <p:cNvSpPr/>
            <p:nvPr/>
          </p:nvSpPr>
          <p:spPr>
            <a:xfrm>
              <a:off x="381000" y="2114550"/>
              <a:ext cx="5334000" cy="3619500"/>
            </a:xfrm>
            <a:prstGeom prst="roundRect">
              <a:avLst>
                <a:gd name="adj" fmla="val 4211"/>
              </a:avLst>
            </a:prstGeom>
            <a:solidFill>
              <a:schemeClr val="lt2"/>
            </a:solidFill>
            <a:ln>
              <a:noFill/>
            </a:ln>
          </p:spPr>
        </p:sp>
        <p:grpSp>
          <p:nvGrpSpPr>
            <p:cNvPr id="23" name="Group 23"/>
            <p:cNvGrpSpPr/>
            <p:nvPr/>
          </p:nvGrpSpPr>
          <p:grpSpPr>
            <a:xfrm>
              <a:off x="638175" y="2314575"/>
              <a:ext cx="171450" cy="171450"/>
              <a:chOff x="638175" y="2314575"/>
              <a:chExt cx="171450" cy="171450"/>
            </a:xfrm>
          </p:grpSpPr>
          <p:sp>
            <p:nvSpPr>
              <p:cNvPr id="18" name="Freeform 18"/>
              <p:cNvSpPr/>
              <p:nvPr/>
            </p:nvSpPr>
            <p:spPr>
              <a:xfrm>
                <a:off x="704850" y="2314575"/>
                <a:ext cx="38100" cy="38100"/>
              </a:xfrm>
              <a:custGeom>
                <a:avLst/>
                <a:gdLst/>
                <a:ahLst/>
                <a:cxnLst/>
                <a:rect l="l" t="t" r="r" b="b"/>
                <a:pathLst>
                  <a:path w="38100" h="38100">
                    <a:moveTo>
                      <a:pt x="0" y="0"/>
                    </a:moveTo>
                    <a:lnTo>
                      <a:pt x="38100" y="0"/>
                    </a:lnTo>
                    <a:lnTo>
                      <a:pt x="38100" y="38100"/>
                    </a:lnTo>
                    <a:lnTo>
                      <a:pt x="0" y="38100"/>
                    </a:lnTo>
                    <a:lnTo>
                      <a:pt x="0" y="0"/>
                    </a:lnTo>
                  </a:path>
                </a:pathLst>
              </a:custGeom>
              <a:noFill/>
              <a:ln w="19050">
                <a:solidFill>
                  <a:schemeClr val="accent1"/>
                </a:solidFill>
              </a:ln>
            </p:spPr>
          </p:sp>
          <p:sp>
            <p:nvSpPr>
              <p:cNvPr id="19" name="Freeform 19"/>
              <p:cNvSpPr/>
              <p:nvPr/>
            </p:nvSpPr>
            <p:spPr>
              <a:xfrm>
                <a:off x="638175" y="2447925"/>
                <a:ext cx="38100" cy="38100"/>
              </a:xfrm>
              <a:custGeom>
                <a:avLst/>
                <a:gdLst/>
                <a:ahLst/>
                <a:cxnLst/>
                <a:rect l="l" t="t" r="r" b="b"/>
                <a:pathLst>
                  <a:path w="38100" h="38100">
                    <a:moveTo>
                      <a:pt x="0" y="0"/>
                    </a:moveTo>
                    <a:lnTo>
                      <a:pt x="38100" y="0"/>
                    </a:lnTo>
                    <a:lnTo>
                      <a:pt x="38100" y="38100"/>
                    </a:lnTo>
                    <a:lnTo>
                      <a:pt x="0" y="38100"/>
                    </a:lnTo>
                    <a:lnTo>
                      <a:pt x="0" y="0"/>
                    </a:lnTo>
                  </a:path>
                </a:pathLst>
              </a:custGeom>
              <a:noFill/>
              <a:ln w="19050">
                <a:solidFill>
                  <a:schemeClr val="accent1"/>
                </a:solidFill>
              </a:ln>
            </p:spPr>
          </p:sp>
          <p:sp>
            <p:nvSpPr>
              <p:cNvPr id="20" name="Freeform 20"/>
              <p:cNvSpPr/>
              <p:nvPr/>
            </p:nvSpPr>
            <p:spPr>
              <a:xfrm>
                <a:off x="771525" y="2447925"/>
                <a:ext cx="38100" cy="38100"/>
              </a:xfrm>
              <a:custGeom>
                <a:avLst/>
                <a:gdLst/>
                <a:ahLst/>
                <a:cxnLst/>
                <a:rect l="l" t="t" r="r" b="b"/>
                <a:pathLst>
                  <a:path w="38100" h="38100">
                    <a:moveTo>
                      <a:pt x="0" y="0"/>
                    </a:moveTo>
                    <a:lnTo>
                      <a:pt x="38100" y="0"/>
                    </a:lnTo>
                    <a:lnTo>
                      <a:pt x="38100" y="38100"/>
                    </a:lnTo>
                    <a:lnTo>
                      <a:pt x="0" y="38100"/>
                    </a:lnTo>
                    <a:lnTo>
                      <a:pt x="0" y="0"/>
                    </a:lnTo>
                  </a:path>
                </a:pathLst>
              </a:custGeom>
              <a:noFill/>
              <a:ln w="19050">
                <a:solidFill>
                  <a:schemeClr val="accent1"/>
                </a:solidFill>
              </a:ln>
            </p:spPr>
          </p:sp>
          <p:sp>
            <p:nvSpPr>
              <p:cNvPr id="21" name="Freeform 21"/>
              <p:cNvSpPr/>
              <p:nvPr/>
            </p:nvSpPr>
            <p:spPr>
              <a:xfrm>
                <a:off x="676275" y="2409825"/>
                <a:ext cx="95250" cy="38100"/>
              </a:xfrm>
              <a:custGeom>
                <a:avLst/>
                <a:gdLst/>
                <a:ahLst/>
                <a:cxnLst/>
                <a:rect l="l" t="t" r="r" b="b"/>
                <a:pathLst>
                  <a:path w="95250" h="38100">
                    <a:moveTo>
                      <a:pt x="0" y="38100"/>
                    </a:moveTo>
                    <a:lnTo>
                      <a:pt x="47625" y="0"/>
                    </a:lnTo>
                    <a:lnTo>
                      <a:pt x="95250" y="38100"/>
                    </a:lnTo>
                  </a:path>
                </a:pathLst>
              </a:custGeom>
              <a:noFill/>
              <a:ln w="19050">
                <a:solidFill>
                  <a:schemeClr val="accent1"/>
                </a:solidFill>
              </a:ln>
            </p:spPr>
          </p:sp>
          <p:sp>
            <p:nvSpPr>
              <p:cNvPr id="22" name="Freeform 22"/>
              <p:cNvSpPr/>
              <p:nvPr/>
            </p:nvSpPr>
            <p:spPr>
              <a:xfrm>
                <a:off x="723900" y="2352675"/>
                <a:ext cx="9525" cy="57150"/>
              </a:xfrm>
              <a:custGeom>
                <a:avLst/>
                <a:gdLst/>
                <a:ahLst/>
                <a:cxnLst/>
                <a:rect l="l" t="t" r="r" b="b"/>
                <a:pathLst>
                  <a:path w="9525" h="57150">
                    <a:moveTo>
                      <a:pt x="0" y="0"/>
                    </a:moveTo>
                    <a:lnTo>
                      <a:pt x="0" y="57150"/>
                    </a:lnTo>
                  </a:path>
                </a:pathLst>
              </a:custGeom>
              <a:noFill/>
              <a:ln w="19050">
                <a:solidFill>
                  <a:schemeClr val="accent1"/>
                </a:solidFill>
              </a:ln>
            </p:spPr>
          </p:sp>
        </p:grpSp>
        <p:sp>
          <p:nvSpPr>
            <p:cNvPr id="24" name="TextBox 24"/>
            <p:cNvSpPr txBox="1"/>
            <p:nvPr/>
          </p:nvSpPr>
          <p:spPr>
            <a:xfrm>
              <a:off x="927354" y="2327910"/>
              <a:ext cx="2936504"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CẤU TRÚC MỘT PLUGIN CỦA PHÒNG</a:t>
              </a:r>
            </a:p>
          </p:txBody>
        </p:sp>
        <p:sp>
          <p:nvSpPr>
            <p:cNvPr id="25" name="TextBox 25"/>
            <p:cNvSpPr txBox="1"/>
            <p:nvPr/>
          </p:nvSpPr>
          <p:spPr>
            <a:xfrm>
              <a:off x="601980" y="2695575"/>
              <a:ext cx="2735580" cy="2960370"/>
            </a:xfrm>
            <a:prstGeom prst="rect">
              <a:avLst/>
            </a:prstGeom>
            <a:noFill/>
            <a:ln>
              <a:noFill/>
            </a:ln>
          </p:spPr>
          <p:txBody>
            <a:bodyPr wrap="none" lIns="0" tIns="0" rIns="0" bIns="0" anchor="t" anchorCtr="0">
              <a:spAutoFit/>
            </a:bodyPr>
            <a:lstStyle/>
            <a:p>
              <a:pPr algn="l">
                <a:lnSpc>
                  <a:spcPts val="2100"/>
                </a:lnSpc>
              </a:pPr>
              <a:r>
                <a:rPr lang="vi-VN" sz="1500" b="1" dirty="0">
                  <a:solidFill>
                    <a:schemeClr val="accent1"/>
                  </a:solidFill>
                  <a:latin typeface="Consolas"/>
                  <a:ea typeface="Consolas"/>
                  <a:cs typeface="Consolas"/>
                </a:rPr>
                <a:t>Plugin: Sale Wir</a:t>
              </a:r>
              <a:br/>
              <a:r>
                <a:rPr lang="vi-VN" sz="1500" b="1" dirty="0">
                  <a:solidFill>
                    <a:srgbClr val="2E5E91"/>
                  </a:solidFill>
                  <a:latin typeface="Consolas"/>
                  <a:ea typeface="Consolas"/>
                  <a:cs typeface="Consolas"/>
                </a:rPr>
                <a:t>├─ Skills</a:t>
              </a:r>
              <a:br/>
              <a:r>
                <a:rPr lang="vi-VN" sz="1500" dirty="0">
                  <a:solidFill>
                    <a:schemeClr val="dk1"/>
                  </a:solidFill>
                  <a:latin typeface="Consolas"/>
                  <a:ea typeface="Consolas"/>
                  <a:cs typeface="Consolas"/>
                </a:rPr>
                <a:t>│ cham-diem-lead</a:t>
              </a:r>
              <a:br/>
              <a:r>
                <a:rPr lang="vi-VN" sz="1500" dirty="0">
                  <a:solidFill>
                    <a:schemeClr val="dk1"/>
                  </a:solidFill>
                  <a:latin typeface="Consolas"/>
                  <a:ea typeface="Consolas"/>
                  <a:cs typeface="Consolas"/>
                </a:rPr>
                <a:t>│ soan-tiep-can-sale</a:t>
              </a:r>
              <a:br/>
              <a:r>
                <a:rPr lang="vi-VN" sz="1500" dirty="0">
                  <a:solidFill>
                    <a:schemeClr val="dk1"/>
                  </a:solidFill>
                  <a:latin typeface="Consolas"/>
                  <a:ea typeface="Consolas"/>
                  <a:cs typeface="Consolas"/>
                </a:rPr>
                <a:t>│ xu-ly-tu-choi-sale</a:t>
              </a:r>
              <a:br/>
              <a:r>
                <a:rPr lang="vi-VN" sz="1500" dirty="0">
                  <a:solidFill>
                    <a:schemeClr val="dk1"/>
                  </a:solidFill>
                  <a:latin typeface="Consolas"/>
                  <a:ea typeface="Consolas"/>
                  <a:cs typeface="Consolas"/>
                </a:rPr>
                <a:t>│ tom-tat-tai-lieu</a:t>
              </a:r>
              <a:br/>
              <a:r>
                <a:rPr lang="vi-VN" sz="1500" b="1" dirty="0">
                  <a:solidFill>
                    <a:schemeClr val="accent3"/>
                  </a:solidFill>
                  <a:latin typeface="Consolas"/>
                  <a:ea typeface="Consolas"/>
                  <a:cs typeface="Consolas"/>
                </a:rPr>
                <a:t>├─ File tham chiếu</a:t>
              </a:r>
              <a:br/>
              <a:r>
                <a:rPr lang="vi-VN" sz="1500" dirty="0">
                  <a:solidFill>
                    <a:schemeClr val="dk1"/>
                  </a:solidFill>
                  <a:latin typeface="Consolas"/>
                  <a:ea typeface="Consolas"/>
                  <a:cs typeface="Consolas"/>
                </a:rPr>
                <a:t>│ du-lieu-san-pham-wir.md</a:t>
              </a:r>
              <a:br/>
              <a:r>
                <a:rPr lang="vi-VN" sz="1500" dirty="0">
                  <a:solidFill>
                    <a:schemeClr val="dk1"/>
                  </a:solidFill>
                  <a:latin typeface="Consolas"/>
                  <a:ea typeface="Consolas"/>
                  <a:cs typeface="Consolas"/>
                </a:rPr>
                <a:t>│ chinh-sach-gia-si.md</a:t>
              </a:r>
              <a:br/>
              <a:r>
                <a:rPr lang="vi-VN" sz="1500" dirty="0">
                  <a:solidFill>
                    <a:schemeClr val="dk1"/>
                  </a:solidFill>
                  <a:latin typeface="Consolas"/>
                  <a:ea typeface="Consolas"/>
                  <a:cs typeface="Consolas"/>
                </a:rPr>
                <a:t>│ playbook.md</a:t>
              </a:r>
              <a:br/>
              <a:r>
                <a:rPr lang="vi-VN" sz="1500" b="1" dirty="0">
                  <a:solidFill>
                    <a:schemeClr val="accent1"/>
                  </a:solidFill>
                  <a:latin typeface="Consolas"/>
                  <a:ea typeface="Consolas"/>
                  <a:cs typeface="Consolas"/>
                </a:rPr>
                <a:t>└─ Apps: Google Drive, Gmail</a:t>
              </a:r>
            </a:p>
          </p:txBody>
        </p:sp>
      </p:grpSp>
      <p:grpSp>
        <p:nvGrpSpPr>
          <p:cNvPr id="41" name="Group 41"/>
          <p:cNvGrpSpPr/>
          <p:nvPr/>
        </p:nvGrpSpPr>
        <p:grpSpPr>
          <a:xfrm>
            <a:off x="6096000" y="2114550"/>
            <a:ext cx="5715000" cy="1333500"/>
            <a:chOff x="6096000" y="2114550"/>
            <a:chExt cx="5715000" cy="1333500"/>
          </a:xfrm>
        </p:grpSpPr>
        <p:sp>
          <p:nvSpPr>
            <p:cNvPr id="27" name="Rectangle 27"/>
            <p:cNvSpPr/>
            <p:nvPr/>
          </p:nvSpPr>
          <p:spPr>
            <a:xfrm>
              <a:off x="6096000" y="2114550"/>
              <a:ext cx="5715000" cy="1333500"/>
            </a:xfrm>
            <a:prstGeom prst="roundRect">
              <a:avLst>
                <a:gd name="adj" fmla="val 11429"/>
              </a:avLst>
            </a:prstGeom>
            <a:solidFill>
              <a:schemeClr val="lt1"/>
            </a:solidFill>
            <a:ln w="14288">
              <a:solidFill>
                <a:schemeClr val="accent4"/>
              </a:solidFill>
            </a:ln>
          </p:spPr>
        </p:sp>
        <p:grpSp>
          <p:nvGrpSpPr>
            <p:cNvPr id="33" name="Group 33"/>
            <p:cNvGrpSpPr/>
            <p:nvPr/>
          </p:nvGrpSpPr>
          <p:grpSpPr>
            <a:xfrm>
              <a:off x="6362700" y="2314575"/>
              <a:ext cx="152400" cy="171450"/>
              <a:chOff x="6362700" y="2314575"/>
              <a:chExt cx="152400" cy="171450"/>
            </a:xfrm>
          </p:grpSpPr>
          <p:sp>
            <p:nvSpPr>
              <p:cNvPr id="28" name="Freeform 28"/>
              <p:cNvSpPr/>
              <p:nvPr/>
            </p:nvSpPr>
            <p:spPr>
              <a:xfrm>
                <a:off x="6362700" y="2314575"/>
                <a:ext cx="152400" cy="171450"/>
              </a:xfrm>
              <a:custGeom>
                <a:avLst/>
                <a:gdLst/>
                <a:ahLst/>
                <a:cxnLst/>
                <a:rect l="l" t="t" r="r" b="b"/>
                <a:pathLst>
                  <a:path w="152400" h="171450">
                    <a:moveTo>
                      <a:pt x="76200" y="0"/>
                    </a:moveTo>
                    <a:lnTo>
                      <a:pt x="152400" y="42862"/>
                    </a:lnTo>
                    <a:lnTo>
                      <a:pt x="152400" y="128588"/>
                    </a:lnTo>
                    <a:lnTo>
                      <a:pt x="76200" y="171450"/>
                    </a:lnTo>
                    <a:lnTo>
                      <a:pt x="0" y="128588"/>
                    </a:lnTo>
                    <a:lnTo>
                      <a:pt x="0" y="42862"/>
                    </a:lnTo>
                    <a:lnTo>
                      <a:pt x="76200" y="0"/>
                    </a:lnTo>
                  </a:path>
                </a:pathLst>
              </a:custGeom>
              <a:noFill/>
              <a:ln w="19050">
                <a:solidFill>
                  <a:schemeClr val="accent1"/>
                </a:solidFill>
              </a:ln>
            </p:spPr>
          </p:sp>
          <p:sp>
            <p:nvSpPr>
              <p:cNvPr id="29" name="Freeform 29"/>
              <p:cNvSpPr/>
              <p:nvPr/>
            </p:nvSpPr>
            <p:spPr>
              <a:xfrm>
                <a:off x="6438900" y="2357438"/>
                <a:ext cx="76200" cy="42862"/>
              </a:xfrm>
              <a:custGeom>
                <a:avLst/>
                <a:gdLst/>
                <a:ahLst/>
                <a:cxnLst/>
                <a:rect l="l" t="t" r="r" b="b"/>
                <a:pathLst>
                  <a:path w="76200" h="42862">
                    <a:moveTo>
                      <a:pt x="0" y="42862"/>
                    </a:moveTo>
                    <a:lnTo>
                      <a:pt x="76200" y="0"/>
                    </a:lnTo>
                  </a:path>
                </a:pathLst>
              </a:custGeom>
              <a:noFill/>
              <a:ln w="19050">
                <a:solidFill>
                  <a:schemeClr val="accent1"/>
                </a:solidFill>
              </a:ln>
            </p:spPr>
          </p:sp>
          <p:sp>
            <p:nvSpPr>
              <p:cNvPr id="30" name="Freeform 30"/>
              <p:cNvSpPr/>
              <p:nvPr/>
            </p:nvSpPr>
            <p:spPr>
              <a:xfrm>
                <a:off x="6438900" y="2400300"/>
                <a:ext cx="9525" cy="85725"/>
              </a:xfrm>
              <a:custGeom>
                <a:avLst/>
                <a:gdLst/>
                <a:ahLst/>
                <a:cxnLst/>
                <a:rect l="l" t="t" r="r" b="b"/>
                <a:pathLst>
                  <a:path w="9525" h="85725">
                    <a:moveTo>
                      <a:pt x="0" y="0"/>
                    </a:moveTo>
                    <a:lnTo>
                      <a:pt x="0" y="85725"/>
                    </a:lnTo>
                  </a:path>
                </a:pathLst>
              </a:custGeom>
              <a:noFill/>
              <a:ln w="19050">
                <a:solidFill>
                  <a:schemeClr val="accent1"/>
                </a:solidFill>
              </a:ln>
            </p:spPr>
          </p:sp>
          <p:sp>
            <p:nvSpPr>
              <p:cNvPr id="31" name="Freeform 31"/>
              <p:cNvSpPr/>
              <p:nvPr/>
            </p:nvSpPr>
            <p:spPr>
              <a:xfrm>
                <a:off x="6362700" y="2357438"/>
                <a:ext cx="76200" cy="42862"/>
              </a:xfrm>
              <a:custGeom>
                <a:avLst/>
                <a:gdLst/>
                <a:ahLst/>
                <a:cxnLst/>
                <a:rect l="l" t="t" r="r" b="b"/>
                <a:pathLst>
                  <a:path w="76200" h="42862">
                    <a:moveTo>
                      <a:pt x="76200" y="42862"/>
                    </a:moveTo>
                    <a:lnTo>
                      <a:pt x="0" y="0"/>
                    </a:lnTo>
                  </a:path>
                </a:pathLst>
              </a:custGeom>
              <a:noFill/>
              <a:ln w="19050">
                <a:solidFill>
                  <a:schemeClr val="accent1"/>
                </a:solidFill>
              </a:ln>
            </p:spPr>
          </p:sp>
          <p:sp>
            <p:nvSpPr>
              <p:cNvPr id="32" name="Freeform 32"/>
              <p:cNvSpPr/>
              <p:nvPr/>
            </p:nvSpPr>
            <p:spPr>
              <a:xfrm>
                <a:off x="6400800" y="2336006"/>
                <a:ext cx="76200" cy="42862"/>
              </a:xfrm>
              <a:custGeom>
                <a:avLst/>
                <a:gdLst/>
                <a:ahLst/>
                <a:cxnLst/>
                <a:rect l="l" t="t" r="r" b="b"/>
                <a:pathLst>
                  <a:path w="76200" h="42862">
                    <a:moveTo>
                      <a:pt x="76200" y="0"/>
                    </a:moveTo>
                    <a:lnTo>
                      <a:pt x="0" y="42862"/>
                    </a:lnTo>
                  </a:path>
                </a:pathLst>
              </a:custGeom>
              <a:noFill/>
              <a:ln w="19050">
                <a:solidFill>
                  <a:schemeClr val="accent1"/>
                </a:solidFill>
              </a:ln>
            </p:spPr>
          </p:sp>
        </p:grpSp>
        <p:sp>
          <p:nvSpPr>
            <p:cNvPr id="34" name="TextBox 34"/>
            <p:cNvSpPr txBox="1"/>
            <p:nvPr/>
          </p:nvSpPr>
          <p:spPr>
            <a:xfrm>
              <a:off x="6642354" y="2327910"/>
              <a:ext cx="1905122"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TẠO KHÔNG CẦN CODE</a:t>
              </a:r>
            </a:p>
          </p:txBody>
        </p:sp>
        <p:sp>
          <p:nvSpPr>
            <p:cNvPr id="35" name="Ellipse 35"/>
            <p:cNvSpPr/>
            <p:nvPr/>
          </p:nvSpPr>
          <p:spPr>
            <a:xfrm>
              <a:off x="6334125" y="2695575"/>
              <a:ext cx="247650" cy="247650"/>
            </a:xfrm>
            <a:prstGeom prst="ellipse">
              <a:avLst/>
            </a:prstGeom>
            <a:solidFill>
              <a:schemeClr val="accent1"/>
            </a:solidFill>
            <a:ln>
              <a:noFill/>
            </a:ln>
          </p:spPr>
        </p:sp>
        <p:sp>
          <p:nvSpPr>
            <p:cNvPr id="36" name="TextBox 36"/>
            <p:cNvSpPr txBox="1"/>
            <p:nvPr/>
          </p:nvSpPr>
          <p:spPr>
            <a:xfrm>
              <a:off x="6405208" y="2747010"/>
              <a:ext cx="105484"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mn-lt"/>
                  <a:ea typeface="+mn-ea"/>
                  <a:cs typeface="+mn-cs"/>
                </a:rPr>
                <a:t>1</a:t>
              </a:r>
            </a:p>
          </p:txBody>
        </p:sp>
        <p:sp>
          <p:nvSpPr>
            <p:cNvPr id="37" name="TextBox 37"/>
            <p:cNvSpPr txBox="1"/>
            <p:nvPr/>
          </p:nvSpPr>
          <p:spPr>
            <a:xfrm>
              <a:off x="6678930" y="2724150"/>
              <a:ext cx="3629283"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Cài Plugin Creator từ danh mục plugin</a:t>
              </a:r>
            </a:p>
          </p:txBody>
        </p:sp>
        <p:sp>
          <p:nvSpPr>
            <p:cNvPr id="38" name="Ellipse 38"/>
            <p:cNvSpPr/>
            <p:nvPr/>
          </p:nvSpPr>
          <p:spPr>
            <a:xfrm>
              <a:off x="6334125" y="3057525"/>
              <a:ext cx="247650" cy="247650"/>
            </a:xfrm>
            <a:prstGeom prst="ellipse">
              <a:avLst/>
            </a:prstGeom>
            <a:solidFill>
              <a:schemeClr val="accent1"/>
            </a:solidFill>
            <a:ln>
              <a:noFill/>
            </a:ln>
          </p:spPr>
        </p:sp>
        <p:sp>
          <p:nvSpPr>
            <p:cNvPr id="39" name="TextBox 39"/>
            <p:cNvSpPr txBox="1"/>
            <p:nvPr/>
          </p:nvSpPr>
          <p:spPr>
            <a:xfrm>
              <a:off x="6405208" y="3108960"/>
              <a:ext cx="105484"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mn-lt"/>
                  <a:ea typeface="+mn-ea"/>
                  <a:cs typeface="+mn-cs"/>
                </a:rPr>
                <a:t>2</a:t>
              </a:r>
            </a:p>
          </p:txBody>
        </p:sp>
        <p:sp>
          <p:nvSpPr>
            <p:cNvPr id="40" name="TextBox 40"/>
            <p:cNvSpPr txBox="1"/>
            <p:nvPr/>
          </p:nvSpPr>
          <p:spPr>
            <a:xfrm>
              <a:off x="6678930" y="3086100"/>
              <a:ext cx="4230957"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Gõ </a:t>
              </a:r>
              <a:r>
                <a:rPr lang="vi-VN" sz="1500" b="1" dirty="0">
                  <a:solidFill>
                    <a:schemeClr val="accent1"/>
                  </a:solidFill>
                  <a:latin typeface="Consolas"/>
                  <a:ea typeface="Consolas"/>
                  <a:cs typeface="Consolas"/>
                </a:rPr>
                <a:t>@plugin-creator</a:t>
              </a:r>
              <a:r>
                <a:rPr lang="vi-VN" sz="1500" dirty="0">
                  <a:solidFill>
                    <a:schemeClr val="dk1"/>
                  </a:solidFill>
                  <a:latin typeface="+mn-lt"/>
                  <a:ea typeface="+mn-ea"/>
                  <a:cs typeface="+mn-cs"/>
                </a:rPr>
                <a:t>, mô tả plugin muốn tạo</a:t>
              </a:r>
            </a:p>
          </p:txBody>
        </p:sp>
      </p:grpSp>
      <p:grpSp>
        <p:nvGrpSpPr>
          <p:cNvPr id="50" name="Group 50"/>
          <p:cNvGrpSpPr/>
          <p:nvPr/>
        </p:nvGrpSpPr>
        <p:grpSpPr>
          <a:xfrm>
            <a:off x="6096000" y="3600450"/>
            <a:ext cx="5715000" cy="2133600"/>
            <a:chOff x="6096000" y="3600450"/>
            <a:chExt cx="5715000" cy="2133600"/>
          </a:xfrm>
        </p:grpSpPr>
        <p:sp>
          <p:nvSpPr>
            <p:cNvPr id="42" name="Rectangle 42"/>
            <p:cNvSpPr/>
            <p:nvPr/>
          </p:nvSpPr>
          <p:spPr>
            <a:xfrm>
              <a:off x="6096000" y="3600450"/>
              <a:ext cx="5715000" cy="2133600"/>
            </a:xfrm>
            <a:prstGeom prst="roundRect">
              <a:avLst>
                <a:gd name="adj" fmla="val 7143"/>
              </a:avLst>
            </a:prstGeom>
            <a:solidFill>
              <a:schemeClr val="lt1"/>
            </a:solidFill>
            <a:ln w="19050">
              <a:solidFill>
                <a:schemeClr val="accent1"/>
              </a:solidFill>
            </a:ln>
          </p:spPr>
        </p:sp>
        <p:grpSp>
          <p:nvGrpSpPr>
            <p:cNvPr id="46" name="Group 46"/>
            <p:cNvGrpSpPr/>
            <p:nvPr/>
          </p:nvGrpSpPr>
          <p:grpSpPr>
            <a:xfrm>
              <a:off x="6372225" y="3810000"/>
              <a:ext cx="133350" cy="152400"/>
              <a:chOff x="6372225" y="3810000"/>
              <a:chExt cx="133350" cy="152400"/>
            </a:xfrm>
          </p:grpSpPr>
          <p:sp>
            <p:nvSpPr>
              <p:cNvPr id="43" name="Freeform 43"/>
              <p:cNvSpPr/>
              <p:nvPr/>
            </p:nvSpPr>
            <p:spPr>
              <a:xfrm>
                <a:off x="6372225" y="3810000"/>
                <a:ext cx="133350" cy="152400"/>
              </a:xfrm>
              <a:custGeom>
                <a:avLst/>
                <a:gdLst/>
                <a:ahLst/>
                <a:cxnLst/>
                <a:rect l="l" t="t" r="r" b="b"/>
                <a:pathLst>
                  <a:path w="133350" h="152400">
                    <a:moveTo>
                      <a:pt x="133350" y="0"/>
                    </a:moveTo>
                    <a:lnTo>
                      <a:pt x="133350" y="152400"/>
                    </a:lnTo>
                    <a:lnTo>
                      <a:pt x="19050" y="152400"/>
                    </a:lnTo>
                    <a:cubicBezTo>
                      <a:pt x="8529" y="152400"/>
                      <a:pt x="0" y="143871"/>
                      <a:pt x="0" y="133350"/>
                    </a:cubicBezTo>
                    <a:lnTo>
                      <a:pt x="0" y="19050"/>
                    </a:lnTo>
                    <a:cubicBezTo>
                      <a:pt x="0" y="8529"/>
                      <a:pt x="8529" y="0"/>
                      <a:pt x="19050" y="0"/>
                    </a:cubicBezTo>
                    <a:lnTo>
                      <a:pt x="133350" y="0"/>
                    </a:lnTo>
                  </a:path>
                </a:pathLst>
              </a:custGeom>
              <a:noFill/>
              <a:ln w="19050">
                <a:solidFill>
                  <a:schemeClr val="accent1"/>
                </a:solidFill>
              </a:ln>
            </p:spPr>
          </p:sp>
          <p:sp>
            <p:nvSpPr>
              <p:cNvPr id="44" name="Freeform 44"/>
              <p:cNvSpPr/>
              <p:nvPr/>
            </p:nvSpPr>
            <p:spPr>
              <a:xfrm>
                <a:off x="6372225" y="3924300"/>
                <a:ext cx="133350" cy="19050"/>
              </a:xfrm>
              <a:custGeom>
                <a:avLst/>
                <a:gdLst/>
                <a:ahLst/>
                <a:cxnLst/>
                <a:rect l="l" t="t" r="r" b="b"/>
                <a:pathLst>
                  <a:path w="133350" h="19050">
                    <a:moveTo>
                      <a:pt x="133350" y="0"/>
                    </a:moveTo>
                    <a:lnTo>
                      <a:pt x="19050" y="0"/>
                    </a:lnTo>
                    <a:cubicBezTo>
                      <a:pt x="8529" y="0"/>
                      <a:pt x="0" y="8529"/>
                      <a:pt x="0" y="19050"/>
                    </a:cubicBezTo>
                  </a:path>
                </a:pathLst>
              </a:custGeom>
              <a:noFill/>
              <a:ln w="19050">
                <a:solidFill>
                  <a:schemeClr val="accent1"/>
                </a:solidFill>
              </a:ln>
            </p:spPr>
          </p:sp>
          <p:sp>
            <p:nvSpPr>
              <p:cNvPr id="45" name="Freeform 45"/>
              <p:cNvSpPr/>
              <p:nvPr/>
            </p:nvSpPr>
            <p:spPr>
              <a:xfrm>
                <a:off x="6410325" y="3848100"/>
                <a:ext cx="57150" cy="9525"/>
              </a:xfrm>
              <a:custGeom>
                <a:avLst/>
                <a:gdLst/>
                <a:ahLst/>
                <a:cxnLst/>
                <a:rect l="l" t="t" r="r" b="b"/>
                <a:pathLst>
                  <a:path w="57150" h="9525">
                    <a:moveTo>
                      <a:pt x="0" y="0"/>
                    </a:moveTo>
                    <a:lnTo>
                      <a:pt x="57150" y="0"/>
                    </a:lnTo>
                  </a:path>
                </a:pathLst>
              </a:custGeom>
              <a:noFill/>
              <a:ln w="19050">
                <a:solidFill>
                  <a:schemeClr val="accent1"/>
                </a:solidFill>
              </a:ln>
            </p:spPr>
          </p:sp>
        </p:grpSp>
        <p:sp>
          <p:nvSpPr>
            <p:cNvPr id="47" name="TextBox 47"/>
            <p:cNvSpPr txBox="1"/>
            <p:nvPr/>
          </p:nvSpPr>
          <p:spPr>
            <a:xfrm>
              <a:off x="6642354" y="3813810"/>
              <a:ext cx="3108472"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PLAYBOOK 7 MỤC · CHO NGƯỜI ĐỌC</a:t>
              </a:r>
            </a:p>
          </p:txBody>
        </p:sp>
        <p:sp>
          <p:nvSpPr>
            <p:cNvPr id="48" name="TextBox 48"/>
            <p:cNvSpPr txBox="1"/>
            <p:nvPr/>
          </p:nvSpPr>
          <p:spPr>
            <a:xfrm>
              <a:off x="6316980" y="4181475"/>
              <a:ext cx="2068354" cy="1264920"/>
            </a:xfrm>
            <a:prstGeom prst="rect">
              <a:avLst/>
            </a:prstGeom>
            <a:noFill/>
            <a:ln>
              <a:noFill/>
            </a:ln>
          </p:spPr>
          <p:txBody>
            <a:bodyPr wrap="none" lIns="0" tIns="0" rIns="0" bIns="0" anchor="t" anchorCtr="0">
              <a:spAutoFit/>
            </a:bodyPr>
            <a:lstStyle/>
            <a:p>
              <a:pPr algn="l">
                <a:lnSpc>
                  <a:spcPts val="2550"/>
                </a:lnSpc>
              </a:pPr>
              <a:r>
                <a:rPr lang="vi-VN" sz="1500" b="1" dirty="0">
                  <a:solidFill>
                    <a:schemeClr val="accent1"/>
                  </a:solidFill>
                  <a:latin typeface="+mn-lt"/>
                  <a:ea typeface="+mn-ea"/>
                  <a:cs typeface="+mn-cs"/>
                </a:rPr>
                <a:t>1</a:t>
              </a:r>
              <a:r>
                <a:rPr lang="vi-VN" sz="1500" dirty="0">
                  <a:solidFill>
                    <a:schemeClr val="dk1"/>
                  </a:solidFill>
                  <a:latin typeface="+mn-lt"/>
                  <a:ea typeface="+mn-ea"/>
                  <a:cs typeface="+mn-cs"/>
                </a:rPr>
                <a:t> Mục đích</a:t>
              </a:r>
              <a:br/>
              <a:r>
                <a:rPr lang="vi-VN" sz="1500" b="1" dirty="0">
                  <a:solidFill>
                    <a:schemeClr val="accent1"/>
                  </a:solidFill>
                  <a:latin typeface="+mn-lt"/>
                  <a:ea typeface="+mn-ea"/>
                  <a:cs typeface="+mn-cs"/>
                </a:rPr>
                <a:t>2</a:t>
              </a:r>
              <a:r>
                <a:rPr lang="vi-VN" sz="1500" dirty="0">
                  <a:solidFill>
                    <a:schemeClr val="dk1"/>
                  </a:solidFill>
                  <a:latin typeface="+mn-lt"/>
                  <a:ea typeface="+mn-ea"/>
                  <a:cs typeface="+mn-cs"/>
                </a:rPr>
                <a:t> Ai dùng</a:t>
              </a:r>
              <a:br/>
              <a:r>
                <a:rPr lang="vi-VN" sz="1500" b="1" dirty="0">
                  <a:solidFill>
                    <a:schemeClr val="accent1"/>
                  </a:solidFill>
                  <a:latin typeface="+mn-lt"/>
                  <a:ea typeface="+mn-ea"/>
                  <a:cs typeface="+mn-cs"/>
                </a:rPr>
                <a:t>3</a:t>
              </a:r>
              <a:r>
                <a:rPr lang="vi-VN" sz="1500" dirty="0">
                  <a:solidFill>
                    <a:schemeClr val="dk1"/>
                  </a:solidFill>
                  <a:latin typeface="+mn-lt"/>
                  <a:ea typeface="+mn-ea"/>
                  <a:cs typeface="+mn-cs"/>
                </a:rPr>
                <a:t> Quy trình từng bước</a:t>
              </a:r>
              <a:br/>
              <a:r>
                <a:rPr lang="vi-VN" sz="1500" b="1" dirty="0">
                  <a:solidFill>
                    <a:schemeClr val="accent1"/>
                  </a:solidFill>
                  <a:latin typeface="+mn-lt"/>
                  <a:ea typeface="+mn-ea"/>
                  <a:cs typeface="+mn-cs"/>
                </a:rPr>
                <a:t>4</a:t>
              </a:r>
              <a:r>
                <a:rPr lang="vi-VN" sz="1500" dirty="0">
                  <a:solidFill>
                    <a:schemeClr val="dk1"/>
                  </a:solidFill>
                  <a:latin typeface="+mn-lt"/>
                  <a:ea typeface="+mn-ea"/>
                  <a:cs typeface="+mn-cs"/>
                </a:rPr>
                <a:t> Tiêu chuẩn đầu ra</a:t>
              </a:r>
            </a:p>
          </p:txBody>
        </p:sp>
        <p:sp>
          <p:nvSpPr>
            <p:cNvPr id="49" name="TextBox 49"/>
            <p:cNvSpPr txBox="1"/>
            <p:nvPr/>
          </p:nvSpPr>
          <p:spPr>
            <a:xfrm>
              <a:off x="9174480" y="4181475"/>
              <a:ext cx="1525429" cy="941070"/>
            </a:xfrm>
            <a:prstGeom prst="rect">
              <a:avLst/>
            </a:prstGeom>
            <a:noFill/>
            <a:ln>
              <a:noFill/>
            </a:ln>
          </p:spPr>
          <p:txBody>
            <a:bodyPr wrap="none" lIns="0" tIns="0" rIns="0" bIns="0" anchor="t" anchorCtr="0">
              <a:spAutoFit/>
            </a:bodyPr>
            <a:lstStyle/>
            <a:p>
              <a:pPr algn="l">
                <a:lnSpc>
                  <a:spcPts val="2550"/>
                </a:lnSpc>
              </a:pPr>
              <a:r>
                <a:rPr lang="vi-VN" sz="1500" b="1" dirty="0">
                  <a:solidFill>
                    <a:schemeClr val="accent1"/>
                  </a:solidFill>
                  <a:latin typeface="+mn-lt"/>
                  <a:ea typeface="+mn-ea"/>
                  <a:cs typeface="+mn-cs"/>
                </a:rPr>
                <a:t>5</a:t>
              </a:r>
              <a:r>
                <a:rPr lang="vi-VN" sz="1500" dirty="0">
                  <a:solidFill>
                    <a:schemeClr val="dk1"/>
                  </a:solidFill>
                  <a:latin typeface="+mn-lt"/>
                  <a:ea typeface="+mn-ea"/>
                  <a:cs typeface="+mn-cs"/>
                </a:rPr>
                <a:t> Ranh giới</a:t>
              </a:r>
              <a:br/>
              <a:r>
                <a:rPr lang="vi-VN" sz="1500" b="1" dirty="0">
                  <a:solidFill>
                    <a:schemeClr val="accent1"/>
                  </a:solidFill>
                  <a:latin typeface="+mn-lt"/>
                  <a:ea typeface="+mn-ea"/>
                  <a:cs typeface="+mn-cs"/>
                </a:rPr>
                <a:t>6</a:t>
              </a:r>
              <a:r>
                <a:rPr lang="vi-VN" sz="1500" dirty="0">
                  <a:solidFill>
                    <a:schemeClr val="dk1"/>
                  </a:solidFill>
                  <a:latin typeface="+mn-lt"/>
                  <a:ea typeface="+mn-ea"/>
                  <a:cs typeface="+mn-cs"/>
                </a:rPr>
                <a:t> Chỉ số đo</a:t>
              </a:r>
              <a:br/>
              <a:r>
                <a:rPr lang="vi-VN" sz="1500" b="1" dirty="0">
                  <a:solidFill>
                    <a:schemeClr val="accent1"/>
                  </a:solidFill>
                  <a:latin typeface="+mn-lt"/>
                  <a:ea typeface="+mn-ea"/>
                  <a:cs typeface="+mn-cs"/>
                </a:rPr>
                <a:t>7</a:t>
              </a:r>
              <a:r>
                <a:rPr lang="vi-VN" sz="1500" dirty="0">
                  <a:solidFill>
                    <a:schemeClr val="dk1"/>
                  </a:solidFill>
                  <a:latin typeface="+mn-lt"/>
                  <a:ea typeface="+mn-ea"/>
                  <a:cs typeface="+mn-cs"/>
                </a:rPr>
                <a:t> Xử lý khi ra sai</a:t>
              </a:r>
            </a:p>
          </p:txBody>
        </p:sp>
      </p:grpSp>
      <p:grpSp>
        <p:nvGrpSpPr>
          <p:cNvPr id="53" name="Group 53"/>
          <p:cNvGrpSpPr/>
          <p:nvPr/>
        </p:nvGrpSpPr>
        <p:grpSpPr>
          <a:xfrm>
            <a:off x="381000" y="5905500"/>
            <a:ext cx="6970447" cy="414909"/>
            <a:chOff x="381000" y="5905500"/>
            <a:chExt cx="6970447" cy="414909"/>
          </a:xfrm>
        </p:grpSpPr>
        <p:sp>
          <p:nvSpPr>
            <p:cNvPr id="51" name="Rectangle 51"/>
            <p:cNvSpPr/>
            <p:nvPr/>
          </p:nvSpPr>
          <p:spPr>
            <a:xfrm>
              <a:off x="381000" y="5905500"/>
              <a:ext cx="57150" cy="361950"/>
            </a:xfrm>
            <a:prstGeom prst="roundRect">
              <a:avLst>
                <a:gd name="adj" fmla="val 50000"/>
              </a:avLst>
            </a:prstGeom>
            <a:solidFill>
              <a:schemeClr val="accent2"/>
            </a:solidFill>
            <a:ln>
              <a:noFill/>
            </a:ln>
          </p:spPr>
        </p:sp>
        <p:sp>
          <p:nvSpPr>
            <p:cNvPr id="52" name="TextBox 52"/>
            <p:cNvSpPr txBox="1"/>
            <p:nvPr/>
          </p:nvSpPr>
          <p:spPr>
            <a:xfrm>
              <a:off x="581406" y="5968365"/>
              <a:ext cx="6770041" cy="352044"/>
            </a:xfrm>
            <a:prstGeom prst="rect">
              <a:avLst/>
            </a:prstGeom>
            <a:noFill/>
            <a:ln>
              <a:noFill/>
            </a:ln>
          </p:spPr>
          <p:txBody>
            <a:bodyPr wrap="none" lIns="0" tIns="0" rIns="0" bIns="0" anchor="t" anchorCtr="0">
              <a:spAutoFit/>
            </a:bodyPr>
            <a:lstStyle/>
            <a:p>
              <a:pPr algn="l"/>
              <a:r>
                <a:rPr lang="vi-VN" sz="1800" i="1" dirty="0">
                  <a:solidFill>
                    <a:schemeClr val="accent1"/>
                  </a:solidFill>
                  <a:latin typeface="+mn-lt"/>
                  <a:ea typeface="+mn-ea"/>
                  <a:cs typeface="+mn-cs"/>
                </a:rPr>
                <a:t>“Skill là thứ ChatGPT đọc. Playbook là thứ con người đọc.”</a:t>
              </a:r>
            </a:p>
          </p:txBody>
        </p:sp>
      </p:grpSp>
      <p:sp>
        <p:nvSpPr>
          <p:cNvPr id="54" name="TextBox 54"/>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55" name="TextBox 55"/>
          <p:cNvSpPr txBox="1"/>
          <p:nvPr/>
        </p:nvSpPr>
        <p:spPr>
          <a:xfrm>
            <a:off x="8366303" y="6554152"/>
            <a:ext cx="2783281"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Tên skill lấy từ thư viện skill mẫu của Wir</a:t>
            </a:r>
          </a:p>
        </p:txBody>
      </p:sp>
      <p:sp>
        <p:nvSpPr>
          <p:cNvPr id="56" name="TextBox 56"/>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31 / 35</a:t>
            </a:r>
          </a:p>
        </p:txBody>
      </p:sp>
      <p:sp>
        <p:nvSpPr>
          <p:cNvPr id="57" name="demo-flag"/>
          <p:cNvSpPr/>
          <p:nvPr/>
        </p:nvSpPr>
        <p:spPr>
          <a:xfrm>
            <a:off x="3810000" y="304800"/>
            <a:ext cx="1638300" cy="228600"/>
          </a:xfrm>
          <a:prstGeom prst="roundRect">
            <a:avLst>
              <a:gd name="adj" fmla="val 50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00" b="1">
                <a:solidFill>
                  <a:srgbClr val="FFFFFF"/>
                </a:solidFill>
              </a:rPr>
              <a:t>▶ CÓ HƯỚNG DẪN DEMO</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2793462" cy="234696"/>
            <a:chOff x="381000" y="346710"/>
            <a:chExt cx="2793462" cy="234696"/>
          </a:xfrm>
        </p:grpSpPr>
        <p:sp>
          <p:nvSpPr>
            <p:cNvPr id="2" name="Rectangle 2"/>
            <p:cNvSpPr/>
            <p:nvPr/>
          </p:nvSpPr>
          <p:spPr>
            <a:xfrm>
              <a:off x="381000" y="361950"/>
              <a:ext cx="114300" cy="114300"/>
            </a:xfrm>
            <a:prstGeom prst="roundRect">
              <a:avLst>
                <a:gd name="adj" fmla="val 25000"/>
              </a:avLst>
            </a:prstGeom>
            <a:solidFill>
              <a:schemeClr val="accent1"/>
            </a:solidFill>
            <a:ln>
              <a:noFill/>
            </a:ln>
          </p:spPr>
        </p:sp>
        <p:sp>
          <p:nvSpPr>
            <p:cNvPr id="3" name="TextBox 3"/>
            <p:cNvSpPr txBox="1"/>
            <p:nvPr/>
          </p:nvSpPr>
          <p:spPr>
            <a:xfrm>
              <a:off x="584454" y="346710"/>
              <a:ext cx="2590008"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TẦNG 4 · THỰC HÀNH &amp; CHỐT</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chemeClr val="accent2"/>
            </a:solidFill>
            <a:ln>
              <a:noFill/>
            </a:ln>
          </p:spPr>
        </p:sp>
        <p:sp>
          <p:nvSpPr>
            <p:cNvPr id="9" name="Rectangle 9"/>
            <p:cNvSpPr/>
            <p:nvPr/>
          </p:nvSpPr>
          <p:spPr>
            <a:xfrm>
              <a:off x="10668000" y="190500"/>
              <a:ext cx="1143000" cy="228600"/>
            </a:xfrm>
            <a:prstGeom prst="roundRect">
              <a:avLst>
                <a:gd name="adj" fmla="val 12500"/>
              </a:avLst>
            </a:prstGeom>
            <a:solidFill>
              <a:srgbClr val="E3E9F1"/>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3715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Nâng cao</a:t>
              </a:r>
            </a:p>
          </p:txBody>
        </p:sp>
      </p:grpSp>
      <p:sp>
        <p:nvSpPr>
          <p:cNvPr id="16" name="TextBox 16"/>
          <p:cNvSpPr txBox="1"/>
          <p:nvPr/>
        </p:nvSpPr>
        <p:spPr>
          <a:xfrm>
            <a:off x="364998" y="879158"/>
            <a:ext cx="11163395"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Thực hành tầng 4: nối Gmail an toàn, rồi đóng gói plugin</a:t>
            </a:r>
            <a:br/>
            <a:r>
              <a:rPr lang="vi-VN" sz="3150" b="1" dirty="0">
                <a:solidFill>
                  <a:schemeClr val="accent1"/>
                </a:solidFill>
                <a:latin typeface="+mn-lt"/>
                <a:ea typeface="+mn-ea"/>
                <a:cs typeface="+mn-cs"/>
              </a:rPr>
              <a:t>mà đồng nghiệp chạy được không cần hỏi</a:t>
            </a:r>
          </a:p>
        </p:txBody>
      </p:sp>
      <p:grpSp>
        <p:nvGrpSpPr>
          <p:cNvPr id="32" name="Group 32"/>
          <p:cNvGrpSpPr/>
          <p:nvPr/>
        </p:nvGrpSpPr>
        <p:grpSpPr>
          <a:xfrm>
            <a:off x="381000" y="2095500"/>
            <a:ext cx="6572250" cy="1960245"/>
            <a:chOff x="381000" y="2095500"/>
            <a:chExt cx="6572250" cy="1960245"/>
          </a:xfrm>
        </p:grpSpPr>
        <p:sp>
          <p:nvSpPr>
            <p:cNvPr id="17" name="Rectangle 17"/>
            <p:cNvSpPr/>
            <p:nvPr/>
          </p:nvSpPr>
          <p:spPr>
            <a:xfrm>
              <a:off x="381000" y="2095500"/>
              <a:ext cx="6572250" cy="1885950"/>
            </a:xfrm>
            <a:prstGeom prst="roundRect">
              <a:avLst>
                <a:gd name="adj" fmla="val 8081"/>
              </a:avLst>
            </a:prstGeom>
            <a:solidFill>
              <a:schemeClr val="lt1"/>
            </a:solidFill>
            <a:ln w="14288">
              <a:solidFill>
                <a:schemeClr val="accent4"/>
              </a:solidFill>
            </a:ln>
          </p:spPr>
        </p:sp>
        <p:grpSp>
          <p:nvGrpSpPr>
            <p:cNvPr id="24" name="Group 24"/>
            <p:cNvGrpSpPr/>
            <p:nvPr/>
          </p:nvGrpSpPr>
          <p:grpSpPr>
            <a:xfrm>
              <a:off x="638175" y="2276475"/>
              <a:ext cx="171449" cy="171449"/>
              <a:chOff x="638175" y="2276475"/>
              <a:chExt cx="171449" cy="171449"/>
            </a:xfrm>
          </p:grpSpPr>
          <p:sp>
            <p:nvSpPr>
              <p:cNvPr id="18" name="Freeform 18"/>
              <p:cNvSpPr/>
              <p:nvPr/>
            </p:nvSpPr>
            <p:spPr>
              <a:xfrm>
                <a:off x="649749" y="2362200"/>
                <a:ext cx="74151" cy="74151"/>
              </a:xfrm>
              <a:custGeom>
                <a:avLst/>
                <a:gdLst/>
                <a:ahLst/>
                <a:cxnLst/>
                <a:rect l="l" t="t" r="r" b="b"/>
                <a:pathLst>
                  <a:path w="74151" h="74151">
                    <a:moveTo>
                      <a:pt x="26526" y="0"/>
                    </a:moveTo>
                    <a:lnTo>
                      <a:pt x="74151" y="47625"/>
                    </a:lnTo>
                    <a:lnTo>
                      <a:pt x="59863" y="61912"/>
                    </a:lnTo>
                    <a:cubicBezTo>
                      <a:pt x="51403" y="70652"/>
                      <a:pt x="38889" y="74151"/>
                      <a:pt x="27123" y="71066"/>
                    </a:cubicBezTo>
                    <a:cubicBezTo>
                      <a:pt x="15357" y="67982"/>
                      <a:pt x="6169" y="58793"/>
                      <a:pt x="3084" y="47028"/>
                    </a:cubicBezTo>
                    <a:cubicBezTo>
                      <a:pt x="0" y="35262"/>
                      <a:pt x="3499" y="22747"/>
                      <a:pt x="12238" y="14288"/>
                    </a:cubicBezTo>
                    <a:lnTo>
                      <a:pt x="26526" y="0"/>
                    </a:lnTo>
                  </a:path>
                </a:pathLst>
              </a:custGeom>
              <a:noFill/>
              <a:ln w="19050">
                <a:solidFill>
                  <a:schemeClr val="accent1"/>
                </a:solidFill>
              </a:ln>
            </p:spPr>
          </p:sp>
          <p:sp>
            <p:nvSpPr>
              <p:cNvPr id="19" name="Freeform 19"/>
              <p:cNvSpPr/>
              <p:nvPr/>
            </p:nvSpPr>
            <p:spPr>
              <a:xfrm>
                <a:off x="723900" y="2288049"/>
                <a:ext cx="74151" cy="74151"/>
              </a:xfrm>
              <a:custGeom>
                <a:avLst/>
                <a:gdLst/>
                <a:ahLst/>
                <a:cxnLst/>
                <a:rect l="l" t="t" r="r" b="b"/>
                <a:pathLst>
                  <a:path w="74151" h="74151">
                    <a:moveTo>
                      <a:pt x="47625" y="74151"/>
                    </a:moveTo>
                    <a:lnTo>
                      <a:pt x="0" y="26526"/>
                    </a:lnTo>
                    <a:lnTo>
                      <a:pt x="14288" y="12238"/>
                    </a:lnTo>
                    <a:cubicBezTo>
                      <a:pt x="22747" y="3499"/>
                      <a:pt x="35262" y="0"/>
                      <a:pt x="47028" y="3084"/>
                    </a:cubicBezTo>
                    <a:cubicBezTo>
                      <a:pt x="58793" y="6169"/>
                      <a:pt x="67982" y="15357"/>
                      <a:pt x="71066" y="27123"/>
                    </a:cubicBezTo>
                    <a:cubicBezTo>
                      <a:pt x="74151" y="38889"/>
                      <a:pt x="70652" y="51403"/>
                      <a:pt x="61912" y="59863"/>
                    </a:cubicBezTo>
                    <a:lnTo>
                      <a:pt x="47625" y="74151"/>
                    </a:lnTo>
                  </a:path>
                </a:pathLst>
              </a:custGeom>
              <a:noFill/>
              <a:ln w="19050">
                <a:solidFill>
                  <a:schemeClr val="accent1"/>
                </a:solidFill>
              </a:ln>
            </p:spPr>
          </p:sp>
          <p:sp>
            <p:nvSpPr>
              <p:cNvPr id="20" name="Freeform 20"/>
              <p:cNvSpPr/>
              <p:nvPr/>
            </p:nvSpPr>
            <p:spPr>
              <a:xfrm>
                <a:off x="638175" y="2424112"/>
                <a:ext cx="23812" cy="23812"/>
              </a:xfrm>
              <a:custGeom>
                <a:avLst/>
                <a:gdLst/>
                <a:ahLst/>
                <a:cxnLst/>
                <a:rect l="l" t="t" r="r" b="b"/>
                <a:pathLst>
                  <a:path w="23812" h="23812">
                    <a:moveTo>
                      <a:pt x="0" y="23812"/>
                    </a:moveTo>
                    <a:lnTo>
                      <a:pt x="23812" y="0"/>
                    </a:lnTo>
                  </a:path>
                </a:pathLst>
              </a:custGeom>
              <a:noFill/>
              <a:ln w="19050">
                <a:solidFill>
                  <a:schemeClr val="accent1"/>
                </a:solidFill>
              </a:ln>
            </p:spPr>
          </p:sp>
          <p:sp>
            <p:nvSpPr>
              <p:cNvPr id="21" name="Freeform 21"/>
              <p:cNvSpPr/>
              <p:nvPr/>
            </p:nvSpPr>
            <p:spPr>
              <a:xfrm>
                <a:off x="785812" y="2276475"/>
                <a:ext cx="23812" cy="23812"/>
              </a:xfrm>
              <a:custGeom>
                <a:avLst/>
                <a:gdLst/>
                <a:ahLst/>
                <a:cxnLst/>
                <a:rect l="l" t="t" r="r" b="b"/>
                <a:pathLst>
                  <a:path w="23812" h="23812">
                    <a:moveTo>
                      <a:pt x="0" y="23812"/>
                    </a:moveTo>
                    <a:lnTo>
                      <a:pt x="23812" y="0"/>
                    </a:lnTo>
                  </a:path>
                </a:pathLst>
              </a:custGeom>
              <a:noFill/>
              <a:ln w="19050">
                <a:solidFill>
                  <a:schemeClr val="accent1"/>
                </a:solidFill>
              </a:ln>
            </p:spPr>
          </p:sp>
          <p:sp>
            <p:nvSpPr>
              <p:cNvPr id="22" name="Freeform 22"/>
              <p:cNvSpPr/>
              <p:nvPr/>
            </p:nvSpPr>
            <p:spPr>
              <a:xfrm>
                <a:off x="685800" y="2352675"/>
                <a:ext cx="19050" cy="19050"/>
              </a:xfrm>
              <a:custGeom>
                <a:avLst/>
                <a:gdLst/>
                <a:ahLst/>
                <a:cxnLst/>
                <a:rect l="l" t="t" r="r" b="b"/>
                <a:pathLst>
                  <a:path w="19050" h="19050">
                    <a:moveTo>
                      <a:pt x="19050" y="0"/>
                    </a:moveTo>
                    <a:lnTo>
                      <a:pt x="0" y="19050"/>
                    </a:lnTo>
                  </a:path>
                </a:pathLst>
              </a:custGeom>
              <a:noFill/>
              <a:ln w="19050">
                <a:solidFill>
                  <a:schemeClr val="accent1"/>
                </a:solidFill>
              </a:ln>
            </p:spPr>
          </p:sp>
          <p:sp>
            <p:nvSpPr>
              <p:cNvPr id="23" name="Freeform 23"/>
              <p:cNvSpPr/>
              <p:nvPr/>
            </p:nvSpPr>
            <p:spPr>
              <a:xfrm>
                <a:off x="714375" y="2381250"/>
                <a:ext cx="19050" cy="19050"/>
              </a:xfrm>
              <a:custGeom>
                <a:avLst/>
                <a:gdLst/>
                <a:ahLst/>
                <a:cxnLst/>
                <a:rect l="l" t="t" r="r" b="b"/>
                <a:pathLst>
                  <a:path w="19050" h="19050">
                    <a:moveTo>
                      <a:pt x="19050" y="0"/>
                    </a:moveTo>
                    <a:lnTo>
                      <a:pt x="0" y="19050"/>
                    </a:lnTo>
                  </a:path>
                </a:pathLst>
              </a:custGeom>
              <a:noFill/>
              <a:ln w="19050">
                <a:solidFill>
                  <a:schemeClr val="accent1"/>
                </a:solidFill>
              </a:ln>
            </p:spPr>
          </p:sp>
        </p:grpSp>
        <p:sp>
          <p:nvSpPr>
            <p:cNvPr id="25" name="TextBox 25"/>
            <p:cNvSpPr txBox="1"/>
            <p:nvPr/>
          </p:nvSpPr>
          <p:spPr>
            <a:xfrm>
              <a:off x="927354" y="2289810"/>
              <a:ext cx="1743822" cy="234696"/>
            </a:xfrm>
            <a:prstGeom prst="rect">
              <a:avLst/>
            </a:prstGeom>
            <a:noFill/>
            <a:ln>
              <a:noFill/>
            </a:ln>
          </p:spPr>
          <p:txBody>
            <a:bodyPr wrap="none" lIns="0" tIns="0" rIns="0" bIns="0" anchor="t" anchorCtr="0">
              <a:spAutoFit/>
            </a:bodyPr>
            <a:lstStyle/>
            <a:p>
              <a:pPr algn="l"/>
              <a:r>
                <a:rPr lang="vi-VN" sz="1200" b="1" spc="75" dirty="0">
                  <a:solidFill>
                    <a:schemeClr val="accent1"/>
                  </a:solidFill>
                  <a:latin typeface="+mn-lt"/>
                  <a:ea typeface="+mn-ea"/>
                  <a:cs typeface="+mn-cs"/>
                </a:rPr>
                <a:t>4A · PLUGIN CÓ SẴN</a:t>
              </a:r>
            </a:p>
          </p:txBody>
        </p:sp>
        <p:sp>
          <p:nvSpPr>
            <p:cNvPr id="26" name="Ellipse 26"/>
            <p:cNvSpPr/>
            <p:nvPr/>
          </p:nvSpPr>
          <p:spPr>
            <a:xfrm>
              <a:off x="685800" y="2647950"/>
              <a:ext cx="76200" cy="76200"/>
            </a:xfrm>
            <a:prstGeom prst="ellipse">
              <a:avLst/>
            </a:prstGeom>
            <a:solidFill>
              <a:schemeClr val="accent1"/>
            </a:solidFill>
            <a:ln>
              <a:noFill/>
            </a:ln>
          </p:spPr>
        </p:sp>
        <p:sp>
          <p:nvSpPr>
            <p:cNvPr id="27" name="TextBox 27"/>
            <p:cNvSpPr txBox="1"/>
            <p:nvPr/>
          </p:nvSpPr>
          <p:spPr>
            <a:xfrm>
              <a:off x="868680" y="2590800"/>
              <a:ext cx="4121904"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Phân loại 20 email gần nhất, soạn thư nháp</a:t>
              </a:r>
            </a:p>
          </p:txBody>
        </p:sp>
        <p:sp>
          <p:nvSpPr>
            <p:cNvPr id="28" name="Ellipse 28"/>
            <p:cNvSpPr/>
            <p:nvPr/>
          </p:nvSpPr>
          <p:spPr>
            <a:xfrm>
              <a:off x="685800" y="2933700"/>
              <a:ext cx="76200" cy="76200"/>
            </a:xfrm>
            <a:prstGeom prst="ellipse">
              <a:avLst/>
            </a:prstGeom>
            <a:solidFill>
              <a:schemeClr val="accent1"/>
            </a:solidFill>
            <a:ln>
              <a:noFill/>
            </a:ln>
          </p:spPr>
        </p:sp>
        <p:sp>
          <p:nvSpPr>
            <p:cNvPr id="29" name="TextBox 29"/>
            <p:cNvSpPr txBox="1"/>
            <p:nvPr/>
          </p:nvSpPr>
          <p:spPr>
            <a:xfrm>
              <a:off x="868680" y="2876550"/>
              <a:ext cx="5053965" cy="54102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Đọc file đơn hàng trên Drive, ghi bản tóm tắt ngược lên</a:t>
              </a:r>
              <a:br/>
              <a:r>
                <a:rPr lang="vi-VN" sz="1500" dirty="0">
                  <a:solidFill>
                    <a:schemeClr val="dk1"/>
                  </a:solidFill>
                  <a:latin typeface="+mn-lt"/>
                  <a:ea typeface="+mn-ea"/>
                  <a:cs typeface="+mn-cs"/>
                </a:rPr>
                <a:t>Drive (đối chiếu tổng 147.300.000 đ)</a:t>
              </a:r>
            </a:p>
          </p:txBody>
        </p:sp>
        <p:sp>
          <p:nvSpPr>
            <p:cNvPr id="30" name="Line 30"/>
            <p:cNvSpPr/>
            <p:nvPr/>
          </p:nvSpPr>
          <p:spPr>
            <a:xfrm>
              <a:off x="609600" y="3448050"/>
              <a:ext cx="6115050" cy="9525"/>
            </a:xfrm>
            <a:custGeom>
              <a:avLst/>
              <a:gdLst/>
              <a:ahLst/>
              <a:cxnLst/>
              <a:rect l="l" t="t" r="r" b="b"/>
              <a:pathLst>
                <a:path w="6115050" h="9525">
                  <a:moveTo>
                    <a:pt x="0" y="0"/>
                  </a:moveTo>
                  <a:lnTo>
                    <a:pt x="6115050" y="0"/>
                  </a:lnTo>
                </a:path>
              </a:pathLst>
            </a:custGeom>
            <a:noFill/>
            <a:ln w="9525">
              <a:solidFill>
                <a:schemeClr val="accent4"/>
              </a:solidFill>
            </a:ln>
          </p:spPr>
        </p:sp>
        <p:sp>
          <p:nvSpPr>
            <p:cNvPr id="31" name="TextBox 31"/>
            <p:cNvSpPr txBox="1"/>
            <p:nvPr/>
          </p:nvSpPr>
          <p:spPr>
            <a:xfrm>
              <a:off x="601980" y="3533775"/>
              <a:ext cx="4729162" cy="521970"/>
            </a:xfrm>
            <a:prstGeom prst="rect">
              <a:avLst/>
            </a:prstGeom>
            <a:noFill/>
            <a:ln>
              <a:noFill/>
            </a:ln>
          </p:spPr>
          <p:txBody>
            <a:bodyPr wrap="none" lIns="0" tIns="0" rIns="0" bIns="0" anchor="t" anchorCtr="0">
              <a:spAutoFit/>
            </a:bodyPr>
            <a:lstStyle/>
            <a:p>
              <a:pPr algn="l">
                <a:lnSpc>
                  <a:spcPts val="1800"/>
                </a:lnSpc>
              </a:pPr>
              <a:r>
                <a:rPr lang="vi-VN" sz="1500" b="1" dirty="0">
                  <a:solidFill>
                    <a:srgbClr val="2E8B57"/>
                  </a:solidFill>
                  <a:latin typeface="+mn-lt"/>
                  <a:ea typeface="+mn-ea"/>
                  <a:cs typeface="+mn-cs"/>
                </a:rPr>
                <a:t>Đạt khi:</a:t>
              </a:r>
              <a:r>
                <a:rPr lang="vi-VN" sz="1500" dirty="0">
                  <a:solidFill>
                    <a:schemeClr val="dk1"/>
                  </a:solidFill>
                  <a:latin typeface="+mn-lt"/>
                  <a:ea typeface="+mn-ea"/>
                  <a:cs typeface="+mn-cs"/>
                </a:rPr>
                <a:t> đúng tài khoản cá nhân · thư nháp chưa gửi</a:t>
              </a:r>
            </a:p>
            <a:p>
              <a:pPr marL="161925" indent="-161925" algn="l">
                <a:lnSpc>
                  <a:spcPts val="1800"/>
                </a:lnSpc>
                <a:buClr>
                  <a:schemeClr val="dk1"/>
                </a:buClr>
                <a:buSzTx/>
                <a:buFontTx/>
                <a:buChar char="•"/>
              </a:pPr>
              <a:r>
                <a:rPr lang="vi-VN" sz="1500" dirty="0">
                  <a:solidFill>
                    <a:schemeClr val="dk1"/>
                  </a:solidFill>
                  <a:latin typeface="+mn-lt"/>
                  <a:ea typeface="+mn-ea"/>
                  <a:cs typeface="+mn-cs"/>
                </a:rPr>
                <a:t>file gốc còn nguyên · đã gỡ quyền</a:t>
              </a:r>
            </a:p>
          </p:txBody>
        </p:sp>
      </p:grpSp>
      <p:grpSp>
        <p:nvGrpSpPr>
          <p:cNvPr id="47" name="Group 47"/>
          <p:cNvGrpSpPr/>
          <p:nvPr/>
        </p:nvGrpSpPr>
        <p:grpSpPr>
          <a:xfrm>
            <a:off x="381000" y="4095750"/>
            <a:ext cx="6572250" cy="1714500"/>
            <a:chOff x="381000" y="4095750"/>
            <a:chExt cx="6572250" cy="1714500"/>
          </a:xfrm>
        </p:grpSpPr>
        <p:sp>
          <p:nvSpPr>
            <p:cNvPr id="33" name="Rectangle 33"/>
            <p:cNvSpPr/>
            <p:nvPr/>
          </p:nvSpPr>
          <p:spPr>
            <a:xfrm>
              <a:off x="381000" y="4095750"/>
              <a:ext cx="6572250" cy="1714500"/>
            </a:xfrm>
            <a:prstGeom prst="roundRect">
              <a:avLst>
                <a:gd name="adj" fmla="val 8889"/>
              </a:avLst>
            </a:prstGeom>
            <a:solidFill>
              <a:schemeClr val="lt1"/>
            </a:solidFill>
            <a:ln w="14288">
              <a:solidFill>
                <a:schemeClr val="accent4"/>
              </a:solidFill>
            </a:ln>
          </p:spPr>
        </p:sp>
        <p:grpSp>
          <p:nvGrpSpPr>
            <p:cNvPr id="39" name="Group 39"/>
            <p:cNvGrpSpPr/>
            <p:nvPr/>
          </p:nvGrpSpPr>
          <p:grpSpPr>
            <a:xfrm>
              <a:off x="647700" y="4276725"/>
              <a:ext cx="152400" cy="171450"/>
              <a:chOff x="647700" y="4276725"/>
              <a:chExt cx="152400" cy="171450"/>
            </a:xfrm>
          </p:grpSpPr>
          <p:sp>
            <p:nvSpPr>
              <p:cNvPr id="34" name="Freeform 34"/>
              <p:cNvSpPr/>
              <p:nvPr/>
            </p:nvSpPr>
            <p:spPr>
              <a:xfrm>
                <a:off x="647700" y="4276725"/>
                <a:ext cx="152400" cy="171450"/>
              </a:xfrm>
              <a:custGeom>
                <a:avLst/>
                <a:gdLst/>
                <a:ahLst/>
                <a:cxnLst/>
                <a:rect l="l" t="t" r="r" b="b"/>
                <a:pathLst>
                  <a:path w="152400" h="171450">
                    <a:moveTo>
                      <a:pt x="76200" y="0"/>
                    </a:moveTo>
                    <a:lnTo>
                      <a:pt x="152400" y="42862"/>
                    </a:lnTo>
                    <a:lnTo>
                      <a:pt x="152400" y="128588"/>
                    </a:lnTo>
                    <a:lnTo>
                      <a:pt x="76200" y="171450"/>
                    </a:lnTo>
                    <a:lnTo>
                      <a:pt x="0" y="128588"/>
                    </a:lnTo>
                    <a:lnTo>
                      <a:pt x="0" y="42862"/>
                    </a:lnTo>
                    <a:lnTo>
                      <a:pt x="76200" y="0"/>
                    </a:lnTo>
                  </a:path>
                </a:pathLst>
              </a:custGeom>
              <a:noFill/>
              <a:ln w="19050">
                <a:solidFill>
                  <a:schemeClr val="accent1"/>
                </a:solidFill>
              </a:ln>
            </p:spPr>
          </p:sp>
          <p:sp>
            <p:nvSpPr>
              <p:cNvPr id="35" name="Freeform 35"/>
              <p:cNvSpPr/>
              <p:nvPr/>
            </p:nvSpPr>
            <p:spPr>
              <a:xfrm>
                <a:off x="723900" y="4319588"/>
                <a:ext cx="76200" cy="42862"/>
              </a:xfrm>
              <a:custGeom>
                <a:avLst/>
                <a:gdLst/>
                <a:ahLst/>
                <a:cxnLst/>
                <a:rect l="l" t="t" r="r" b="b"/>
                <a:pathLst>
                  <a:path w="76200" h="42862">
                    <a:moveTo>
                      <a:pt x="0" y="42862"/>
                    </a:moveTo>
                    <a:lnTo>
                      <a:pt x="76200" y="0"/>
                    </a:lnTo>
                  </a:path>
                </a:pathLst>
              </a:custGeom>
              <a:noFill/>
              <a:ln w="19050">
                <a:solidFill>
                  <a:schemeClr val="accent1"/>
                </a:solidFill>
              </a:ln>
            </p:spPr>
          </p:sp>
          <p:sp>
            <p:nvSpPr>
              <p:cNvPr id="36" name="Freeform 36"/>
              <p:cNvSpPr/>
              <p:nvPr/>
            </p:nvSpPr>
            <p:spPr>
              <a:xfrm>
                <a:off x="723900" y="4362450"/>
                <a:ext cx="9525" cy="85725"/>
              </a:xfrm>
              <a:custGeom>
                <a:avLst/>
                <a:gdLst/>
                <a:ahLst/>
                <a:cxnLst/>
                <a:rect l="l" t="t" r="r" b="b"/>
                <a:pathLst>
                  <a:path w="9525" h="85725">
                    <a:moveTo>
                      <a:pt x="0" y="0"/>
                    </a:moveTo>
                    <a:lnTo>
                      <a:pt x="0" y="85725"/>
                    </a:lnTo>
                  </a:path>
                </a:pathLst>
              </a:custGeom>
              <a:noFill/>
              <a:ln w="19050">
                <a:solidFill>
                  <a:schemeClr val="accent1"/>
                </a:solidFill>
              </a:ln>
            </p:spPr>
          </p:sp>
          <p:sp>
            <p:nvSpPr>
              <p:cNvPr id="37" name="Freeform 37"/>
              <p:cNvSpPr/>
              <p:nvPr/>
            </p:nvSpPr>
            <p:spPr>
              <a:xfrm>
                <a:off x="647700" y="4319588"/>
                <a:ext cx="76200" cy="42862"/>
              </a:xfrm>
              <a:custGeom>
                <a:avLst/>
                <a:gdLst/>
                <a:ahLst/>
                <a:cxnLst/>
                <a:rect l="l" t="t" r="r" b="b"/>
                <a:pathLst>
                  <a:path w="76200" h="42862">
                    <a:moveTo>
                      <a:pt x="76200" y="42862"/>
                    </a:moveTo>
                    <a:lnTo>
                      <a:pt x="0" y="0"/>
                    </a:lnTo>
                  </a:path>
                </a:pathLst>
              </a:custGeom>
              <a:noFill/>
              <a:ln w="19050">
                <a:solidFill>
                  <a:schemeClr val="accent1"/>
                </a:solidFill>
              </a:ln>
            </p:spPr>
          </p:sp>
          <p:sp>
            <p:nvSpPr>
              <p:cNvPr id="38" name="Freeform 38"/>
              <p:cNvSpPr/>
              <p:nvPr/>
            </p:nvSpPr>
            <p:spPr>
              <a:xfrm>
                <a:off x="685800" y="4298156"/>
                <a:ext cx="76200" cy="42862"/>
              </a:xfrm>
              <a:custGeom>
                <a:avLst/>
                <a:gdLst/>
                <a:ahLst/>
                <a:cxnLst/>
                <a:rect l="l" t="t" r="r" b="b"/>
                <a:pathLst>
                  <a:path w="76200" h="42862">
                    <a:moveTo>
                      <a:pt x="76200" y="0"/>
                    </a:moveTo>
                    <a:lnTo>
                      <a:pt x="0" y="42862"/>
                    </a:lnTo>
                  </a:path>
                </a:pathLst>
              </a:custGeom>
              <a:noFill/>
              <a:ln w="19050">
                <a:solidFill>
                  <a:schemeClr val="accent1"/>
                </a:solidFill>
              </a:ln>
            </p:spPr>
          </p:sp>
        </p:grpSp>
        <p:sp>
          <p:nvSpPr>
            <p:cNvPr id="40" name="TextBox 40"/>
            <p:cNvSpPr txBox="1"/>
            <p:nvPr/>
          </p:nvSpPr>
          <p:spPr>
            <a:xfrm>
              <a:off x="927354" y="4290060"/>
              <a:ext cx="1779666" cy="234696"/>
            </a:xfrm>
            <a:prstGeom prst="rect">
              <a:avLst/>
            </a:prstGeom>
            <a:noFill/>
            <a:ln>
              <a:noFill/>
            </a:ln>
          </p:spPr>
          <p:txBody>
            <a:bodyPr wrap="none" lIns="0" tIns="0" rIns="0" bIns="0" anchor="t" anchorCtr="0">
              <a:spAutoFit/>
            </a:bodyPr>
            <a:lstStyle/>
            <a:p>
              <a:pPr algn="l"/>
              <a:r>
                <a:rPr lang="vi-VN" sz="1200" b="1" spc="75" dirty="0">
                  <a:solidFill>
                    <a:schemeClr val="accent1"/>
                  </a:solidFill>
                  <a:latin typeface="+mn-lt"/>
                  <a:ea typeface="+mn-ea"/>
                  <a:cs typeface="+mn-cs"/>
                </a:rPr>
                <a:t>4B · PLUGIN TỰ TẠO</a:t>
              </a:r>
            </a:p>
          </p:txBody>
        </p:sp>
        <p:sp>
          <p:nvSpPr>
            <p:cNvPr id="41" name="Ellipse 41"/>
            <p:cNvSpPr/>
            <p:nvPr/>
          </p:nvSpPr>
          <p:spPr>
            <a:xfrm>
              <a:off x="685800" y="4648200"/>
              <a:ext cx="76200" cy="76200"/>
            </a:xfrm>
            <a:prstGeom prst="ellipse">
              <a:avLst/>
            </a:prstGeom>
            <a:solidFill>
              <a:schemeClr val="accent1"/>
            </a:solidFill>
            <a:ln>
              <a:noFill/>
            </a:ln>
          </p:spPr>
        </p:sp>
        <p:sp>
          <p:nvSpPr>
            <p:cNvPr id="42" name="TextBox 42"/>
            <p:cNvSpPr txBox="1"/>
            <p:nvPr/>
          </p:nvSpPr>
          <p:spPr>
            <a:xfrm>
              <a:off x="868680" y="4591050"/>
              <a:ext cx="3759756"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Gộp ≥ 2 skill + 1 file tham chiếu + 1 app</a:t>
              </a:r>
            </a:p>
          </p:txBody>
        </p:sp>
        <p:sp>
          <p:nvSpPr>
            <p:cNvPr id="43" name="Ellipse 43"/>
            <p:cNvSpPr/>
            <p:nvPr/>
          </p:nvSpPr>
          <p:spPr>
            <a:xfrm>
              <a:off x="685800" y="4933950"/>
              <a:ext cx="76200" cy="76200"/>
            </a:xfrm>
            <a:prstGeom prst="ellipse">
              <a:avLst/>
            </a:prstGeom>
            <a:solidFill>
              <a:schemeClr val="accent1"/>
            </a:solidFill>
            <a:ln>
              <a:noFill/>
            </a:ln>
          </p:spPr>
        </p:sp>
        <p:sp>
          <p:nvSpPr>
            <p:cNvPr id="44" name="TextBox 44"/>
            <p:cNvSpPr txBox="1"/>
            <p:nvPr/>
          </p:nvSpPr>
          <p:spPr>
            <a:xfrm>
              <a:off x="868680" y="4876800"/>
              <a:ext cx="5978108"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Viết Playbook 7 mục · 2 phép thử ngoài bối cảnh · demo 5 phút</a:t>
              </a:r>
            </a:p>
          </p:txBody>
        </p:sp>
        <p:sp>
          <p:nvSpPr>
            <p:cNvPr id="45" name="Line 45"/>
            <p:cNvSpPr/>
            <p:nvPr/>
          </p:nvSpPr>
          <p:spPr>
            <a:xfrm>
              <a:off x="609600" y="5257800"/>
              <a:ext cx="6115050" cy="9525"/>
            </a:xfrm>
            <a:custGeom>
              <a:avLst/>
              <a:gdLst/>
              <a:ahLst/>
              <a:cxnLst/>
              <a:rect l="l" t="t" r="r" b="b"/>
              <a:pathLst>
                <a:path w="6115050" h="9525">
                  <a:moveTo>
                    <a:pt x="0" y="0"/>
                  </a:moveTo>
                  <a:lnTo>
                    <a:pt x="6115050" y="0"/>
                  </a:lnTo>
                </a:path>
              </a:pathLst>
            </a:custGeom>
            <a:noFill/>
            <a:ln w="9525">
              <a:solidFill>
                <a:schemeClr val="accent4"/>
              </a:solidFill>
            </a:ln>
          </p:spPr>
        </p:sp>
        <p:sp>
          <p:nvSpPr>
            <p:cNvPr id="46" name="TextBox 46"/>
            <p:cNvSpPr txBox="1"/>
            <p:nvPr/>
          </p:nvSpPr>
          <p:spPr>
            <a:xfrm>
              <a:off x="601980" y="5400675"/>
              <a:ext cx="4636132" cy="293370"/>
            </a:xfrm>
            <a:prstGeom prst="rect">
              <a:avLst/>
            </a:prstGeom>
            <a:noFill/>
            <a:ln>
              <a:noFill/>
            </a:ln>
          </p:spPr>
          <p:txBody>
            <a:bodyPr wrap="none" lIns="0" tIns="0" rIns="0" bIns="0" anchor="t" anchorCtr="0">
              <a:spAutoFit/>
            </a:bodyPr>
            <a:lstStyle/>
            <a:p>
              <a:pPr algn="l"/>
              <a:r>
                <a:rPr lang="vi-VN" sz="1500" b="1" dirty="0">
                  <a:solidFill>
                    <a:srgbClr val="2E8B57"/>
                  </a:solidFill>
                  <a:latin typeface="+mn-lt"/>
                  <a:ea typeface="+mn-ea"/>
                  <a:cs typeface="+mn-cs"/>
                </a:rPr>
                <a:t>Đạt khi:</a:t>
              </a:r>
              <a:r>
                <a:rPr lang="vi-VN" sz="1500" dirty="0">
                  <a:solidFill>
                    <a:schemeClr val="dk1"/>
                  </a:solidFill>
                  <a:latin typeface="+mn-lt"/>
                  <a:ea typeface="+mn-ea"/>
                  <a:cs typeface="+mn-cs"/>
                </a:rPr>
                <a:t> người khác chạy được không phải hỏi lại</a:t>
              </a:r>
            </a:p>
          </p:txBody>
        </p:sp>
      </p:grpSp>
      <p:grpSp>
        <p:nvGrpSpPr>
          <p:cNvPr id="59" name="Group 59"/>
          <p:cNvGrpSpPr/>
          <p:nvPr/>
        </p:nvGrpSpPr>
        <p:grpSpPr>
          <a:xfrm>
            <a:off x="7181850" y="2095500"/>
            <a:ext cx="4629150" cy="3714750"/>
            <a:chOff x="7181850" y="2095500"/>
            <a:chExt cx="4629150" cy="3714750"/>
          </a:xfrm>
        </p:grpSpPr>
        <p:sp>
          <p:nvSpPr>
            <p:cNvPr id="48" name="Rectangle 48"/>
            <p:cNvSpPr/>
            <p:nvPr/>
          </p:nvSpPr>
          <p:spPr>
            <a:xfrm>
              <a:off x="7181850" y="2095500"/>
              <a:ext cx="4629150" cy="3714750"/>
            </a:xfrm>
            <a:prstGeom prst="roundRect">
              <a:avLst>
                <a:gd name="adj" fmla="val 4103"/>
              </a:avLst>
            </a:prstGeom>
            <a:solidFill>
              <a:schemeClr val="lt2"/>
            </a:solidFill>
            <a:ln>
              <a:noFill/>
            </a:ln>
          </p:spPr>
        </p:sp>
        <p:grpSp>
          <p:nvGrpSpPr>
            <p:cNvPr id="52" name="Group 52"/>
            <p:cNvGrpSpPr/>
            <p:nvPr/>
          </p:nvGrpSpPr>
          <p:grpSpPr>
            <a:xfrm>
              <a:off x="7441406" y="2316956"/>
              <a:ext cx="185737" cy="185737"/>
              <a:chOff x="7441406" y="2316956"/>
              <a:chExt cx="185737" cy="185737"/>
            </a:xfrm>
          </p:grpSpPr>
          <p:sp>
            <p:nvSpPr>
              <p:cNvPr id="49" name="Freeform 49"/>
              <p:cNvSpPr/>
              <p:nvPr/>
            </p:nvSpPr>
            <p:spPr>
              <a:xfrm>
                <a:off x="7441406" y="231695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chemeClr val="accent1"/>
                </a:solidFill>
              </a:ln>
            </p:spPr>
          </p:sp>
          <p:sp>
            <p:nvSpPr>
              <p:cNvPr id="50" name="Freeform 50"/>
              <p:cNvSpPr/>
              <p:nvPr/>
            </p:nvSpPr>
            <p:spPr>
              <a:xfrm>
                <a:off x="7534275" y="2451099"/>
                <a:ext cx="9525" cy="9525"/>
              </a:xfrm>
              <a:custGeom>
                <a:avLst/>
                <a:gdLst/>
                <a:ahLst/>
                <a:cxnLst/>
                <a:rect l="l" t="t" r="r" b="b"/>
                <a:pathLst>
                  <a:path w="9525" h="9525">
                    <a:moveTo>
                      <a:pt x="0" y="0"/>
                    </a:moveTo>
                    <a:lnTo>
                      <a:pt x="0" y="103"/>
                    </a:lnTo>
                  </a:path>
                </a:pathLst>
              </a:custGeom>
              <a:noFill/>
              <a:ln w="20637">
                <a:solidFill>
                  <a:schemeClr val="accent1"/>
                </a:solidFill>
              </a:ln>
            </p:spPr>
          </p:sp>
          <p:sp>
            <p:nvSpPr>
              <p:cNvPr id="51" name="Freeform 51"/>
              <p:cNvSpPr/>
              <p:nvPr/>
            </p:nvSpPr>
            <p:spPr>
              <a:xfrm>
                <a:off x="7518797" y="2376788"/>
                <a:ext cx="37844" cy="43384"/>
              </a:xfrm>
              <a:custGeom>
                <a:avLst/>
                <a:gdLst/>
                <a:ahLst/>
                <a:cxnLst/>
                <a:rect l="l" t="t" r="r" b="b"/>
                <a:pathLst>
                  <a:path w="37844" h="43384">
                    <a:moveTo>
                      <a:pt x="15478" y="43355"/>
                    </a:moveTo>
                    <a:cubicBezTo>
                      <a:pt x="25032" y="43384"/>
                      <a:pt x="33356" y="36852"/>
                      <a:pt x="35600" y="27566"/>
                    </a:cubicBezTo>
                    <a:cubicBezTo>
                      <a:pt x="37844" y="18280"/>
                      <a:pt x="33422" y="8667"/>
                      <a:pt x="24909" y="4330"/>
                    </a:cubicBezTo>
                    <a:cubicBezTo>
                      <a:pt x="16457" y="0"/>
                      <a:pt x="6136" y="2065"/>
                      <a:pt x="0" y="9314"/>
                    </a:cubicBezTo>
                  </a:path>
                </a:pathLst>
              </a:custGeom>
              <a:noFill/>
              <a:ln w="20637">
                <a:solidFill>
                  <a:schemeClr val="accent1"/>
                </a:solidFill>
              </a:ln>
            </p:spPr>
          </p:sp>
        </p:grpSp>
        <p:sp>
          <p:nvSpPr>
            <p:cNvPr id="53" name="TextBox 53"/>
            <p:cNvSpPr txBox="1"/>
            <p:nvPr/>
          </p:nvSpPr>
          <p:spPr>
            <a:xfrm>
              <a:off x="7747254" y="2337435"/>
              <a:ext cx="1177991"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CÂU HỎI CHỐT</a:t>
              </a:r>
            </a:p>
          </p:txBody>
        </p:sp>
        <p:sp>
          <p:nvSpPr>
            <p:cNvPr id="54" name="TextBox 54"/>
            <p:cNvSpPr txBox="1"/>
            <p:nvPr/>
          </p:nvSpPr>
          <p:spPr>
            <a:xfrm>
              <a:off x="7402830" y="2714625"/>
              <a:ext cx="3265646" cy="541020"/>
            </a:xfrm>
            <a:prstGeom prst="rect">
              <a:avLst/>
            </a:prstGeom>
            <a:noFill/>
            <a:ln>
              <a:noFill/>
            </a:ln>
          </p:spPr>
          <p:txBody>
            <a:bodyPr wrap="none" lIns="0" tIns="0" rIns="0" bIns="0" anchor="t" anchorCtr="0">
              <a:spAutoFit/>
            </a:bodyPr>
            <a:lstStyle/>
            <a:p>
              <a:pPr algn="l">
                <a:lnSpc>
                  <a:spcPts val="1950"/>
                </a:lnSpc>
              </a:pPr>
              <a:r>
                <a:rPr lang="vi-VN" sz="1500" b="1" dirty="0">
                  <a:solidFill>
                    <a:schemeClr val="accent1"/>
                  </a:solidFill>
                  <a:latin typeface="+mn-lt"/>
                  <a:ea typeface="+mn-ea"/>
                  <a:cs typeface="+mn-cs"/>
                </a:rPr>
                <a:t>3 mức quyền theo thứ tự? Mức nào</a:t>
              </a:r>
              <a:br/>
              <a:r>
                <a:rPr lang="vi-VN" sz="1500" b="1" dirty="0">
                  <a:solidFill>
                    <a:schemeClr val="accent1"/>
                  </a:solidFill>
                  <a:latin typeface="+mn-lt"/>
                  <a:ea typeface="+mn-ea"/>
                  <a:cs typeface="+mn-cs"/>
                </a:rPr>
                <a:t>không rút lại được?</a:t>
              </a:r>
            </a:p>
          </p:txBody>
        </p:sp>
        <p:sp>
          <p:nvSpPr>
            <p:cNvPr id="55" name="Line 55"/>
            <p:cNvSpPr/>
            <p:nvPr/>
          </p:nvSpPr>
          <p:spPr>
            <a:xfrm>
              <a:off x="7410450" y="3714750"/>
              <a:ext cx="4171950" cy="9525"/>
            </a:xfrm>
            <a:custGeom>
              <a:avLst/>
              <a:gdLst/>
              <a:ahLst/>
              <a:cxnLst/>
              <a:rect l="l" t="t" r="r" b="b"/>
              <a:pathLst>
                <a:path w="4171950" h="9525">
                  <a:moveTo>
                    <a:pt x="0" y="0"/>
                  </a:moveTo>
                  <a:lnTo>
                    <a:pt x="4171950" y="0"/>
                  </a:lnTo>
                </a:path>
              </a:pathLst>
            </a:custGeom>
            <a:noFill/>
            <a:ln w="9525">
              <a:solidFill>
                <a:schemeClr val="accent4"/>
              </a:solidFill>
            </a:ln>
          </p:spPr>
        </p:sp>
        <p:sp>
          <p:nvSpPr>
            <p:cNvPr id="56" name="TextBox 56"/>
            <p:cNvSpPr txBox="1"/>
            <p:nvPr/>
          </p:nvSpPr>
          <p:spPr>
            <a:xfrm>
              <a:off x="7402830" y="3876675"/>
              <a:ext cx="3277216"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Hai lớp phanh của luồng tự động?</a:t>
              </a:r>
            </a:p>
          </p:txBody>
        </p:sp>
        <p:sp>
          <p:nvSpPr>
            <p:cNvPr id="57" name="Line 57"/>
            <p:cNvSpPr/>
            <p:nvPr/>
          </p:nvSpPr>
          <p:spPr>
            <a:xfrm>
              <a:off x="7410450" y="4610100"/>
              <a:ext cx="4171950" cy="9525"/>
            </a:xfrm>
            <a:custGeom>
              <a:avLst/>
              <a:gdLst/>
              <a:ahLst/>
              <a:cxnLst/>
              <a:rect l="l" t="t" r="r" b="b"/>
              <a:pathLst>
                <a:path w="4171950" h="9525">
                  <a:moveTo>
                    <a:pt x="0" y="0"/>
                  </a:moveTo>
                  <a:lnTo>
                    <a:pt x="4171950" y="0"/>
                  </a:lnTo>
                </a:path>
              </a:pathLst>
            </a:custGeom>
            <a:noFill/>
            <a:ln w="9525">
              <a:solidFill>
                <a:schemeClr val="accent4"/>
              </a:solidFill>
            </a:ln>
          </p:spPr>
        </p:sp>
        <p:sp>
          <p:nvSpPr>
            <p:cNvPr id="58" name="TextBox 58"/>
            <p:cNvSpPr txBox="1"/>
            <p:nvPr/>
          </p:nvSpPr>
          <p:spPr>
            <a:xfrm>
              <a:off x="7402830" y="4772025"/>
              <a:ext cx="2435542" cy="541020"/>
            </a:xfrm>
            <a:prstGeom prst="rect">
              <a:avLst/>
            </a:prstGeom>
            <a:noFill/>
            <a:ln>
              <a:noFill/>
            </a:ln>
          </p:spPr>
          <p:txBody>
            <a:bodyPr wrap="none" lIns="0" tIns="0" rIns="0" bIns="0" anchor="t" anchorCtr="0">
              <a:spAutoFit/>
            </a:bodyPr>
            <a:lstStyle/>
            <a:p>
              <a:pPr algn="l">
                <a:lnSpc>
                  <a:spcPts val="1950"/>
                </a:lnSpc>
              </a:pPr>
              <a:r>
                <a:rPr lang="vi-VN" sz="1500" b="1" dirty="0">
                  <a:solidFill>
                    <a:schemeClr val="accent1"/>
                  </a:solidFill>
                  <a:latin typeface="+mn-lt"/>
                  <a:ea typeface="+mn-ea"/>
                  <a:cs typeface="+mn-cs"/>
                </a:rPr>
                <a:t>Gmail đặt mức quyền nào?</a:t>
              </a:r>
              <a:br/>
              <a:r>
                <a:rPr lang="vi-VN" sz="1500" b="1" dirty="0">
                  <a:solidFill>
                    <a:schemeClr val="accent1"/>
                  </a:solidFill>
                  <a:latin typeface="+mn-lt"/>
                  <a:ea typeface="+mn-ea"/>
                  <a:cs typeface="+mn-cs"/>
                </a:rPr>
                <a:t>Nút nào không bấm?</a:t>
              </a:r>
            </a:p>
          </p:txBody>
        </p:sp>
      </p:grpSp>
      <p:grpSp>
        <p:nvGrpSpPr>
          <p:cNvPr id="61" name="Group 61"/>
          <p:cNvGrpSpPr/>
          <p:nvPr/>
        </p:nvGrpSpPr>
        <p:grpSpPr>
          <a:xfrm>
            <a:off x="7402830" y="3286125"/>
            <a:ext cx="2744512" cy="293370"/>
            <a:chOff x="7402830" y="3286125"/>
            <a:chExt cx="2744512" cy="293370"/>
          </a:xfrm>
        </p:grpSpPr>
        <p:sp>
          <p:nvSpPr>
            <p:cNvPr id="60" name="TextBox 60"/>
            <p:cNvSpPr txBox="1"/>
            <p:nvPr/>
          </p:nvSpPr>
          <p:spPr>
            <a:xfrm>
              <a:off x="7402830" y="3286125"/>
              <a:ext cx="2744512" cy="293370"/>
            </a:xfrm>
            <a:prstGeom prst="rect">
              <a:avLst/>
            </a:prstGeom>
            <a:noFill/>
            <a:ln>
              <a:noFill/>
            </a:ln>
          </p:spPr>
          <p:txBody>
            <a:bodyPr wrap="none" lIns="0" tIns="0" rIns="0" bIns="0" anchor="t" anchorCtr="0">
              <a:spAutoFit/>
            </a:bodyPr>
            <a:lstStyle/>
            <a:p>
              <a:pPr algn="l"/>
              <a:r>
                <a:rPr lang="vi-VN" sz="1500" b="1" dirty="0">
                  <a:solidFill>
                    <a:srgbClr val="2E8B57"/>
                  </a:solidFill>
                  <a:latin typeface="+mn-lt"/>
                  <a:ea typeface="+mn-ea"/>
                  <a:cs typeface="+mn-cs"/>
                </a:rPr>
                <a:t>→</a:t>
              </a:r>
              <a:r>
                <a:rPr lang="vi-VN" sz="1500" dirty="0">
                  <a:solidFill>
                    <a:schemeClr val="dk1"/>
                  </a:solidFill>
                  <a:latin typeface="+mn-lt"/>
                  <a:ea typeface="+mn-ea"/>
                  <a:cs typeface="+mn-cs"/>
                </a:rPr>
                <a:t> Đọc, ghi, gửi; gửi ra ngoài</a:t>
              </a:r>
            </a:p>
          </p:txBody>
        </p:sp>
      </p:grpSp>
      <p:grpSp>
        <p:nvGrpSpPr>
          <p:cNvPr id="63" name="Group 63"/>
          <p:cNvGrpSpPr/>
          <p:nvPr/>
        </p:nvGrpSpPr>
        <p:grpSpPr>
          <a:xfrm>
            <a:off x="7402830" y="4181475"/>
            <a:ext cx="2339813" cy="293370"/>
            <a:chOff x="7402830" y="4181475"/>
            <a:chExt cx="2339813" cy="293370"/>
          </a:xfrm>
        </p:grpSpPr>
        <p:sp>
          <p:nvSpPr>
            <p:cNvPr id="62" name="TextBox 62"/>
            <p:cNvSpPr txBox="1"/>
            <p:nvPr/>
          </p:nvSpPr>
          <p:spPr>
            <a:xfrm>
              <a:off x="7402830" y="4181475"/>
              <a:ext cx="2339813" cy="293370"/>
            </a:xfrm>
            <a:prstGeom prst="rect">
              <a:avLst/>
            </a:prstGeom>
            <a:noFill/>
            <a:ln>
              <a:noFill/>
            </a:ln>
          </p:spPr>
          <p:txBody>
            <a:bodyPr wrap="none" lIns="0" tIns="0" rIns="0" bIns="0" anchor="t" anchorCtr="0">
              <a:spAutoFit/>
            </a:bodyPr>
            <a:lstStyle/>
            <a:p>
              <a:pPr algn="l"/>
              <a:r>
                <a:rPr lang="vi-VN" sz="1500" b="1" dirty="0">
                  <a:solidFill>
                    <a:srgbClr val="2E8B57"/>
                  </a:solidFill>
                  <a:latin typeface="+mn-lt"/>
                  <a:ea typeface="+mn-ea"/>
                  <a:cs typeface="+mn-cs"/>
                </a:rPr>
                <a:t>→</a:t>
              </a:r>
              <a:r>
                <a:rPr lang="vi-VN" sz="1500" dirty="0">
                  <a:solidFill>
                    <a:schemeClr val="dk1"/>
                  </a:solidFill>
                  <a:latin typeface="+mn-lt"/>
                  <a:ea typeface="+mn-ea"/>
                  <a:cs typeface="+mn-cs"/>
                </a:rPr>
                <a:t> Người duyệt và hẹn giờ</a:t>
              </a:r>
            </a:p>
          </p:txBody>
        </p:sp>
      </p:grpSp>
      <p:grpSp>
        <p:nvGrpSpPr>
          <p:cNvPr id="65" name="Group 65"/>
          <p:cNvGrpSpPr/>
          <p:nvPr/>
        </p:nvGrpSpPr>
        <p:grpSpPr>
          <a:xfrm>
            <a:off x="7402830" y="5324475"/>
            <a:ext cx="3690054" cy="293370"/>
            <a:chOff x="7402830" y="5324475"/>
            <a:chExt cx="3690054" cy="293370"/>
          </a:xfrm>
        </p:grpSpPr>
        <p:sp>
          <p:nvSpPr>
            <p:cNvPr id="64" name="TextBox 64"/>
            <p:cNvSpPr txBox="1"/>
            <p:nvPr/>
          </p:nvSpPr>
          <p:spPr>
            <a:xfrm>
              <a:off x="7402830" y="5324475"/>
              <a:ext cx="3690054" cy="293370"/>
            </a:xfrm>
            <a:prstGeom prst="rect">
              <a:avLst/>
            </a:prstGeom>
            <a:noFill/>
            <a:ln>
              <a:noFill/>
            </a:ln>
          </p:spPr>
          <p:txBody>
            <a:bodyPr wrap="none" lIns="0" tIns="0" rIns="0" bIns="0" anchor="t" anchorCtr="0">
              <a:spAutoFit/>
            </a:bodyPr>
            <a:lstStyle/>
            <a:p>
              <a:pPr algn="l"/>
              <a:r>
                <a:rPr lang="vi-VN" sz="1500" b="1" dirty="0">
                  <a:solidFill>
                    <a:srgbClr val="2E8B57"/>
                  </a:solidFill>
                  <a:latin typeface="+mn-lt"/>
                  <a:ea typeface="+mn-ea"/>
                  <a:cs typeface="+mn-cs"/>
                </a:rPr>
                <a:t>→</a:t>
              </a:r>
              <a:r>
                <a:rPr lang="vi-VN" sz="1500" dirty="0">
                  <a:solidFill>
                    <a:schemeClr val="dk1"/>
                  </a:solidFill>
                  <a:latin typeface="+mn-lt"/>
                  <a:ea typeface="+mn-ea"/>
                  <a:cs typeface="+mn-cs"/>
                </a:rPr>
                <a:t> Always ask; không bấm Always allow</a:t>
              </a:r>
            </a:p>
          </p:txBody>
        </p:sp>
      </p:grpSp>
      <p:sp>
        <p:nvSpPr>
          <p:cNvPr id="66" name="TextBox 66"/>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67" name="TextBox 67"/>
          <p:cNvSpPr txBox="1"/>
          <p:nvPr/>
        </p:nvSpPr>
        <p:spPr>
          <a:xfrm>
            <a:off x="8973145" y="6554152"/>
            <a:ext cx="2176439"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Dữ liệu demo Wir (file đơn hàng)</a:t>
            </a:r>
          </a:p>
        </p:txBody>
      </p:sp>
      <p:sp>
        <p:nvSpPr>
          <p:cNvPr id="68" name="TextBox 68"/>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32 / 35</a:t>
            </a:r>
          </a:p>
        </p:txBody>
      </p:sp>
      <p:sp>
        <p:nvSpPr>
          <p:cNvPr id="69" name="demo-flag"/>
          <p:cNvSpPr/>
          <p:nvPr/>
        </p:nvSpPr>
        <p:spPr>
          <a:xfrm>
            <a:off x="3810000" y="304800"/>
            <a:ext cx="1638300" cy="228600"/>
          </a:xfrm>
          <a:prstGeom prst="roundRect">
            <a:avLst>
              <a:gd name="adj" fmla="val 50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00" b="1">
                <a:solidFill>
                  <a:srgbClr val="FFFFFF"/>
                </a:solidFill>
              </a:rPr>
              <a:t>▶ CÓ HƯỚNG DẪN DEMO</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3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300"/>
                                        <p:tgtEl>
                                          <p:spTgt spid="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fade">
                                      <p:cBhvr>
                                        <p:cTn id="17" dur="3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2820345" cy="234696"/>
            <a:chOff x="381000" y="346710"/>
            <a:chExt cx="2820345" cy="234696"/>
          </a:xfrm>
        </p:grpSpPr>
        <p:sp>
          <p:nvSpPr>
            <p:cNvPr id="2" name="Rectangle 2"/>
            <p:cNvSpPr/>
            <p:nvPr/>
          </p:nvSpPr>
          <p:spPr>
            <a:xfrm>
              <a:off x="381000" y="361950"/>
              <a:ext cx="114300" cy="114300"/>
            </a:xfrm>
            <a:prstGeom prst="roundRect">
              <a:avLst>
                <a:gd name="adj" fmla="val 25000"/>
              </a:avLst>
            </a:prstGeom>
            <a:solidFill>
              <a:srgbClr val="64748B"/>
            </a:solidFill>
            <a:ln>
              <a:noFill/>
            </a:ln>
          </p:spPr>
        </p:sp>
        <p:sp>
          <p:nvSpPr>
            <p:cNvPr id="3" name="TextBox 3"/>
            <p:cNvSpPr txBox="1"/>
            <p:nvPr/>
          </p:nvSpPr>
          <p:spPr>
            <a:xfrm>
              <a:off x="584454" y="346710"/>
              <a:ext cx="2616891"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NÂNG CAO · AI TỰ THAO TÁC</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rgbClr val="E3E9F1"/>
            </a:solidFill>
            <a:ln>
              <a:noFill/>
            </a:ln>
          </p:spPr>
        </p:sp>
        <p:sp>
          <p:nvSpPr>
            <p:cNvPr id="6" name="Rectangle 6"/>
            <p:cNvSpPr/>
            <p:nvPr/>
          </p:nvSpPr>
          <p:spPr>
            <a:xfrm>
              <a:off x="7010400" y="304800"/>
              <a:ext cx="1143000" cy="114300"/>
            </a:xfrm>
            <a:prstGeom prst="roundRect">
              <a:avLst>
                <a:gd name="adj" fmla="val 25000"/>
              </a:avLst>
            </a:prstGeom>
            <a:solidFill>
              <a:srgbClr val="E3E9F1"/>
            </a:solidFill>
            <a:ln>
              <a:noFill/>
            </a:ln>
          </p:spPr>
        </p:sp>
        <p:sp>
          <p:nvSpPr>
            <p:cNvPr id="7" name="Rectangle 7"/>
            <p:cNvSpPr/>
            <p:nvPr/>
          </p:nvSpPr>
          <p:spPr>
            <a:xfrm>
              <a:off x="8229600" y="266700"/>
              <a:ext cx="1143000" cy="152400"/>
            </a:xfrm>
            <a:prstGeom prst="roundRect">
              <a:avLst>
                <a:gd name="adj" fmla="val 18750"/>
              </a:avLst>
            </a:prstGeom>
            <a:solidFill>
              <a:srgbClr val="E3E9F1"/>
            </a:solidFill>
            <a:ln>
              <a:noFill/>
            </a:ln>
          </p:spPr>
        </p:sp>
        <p:sp>
          <p:nvSpPr>
            <p:cNvPr id="8" name="Rectangle 8"/>
            <p:cNvSpPr/>
            <p:nvPr/>
          </p:nvSpPr>
          <p:spPr>
            <a:xfrm>
              <a:off x="9448800" y="228600"/>
              <a:ext cx="1143000" cy="190500"/>
            </a:xfrm>
            <a:prstGeom prst="roundRect">
              <a:avLst>
                <a:gd name="adj" fmla="val 15000"/>
              </a:avLst>
            </a:prstGeom>
            <a:solidFill>
              <a:srgbClr val="E3E9F1"/>
            </a:solidFill>
            <a:ln>
              <a:noFill/>
            </a:ln>
          </p:spPr>
        </p:sp>
        <p:sp>
          <p:nvSpPr>
            <p:cNvPr id="9" name="Rectangle 9"/>
            <p:cNvSpPr/>
            <p:nvPr/>
          </p:nvSpPr>
          <p:spPr>
            <a:xfrm>
              <a:off x="10668000" y="190500"/>
              <a:ext cx="1143000" cy="228600"/>
            </a:xfrm>
            <a:prstGeom prst="roundRect">
              <a:avLst>
                <a:gd name="adj" fmla="val 12500"/>
              </a:avLst>
            </a:prstGeom>
            <a:solidFill>
              <a:schemeClr val="accent2"/>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rgbClr val="5B6675"/>
                  </a:solidFill>
                  <a:latin typeface="+mn-lt"/>
                  <a:ea typeface="+mn-ea"/>
                  <a:cs typeface="+mn-cs"/>
                </a:rPr>
                <a:t>4 Plugin</a:t>
              </a:r>
            </a:p>
          </p:txBody>
        </p:sp>
        <p:sp>
          <p:nvSpPr>
            <p:cNvPr id="14" name="TextBox 14"/>
            <p:cNvSpPr txBox="1"/>
            <p:nvPr/>
          </p:nvSpPr>
          <p:spPr>
            <a:xfrm>
              <a:off x="10661904" y="499110"/>
              <a:ext cx="721812"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Nâng cao</a:t>
              </a:r>
            </a:p>
          </p:txBody>
        </p:sp>
      </p:grpSp>
      <p:sp>
        <p:nvSpPr>
          <p:cNvPr id="16" name="TextBox 16"/>
          <p:cNvSpPr txBox="1"/>
          <p:nvPr/>
        </p:nvSpPr>
        <p:spPr>
          <a:xfrm>
            <a:off x="364998" y="879158"/>
            <a:ext cx="8181023"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Phần nâng cao: AI bắt đầu tự cầm chuột,</a:t>
            </a:r>
            <a:br/>
            <a:r>
              <a:rPr lang="vi-VN" sz="3150" b="1" dirty="0">
                <a:solidFill>
                  <a:schemeClr val="accent1"/>
                </a:solidFill>
                <a:latin typeface="+mn-lt"/>
                <a:ea typeface="+mn-ea"/>
                <a:cs typeface="+mn-cs"/>
              </a:rPr>
              <a:t>càng tự chủ thì phanh càng phải chắc</a:t>
            </a:r>
          </a:p>
        </p:txBody>
      </p:sp>
      <p:grpSp>
        <p:nvGrpSpPr>
          <p:cNvPr id="19" name="Group 19"/>
          <p:cNvGrpSpPr/>
          <p:nvPr/>
        </p:nvGrpSpPr>
        <p:grpSpPr>
          <a:xfrm>
            <a:off x="8763000" y="1485900"/>
            <a:ext cx="3048000" cy="324231"/>
            <a:chOff x="8763000" y="1485900"/>
            <a:chExt cx="3048000" cy="324231"/>
          </a:xfrm>
        </p:grpSpPr>
        <p:sp>
          <p:nvSpPr>
            <p:cNvPr id="17" name="Rectangle 17"/>
            <p:cNvSpPr/>
            <p:nvPr/>
          </p:nvSpPr>
          <p:spPr>
            <a:xfrm>
              <a:off x="8763000" y="1485900"/>
              <a:ext cx="3048000" cy="323850"/>
            </a:xfrm>
            <a:prstGeom prst="roundRect">
              <a:avLst>
                <a:gd name="adj" fmla="val 50000"/>
              </a:avLst>
            </a:prstGeom>
            <a:solidFill>
              <a:schemeClr val="lt2"/>
            </a:solidFill>
            <a:ln w="14288">
              <a:solidFill>
                <a:srgbClr val="64748B"/>
              </a:solidFill>
            </a:ln>
          </p:spPr>
        </p:sp>
        <p:sp>
          <p:nvSpPr>
            <p:cNvPr id="18" name="TextBox 18"/>
            <p:cNvSpPr txBox="1"/>
            <p:nvPr/>
          </p:nvSpPr>
          <p:spPr>
            <a:xfrm>
              <a:off x="9106997" y="1575435"/>
              <a:ext cx="2360005" cy="234696"/>
            </a:xfrm>
            <a:prstGeom prst="rect">
              <a:avLst/>
            </a:prstGeom>
            <a:noFill/>
            <a:ln>
              <a:noFill/>
            </a:ln>
          </p:spPr>
          <p:txBody>
            <a:bodyPr wrap="none" lIns="0" tIns="0" rIns="0" bIns="0" anchor="t" anchorCtr="0">
              <a:spAutoFit/>
            </a:bodyPr>
            <a:lstStyle/>
            <a:p>
              <a:pPr algn="ctr"/>
              <a:r>
                <a:rPr lang="vi-VN" sz="1200" b="1" dirty="0">
                  <a:solidFill>
                    <a:srgbClr val="5B6675"/>
                  </a:solidFill>
                  <a:latin typeface="+mn-lt"/>
                  <a:ea typeface="+mn-ea"/>
                  <a:cs typeface="+mn-cs"/>
                </a:rPr>
                <a:t>GIỚI THIỆU, KHÔNG THỰC HÀNH</a:t>
              </a:r>
            </a:p>
          </p:txBody>
        </p:sp>
      </p:grpSp>
      <p:grpSp>
        <p:nvGrpSpPr>
          <p:cNvPr id="32" name="Group 32"/>
          <p:cNvGrpSpPr/>
          <p:nvPr/>
        </p:nvGrpSpPr>
        <p:grpSpPr>
          <a:xfrm>
            <a:off x="381000" y="2857500"/>
            <a:ext cx="3657600" cy="3143250"/>
            <a:chOff x="381000" y="2857500"/>
            <a:chExt cx="3657600" cy="3143250"/>
          </a:xfrm>
        </p:grpSpPr>
        <p:sp>
          <p:nvSpPr>
            <p:cNvPr id="20" name="Rectangle 20"/>
            <p:cNvSpPr/>
            <p:nvPr/>
          </p:nvSpPr>
          <p:spPr>
            <a:xfrm>
              <a:off x="381000" y="2857500"/>
              <a:ext cx="3657600" cy="3143250"/>
            </a:xfrm>
            <a:prstGeom prst="roundRect">
              <a:avLst>
                <a:gd name="adj" fmla="val 4848"/>
              </a:avLst>
            </a:prstGeom>
            <a:solidFill>
              <a:schemeClr val="lt1"/>
            </a:solidFill>
            <a:ln w="14288">
              <a:solidFill>
                <a:schemeClr val="accent4"/>
              </a:solidFill>
            </a:ln>
          </p:spPr>
        </p:sp>
        <p:sp>
          <p:nvSpPr>
            <p:cNvPr id="21" name="Rectangle 21"/>
            <p:cNvSpPr/>
            <p:nvPr/>
          </p:nvSpPr>
          <p:spPr>
            <a:xfrm>
              <a:off x="495300" y="2971800"/>
              <a:ext cx="3429000" cy="495300"/>
            </a:xfrm>
            <a:prstGeom prst="roundRect">
              <a:avLst>
                <a:gd name="adj" fmla="val 23077"/>
              </a:avLst>
            </a:prstGeom>
            <a:solidFill>
              <a:srgbClr val="64748B"/>
            </a:solidFill>
            <a:ln>
              <a:noFill/>
            </a:ln>
          </p:spPr>
        </p:sp>
        <p:grpSp>
          <p:nvGrpSpPr>
            <p:cNvPr id="25" name="Group 25"/>
            <p:cNvGrpSpPr/>
            <p:nvPr/>
          </p:nvGrpSpPr>
          <p:grpSpPr>
            <a:xfrm>
              <a:off x="685800" y="3143250"/>
              <a:ext cx="152400" cy="152400"/>
              <a:chOff x="685800" y="3143250"/>
              <a:chExt cx="152400" cy="152400"/>
            </a:xfrm>
          </p:grpSpPr>
          <p:sp>
            <p:nvSpPr>
              <p:cNvPr id="22" name="Freeform 22"/>
              <p:cNvSpPr/>
              <p:nvPr/>
            </p:nvSpPr>
            <p:spPr>
              <a:xfrm>
                <a:off x="685800" y="3181350"/>
                <a:ext cx="152400" cy="9525"/>
              </a:xfrm>
              <a:custGeom>
                <a:avLst/>
                <a:gdLst/>
                <a:ahLst/>
                <a:cxnLst/>
                <a:rect l="l" t="t" r="r" b="b"/>
                <a:pathLst>
                  <a:path w="152400" h="9525">
                    <a:moveTo>
                      <a:pt x="0" y="0"/>
                    </a:moveTo>
                    <a:lnTo>
                      <a:pt x="152400" y="0"/>
                    </a:lnTo>
                  </a:path>
                </a:pathLst>
              </a:custGeom>
              <a:noFill/>
              <a:ln w="19050">
                <a:solidFill>
                  <a:srgbClr val="FFFFFF"/>
                </a:solidFill>
              </a:ln>
            </p:spPr>
          </p:sp>
          <p:sp>
            <p:nvSpPr>
              <p:cNvPr id="23" name="Freeform 23"/>
              <p:cNvSpPr/>
              <p:nvPr/>
            </p:nvSpPr>
            <p:spPr>
              <a:xfrm>
                <a:off x="685800" y="3143250"/>
                <a:ext cx="152400" cy="152400"/>
              </a:xfrm>
              <a:custGeom>
                <a:avLst/>
                <a:gdLst/>
                <a:ahLst/>
                <a:cxnLst/>
                <a:rect l="l" t="t" r="r" b="b"/>
                <a:pathLst>
                  <a:path w="152400" h="152400">
                    <a:moveTo>
                      <a:pt x="0" y="19050"/>
                    </a:moveTo>
                    <a:cubicBezTo>
                      <a:pt x="0" y="8529"/>
                      <a:pt x="8529" y="0"/>
                      <a:pt x="19050" y="0"/>
                    </a:cubicBezTo>
                    <a:lnTo>
                      <a:pt x="133350" y="0"/>
                    </a:lnTo>
                    <a:cubicBezTo>
                      <a:pt x="143871" y="0"/>
                      <a:pt x="152400" y="8529"/>
                      <a:pt x="152400" y="19050"/>
                    </a:cubicBezTo>
                    <a:lnTo>
                      <a:pt x="152400" y="133350"/>
                    </a:lnTo>
                    <a:cubicBezTo>
                      <a:pt x="152400" y="143871"/>
                      <a:pt x="143871" y="152400"/>
                      <a:pt x="133350" y="152400"/>
                    </a:cubicBezTo>
                    <a:lnTo>
                      <a:pt x="19050" y="152400"/>
                    </a:lnTo>
                    <a:cubicBezTo>
                      <a:pt x="8529" y="152400"/>
                      <a:pt x="0" y="143871"/>
                      <a:pt x="0" y="133350"/>
                    </a:cubicBezTo>
                    <a:lnTo>
                      <a:pt x="0" y="19050"/>
                    </a:lnTo>
                  </a:path>
                </a:pathLst>
              </a:custGeom>
              <a:noFill/>
              <a:ln w="19050">
                <a:solidFill>
                  <a:srgbClr val="FFFFFF"/>
                </a:solidFill>
              </a:ln>
            </p:spPr>
          </p:sp>
          <p:sp>
            <p:nvSpPr>
              <p:cNvPr id="24" name="Freeform 24"/>
              <p:cNvSpPr/>
              <p:nvPr/>
            </p:nvSpPr>
            <p:spPr>
              <a:xfrm>
                <a:off x="723900" y="3143250"/>
                <a:ext cx="9525" cy="38100"/>
              </a:xfrm>
              <a:custGeom>
                <a:avLst/>
                <a:gdLst/>
                <a:ahLst/>
                <a:cxnLst/>
                <a:rect l="l" t="t" r="r" b="b"/>
                <a:pathLst>
                  <a:path w="9525" h="38100">
                    <a:moveTo>
                      <a:pt x="0" y="0"/>
                    </a:moveTo>
                    <a:lnTo>
                      <a:pt x="0" y="38100"/>
                    </a:lnTo>
                  </a:path>
                </a:pathLst>
              </a:custGeom>
              <a:noFill/>
              <a:ln w="19050">
                <a:solidFill>
                  <a:srgbClr val="FFFFFF"/>
                </a:solidFill>
              </a:ln>
            </p:spPr>
          </p:sp>
        </p:grpSp>
        <p:sp>
          <p:nvSpPr>
            <p:cNvPr id="26" name="TextBox 26"/>
            <p:cNvSpPr txBox="1"/>
            <p:nvPr/>
          </p:nvSpPr>
          <p:spPr>
            <a:xfrm>
              <a:off x="981456" y="3101340"/>
              <a:ext cx="2329042" cy="352044"/>
            </a:xfrm>
            <a:prstGeom prst="rect">
              <a:avLst/>
            </a:prstGeom>
            <a:noFill/>
            <a:ln>
              <a:noFill/>
            </a:ln>
          </p:spPr>
          <p:txBody>
            <a:bodyPr wrap="none" lIns="0" tIns="0" rIns="0" bIns="0" anchor="t" anchorCtr="0">
              <a:spAutoFit/>
            </a:bodyPr>
            <a:lstStyle/>
            <a:p>
              <a:pPr algn="l"/>
              <a:r>
                <a:rPr lang="vi-VN" sz="1800" b="1" dirty="0">
                  <a:solidFill>
                    <a:srgbClr val="FFFFFF"/>
                  </a:solidFill>
                  <a:latin typeface="+mn-lt"/>
                  <a:ea typeface="+mn-ea"/>
                  <a:cs typeface="+mn-cs"/>
                </a:rPr>
                <a:t>Browser extension</a:t>
              </a:r>
            </a:p>
          </p:txBody>
        </p:sp>
        <p:sp>
          <p:nvSpPr>
            <p:cNvPr id="27" name="TextBox 27"/>
            <p:cNvSpPr txBox="1"/>
            <p:nvPr/>
          </p:nvSpPr>
          <p:spPr>
            <a:xfrm>
              <a:off x="601980" y="3648075"/>
              <a:ext cx="2644140" cy="54102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Thao tác trên trang web bạn</a:t>
              </a:r>
              <a:br/>
              <a:r>
                <a:rPr lang="vi-VN" sz="1500" dirty="0">
                  <a:solidFill>
                    <a:schemeClr val="dk1"/>
                  </a:solidFill>
                  <a:latin typeface="+mn-lt"/>
                  <a:ea typeface="+mn-ea"/>
                  <a:cs typeface="+mn-cs"/>
                </a:rPr>
                <a:t>đang đăng nhập sẵn</a:t>
              </a:r>
            </a:p>
          </p:txBody>
        </p:sp>
        <p:sp>
          <p:nvSpPr>
            <p:cNvPr id="28" name="TextBox 28"/>
            <p:cNvSpPr txBox="1"/>
            <p:nvPr/>
          </p:nvSpPr>
          <p:spPr>
            <a:xfrm>
              <a:off x="602742" y="4254818"/>
              <a:ext cx="3300472" cy="264033"/>
            </a:xfrm>
            <a:prstGeom prst="rect">
              <a:avLst/>
            </a:prstGeom>
            <a:noFill/>
            <a:ln>
              <a:noFill/>
            </a:ln>
          </p:spPr>
          <p:txBody>
            <a:bodyPr wrap="none" lIns="0" tIns="0" rIns="0" bIns="0" anchor="t" anchorCtr="0">
              <a:spAutoFit/>
            </a:bodyPr>
            <a:lstStyle/>
            <a:p>
              <a:pPr algn="l"/>
              <a:r>
                <a:rPr lang="vi-VN" sz="1350" i="1" dirty="0">
                  <a:solidFill>
                    <a:srgbClr val="5B6675"/>
                  </a:solidFill>
                  <a:latin typeface="+mn-lt"/>
                  <a:ea typeface="+mn-ea"/>
                  <a:cs typeface="+mn-cs"/>
                </a:rPr>
                <a:t>Ví như: nhờ đồng nghiệp lướt web giúp</a:t>
              </a:r>
            </a:p>
          </p:txBody>
        </p:sp>
        <p:sp>
          <p:nvSpPr>
            <p:cNvPr id="29" name="Rectangle 29"/>
            <p:cNvSpPr/>
            <p:nvPr/>
          </p:nvSpPr>
          <p:spPr>
            <a:xfrm>
              <a:off x="609600" y="4591050"/>
              <a:ext cx="1771650" cy="285750"/>
            </a:xfrm>
            <a:prstGeom prst="roundRect">
              <a:avLst>
                <a:gd name="adj" fmla="val 50000"/>
              </a:avLst>
            </a:prstGeom>
            <a:solidFill>
              <a:srgbClr val="FCEBDD"/>
            </a:solidFill>
            <a:ln>
              <a:noFill/>
            </a:ln>
          </p:spPr>
        </p:sp>
        <p:sp>
          <p:nvSpPr>
            <p:cNvPr id="30" name="TextBox 30"/>
            <p:cNvSpPr txBox="1"/>
            <p:nvPr/>
          </p:nvSpPr>
          <p:spPr>
            <a:xfrm>
              <a:off x="755904" y="4661535"/>
              <a:ext cx="1527924" cy="234696"/>
            </a:xfrm>
            <a:prstGeom prst="rect">
              <a:avLst/>
            </a:prstGeom>
            <a:noFill/>
            <a:ln>
              <a:noFill/>
            </a:ln>
          </p:spPr>
          <p:txBody>
            <a:bodyPr wrap="none" lIns="0" tIns="0" rIns="0" bIns="0" anchor="t" anchorCtr="0">
              <a:spAutoFit/>
            </a:bodyPr>
            <a:lstStyle/>
            <a:p>
              <a:pPr algn="l"/>
              <a:r>
                <a:rPr lang="vi-VN" sz="1200" b="1" dirty="0">
                  <a:solidFill>
                    <a:schemeClr val="accent1"/>
                  </a:solidFill>
                  <a:latin typeface="+mn-lt"/>
                  <a:ea typeface="+mn-ea"/>
                  <a:cs typeface="+mn-cs"/>
                </a:rPr>
                <a:t>Rủi ro: trung bình</a:t>
              </a:r>
            </a:p>
          </p:txBody>
        </p:sp>
        <p:sp>
          <p:nvSpPr>
            <p:cNvPr id="31" name="TextBox 31"/>
            <p:cNvSpPr txBox="1"/>
            <p:nvPr/>
          </p:nvSpPr>
          <p:spPr>
            <a:xfrm>
              <a:off x="602742" y="5054918"/>
              <a:ext cx="3030807" cy="492633"/>
            </a:xfrm>
            <a:prstGeom prst="rect">
              <a:avLst/>
            </a:prstGeom>
            <a:noFill/>
            <a:ln>
              <a:noFill/>
            </a:ln>
          </p:spPr>
          <p:txBody>
            <a:bodyPr wrap="none" lIns="0" tIns="0" rIns="0" bIns="0" anchor="t" anchorCtr="0">
              <a:spAutoFit/>
            </a:bodyPr>
            <a:lstStyle/>
            <a:p>
              <a:pPr algn="l">
                <a:lnSpc>
                  <a:spcPts val="1800"/>
                </a:lnSpc>
              </a:pPr>
              <a:r>
                <a:rPr lang="vi-VN" sz="1350" b="1" dirty="0">
                  <a:solidFill>
                    <a:schemeClr val="accent1"/>
                  </a:solidFill>
                  <a:latin typeface="+mn-lt"/>
                  <a:ea typeface="+mn-ea"/>
                  <a:cs typeface="+mn-cs"/>
                </a:rPr>
                <a:t>Giữ:</a:t>
              </a:r>
              <a:r>
                <a:rPr lang="vi-VN" sz="1350" dirty="0">
                  <a:solidFill>
                    <a:schemeClr val="dk1"/>
                  </a:solidFill>
                  <a:latin typeface="+mn-lt"/>
                  <a:ea typeface="+mn-ea"/>
                  <a:cs typeface="+mn-cs"/>
                </a:rPr>
                <a:t> chỉ Allow once / Allow for site;</a:t>
              </a:r>
              <a:br/>
              <a:r>
                <a:rPr lang="vi-VN" sz="1350" dirty="0">
                  <a:solidFill>
                    <a:schemeClr val="dk1"/>
                  </a:solidFill>
                  <a:latin typeface="+mn-lt"/>
                  <a:ea typeface="+mn-ea"/>
                  <a:cs typeface="+mn-cs"/>
                </a:rPr>
                <a:t>trang web có thể cài lệnh ẩn</a:t>
              </a:r>
            </a:p>
          </p:txBody>
        </p:sp>
      </p:grpSp>
      <p:grpSp>
        <p:nvGrpSpPr>
          <p:cNvPr id="42" name="Group 42"/>
          <p:cNvGrpSpPr/>
          <p:nvPr/>
        </p:nvGrpSpPr>
        <p:grpSpPr>
          <a:xfrm>
            <a:off x="4267200" y="2495550"/>
            <a:ext cx="3657600" cy="3143250"/>
            <a:chOff x="4267200" y="2495550"/>
            <a:chExt cx="3657600" cy="3143250"/>
          </a:xfrm>
        </p:grpSpPr>
        <p:sp>
          <p:nvSpPr>
            <p:cNvPr id="33" name="Rectangle 33"/>
            <p:cNvSpPr/>
            <p:nvPr/>
          </p:nvSpPr>
          <p:spPr>
            <a:xfrm>
              <a:off x="4267200" y="2495550"/>
              <a:ext cx="3657600" cy="3143250"/>
            </a:xfrm>
            <a:prstGeom prst="roundRect">
              <a:avLst>
                <a:gd name="adj" fmla="val 4848"/>
              </a:avLst>
            </a:prstGeom>
            <a:solidFill>
              <a:schemeClr val="lt1"/>
            </a:solidFill>
            <a:ln w="14288">
              <a:solidFill>
                <a:schemeClr val="accent4"/>
              </a:solidFill>
            </a:ln>
          </p:spPr>
        </p:sp>
        <p:sp>
          <p:nvSpPr>
            <p:cNvPr id="34" name="Rectangle 34"/>
            <p:cNvSpPr/>
            <p:nvPr/>
          </p:nvSpPr>
          <p:spPr>
            <a:xfrm>
              <a:off x="4381500" y="2609850"/>
              <a:ext cx="3429000" cy="495300"/>
            </a:xfrm>
            <a:prstGeom prst="roundRect">
              <a:avLst>
                <a:gd name="adj" fmla="val 23077"/>
              </a:avLst>
            </a:prstGeom>
            <a:solidFill>
              <a:srgbClr val="64748B"/>
            </a:solidFill>
            <a:ln>
              <a:noFill/>
            </a:ln>
          </p:spPr>
        </p:sp>
        <p:sp>
          <p:nvSpPr>
            <p:cNvPr id="35" name="Freeform 35"/>
            <p:cNvSpPr/>
            <p:nvPr/>
          </p:nvSpPr>
          <p:spPr>
            <a:xfrm>
              <a:off x="4572000" y="2781300"/>
              <a:ext cx="152377" cy="152377"/>
            </a:xfrm>
            <a:custGeom>
              <a:avLst/>
              <a:gdLst/>
              <a:ahLst/>
              <a:cxnLst/>
              <a:rect l="l" t="t" r="r" b="b"/>
              <a:pathLst>
                <a:path w="152377" h="152377">
                  <a:moveTo>
                    <a:pt x="37186" y="129188"/>
                  </a:moveTo>
                  <a:cubicBezTo>
                    <a:pt x="38223" y="133848"/>
                    <a:pt x="42048" y="137373"/>
                    <a:pt x="46777" y="138026"/>
                  </a:cubicBezTo>
                  <a:cubicBezTo>
                    <a:pt x="51507" y="138680"/>
                    <a:pt x="56144" y="136325"/>
                    <a:pt x="58407" y="132121"/>
                  </a:cubicBezTo>
                  <a:lnTo>
                    <a:pt x="78315" y="102660"/>
                  </a:lnTo>
                  <a:lnTo>
                    <a:pt x="125054" y="149400"/>
                  </a:lnTo>
                  <a:cubicBezTo>
                    <a:pt x="126960" y="151306"/>
                    <a:pt x="129545" y="152377"/>
                    <a:pt x="132240" y="152377"/>
                  </a:cubicBezTo>
                  <a:cubicBezTo>
                    <a:pt x="134936" y="152377"/>
                    <a:pt x="137521" y="151306"/>
                    <a:pt x="139427" y="149400"/>
                  </a:cubicBezTo>
                  <a:lnTo>
                    <a:pt x="149400" y="139427"/>
                  </a:lnTo>
                  <a:cubicBezTo>
                    <a:pt x="151306" y="137521"/>
                    <a:pt x="152377" y="134936"/>
                    <a:pt x="152377" y="132240"/>
                  </a:cubicBezTo>
                  <a:cubicBezTo>
                    <a:pt x="152377" y="129545"/>
                    <a:pt x="151306" y="126960"/>
                    <a:pt x="149400" y="125054"/>
                  </a:cubicBezTo>
                  <a:lnTo>
                    <a:pt x="102660" y="78315"/>
                  </a:lnTo>
                  <a:lnTo>
                    <a:pt x="132312" y="58407"/>
                  </a:lnTo>
                  <a:cubicBezTo>
                    <a:pt x="136516" y="56143"/>
                    <a:pt x="138869" y="51504"/>
                    <a:pt x="138213" y="46774"/>
                  </a:cubicBezTo>
                  <a:cubicBezTo>
                    <a:pt x="137557" y="42044"/>
                    <a:pt x="134030" y="38220"/>
                    <a:pt x="129369" y="37186"/>
                  </a:cubicBezTo>
                  <a:lnTo>
                    <a:pt x="0" y="0"/>
                  </a:lnTo>
                  <a:lnTo>
                    <a:pt x="37186" y="129188"/>
                  </a:lnTo>
                </a:path>
              </a:pathLst>
            </a:custGeom>
            <a:noFill/>
            <a:ln w="19050">
              <a:solidFill>
                <a:srgbClr val="FFFFFF"/>
              </a:solidFill>
            </a:ln>
          </p:spPr>
        </p:sp>
        <p:sp>
          <p:nvSpPr>
            <p:cNvPr id="36" name="TextBox 36"/>
            <p:cNvSpPr txBox="1"/>
            <p:nvPr/>
          </p:nvSpPr>
          <p:spPr>
            <a:xfrm>
              <a:off x="4867656" y="2739390"/>
              <a:ext cx="1693392" cy="352044"/>
            </a:xfrm>
            <a:prstGeom prst="rect">
              <a:avLst/>
            </a:prstGeom>
            <a:noFill/>
            <a:ln>
              <a:noFill/>
            </a:ln>
          </p:spPr>
          <p:txBody>
            <a:bodyPr wrap="none" lIns="0" tIns="0" rIns="0" bIns="0" anchor="t" anchorCtr="0">
              <a:spAutoFit/>
            </a:bodyPr>
            <a:lstStyle/>
            <a:p>
              <a:pPr algn="l"/>
              <a:r>
                <a:rPr lang="vi-VN" sz="1800" b="1" dirty="0">
                  <a:solidFill>
                    <a:srgbClr val="FFFFFF"/>
                  </a:solidFill>
                  <a:latin typeface="+mn-lt"/>
                  <a:ea typeface="+mn-ea"/>
                  <a:cs typeface="+mn-cs"/>
                </a:rPr>
                <a:t>Computer use</a:t>
              </a:r>
            </a:p>
          </p:txBody>
        </p:sp>
        <p:sp>
          <p:nvSpPr>
            <p:cNvPr id="37" name="TextBox 37"/>
            <p:cNvSpPr txBox="1"/>
            <p:nvPr/>
          </p:nvSpPr>
          <p:spPr>
            <a:xfrm>
              <a:off x="4488180" y="3286125"/>
              <a:ext cx="2548890" cy="54102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Nhìn màn hình, tự click, gõ</a:t>
              </a:r>
              <a:br/>
              <a:r>
                <a:rPr lang="vi-VN" sz="1500" dirty="0">
                  <a:solidFill>
                    <a:schemeClr val="dk1"/>
                  </a:solidFill>
                  <a:latin typeface="+mn-lt"/>
                  <a:ea typeface="+mn-ea"/>
                  <a:cs typeface="+mn-cs"/>
                </a:rPr>
                <a:t>trong phần mềm trên máy</a:t>
              </a:r>
            </a:p>
          </p:txBody>
        </p:sp>
        <p:sp>
          <p:nvSpPr>
            <p:cNvPr id="38" name="TextBox 38"/>
            <p:cNvSpPr txBox="1"/>
            <p:nvPr/>
          </p:nvSpPr>
          <p:spPr>
            <a:xfrm>
              <a:off x="4488942" y="3892868"/>
              <a:ext cx="2737371" cy="264033"/>
            </a:xfrm>
            <a:prstGeom prst="rect">
              <a:avLst/>
            </a:prstGeom>
            <a:noFill/>
            <a:ln>
              <a:noFill/>
            </a:ln>
          </p:spPr>
          <p:txBody>
            <a:bodyPr wrap="none" lIns="0" tIns="0" rIns="0" bIns="0" anchor="t" anchorCtr="0">
              <a:spAutoFit/>
            </a:bodyPr>
            <a:lstStyle/>
            <a:p>
              <a:pPr algn="l"/>
              <a:r>
                <a:rPr lang="vi-VN" sz="1350" i="1" dirty="0">
                  <a:solidFill>
                    <a:srgbClr val="5B6675"/>
                  </a:solidFill>
                  <a:latin typeface="+mn-lt"/>
                  <a:ea typeface="+mn-ea"/>
                  <a:cs typeface="+mn-cs"/>
                </a:rPr>
                <a:t>Ví như: giao chuột và bàn phím</a:t>
              </a:r>
            </a:p>
          </p:txBody>
        </p:sp>
        <p:sp>
          <p:nvSpPr>
            <p:cNvPr id="39" name="Rectangle 39"/>
            <p:cNvSpPr/>
            <p:nvPr/>
          </p:nvSpPr>
          <p:spPr>
            <a:xfrm>
              <a:off x="4495800" y="4229100"/>
              <a:ext cx="1200150" cy="285750"/>
            </a:xfrm>
            <a:prstGeom prst="roundRect">
              <a:avLst>
                <a:gd name="adj" fmla="val 50000"/>
              </a:avLst>
            </a:prstGeom>
            <a:solidFill>
              <a:srgbClr val="F9E3E0"/>
            </a:solidFill>
            <a:ln>
              <a:noFill/>
            </a:ln>
          </p:spPr>
        </p:sp>
        <p:sp>
          <p:nvSpPr>
            <p:cNvPr id="40" name="TextBox 40"/>
            <p:cNvSpPr txBox="1"/>
            <p:nvPr/>
          </p:nvSpPr>
          <p:spPr>
            <a:xfrm>
              <a:off x="4642104" y="4299585"/>
              <a:ext cx="917545" cy="234696"/>
            </a:xfrm>
            <a:prstGeom prst="rect">
              <a:avLst/>
            </a:prstGeom>
            <a:noFill/>
            <a:ln>
              <a:noFill/>
            </a:ln>
          </p:spPr>
          <p:txBody>
            <a:bodyPr wrap="none" lIns="0" tIns="0" rIns="0" bIns="0" anchor="t" anchorCtr="0">
              <a:spAutoFit/>
            </a:bodyPr>
            <a:lstStyle/>
            <a:p>
              <a:pPr algn="l"/>
              <a:r>
                <a:rPr lang="vi-VN" sz="1200" b="1" dirty="0">
                  <a:solidFill>
                    <a:srgbClr val="C0392B"/>
                  </a:solidFill>
                  <a:latin typeface="+mn-lt"/>
                  <a:ea typeface="+mn-ea"/>
                  <a:cs typeface="+mn-cs"/>
                </a:rPr>
                <a:t>Rủi ro: cao</a:t>
              </a:r>
            </a:p>
          </p:txBody>
        </p:sp>
        <p:sp>
          <p:nvSpPr>
            <p:cNvPr id="41" name="TextBox 41"/>
            <p:cNvSpPr txBox="1"/>
            <p:nvPr/>
          </p:nvSpPr>
          <p:spPr>
            <a:xfrm>
              <a:off x="4488942" y="4692968"/>
              <a:ext cx="2516457" cy="492633"/>
            </a:xfrm>
            <a:prstGeom prst="rect">
              <a:avLst/>
            </a:prstGeom>
            <a:noFill/>
            <a:ln>
              <a:noFill/>
            </a:ln>
          </p:spPr>
          <p:txBody>
            <a:bodyPr wrap="none" lIns="0" tIns="0" rIns="0" bIns="0" anchor="t" anchorCtr="0">
              <a:spAutoFit/>
            </a:bodyPr>
            <a:lstStyle/>
            <a:p>
              <a:pPr algn="l">
                <a:lnSpc>
                  <a:spcPts val="1800"/>
                </a:lnSpc>
              </a:pPr>
              <a:r>
                <a:rPr lang="vi-VN" sz="1350" b="1" dirty="0">
                  <a:solidFill>
                    <a:schemeClr val="accent1"/>
                  </a:solidFill>
                  <a:latin typeface="+mn-lt"/>
                  <a:ea typeface="+mn-ea"/>
                  <a:cs typeface="+mn-cs"/>
                </a:rPr>
                <a:t>Giữ:</a:t>
              </a:r>
              <a:r>
                <a:rPr lang="vi-VN" sz="1350" dirty="0">
                  <a:solidFill>
                    <a:schemeClr val="dk1"/>
                  </a:solidFill>
                  <a:latin typeface="+mn-lt"/>
                  <a:ea typeface="+mn-ea"/>
                  <a:cs typeface="+mn-cs"/>
                </a:rPr>
                <a:t> đóng phần mềm nhạy cảm,</a:t>
              </a:r>
              <a:br/>
              <a:r>
                <a:rPr lang="vi-VN" sz="1350" dirty="0">
                  <a:solidFill>
                    <a:schemeClr val="dk1"/>
                  </a:solidFill>
                  <a:latin typeface="+mn-lt"/>
                  <a:ea typeface="+mn-ea"/>
                  <a:cs typeface="+mn-cs"/>
                </a:rPr>
                <a:t>không bấm Always allow</a:t>
              </a:r>
            </a:p>
          </p:txBody>
        </p:sp>
      </p:grpSp>
      <p:grpSp>
        <p:nvGrpSpPr>
          <p:cNvPr id="52" name="Group 52"/>
          <p:cNvGrpSpPr/>
          <p:nvPr/>
        </p:nvGrpSpPr>
        <p:grpSpPr>
          <a:xfrm>
            <a:off x="8153400" y="2114550"/>
            <a:ext cx="3657600" cy="3143250"/>
            <a:chOff x="8153400" y="2114550"/>
            <a:chExt cx="3657600" cy="3143250"/>
          </a:xfrm>
        </p:grpSpPr>
        <p:sp>
          <p:nvSpPr>
            <p:cNvPr id="43" name="Rectangle 43"/>
            <p:cNvSpPr/>
            <p:nvPr/>
          </p:nvSpPr>
          <p:spPr>
            <a:xfrm>
              <a:off x="8153400" y="2114550"/>
              <a:ext cx="3657600" cy="3143250"/>
            </a:xfrm>
            <a:prstGeom prst="roundRect">
              <a:avLst>
                <a:gd name="adj" fmla="val 4848"/>
              </a:avLst>
            </a:prstGeom>
            <a:solidFill>
              <a:schemeClr val="lt1"/>
            </a:solidFill>
            <a:ln w="14288">
              <a:solidFill>
                <a:srgbClr val="C0392B"/>
              </a:solidFill>
            </a:ln>
          </p:spPr>
        </p:sp>
        <p:sp>
          <p:nvSpPr>
            <p:cNvPr id="44" name="Rectangle 44"/>
            <p:cNvSpPr/>
            <p:nvPr/>
          </p:nvSpPr>
          <p:spPr>
            <a:xfrm>
              <a:off x="8267700" y="2228850"/>
              <a:ext cx="3429000" cy="495300"/>
            </a:xfrm>
            <a:prstGeom prst="roundRect">
              <a:avLst>
                <a:gd name="adj" fmla="val 23077"/>
              </a:avLst>
            </a:prstGeom>
            <a:solidFill>
              <a:srgbClr val="64748B"/>
            </a:solidFill>
            <a:ln>
              <a:noFill/>
            </a:ln>
          </p:spPr>
        </p:sp>
        <p:sp>
          <p:nvSpPr>
            <p:cNvPr id="45" name="Freeform 45"/>
            <p:cNvSpPr/>
            <p:nvPr/>
          </p:nvSpPr>
          <p:spPr>
            <a:xfrm>
              <a:off x="8439150" y="2406872"/>
              <a:ext cx="190500" cy="126816"/>
            </a:xfrm>
            <a:custGeom>
              <a:avLst/>
              <a:gdLst/>
              <a:ahLst/>
              <a:cxnLst/>
              <a:rect l="l" t="t" r="r" b="b"/>
              <a:pathLst>
                <a:path w="190500" h="126816">
                  <a:moveTo>
                    <a:pt x="44358" y="126778"/>
                  </a:moveTo>
                  <a:cubicBezTo>
                    <a:pt x="19860" y="126778"/>
                    <a:pt x="0" y="107661"/>
                    <a:pt x="0" y="84077"/>
                  </a:cubicBezTo>
                  <a:cubicBezTo>
                    <a:pt x="0" y="60503"/>
                    <a:pt x="19860" y="41386"/>
                    <a:pt x="44358" y="41386"/>
                  </a:cubicBezTo>
                  <a:cubicBezTo>
                    <a:pt x="48101" y="24603"/>
                    <a:pt x="61446" y="10906"/>
                    <a:pt x="79362" y="5448"/>
                  </a:cubicBezTo>
                  <a:cubicBezTo>
                    <a:pt x="97269" y="0"/>
                    <a:pt x="117043" y="3610"/>
                    <a:pt x="131216" y="14973"/>
                  </a:cubicBezTo>
                  <a:cubicBezTo>
                    <a:pt x="145390" y="26308"/>
                    <a:pt x="151809" y="43615"/>
                    <a:pt x="148076" y="60398"/>
                  </a:cubicBezTo>
                  <a:lnTo>
                    <a:pt x="157505" y="60398"/>
                  </a:lnTo>
                  <a:cubicBezTo>
                    <a:pt x="175727" y="60398"/>
                    <a:pt x="190500" y="75257"/>
                    <a:pt x="190500" y="93602"/>
                  </a:cubicBezTo>
                  <a:cubicBezTo>
                    <a:pt x="190500" y="111957"/>
                    <a:pt x="175727" y="126816"/>
                    <a:pt x="157496" y="126816"/>
                  </a:cubicBezTo>
                  <a:lnTo>
                    <a:pt x="44358" y="126816"/>
                  </a:lnTo>
                </a:path>
              </a:pathLst>
            </a:custGeom>
            <a:noFill/>
            <a:ln w="19050">
              <a:solidFill>
                <a:srgbClr val="FFFFFF"/>
              </a:solidFill>
            </a:ln>
          </p:spPr>
        </p:sp>
        <p:sp>
          <p:nvSpPr>
            <p:cNvPr id="46" name="TextBox 46"/>
            <p:cNvSpPr txBox="1"/>
            <p:nvPr/>
          </p:nvSpPr>
          <p:spPr>
            <a:xfrm>
              <a:off x="8753856" y="2358390"/>
              <a:ext cx="585959" cy="352044"/>
            </a:xfrm>
            <a:prstGeom prst="rect">
              <a:avLst/>
            </a:prstGeom>
            <a:noFill/>
            <a:ln>
              <a:noFill/>
            </a:ln>
          </p:spPr>
          <p:txBody>
            <a:bodyPr wrap="none" lIns="0" tIns="0" rIns="0" bIns="0" anchor="t" anchorCtr="0">
              <a:spAutoFit/>
            </a:bodyPr>
            <a:lstStyle/>
            <a:p>
              <a:pPr algn="l"/>
              <a:r>
                <a:rPr lang="vi-VN" sz="1800" b="1" dirty="0">
                  <a:solidFill>
                    <a:srgbClr val="FFFFFF"/>
                  </a:solidFill>
                  <a:latin typeface="+mn-lt"/>
                  <a:ea typeface="+mn-ea"/>
                  <a:cs typeface="+mn-cs"/>
                </a:rPr>
                <a:t>Dots</a:t>
              </a:r>
            </a:p>
          </p:txBody>
        </p:sp>
        <p:sp>
          <p:nvSpPr>
            <p:cNvPr id="47" name="TextBox 47"/>
            <p:cNvSpPr txBox="1"/>
            <p:nvPr/>
          </p:nvSpPr>
          <p:spPr>
            <a:xfrm>
              <a:off x="8374380" y="2905125"/>
              <a:ext cx="2701290" cy="78867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Agent luôn bật trên máy tính</a:t>
              </a:r>
              <a:br/>
              <a:r>
                <a:rPr lang="vi-VN" sz="1500" dirty="0">
                  <a:solidFill>
                    <a:schemeClr val="dk1"/>
                  </a:solidFill>
                  <a:latin typeface="+mn-lt"/>
                  <a:ea typeface="+mn-ea"/>
                  <a:cs typeface="+mn-cs"/>
                </a:rPr>
                <a:t>đám mây riêng, theo dõi việc</a:t>
              </a:r>
              <a:br/>
              <a:r>
                <a:rPr lang="vi-VN" sz="1500" dirty="0">
                  <a:solidFill>
                    <a:schemeClr val="dk1"/>
                  </a:solidFill>
                  <a:latin typeface="+mn-lt"/>
                  <a:ea typeface="+mn-ea"/>
                  <a:cs typeface="+mn-cs"/>
                </a:rPr>
                <a:t>nhiều ngày</a:t>
              </a:r>
            </a:p>
          </p:txBody>
        </p:sp>
        <p:sp>
          <p:nvSpPr>
            <p:cNvPr id="48" name="TextBox 48"/>
            <p:cNvSpPr txBox="1"/>
            <p:nvPr/>
          </p:nvSpPr>
          <p:spPr>
            <a:xfrm>
              <a:off x="8375142" y="3740468"/>
              <a:ext cx="3364204" cy="264033"/>
            </a:xfrm>
            <a:prstGeom prst="rect">
              <a:avLst/>
            </a:prstGeom>
            <a:noFill/>
            <a:ln>
              <a:noFill/>
            </a:ln>
          </p:spPr>
          <p:txBody>
            <a:bodyPr wrap="none" lIns="0" tIns="0" rIns="0" bIns="0" anchor="t" anchorCtr="0">
              <a:spAutoFit/>
            </a:bodyPr>
            <a:lstStyle/>
            <a:p>
              <a:pPr algn="l"/>
              <a:r>
                <a:rPr lang="vi-VN" sz="1350" i="1" dirty="0">
                  <a:solidFill>
                    <a:srgbClr val="5B6675"/>
                  </a:solidFill>
                  <a:latin typeface="+mn-lt"/>
                  <a:ea typeface="+mn-ea"/>
                  <a:cs typeface="+mn-cs"/>
                </a:rPr>
                <a:t>Ví như: trợ lý làm việc cả khi bạn vắng</a:t>
              </a:r>
            </a:p>
          </p:txBody>
        </p:sp>
        <p:sp>
          <p:nvSpPr>
            <p:cNvPr id="49" name="Rectangle 49"/>
            <p:cNvSpPr/>
            <p:nvPr/>
          </p:nvSpPr>
          <p:spPr>
            <a:xfrm>
              <a:off x="8382000" y="4076700"/>
              <a:ext cx="1581150" cy="285750"/>
            </a:xfrm>
            <a:prstGeom prst="roundRect">
              <a:avLst>
                <a:gd name="adj" fmla="val 50000"/>
              </a:avLst>
            </a:prstGeom>
            <a:solidFill>
              <a:srgbClr val="C0392B"/>
            </a:solidFill>
            <a:ln>
              <a:noFill/>
            </a:ln>
          </p:spPr>
        </p:sp>
        <p:sp>
          <p:nvSpPr>
            <p:cNvPr id="50" name="TextBox 50"/>
            <p:cNvSpPr txBox="1"/>
            <p:nvPr/>
          </p:nvSpPr>
          <p:spPr>
            <a:xfrm>
              <a:off x="8528304" y="4147185"/>
              <a:ext cx="1341478" cy="234696"/>
            </a:xfrm>
            <a:prstGeom prst="rect">
              <a:avLst/>
            </a:prstGeom>
            <a:noFill/>
            <a:ln>
              <a:noFill/>
            </a:ln>
          </p:spPr>
          <p:txBody>
            <a:bodyPr wrap="none" lIns="0" tIns="0" rIns="0" bIns="0" anchor="t" anchorCtr="0">
              <a:spAutoFit/>
            </a:bodyPr>
            <a:lstStyle/>
            <a:p>
              <a:pPr algn="l"/>
              <a:r>
                <a:rPr lang="vi-VN" sz="1200" b="1" dirty="0">
                  <a:solidFill>
                    <a:srgbClr val="FFFFFF"/>
                  </a:solidFill>
                  <a:latin typeface="+mn-lt"/>
                  <a:ea typeface="+mn-ea"/>
                  <a:cs typeface="+mn-cs"/>
                </a:rPr>
                <a:t>Rủi ro: cao nhất</a:t>
              </a:r>
            </a:p>
          </p:txBody>
        </p:sp>
        <p:sp>
          <p:nvSpPr>
            <p:cNvPr id="51" name="TextBox 51"/>
            <p:cNvSpPr txBox="1"/>
            <p:nvPr/>
          </p:nvSpPr>
          <p:spPr>
            <a:xfrm>
              <a:off x="8375142" y="4540568"/>
              <a:ext cx="2602182" cy="492633"/>
            </a:xfrm>
            <a:prstGeom prst="rect">
              <a:avLst/>
            </a:prstGeom>
            <a:noFill/>
            <a:ln>
              <a:noFill/>
            </a:ln>
          </p:spPr>
          <p:txBody>
            <a:bodyPr wrap="none" lIns="0" tIns="0" rIns="0" bIns="0" anchor="t" anchorCtr="0">
              <a:spAutoFit/>
            </a:bodyPr>
            <a:lstStyle/>
            <a:p>
              <a:pPr algn="l">
                <a:lnSpc>
                  <a:spcPts val="1800"/>
                </a:lnSpc>
              </a:pPr>
              <a:r>
                <a:rPr lang="vi-VN" sz="1350" b="1" dirty="0">
                  <a:solidFill>
                    <a:schemeClr val="accent1"/>
                  </a:solidFill>
                  <a:latin typeface="+mn-lt"/>
                  <a:ea typeface="+mn-ea"/>
                  <a:cs typeface="+mn-cs"/>
                </a:rPr>
                <a:t>Giữ:</a:t>
              </a:r>
              <a:r>
                <a:rPr lang="vi-VN" sz="1350" dirty="0">
                  <a:solidFill>
                    <a:schemeClr val="dk1"/>
                  </a:solidFill>
                  <a:latin typeface="+mn-lt"/>
                  <a:ea typeface="+mn-ea"/>
                  <a:cs typeface="+mn-cs"/>
                </a:rPr>
                <a:t> đặt luật “cho tôi xem nháp</a:t>
              </a:r>
              <a:br/>
              <a:r>
                <a:rPr lang="vi-VN" sz="1350" dirty="0">
                  <a:solidFill>
                    <a:schemeClr val="dk1"/>
                  </a:solidFill>
                  <a:latin typeface="+mn-lt"/>
                  <a:ea typeface="+mn-ea"/>
                  <a:cs typeface="+mn-cs"/>
                </a:rPr>
                <a:t>trước khi gửi”</a:t>
              </a:r>
            </a:p>
          </p:txBody>
        </p:sp>
      </p:grpSp>
      <p:sp>
        <p:nvSpPr>
          <p:cNvPr id="53" name="TextBox 53"/>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54" name="TextBox 54"/>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33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81000" y="346710"/>
            <a:ext cx="3181777" cy="234696"/>
            <a:chOff x="381000" y="346710"/>
            <a:chExt cx="3181777" cy="234696"/>
          </a:xfrm>
        </p:grpSpPr>
        <p:sp>
          <p:nvSpPr>
            <p:cNvPr id="2" name="Rectangle 2"/>
            <p:cNvSpPr/>
            <p:nvPr/>
          </p:nvSpPr>
          <p:spPr>
            <a:xfrm>
              <a:off x="381000" y="361950"/>
              <a:ext cx="114300" cy="114300"/>
            </a:xfrm>
            <a:prstGeom prst="roundRect">
              <a:avLst>
                <a:gd name="adj" fmla="val 25000"/>
              </a:avLst>
            </a:prstGeom>
            <a:solidFill>
              <a:schemeClr val="accent2"/>
            </a:solidFill>
            <a:ln>
              <a:noFill/>
            </a:ln>
          </p:spPr>
        </p:sp>
        <p:sp>
          <p:nvSpPr>
            <p:cNvPr id="3" name="TextBox 3"/>
            <p:cNvSpPr txBox="1"/>
            <p:nvPr/>
          </p:nvSpPr>
          <p:spPr>
            <a:xfrm>
              <a:off x="584454" y="346710"/>
              <a:ext cx="2978323"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CHỐT · NGUYÊN TẮC XUYÊN SUỐT</a:t>
              </a:r>
            </a:p>
          </p:txBody>
        </p:sp>
      </p:grpSp>
      <p:grpSp>
        <p:nvGrpSpPr>
          <p:cNvPr id="15" name="Group 15"/>
          <p:cNvGrpSpPr/>
          <p:nvPr/>
        </p:nvGrpSpPr>
        <p:grpSpPr>
          <a:xfrm>
            <a:off x="5785104" y="190500"/>
            <a:ext cx="6025896" cy="543306"/>
            <a:chOff x="5785104" y="190500"/>
            <a:chExt cx="6025896" cy="543306"/>
          </a:xfrm>
        </p:grpSpPr>
        <p:sp>
          <p:nvSpPr>
            <p:cNvPr id="5" name="Rectangle 5"/>
            <p:cNvSpPr/>
            <p:nvPr/>
          </p:nvSpPr>
          <p:spPr>
            <a:xfrm>
              <a:off x="5791200" y="342900"/>
              <a:ext cx="1143000" cy="76200"/>
            </a:xfrm>
            <a:prstGeom prst="roundRect">
              <a:avLst>
                <a:gd name="adj" fmla="val 37500"/>
              </a:avLst>
            </a:prstGeom>
            <a:solidFill>
              <a:schemeClr val="accent5"/>
            </a:solidFill>
            <a:ln>
              <a:noFill/>
            </a:ln>
          </p:spPr>
        </p:sp>
        <p:sp>
          <p:nvSpPr>
            <p:cNvPr id="6" name="Rectangle 6"/>
            <p:cNvSpPr/>
            <p:nvPr/>
          </p:nvSpPr>
          <p:spPr>
            <a:xfrm>
              <a:off x="7010400" y="304800"/>
              <a:ext cx="1143000" cy="114300"/>
            </a:xfrm>
            <a:prstGeom prst="roundRect">
              <a:avLst>
                <a:gd name="adj" fmla="val 25000"/>
              </a:avLst>
            </a:prstGeom>
            <a:solidFill>
              <a:schemeClr val="accent3"/>
            </a:solidFill>
            <a:ln>
              <a:noFill/>
            </a:ln>
          </p:spPr>
        </p:sp>
        <p:sp>
          <p:nvSpPr>
            <p:cNvPr id="7" name="Rectangle 7"/>
            <p:cNvSpPr/>
            <p:nvPr/>
          </p:nvSpPr>
          <p:spPr>
            <a:xfrm>
              <a:off x="8229600" y="266700"/>
              <a:ext cx="1143000" cy="152400"/>
            </a:xfrm>
            <a:prstGeom prst="roundRect">
              <a:avLst>
                <a:gd name="adj" fmla="val 18750"/>
              </a:avLst>
            </a:prstGeom>
            <a:solidFill>
              <a:srgbClr val="2E5E91"/>
            </a:solidFill>
            <a:ln>
              <a:noFill/>
            </a:ln>
          </p:spPr>
        </p:sp>
        <p:sp>
          <p:nvSpPr>
            <p:cNvPr id="8" name="Rectangle 8"/>
            <p:cNvSpPr/>
            <p:nvPr/>
          </p:nvSpPr>
          <p:spPr>
            <a:xfrm>
              <a:off x="9448800" y="228600"/>
              <a:ext cx="1143000" cy="190500"/>
            </a:xfrm>
            <a:prstGeom prst="roundRect">
              <a:avLst>
                <a:gd name="adj" fmla="val 15000"/>
              </a:avLst>
            </a:prstGeom>
            <a:solidFill>
              <a:schemeClr val="accent1"/>
            </a:solidFill>
            <a:ln>
              <a:noFill/>
            </a:ln>
          </p:spPr>
        </p:sp>
        <p:sp>
          <p:nvSpPr>
            <p:cNvPr id="9" name="Rectangle 9"/>
            <p:cNvSpPr/>
            <p:nvPr/>
          </p:nvSpPr>
          <p:spPr>
            <a:xfrm>
              <a:off x="10668000" y="190500"/>
              <a:ext cx="1143000" cy="228600"/>
            </a:xfrm>
            <a:prstGeom prst="roundRect">
              <a:avLst>
                <a:gd name="adj" fmla="val 12500"/>
              </a:avLst>
            </a:prstGeom>
            <a:solidFill>
              <a:srgbClr val="64748B"/>
            </a:solidFill>
            <a:ln>
              <a:noFill/>
            </a:ln>
          </p:spPr>
        </p:sp>
        <p:sp>
          <p:nvSpPr>
            <p:cNvPr id="10" name="TextBox 10"/>
            <p:cNvSpPr txBox="1"/>
            <p:nvPr/>
          </p:nvSpPr>
          <p:spPr>
            <a:xfrm>
              <a:off x="5785104" y="499110"/>
              <a:ext cx="1140219" cy="234696"/>
            </a:xfrm>
            <a:prstGeom prst="rect">
              <a:avLst/>
            </a:prstGeom>
            <a:noFill/>
            <a:ln>
              <a:noFill/>
            </a:ln>
          </p:spPr>
          <p:txBody>
            <a:bodyPr wrap="none" lIns="0" tIns="0" rIns="0" bIns="0" anchor="t" anchorCtr="0">
              <a:spAutoFit/>
            </a:bodyPr>
            <a:lstStyle/>
            <a:p>
              <a:pPr algn="l"/>
              <a:r>
                <a:rPr lang="vi-VN" sz="1200" dirty="0">
                  <a:solidFill>
                    <a:schemeClr val="dk1"/>
                  </a:solidFill>
                  <a:latin typeface="+mn-lt"/>
                  <a:ea typeface="+mn-ea"/>
                  <a:cs typeface="+mn-cs"/>
                </a:rPr>
                <a:t>1 Instructions</a:t>
              </a:r>
            </a:p>
          </p:txBody>
        </p:sp>
        <p:sp>
          <p:nvSpPr>
            <p:cNvPr id="11" name="TextBox 11"/>
            <p:cNvSpPr txBox="1"/>
            <p:nvPr/>
          </p:nvSpPr>
          <p:spPr>
            <a:xfrm>
              <a:off x="7004304" y="499110"/>
              <a:ext cx="721538" cy="234696"/>
            </a:xfrm>
            <a:prstGeom prst="rect">
              <a:avLst/>
            </a:prstGeom>
            <a:noFill/>
            <a:ln>
              <a:noFill/>
            </a:ln>
          </p:spPr>
          <p:txBody>
            <a:bodyPr wrap="none" lIns="0" tIns="0" rIns="0" bIns="0" anchor="t" anchorCtr="0">
              <a:spAutoFit/>
            </a:bodyPr>
            <a:lstStyle/>
            <a:p>
              <a:pPr algn="l"/>
              <a:r>
                <a:rPr lang="vi-VN" sz="1200" dirty="0">
                  <a:solidFill>
                    <a:schemeClr val="dk1"/>
                  </a:solidFill>
                  <a:latin typeface="+mn-lt"/>
                  <a:ea typeface="+mn-ea"/>
                  <a:cs typeface="+mn-cs"/>
                </a:rPr>
                <a:t>2 Prompt</a:t>
              </a:r>
            </a:p>
          </p:txBody>
        </p:sp>
        <p:sp>
          <p:nvSpPr>
            <p:cNvPr id="12" name="TextBox 12"/>
            <p:cNvSpPr txBox="1"/>
            <p:nvPr/>
          </p:nvSpPr>
          <p:spPr>
            <a:xfrm>
              <a:off x="8223504" y="499110"/>
              <a:ext cx="477804" cy="234696"/>
            </a:xfrm>
            <a:prstGeom prst="rect">
              <a:avLst/>
            </a:prstGeom>
            <a:noFill/>
            <a:ln>
              <a:noFill/>
            </a:ln>
          </p:spPr>
          <p:txBody>
            <a:bodyPr wrap="none" lIns="0" tIns="0" rIns="0" bIns="0" anchor="t" anchorCtr="0">
              <a:spAutoFit/>
            </a:bodyPr>
            <a:lstStyle/>
            <a:p>
              <a:pPr algn="l"/>
              <a:r>
                <a:rPr lang="vi-VN" sz="1200" dirty="0">
                  <a:solidFill>
                    <a:schemeClr val="dk1"/>
                  </a:solidFill>
                  <a:latin typeface="+mn-lt"/>
                  <a:ea typeface="+mn-ea"/>
                  <a:cs typeface="+mn-cs"/>
                </a:rPr>
                <a:t>3 Skill</a:t>
              </a:r>
            </a:p>
          </p:txBody>
        </p:sp>
        <p:sp>
          <p:nvSpPr>
            <p:cNvPr id="13" name="TextBox 13"/>
            <p:cNvSpPr txBox="1"/>
            <p:nvPr/>
          </p:nvSpPr>
          <p:spPr>
            <a:xfrm>
              <a:off x="9442704" y="499110"/>
              <a:ext cx="607390" cy="234696"/>
            </a:xfrm>
            <a:prstGeom prst="rect">
              <a:avLst/>
            </a:prstGeom>
            <a:noFill/>
            <a:ln>
              <a:noFill/>
            </a:ln>
          </p:spPr>
          <p:txBody>
            <a:bodyPr wrap="none" lIns="0" tIns="0" rIns="0" bIns="0" anchor="t" anchorCtr="0">
              <a:spAutoFit/>
            </a:bodyPr>
            <a:lstStyle/>
            <a:p>
              <a:pPr algn="l"/>
              <a:r>
                <a:rPr lang="vi-VN" sz="1200" dirty="0">
                  <a:solidFill>
                    <a:schemeClr val="dk1"/>
                  </a:solidFill>
                  <a:latin typeface="+mn-lt"/>
                  <a:ea typeface="+mn-ea"/>
                  <a:cs typeface="+mn-cs"/>
                </a:rPr>
                <a:t>4 Plugin</a:t>
              </a:r>
            </a:p>
          </p:txBody>
        </p:sp>
        <p:sp>
          <p:nvSpPr>
            <p:cNvPr id="14" name="TextBox 14"/>
            <p:cNvSpPr txBox="1"/>
            <p:nvPr/>
          </p:nvSpPr>
          <p:spPr>
            <a:xfrm>
              <a:off x="10661904" y="499110"/>
              <a:ext cx="688021" cy="234696"/>
            </a:xfrm>
            <a:prstGeom prst="rect">
              <a:avLst/>
            </a:prstGeom>
            <a:noFill/>
            <a:ln>
              <a:noFill/>
            </a:ln>
          </p:spPr>
          <p:txBody>
            <a:bodyPr wrap="none" lIns="0" tIns="0" rIns="0" bIns="0" anchor="t" anchorCtr="0">
              <a:spAutoFit/>
            </a:bodyPr>
            <a:lstStyle/>
            <a:p>
              <a:pPr algn="l"/>
              <a:r>
                <a:rPr lang="vi-VN" sz="1200" dirty="0">
                  <a:solidFill>
                    <a:schemeClr val="dk1"/>
                  </a:solidFill>
                  <a:latin typeface="+mn-lt"/>
                  <a:ea typeface="+mn-ea"/>
                  <a:cs typeface="+mn-cs"/>
                </a:rPr>
                <a:t>Nâng cao</a:t>
              </a:r>
            </a:p>
          </p:txBody>
        </p:sp>
      </p:grpSp>
      <p:sp>
        <p:nvSpPr>
          <p:cNvPr id="16" name="TextBox 16"/>
          <p:cNvSpPr txBox="1"/>
          <p:nvPr/>
        </p:nvSpPr>
        <p:spPr>
          <a:xfrm>
            <a:off x="364998" y="879158"/>
            <a:ext cx="6563820"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Sáu nguyên tắc đi cùng mọi buổi,</a:t>
            </a:r>
            <a:br/>
            <a:r>
              <a:rPr lang="vi-VN" sz="3150" b="1" dirty="0">
                <a:solidFill>
                  <a:schemeClr val="accent1"/>
                </a:solidFill>
                <a:latin typeface="+mn-lt"/>
                <a:ea typeface="+mn-ea"/>
                <a:cs typeface="+mn-cs"/>
              </a:rPr>
              <a:t>dù dùng công cụ nào</a:t>
            </a:r>
          </a:p>
        </p:txBody>
      </p:sp>
      <p:grpSp>
        <p:nvGrpSpPr>
          <p:cNvPr id="21" name="Group 21"/>
          <p:cNvGrpSpPr/>
          <p:nvPr/>
        </p:nvGrpSpPr>
        <p:grpSpPr>
          <a:xfrm>
            <a:off x="419100" y="2190750"/>
            <a:ext cx="4189095" cy="1026795"/>
            <a:chOff x="419100" y="2190750"/>
            <a:chExt cx="4189095" cy="1026795"/>
          </a:xfrm>
        </p:grpSpPr>
        <p:sp>
          <p:nvSpPr>
            <p:cNvPr id="17" name="Ellipse 17"/>
            <p:cNvSpPr/>
            <p:nvPr/>
          </p:nvSpPr>
          <p:spPr>
            <a:xfrm>
              <a:off x="419100" y="2190750"/>
              <a:ext cx="495300" cy="495300"/>
            </a:xfrm>
            <a:prstGeom prst="ellipse">
              <a:avLst/>
            </a:prstGeom>
            <a:solidFill>
              <a:schemeClr val="accent2"/>
            </a:solidFill>
            <a:ln>
              <a:noFill/>
            </a:ln>
          </p:spPr>
        </p:sp>
        <p:sp>
          <p:nvSpPr>
            <p:cNvPr id="18" name="TextBox 18"/>
            <p:cNvSpPr txBox="1"/>
            <p:nvPr/>
          </p:nvSpPr>
          <p:spPr>
            <a:xfrm>
              <a:off x="581045" y="2313622"/>
              <a:ext cx="171411" cy="381381"/>
            </a:xfrm>
            <a:prstGeom prst="rect">
              <a:avLst/>
            </a:prstGeom>
            <a:noFill/>
            <a:ln>
              <a:noFill/>
            </a:ln>
          </p:spPr>
          <p:txBody>
            <a:bodyPr wrap="none" lIns="0" tIns="0" rIns="0" bIns="0" anchor="t" anchorCtr="0">
              <a:spAutoFit/>
            </a:bodyPr>
            <a:lstStyle/>
            <a:p>
              <a:pPr algn="ctr"/>
              <a:r>
                <a:rPr lang="vi-VN" sz="1950" b="1" dirty="0">
                  <a:solidFill>
                    <a:schemeClr val="dk1"/>
                  </a:solidFill>
                  <a:latin typeface="+mn-lt"/>
                  <a:ea typeface="+mn-ea"/>
                  <a:cs typeface="+mn-cs"/>
                </a:rPr>
                <a:t>1</a:t>
              </a:r>
            </a:p>
          </p:txBody>
        </p:sp>
        <p:sp>
          <p:nvSpPr>
            <p:cNvPr id="19" name="TextBox 19"/>
            <p:cNvSpPr txBox="1"/>
            <p:nvPr/>
          </p:nvSpPr>
          <p:spPr>
            <a:xfrm>
              <a:off x="1094994" y="2323148"/>
              <a:ext cx="1324460"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Chống bịa</a:t>
              </a:r>
            </a:p>
          </p:txBody>
        </p:sp>
        <p:sp>
          <p:nvSpPr>
            <p:cNvPr id="20" name="TextBox 20"/>
            <p:cNvSpPr txBox="1"/>
            <p:nvPr/>
          </p:nvSpPr>
          <p:spPr>
            <a:xfrm>
              <a:off x="1097280" y="2676525"/>
              <a:ext cx="3510915" cy="54102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Chỉ dùng dữ liệu được cấp; gắn nhãn</a:t>
              </a:r>
              <a:br/>
              <a:r>
                <a:rPr lang="vi-VN" sz="1500" dirty="0">
                  <a:solidFill>
                    <a:schemeClr val="dk1"/>
                  </a:solidFill>
                  <a:latin typeface="Consolas"/>
                  <a:ea typeface="Consolas"/>
                  <a:cs typeface="Consolas"/>
                </a:rPr>
                <a:t>[DATA THẬT] / [SUY LUẬN] / [CẦN ĐIỀN]</a:t>
              </a:r>
            </a:p>
          </p:txBody>
        </p:sp>
      </p:grpSp>
      <p:grpSp>
        <p:nvGrpSpPr>
          <p:cNvPr id="26" name="Group 26"/>
          <p:cNvGrpSpPr/>
          <p:nvPr/>
        </p:nvGrpSpPr>
        <p:grpSpPr>
          <a:xfrm>
            <a:off x="6324600" y="2190750"/>
            <a:ext cx="3970020" cy="1026795"/>
            <a:chOff x="6324600" y="2190750"/>
            <a:chExt cx="3970020" cy="1026795"/>
          </a:xfrm>
        </p:grpSpPr>
        <p:sp>
          <p:nvSpPr>
            <p:cNvPr id="22" name="Ellipse 22"/>
            <p:cNvSpPr/>
            <p:nvPr/>
          </p:nvSpPr>
          <p:spPr>
            <a:xfrm>
              <a:off x="6324600" y="2190750"/>
              <a:ext cx="495300" cy="495300"/>
            </a:xfrm>
            <a:prstGeom prst="ellipse">
              <a:avLst/>
            </a:prstGeom>
            <a:solidFill>
              <a:schemeClr val="accent2"/>
            </a:solidFill>
            <a:ln>
              <a:noFill/>
            </a:ln>
          </p:spPr>
        </p:sp>
        <p:sp>
          <p:nvSpPr>
            <p:cNvPr id="23" name="TextBox 23"/>
            <p:cNvSpPr txBox="1"/>
            <p:nvPr/>
          </p:nvSpPr>
          <p:spPr>
            <a:xfrm>
              <a:off x="6486545" y="2313622"/>
              <a:ext cx="171411" cy="381381"/>
            </a:xfrm>
            <a:prstGeom prst="rect">
              <a:avLst/>
            </a:prstGeom>
            <a:noFill/>
            <a:ln>
              <a:noFill/>
            </a:ln>
          </p:spPr>
          <p:txBody>
            <a:bodyPr wrap="none" lIns="0" tIns="0" rIns="0" bIns="0" anchor="t" anchorCtr="0">
              <a:spAutoFit/>
            </a:bodyPr>
            <a:lstStyle/>
            <a:p>
              <a:pPr algn="ctr"/>
              <a:r>
                <a:rPr lang="vi-VN" sz="1950" b="1" dirty="0">
                  <a:solidFill>
                    <a:schemeClr val="dk1"/>
                  </a:solidFill>
                  <a:latin typeface="+mn-lt"/>
                  <a:ea typeface="+mn-ea"/>
                  <a:cs typeface="+mn-cs"/>
                </a:rPr>
                <a:t>2</a:t>
              </a:r>
            </a:p>
          </p:txBody>
        </p:sp>
        <p:sp>
          <p:nvSpPr>
            <p:cNvPr id="24" name="TextBox 24"/>
            <p:cNvSpPr txBox="1"/>
            <p:nvPr/>
          </p:nvSpPr>
          <p:spPr>
            <a:xfrm>
              <a:off x="7000494" y="2323148"/>
              <a:ext cx="2178453"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Người duyệt cuối</a:t>
              </a:r>
            </a:p>
          </p:txBody>
        </p:sp>
        <p:sp>
          <p:nvSpPr>
            <p:cNvPr id="25" name="TextBox 25"/>
            <p:cNvSpPr txBox="1"/>
            <p:nvPr/>
          </p:nvSpPr>
          <p:spPr>
            <a:xfrm>
              <a:off x="7002780" y="2676525"/>
              <a:ext cx="3291840" cy="54102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AI làm nháp; người ký, người bấm gửi</a:t>
              </a:r>
              <a:br/>
              <a:r>
                <a:rPr lang="vi-VN" sz="1500" dirty="0">
                  <a:solidFill>
                    <a:schemeClr val="dk1"/>
                  </a:solidFill>
                  <a:latin typeface="+mn-lt"/>
                  <a:ea typeface="+mn-ea"/>
                  <a:cs typeface="+mn-cs"/>
                </a:rPr>
                <a:t>chịu trách nhiệm</a:t>
              </a:r>
            </a:p>
          </p:txBody>
        </p:sp>
      </p:grpSp>
      <p:sp>
        <p:nvSpPr>
          <p:cNvPr id="27" name="Line 27"/>
          <p:cNvSpPr/>
          <p:nvPr/>
        </p:nvSpPr>
        <p:spPr>
          <a:xfrm>
            <a:off x="381000" y="3390900"/>
            <a:ext cx="11430000" cy="9525"/>
          </a:xfrm>
          <a:custGeom>
            <a:avLst/>
            <a:gdLst/>
            <a:ahLst/>
            <a:cxnLst/>
            <a:rect l="l" t="t" r="r" b="b"/>
            <a:pathLst>
              <a:path w="11430000" h="9525">
                <a:moveTo>
                  <a:pt x="0" y="0"/>
                </a:moveTo>
                <a:lnTo>
                  <a:pt x="11430000" y="0"/>
                </a:lnTo>
              </a:path>
            </a:pathLst>
          </a:custGeom>
          <a:noFill/>
          <a:ln w="9525">
            <a:solidFill>
              <a:schemeClr val="accent4"/>
            </a:solidFill>
          </a:ln>
        </p:spPr>
      </p:sp>
      <p:grpSp>
        <p:nvGrpSpPr>
          <p:cNvPr id="32" name="Group 32"/>
          <p:cNvGrpSpPr/>
          <p:nvPr/>
        </p:nvGrpSpPr>
        <p:grpSpPr>
          <a:xfrm>
            <a:off x="419100" y="3486150"/>
            <a:ext cx="3769995" cy="1026795"/>
            <a:chOff x="419100" y="3486150"/>
            <a:chExt cx="3769995" cy="1026795"/>
          </a:xfrm>
        </p:grpSpPr>
        <p:sp>
          <p:nvSpPr>
            <p:cNvPr id="28" name="Ellipse 28"/>
            <p:cNvSpPr/>
            <p:nvPr/>
          </p:nvSpPr>
          <p:spPr>
            <a:xfrm>
              <a:off x="419100" y="3486150"/>
              <a:ext cx="495300" cy="495300"/>
            </a:xfrm>
            <a:prstGeom prst="ellipse">
              <a:avLst/>
            </a:prstGeom>
            <a:solidFill>
              <a:schemeClr val="accent2"/>
            </a:solidFill>
            <a:ln>
              <a:noFill/>
            </a:ln>
          </p:spPr>
        </p:sp>
        <p:sp>
          <p:nvSpPr>
            <p:cNvPr id="29" name="TextBox 29"/>
            <p:cNvSpPr txBox="1"/>
            <p:nvPr/>
          </p:nvSpPr>
          <p:spPr>
            <a:xfrm>
              <a:off x="581045" y="3609022"/>
              <a:ext cx="171411" cy="381381"/>
            </a:xfrm>
            <a:prstGeom prst="rect">
              <a:avLst/>
            </a:prstGeom>
            <a:noFill/>
            <a:ln>
              <a:noFill/>
            </a:ln>
          </p:spPr>
          <p:txBody>
            <a:bodyPr wrap="none" lIns="0" tIns="0" rIns="0" bIns="0" anchor="t" anchorCtr="0">
              <a:spAutoFit/>
            </a:bodyPr>
            <a:lstStyle/>
            <a:p>
              <a:pPr algn="ctr"/>
              <a:r>
                <a:rPr lang="vi-VN" sz="1950" b="1" dirty="0">
                  <a:solidFill>
                    <a:schemeClr val="dk1"/>
                  </a:solidFill>
                  <a:latin typeface="+mn-lt"/>
                  <a:ea typeface="+mn-ea"/>
                  <a:cs typeface="+mn-cs"/>
                </a:rPr>
                <a:t>3</a:t>
              </a:r>
            </a:p>
          </p:txBody>
        </p:sp>
        <p:sp>
          <p:nvSpPr>
            <p:cNvPr id="30" name="TextBox 30"/>
            <p:cNvSpPr txBox="1"/>
            <p:nvPr/>
          </p:nvSpPr>
          <p:spPr>
            <a:xfrm>
              <a:off x="1094994" y="3618548"/>
              <a:ext cx="1077104"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Bảo mật</a:t>
              </a:r>
            </a:p>
          </p:txBody>
        </p:sp>
        <p:sp>
          <p:nvSpPr>
            <p:cNvPr id="31" name="TextBox 31"/>
            <p:cNvSpPr txBox="1"/>
            <p:nvPr/>
          </p:nvSpPr>
          <p:spPr>
            <a:xfrm>
              <a:off x="1097280" y="3971925"/>
              <a:ext cx="3091815" cy="54102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Không dán 5 loại dữ liệu nhạy cảm;</a:t>
              </a:r>
              <a:br/>
              <a:r>
                <a:rPr lang="vi-VN" sz="1500" dirty="0">
                  <a:solidFill>
                    <a:schemeClr val="dk1"/>
                  </a:solidFill>
                  <a:latin typeface="+mn-lt"/>
                  <a:ea typeface="+mn-ea"/>
                  <a:cs typeface="+mn-cs"/>
                </a:rPr>
                <a:t>thay tên thật bằng tên chung</a:t>
              </a:r>
            </a:p>
          </p:txBody>
        </p:sp>
      </p:grpSp>
      <p:grpSp>
        <p:nvGrpSpPr>
          <p:cNvPr id="37" name="Group 37"/>
          <p:cNvGrpSpPr/>
          <p:nvPr/>
        </p:nvGrpSpPr>
        <p:grpSpPr>
          <a:xfrm>
            <a:off x="6324600" y="3486150"/>
            <a:ext cx="4417695" cy="1026795"/>
            <a:chOff x="6324600" y="3486150"/>
            <a:chExt cx="4417695" cy="1026795"/>
          </a:xfrm>
        </p:grpSpPr>
        <p:sp>
          <p:nvSpPr>
            <p:cNvPr id="33" name="Ellipse 33"/>
            <p:cNvSpPr/>
            <p:nvPr/>
          </p:nvSpPr>
          <p:spPr>
            <a:xfrm>
              <a:off x="6324600" y="3486150"/>
              <a:ext cx="495300" cy="495300"/>
            </a:xfrm>
            <a:prstGeom prst="ellipse">
              <a:avLst/>
            </a:prstGeom>
            <a:solidFill>
              <a:schemeClr val="accent2"/>
            </a:solidFill>
            <a:ln>
              <a:noFill/>
            </a:ln>
          </p:spPr>
        </p:sp>
        <p:sp>
          <p:nvSpPr>
            <p:cNvPr id="34" name="TextBox 34"/>
            <p:cNvSpPr txBox="1"/>
            <p:nvPr/>
          </p:nvSpPr>
          <p:spPr>
            <a:xfrm>
              <a:off x="6486545" y="3609022"/>
              <a:ext cx="171411" cy="381381"/>
            </a:xfrm>
            <a:prstGeom prst="rect">
              <a:avLst/>
            </a:prstGeom>
            <a:noFill/>
            <a:ln>
              <a:noFill/>
            </a:ln>
          </p:spPr>
          <p:txBody>
            <a:bodyPr wrap="none" lIns="0" tIns="0" rIns="0" bIns="0" anchor="t" anchorCtr="0">
              <a:spAutoFit/>
            </a:bodyPr>
            <a:lstStyle/>
            <a:p>
              <a:pPr algn="ctr"/>
              <a:r>
                <a:rPr lang="vi-VN" sz="1950" b="1" dirty="0">
                  <a:solidFill>
                    <a:schemeClr val="dk1"/>
                  </a:solidFill>
                  <a:latin typeface="+mn-lt"/>
                  <a:ea typeface="+mn-ea"/>
                  <a:cs typeface="+mn-cs"/>
                </a:rPr>
                <a:t>4</a:t>
              </a:r>
            </a:p>
          </p:txBody>
        </p:sp>
        <p:sp>
          <p:nvSpPr>
            <p:cNvPr id="35" name="TextBox 35"/>
            <p:cNvSpPr txBox="1"/>
            <p:nvPr/>
          </p:nvSpPr>
          <p:spPr>
            <a:xfrm>
              <a:off x="7000494" y="3618548"/>
              <a:ext cx="1462126"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Kiểm chứng</a:t>
              </a:r>
            </a:p>
          </p:txBody>
        </p:sp>
        <p:sp>
          <p:nvSpPr>
            <p:cNvPr id="36" name="TextBox 36"/>
            <p:cNvSpPr txBox="1"/>
            <p:nvPr/>
          </p:nvSpPr>
          <p:spPr>
            <a:xfrm>
              <a:off x="7002780" y="3971925"/>
              <a:ext cx="3739515" cy="54102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Đối chiếu số liệu, ngày tháng, tên riêng,</a:t>
              </a:r>
              <a:br/>
              <a:r>
                <a:rPr lang="vi-VN" sz="1500" dirty="0">
                  <a:solidFill>
                    <a:schemeClr val="dk1"/>
                  </a:solidFill>
                  <a:latin typeface="+mn-lt"/>
                  <a:ea typeface="+mn-ea"/>
                  <a:cs typeface="+mn-cs"/>
                </a:rPr>
                <a:t>trích dẫn với nguồn</a:t>
              </a:r>
            </a:p>
          </p:txBody>
        </p:sp>
      </p:grpSp>
      <p:sp>
        <p:nvSpPr>
          <p:cNvPr id="38" name="Line 38"/>
          <p:cNvSpPr/>
          <p:nvPr/>
        </p:nvSpPr>
        <p:spPr>
          <a:xfrm>
            <a:off x="381000" y="4686300"/>
            <a:ext cx="11430000" cy="9525"/>
          </a:xfrm>
          <a:custGeom>
            <a:avLst/>
            <a:gdLst/>
            <a:ahLst/>
            <a:cxnLst/>
            <a:rect l="l" t="t" r="r" b="b"/>
            <a:pathLst>
              <a:path w="11430000" h="9525">
                <a:moveTo>
                  <a:pt x="0" y="0"/>
                </a:moveTo>
                <a:lnTo>
                  <a:pt x="11430000" y="0"/>
                </a:lnTo>
              </a:path>
            </a:pathLst>
          </a:custGeom>
          <a:noFill/>
          <a:ln w="9525">
            <a:solidFill>
              <a:schemeClr val="accent4"/>
            </a:solidFill>
          </a:ln>
        </p:spPr>
      </p:sp>
      <p:grpSp>
        <p:nvGrpSpPr>
          <p:cNvPr id="43" name="Group 43"/>
          <p:cNvGrpSpPr/>
          <p:nvPr/>
        </p:nvGrpSpPr>
        <p:grpSpPr>
          <a:xfrm>
            <a:off x="419100" y="4781550"/>
            <a:ext cx="3158110" cy="1026795"/>
            <a:chOff x="419100" y="4781550"/>
            <a:chExt cx="3158110" cy="1026795"/>
          </a:xfrm>
        </p:grpSpPr>
        <p:sp>
          <p:nvSpPr>
            <p:cNvPr id="39" name="Ellipse 39"/>
            <p:cNvSpPr/>
            <p:nvPr/>
          </p:nvSpPr>
          <p:spPr>
            <a:xfrm>
              <a:off x="419100" y="4781550"/>
              <a:ext cx="495300" cy="495300"/>
            </a:xfrm>
            <a:prstGeom prst="ellipse">
              <a:avLst/>
            </a:prstGeom>
            <a:solidFill>
              <a:schemeClr val="accent2"/>
            </a:solidFill>
            <a:ln>
              <a:noFill/>
            </a:ln>
          </p:spPr>
        </p:sp>
        <p:sp>
          <p:nvSpPr>
            <p:cNvPr id="40" name="TextBox 40"/>
            <p:cNvSpPr txBox="1"/>
            <p:nvPr/>
          </p:nvSpPr>
          <p:spPr>
            <a:xfrm>
              <a:off x="581045" y="4904422"/>
              <a:ext cx="171411" cy="381381"/>
            </a:xfrm>
            <a:prstGeom prst="rect">
              <a:avLst/>
            </a:prstGeom>
            <a:noFill/>
            <a:ln>
              <a:noFill/>
            </a:ln>
          </p:spPr>
          <p:txBody>
            <a:bodyPr wrap="none" lIns="0" tIns="0" rIns="0" bIns="0" anchor="t" anchorCtr="0">
              <a:spAutoFit/>
            </a:bodyPr>
            <a:lstStyle/>
            <a:p>
              <a:pPr algn="ctr"/>
              <a:r>
                <a:rPr lang="vi-VN" sz="1950" b="1" dirty="0">
                  <a:solidFill>
                    <a:schemeClr val="dk1"/>
                  </a:solidFill>
                  <a:latin typeface="+mn-lt"/>
                  <a:ea typeface="+mn-ea"/>
                  <a:cs typeface="+mn-cs"/>
                </a:rPr>
                <a:t>5</a:t>
              </a:r>
            </a:p>
          </p:txBody>
        </p:sp>
        <p:sp>
          <p:nvSpPr>
            <p:cNvPr id="41" name="TextBox 41"/>
            <p:cNvSpPr txBox="1"/>
            <p:nvPr/>
          </p:nvSpPr>
          <p:spPr>
            <a:xfrm>
              <a:off x="1094994" y="4913948"/>
              <a:ext cx="2482216"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Tiêu chuẩn bằng số</a:t>
              </a:r>
            </a:p>
          </p:txBody>
        </p:sp>
        <p:sp>
          <p:nvSpPr>
            <p:cNvPr id="42" name="TextBox 42"/>
            <p:cNvSpPr txBox="1"/>
            <p:nvPr/>
          </p:nvSpPr>
          <p:spPr>
            <a:xfrm>
              <a:off x="1097280" y="5267325"/>
              <a:ext cx="2406015" cy="54102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Viết bằng số hoặc hành vi,</a:t>
              </a:r>
              <a:br/>
              <a:r>
                <a:rPr lang="vi-VN" sz="1500" dirty="0">
                  <a:solidFill>
                    <a:schemeClr val="dk1"/>
                  </a:solidFill>
                  <a:latin typeface="+mn-lt"/>
                  <a:ea typeface="+mn-ea"/>
                  <a:cs typeface="+mn-cs"/>
                </a:rPr>
                <a:t>không bằng tính từ</a:t>
              </a:r>
            </a:p>
          </p:txBody>
        </p:sp>
      </p:grpSp>
      <p:grpSp>
        <p:nvGrpSpPr>
          <p:cNvPr id="48" name="Group 48"/>
          <p:cNvGrpSpPr/>
          <p:nvPr/>
        </p:nvGrpSpPr>
        <p:grpSpPr>
          <a:xfrm>
            <a:off x="6324600" y="4781550"/>
            <a:ext cx="3626619" cy="1026795"/>
            <a:chOff x="6324600" y="4781550"/>
            <a:chExt cx="3626619" cy="1026795"/>
          </a:xfrm>
        </p:grpSpPr>
        <p:sp>
          <p:nvSpPr>
            <p:cNvPr id="44" name="Ellipse 44"/>
            <p:cNvSpPr/>
            <p:nvPr/>
          </p:nvSpPr>
          <p:spPr>
            <a:xfrm>
              <a:off x="6324600" y="4781550"/>
              <a:ext cx="495300" cy="495300"/>
            </a:xfrm>
            <a:prstGeom prst="ellipse">
              <a:avLst/>
            </a:prstGeom>
            <a:solidFill>
              <a:schemeClr val="accent2"/>
            </a:solidFill>
            <a:ln>
              <a:noFill/>
            </a:ln>
          </p:spPr>
        </p:sp>
        <p:sp>
          <p:nvSpPr>
            <p:cNvPr id="45" name="TextBox 45"/>
            <p:cNvSpPr txBox="1"/>
            <p:nvPr/>
          </p:nvSpPr>
          <p:spPr>
            <a:xfrm>
              <a:off x="6486545" y="4904422"/>
              <a:ext cx="171411" cy="381381"/>
            </a:xfrm>
            <a:prstGeom prst="rect">
              <a:avLst/>
            </a:prstGeom>
            <a:noFill/>
            <a:ln>
              <a:noFill/>
            </a:ln>
          </p:spPr>
          <p:txBody>
            <a:bodyPr wrap="none" lIns="0" tIns="0" rIns="0" bIns="0" anchor="t" anchorCtr="0">
              <a:spAutoFit/>
            </a:bodyPr>
            <a:lstStyle/>
            <a:p>
              <a:pPr algn="ctr"/>
              <a:r>
                <a:rPr lang="vi-VN" sz="1950" b="1" dirty="0">
                  <a:solidFill>
                    <a:schemeClr val="dk1"/>
                  </a:solidFill>
                  <a:latin typeface="+mn-lt"/>
                  <a:ea typeface="+mn-ea"/>
                  <a:cs typeface="+mn-cs"/>
                </a:rPr>
                <a:t>6</a:t>
              </a:r>
            </a:p>
          </p:txBody>
        </p:sp>
        <p:sp>
          <p:nvSpPr>
            <p:cNvPr id="46" name="TextBox 46"/>
            <p:cNvSpPr txBox="1"/>
            <p:nvPr/>
          </p:nvSpPr>
          <p:spPr>
            <a:xfrm>
              <a:off x="7000494" y="4913948"/>
              <a:ext cx="2950725"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Lưu kết quả thành file</a:t>
              </a:r>
            </a:p>
          </p:txBody>
        </p:sp>
        <p:sp>
          <p:nvSpPr>
            <p:cNvPr id="47" name="TextBox 47"/>
            <p:cNvSpPr txBox="1"/>
            <p:nvPr/>
          </p:nvSpPr>
          <p:spPr>
            <a:xfrm>
              <a:off x="7002780" y="5267325"/>
              <a:ext cx="2567940" cy="541020"/>
            </a:xfrm>
            <a:prstGeom prst="rect">
              <a:avLst/>
            </a:prstGeom>
            <a:noFill/>
            <a:ln>
              <a:noFill/>
            </a:ln>
          </p:spPr>
          <p:txBody>
            <a:bodyPr wrap="none" lIns="0" tIns="0" rIns="0" bIns="0" anchor="t" anchorCtr="0">
              <a:spAutoFit/>
            </a:bodyPr>
            <a:lstStyle/>
            <a:p>
              <a:pPr algn="l">
                <a:lnSpc>
                  <a:spcPts val="1950"/>
                </a:lnSpc>
              </a:pPr>
              <a:r>
                <a:rPr lang="vi-VN" sz="1500" dirty="0">
                  <a:solidFill>
                    <a:schemeClr val="dk1"/>
                  </a:solidFill>
                  <a:latin typeface="+mn-lt"/>
                  <a:ea typeface="+mn-ea"/>
                  <a:cs typeface="+mn-cs"/>
                </a:rPr>
                <a:t>Đầu ra buổi trước là đầu vào</a:t>
              </a:r>
              <a:br/>
              <a:r>
                <a:rPr lang="vi-VN" sz="1500" dirty="0">
                  <a:solidFill>
                    <a:schemeClr val="dk1"/>
                  </a:solidFill>
                  <a:latin typeface="+mn-lt"/>
                  <a:ea typeface="+mn-ea"/>
                  <a:cs typeface="+mn-cs"/>
                </a:rPr>
                <a:t>buổi sau</a:t>
              </a:r>
            </a:p>
          </p:txBody>
        </p:sp>
      </p:grpSp>
      <p:sp>
        <p:nvSpPr>
          <p:cNvPr id="49" name="TextBox 49"/>
          <p:cNvSpPr txBox="1"/>
          <p:nvPr/>
        </p:nvSpPr>
        <p:spPr>
          <a:xfrm>
            <a:off x="375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50" name="TextBox 50"/>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34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2857500" y="2857500"/>
            <a:ext cx="8001000" cy="8001000"/>
          </a:xfrm>
          <a:prstGeom prst="ellipse">
            <a:avLst/>
          </a:prstGeom>
          <a:solidFill>
            <a:schemeClr val="lt2"/>
          </a:solidFill>
          <a:ln>
            <a:noFill/>
          </a:ln>
        </p:spPr>
      </p:sp>
      <p:grpSp>
        <p:nvGrpSpPr>
          <p:cNvPr id="5" name="Group 5"/>
          <p:cNvGrpSpPr/>
          <p:nvPr/>
        </p:nvGrpSpPr>
        <p:grpSpPr>
          <a:xfrm>
            <a:off x="381000" y="346710"/>
            <a:ext cx="2723764" cy="234696"/>
            <a:chOff x="381000" y="346710"/>
            <a:chExt cx="2723764" cy="234696"/>
          </a:xfrm>
        </p:grpSpPr>
        <p:sp>
          <p:nvSpPr>
            <p:cNvPr id="3" name="Rectangle 3"/>
            <p:cNvSpPr/>
            <p:nvPr/>
          </p:nvSpPr>
          <p:spPr>
            <a:xfrm>
              <a:off x="381000" y="361950"/>
              <a:ext cx="114300" cy="114300"/>
            </a:xfrm>
            <a:prstGeom prst="roundRect">
              <a:avLst>
                <a:gd name="adj" fmla="val 25000"/>
              </a:avLst>
            </a:prstGeom>
            <a:solidFill>
              <a:schemeClr val="accent2"/>
            </a:solidFill>
            <a:ln>
              <a:noFill/>
            </a:ln>
          </p:spPr>
        </p:sp>
        <p:sp>
          <p:nvSpPr>
            <p:cNvPr id="4" name="TextBox 4"/>
            <p:cNvSpPr txBox="1"/>
            <p:nvPr/>
          </p:nvSpPr>
          <p:spPr>
            <a:xfrm>
              <a:off x="584454" y="346710"/>
              <a:ext cx="2520310" cy="234696"/>
            </a:xfrm>
            <a:prstGeom prst="rect">
              <a:avLst/>
            </a:prstGeom>
            <a:noFill/>
            <a:ln>
              <a:noFill/>
            </a:ln>
          </p:spPr>
          <p:txBody>
            <a:bodyPr wrap="none" lIns="0" tIns="0" rIns="0" bIns="0" anchor="t" anchorCtr="0">
              <a:spAutoFit/>
            </a:bodyPr>
            <a:lstStyle/>
            <a:p>
              <a:pPr algn="l"/>
              <a:r>
                <a:rPr lang="vi-VN" sz="1200" b="1" spc="112" dirty="0">
                  <a:solidFill>
                    <a:schemeClr val="accent1"/>
                  </a:solidFill>
                  <a:latin typeface="+mn-lt"/>
                  <a:ea typeface="+mn-ea"/>
                  <a:cs typeface="+mn-cs"/>
                </a:rPr>
                <a:t>CHỐT · TỔNG KẾT LỘ TRÌNH</a:t>
              </a:r>
            </a:p>
          </p:txBody>
        </p:sp>
      </p:grpSp>
      <p:grpSp>
        <p:nvGrpSpPr>
          <p:cNvPr id="16" name="Group 16"/>
          <p:cNvGrpSpPr/>
          <p:nvPr/>
        </p:nvGrpSpPr>
        <p:grpSpPr>
          <a:xfrm>
            <a:off x="5785104" y="190500"/>
            <a:ext cx="6025896" cy="543306"/>
            <a:chOff x="5785104" y="190500"/>
            <a:chExt cx="6025896" cy="543306"/>
          </a:xfrm>
        </p:grpSpPr>
        <p:sp>
          <p:nvSpPr>
            <p:cNvPr id="6" name="Rectangle 6"/>
            <p:cNvSpPr/>
            <p:nvPr/>
          </p:nvSpPr>
          <p:spPr>
            <a:xfrm>
              <a:off x="5791200" y="342900"/>
              <a:ext cx="1143000" cy="76200"/>
            </a:xfrm>
            <a:prstGeom prst="roundRect">
              <a:avLst>
                <a:gd name="adj" fmla="val 37500"/>
              </a:avLst>
            </a:prstGeom>
            <a:solidFill>
              <a:schemeClr val="accent5"/>
            </a:solidFill>
            <a:ln>
              <a:noFill/>
            </a:ln>
          </p:spPr>
        </p:sp>
        <p:sp>
          <p:nvSpPr>
            <p:cNvPr id="7" name="Rectangle 7"/>
            <p:cNvSpPr/>
            <p:nvPr/>
          </p:nvSpPr>
          <p:spPr>
            <a:xfrm>
              <a:off x="7010400" y="304800"/>
              <a:ext cx="1143000" cy="114300"/>
            </a:xfrm>
            <a:prstGeom prst="roundRect">
              <a:avLst>
                <a:gd name="adj" fmla="val 25000"/>
              </a:avLst>
            </a:prstGeom>
            <a:solidFill>
              <a:schemeClr val="accent3"/>
            </a:solidFill>
            <a:ln>
              <a:noFill/>
            </a:ln>
          </p:spPr>
        </p:sp>
        <p:sp>
          <p:nvSpPr>
            <p:cNvPr id="8" name="Rectangle 8"/>
            <p:cNvSpPr/>
            <p:nvPr/>
          </p:nvSpPr>
          <p:spPr>
            <a:xfrm>
              <a:off x="8229600" y="266700"/>
              <a:ext cx="1143000" cy="152400"/>
            </a:xfrm>
            <a:prstGeom prst="roundRect">
              <a:avLst>
                <a:gd name="adj" fmla="val 18750"/>
              </a:avLst>
            </a:prstGeom>
            <a:solidFill>
              <a:srgbClr val="2E5E91"/>
            </a:solidFill>
            <a:ln>
              <a:noFill/>
            </a:ln>
          </p:spPr>
        </p:sp>
        <p:sp>
          <p:nvSpPr>
            <p:cNvPr id="9" name="Rectangle 9"/>
            <p:cNvSpPr/>
            <p:nvPr/>
          </p:nvSpPr>
          <p:spPr>
            <a:xfrm>
              <a:off x="9448800" y="228600"/>
              <a:ext cx="1143000" cy="190500"/>
            </a:xfrm>
            <a:prstGeom prst="roundRect">
              <a:avLst>
                <a:gd name="adj" fmla="val 15000"/>
              </a:avLst>
            </a:prstGeom>
            <a:solidFill>
              <a:schemeClr val="accent1"/>
            </a:solidFill>
            <a:ln>
              <a:noFill/>
            </a:ln>
          </p:spPr>
        </p:sp>
        <p:sp>
          <p:nvSpPr>
            <p:cNvPr id="10" name="Rectangle 10"/>
            <p:cNvSpPr/>
            <p:nvPr/>
          </p:nvSpPr>
          <p:spPr>
            <a:xfrm>
              <a:off x="10668000" y="190500"/>
              <a:ext cx="1143000" cy="228600"/>
            </a:xfrm>
            <a:prstGeom prst="roundRect">
              <a:avLst>
                <a:gd name="adj" fmla="val 12500"/>
              </a:avLst>
            </a:prstGeom>
            <a:solidFill>
              <a:srgbClr val="64748B"/>
            </a:solidFill>
            <a:ln>
              <a:noFill/>
            </a:ln>
          </p:spPr>
        </p:sp>
        <p:sp>
          <p:nvSpPr>
            <p:cNvPr id="11" name="TextBox 11"/>
            <p:cNvSpPr txBox="1"/>
            <p:nvPr/>
          </p:nvSpPr>
          <p:spPr>
            <a:xfrm>
              <a:off x="5785104" y="499110"/>
              <a:ext cx="119662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1 Instructions</a:t>
              </a:r>
            </a:p>
          </p:txBody>
        </p:sp>
        <p:sp>
          <p:nvSpPr>
            <p:cNvPr id="12" name="TextBox 12"/>
            <p:cNvSpPr txBox="1"/>
            <p:nvPr/>
          </p:nvSpPr>
          <p:spPr>
            <a:xfrm>
              <a:off x="7004304" y="499110"/>
              <a:ext cx="75700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2 Prompt</a:t>
              </a:r>
            </a:p>
          </p:txBody>
        </p:sp>
        <p:sp>
          <p:nvSpPr>
            <p:cNvPr id="13" name="TextBox 13"/>
            <p:cNvSpPr txBox="1"/>
            <p:nvPr/>
          </p:nvSpPr>
          <p:spPr>
            <a:xfrm>
              <a:off x="8223504" y="499110"/>
              <a:ext cx="50108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3 Skill</a:t>
              </a:r>
            </a:p>
          </p:txBody>
        </p:sp>
        <p:sp>
          <p:nvSpPr>
            <p:cNvPr id="14" name="TextBox 14"/>
            <p:cNvSpPr txBox="1"/>
            <p:nvPr/>
          </p:nvSpPr>
          <p:spPr>
            <a:xfrm>
              <a:off x="9442704" y="499110"/>
              <a:ext cx="637150"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4 Plugin</a:t>
              </a:r>
            </a:p>
          </p:txBody>
        </p:sp>
        <p:sp>
          <p:nvSpPr>
            <p:cNvPr id="15" name="TextBox 15"/>
            <p:cNvSpPr txBox="1"/>
            <p:nvPr/>
          </p:nvSpPr>
          <p:spPr>
            <a:xfrm>
              <a:off x="10661904" y="499110"/>
              <a:ext cx="721812"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Nâng cao</a:t>
              </a:r>
            </a:p>
          </p:txBody>
        </p:sp>
      </p:grpSp>
      <p:sp>
        <p:nvSpPr>
          <p:cNvPr id="17" name="TextBox 17"/>
          <p:cNvSpPr txBox="1"/>
          <p:nvPr/>
        </p:nvSpPr>
        <p:spPr>
          <a:xfrm>
            <a:off x="364998" y="879158"/>
            <a:ext cx="8706088" cy="1092327"/>
          </a:xfrm>
          <a:prstGeom prst="rect">
            <a:avLst/>
          </a:prstGeom>
          <a:noFill/>
          <a:ln>
            <a:noFill/>
          </a:ln>
        </p:spPr>
        <p:txBody>
          <a:bodyPr wrap="none" lIns="0" tIns="0" rIns="0" bIns="0" anchor="t" anchorCtr="0">
            <a:spAutoFit/>
          </a:bodyPr>
          <a:lstStyle/>
          <a:p>
            <a:pPr algn="l">
              <a:lnSpc>
                <a:spcPts val="3750"/>
              </a:lnSpc>
            </a:pPr>
            <a:r>
              <a:rPr lang="vi-VN" sz="3150" b="1" dirty="0">
                <a:solidFill>
                  <a:schemeClr val="accent1"/>
                </a:solidFill>
                <a:latin typeface="+mn-lt"/>
                <a:ea typeface="+mn-ea"/>
                <a:cs typeface="+mn-cs"/>
              </a:rPr>
              <a:t>Đi đủ 4 bậc, ChatGPT thành trợ lý đáng tin;</a:t>
            </a:r>
            <a:br/>
            <a:r>
              <a:rPr lang="vi-VN" sz="3150" b="1" dirty="0">
                <a:solidFill>
                  <a:schemeClr val="accent1"/>
                </a:solidFill>
                <a:latin typeface="+mn-lt"/>
                <a:ea typeface="+mn-ea"/>
                <a:cs typeface="+mn-cs"/>
              </a:rPr>
              <a:t>công cụ có đổi, ba điều này không đổi</a:t>
            </a:r>
          </a:p>
        </p:txBody>
      </p:sp>
      <p:grpSp>
        <p:nvGrpSpPr>
          <p:cNvPr id="36" name="Group 36"/>
          <p:cNvGrpSpPr/>
          <p:nvPr/>
        </p:nvGrpSpPr>
        <p:grpSpPr>
          <a:xfrm>
            <a:off x="374142" y="2152650"/>
            <a:ext cx="5683758" cy="4214051"/>
            <a:chOff x="374142" y="2152650"/>
            <a:chExt cx="5683758" cy="4214051"/>
          </a:xfrm>
        </p:grpSpPr>
        <p:sp>
          <p:nvSpPr>
            <p:cNvPr id="18" name="Rectangle 18"/>
            <p:cNvSpPr/>
            <p:nvPr/>
          </p:nvSpPr>
          <p:spPr>
            <a:xfrm>
              <a:off x="381000" y="4953000"/>
              <a:ext cx="1333500" cy="1047750"/>
            </a:xfrm>
            <a:prstGeom prst="roundRect">
              <a:avLst>
                <a:gd name="adj" fmla="val 12727"/>
              </a:avLst>
            </a:prstGeom>
            <a:solidFill>
              <a:schemeClr val="accent5"/>
            </a:solidFill>
            <a:ln>
              <a:noFill/>
            </a:ln>
          </p:spPr>
        </p:sp>
        <p:sp>
          <p:nvSpPr>
            <p:cNvPr id="19" name="TextBox 19"/>
            <p:cNvSpPr txBox="1"/>
            <p:nvPr/>
          </p:nvSpPr>
          <p:spPr>
            <a:xfrm>
              <a:off x="540258" y="5055870"/>
              <a:ext cx="210967" cy="469392"/>
            </a:xfrm>
            <a:prstGeom prst="rect">
              <a:avLst/>
            </a:prstGeom>
            <a:noFill/>
            <a:ln>
              <a:noFill/>
            </a:ln>
          </p:spPr>
          <p:txBody>
            <a:bodyPr wrap="none" lIns="0" tIns="0" rIns="0" bIns="0" anchor="t" anchorCtr="0">
              <a:spAutoFit/>
            </a:bodyPr>
            <a:lstStyle/>
            <a:p>
              <a:pPr algn="l"/>
              <a:r>
                <a:rPr lang="vi-VN" sz="2400" b="1" dirty="0">
                  <a:solidFill>
                    <a:srgbClr val="FFFFFF"/>
                  </a:solidFill>
                  <a:latin typeface="+mn-lt"/>
                  <a:ea typeface="+mn-ea"/>
                  <a:cs typeface="+mn-cs"/>
                </a:rPr>
                <a:t>1</a:t>
              </a:r>
            </a:p>
          </p:txBody>
        </p:sp>
        <p:sp>
          <p:nvSpPr>
            <p:cNvPr id="20" name="TextBox 20"/>
            <p:cNvSpPr txBox="1"/>
            <p:nvPr/>
          </p:nvSpPr>
          <p:spPr>
            <a:xfrm>
              <a:off x="544830" y="5457825"/>
              <a:ext cx="945356" cy="521970"/>
            </a:xfrm>
            <a:prstGeom prst="rect">
              <a:avLst/>
            </a:prstGeom>
            <a:noFill/>
            <a:ln>
              <a:noFill/>
            </a:ln>
          </p:spPr>
          <p:txBody>
            <a:bodyPr wrap="none" lIns="0" tIns="0" rIns="0" bIns="0" anchor="t" anchorCtr="0">
              <a:spAutoFit/>
            </a:bodyPr>
            <a:lstStyle/>
            <a:p>
              <a:pPr algn="l">
                <a:lnSpc>
                  <a:spcPts val="1800"/>
                </a:lnSpc>
              </a:pPr>
              <a:r>
                <a:rPr lang="vi-VN" sz="1500" b="1" dirty="0">
                  <a:solidFill>
                    <a:srgbClr val="FFFFFF"/>
                  </a:solidFill>
                  <a:latin typeface="+mn-lt"/>
                  <a:ea typeface="+mn-ea"/>
                  <a:cs typeface="+mn-cs"/>
                </a:rPr>
                <a:t>biết mình</a:t>
              </a:r>
              <a:br/>
              <a:r>
                <a:rPr lang="vi-VN" sz="1500" b="1" dirty="0">
                  <a:solidFill>
                    <a:srgbClr val="FFFFFF"/>
                  </a:solidFill>
                  <a:latin typeface="+mn-lt"/>
                  <a:ea typeface="+mn-ea"/>
                  <a:cs typeface="+mn-cs"/>
                </a:rPr>
                <a:t>là ai</a:t>
              </a:r>
            </a:p>
          </p:txBody>
        </p:sp>
        <p:sp>
          <p:nvSpPr>
            <p:cNvPr id="21" name="TextBox 21"/>
            <p:cNvSpPr txBox="1"/>
            <p:nvPr/>
          </p:nvSpPr>
          <p:spPr>
            <a:xfrm>
              <a:off x="374142" y="6102668"/>
              <a:ext cx="1183232"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Instructions</a:t>
              </a:r>
            </a:p>
          </p:txBody>
        </p:sp>
        <p:sp>
          <p:nvSpPr>
            <p:cNvPr id="22" name="Rectangle 22"/>
            <p:cNvSpPr/>
            <p:nvPr/>
          </p:nvSpPr>
          <p:spPr>
            <a:xfrm>
              <a:off x="1790700" y="4191000"/>
              <a:ext cx="1333500" cy="1809750"/>
            </a:xfrm>
            <a:prstGeom prst="roundRect">
              <a:avLst>
                <a:gd name="adj" fmla="val 10000"/>
              </a:avLst>
            </a:prstGeom>
            <a:solidFill>
              <a:schemeClr val="accent3"/>
            </a:solidFill>
            <a:ln>
              <a:noFill/>
            </a:ln>
          </p:spPr>
        </p:sp>
        <p:sp>
          <p:nvSpPr>
            <p:cNvPr id="23" name="TextBox 23"/>
            <p:cNvSpPr txBox="1"/>
            <p:nvPr/>
          </p:nvSpPr>
          <p:spPr>
            <a:xfrm>
              <a:off x="1949958" y="4293870"/>
              <a:ext cx="210967" cy="469392"/>
            </a:xfrm>
            <a:prstGeom prst="rect">
              <a:avLst/>
            </a:prstGeom>
            <a:noFill/>
            <a:ln>
              <a:noFill/>
            </a:ln>
          </p:spPr>
          <p:txBody>
            <a:bodyPr wrap="none" lIns="0" tIns="0" rIns="0" bIns="0" anchor="t" anchorCtr="0">
              <a:spAutoFit/>
            </a:bodyPr>
            <a:lstStyle/>
            <a:p>
              <a:pPr algn="l"/>
              <a:r>
                <a:rPr lang="vi-VN" sz="2400" b="1" dirty="0">
                  <a:solidFill>
                    <a:srgbClr val="FFFFFF"/>
                  </a:solidFill>
                  <a:latin typeface="+mn-lt"/>
                  <a:ea typeface="+mn-ea"/>
                  <a:cs typeface="+mn-cs"/>
                </a:rPr>
                <a:t>2</a:t>
              </a:r>
            </a:p>
          </p:txBody>
        </p:sp>
        <p:sp>
          <p:nvSpPr>
            <p:cNvPr id="24" name="TextBox 24"/>
            <p:cNvSpPr txBox="1"/>
            <p:nvPr/>
          </p:nvSpPr>
          <p:spPr>
            <a:xfrm>
              <a:off x="1954530" y="4695825"/>
              <a:ext cx="905351" cy="521970"/>
            </a:xfrm>
            <a:prstGeom prst="rect">
              <a:avLst/>
            </a:prstGeom>
            <a:noFill/>
            <a:ln>
              <a:noFill/>
            </a:ln>
          </p:spPr>
          <p:txBody>
            <a:bodyPr wrap="none" lIns="0" tIns="0" rIns="0" bIns="0" anchor="t" anchorCtr="0">
              <a:spAutoFit/>
            </a:bodyPr>
            <a:lstStyle/>
            <a:p>
              <a:pPr algn="l">
                <a:lnSpc>
                  <a:spcPts val="1800"/>
                </a:lnSpc>
              </a:pPr>
              <a:r>
                <a:rPr lang="vi-VN" sz="1500" b="1" dirty="0">
                  <a:solidFill>
                    <a:srgbClr val="FFFFFF"/>
                  </a:solidFill>
                  <a:latin typeface="+mn-lt"/>
                  <a:ea typeface="+mn-ea"/>
                  <a:cs typeface="+mn-cs"/>
                </a:rPr>
                <a:t>giao đúng</a:t>
              </a:r>
              <a:br/>
              <a:r>
                <a:rPr lang="vi-VN" sz="1500" b="1" dirty="0">
                  <a:solidFill>
                    <a:srgbClr val="FFFFFF"/>
                  </a:solidFill>
                  <a:latin typeface="+mn-lt"/>
                  <a:ea typeface="+mn-ea"/>
                  <a:cs typeface="+mn-cs"/>
                </a:rPr>
                <a:t>việc</a:t>
              </a:r>
            </a:p>
          </p:txBody>
        </p:sp>
        <p:sp>
          <p:nvSpPr>
            <p:cNvPr id="25" name="TextBox 25"/>
            <p:cNvSpPr txBox="1"/>
            <p:nvPr/>
          </p:nvSpPr>
          <p:spPr>
            <a:xfrm>
              <a:off x="1783842" y="6102668"/>
              <a:ext cx="687900"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Prompt</a:t>
              </a:r>
            </a:p>
          </p:txBody>
        </p:sp>
        <p:sp>
          <p:nvSpPr>
            <p:cNvPr id="26" name="Rectangle 26"/>
            <p:cNvSpPr/>
            <p:nvPr/>
          </p:nvSpPr>
          <p:spPr>
            <a:xfrm>
              <a:off x="3200400" y="3429000"/>
              <a:ext cx="1333500" cy="2571750"/>
            </a:xfrm>
            <a:prstGeom prst="roundRect">
              <a:avLst>
                <a:gd name="adj" fmla="val 10000"/>
              </a:avLst>
            </a:prstGeom>
            <a:solidFill>
              <a:srgbClr val="2E5E91"/>
            </a:solidFill>
            <a:ln>
              <a:noFill/>
            </a:ln>
          </p:spPr>
        </p:sp>
        <p:sp>
          <p:nvSpPr>
            <p:cNvPr id="27" name="TextBox 27"/>
            <p:cNvSpPr txBox="1"/>
            <p:nvPr/>
          </p:nvSpPr>
          <p:spPr>
            <a:xfrm>
              <a:off x="3359658" y="3531870"/>
              <a:ext cx="210967" cy="469392"/>
            </a:xfrm>
            <a:prstGeom prst="rect">
              <a:avLst/>
            </a:prstGeom>
            <a:noFill/>
            <a:ln>
              <a:noFill/>
            </a:ln>
          </p:spPr>
          <p:txBody>
            <a:bodyPr wrap="none" lIns="0" tIns="0" rIns="0" bIns="0" anchor="t" anchorCtr="0">
              <a:spAutoFit/>
            </a:bodyPr>
            <a:lstStyle/>
            <a:p>
              <a:pPr algn="l"/>
              <a:r>
                <a:rPr lang="vi-VN" sz="2400" b="1" dirty="0">
                  <a:solidFill>
                    <a:srgbClr val="FFFFFF"/>
                  </a:solidFill>
                  <a:latin typeface="+mn-lt"/>
                  <a:ea typeface="+mn-ea"/>
                  <a:cs typeface="+mn-cs"/>
                </a:rPr>
                <a:t>3</a:t>
              </a:r>
            </a:p>
          </p:txBody>
        </p:sp>
        <p:sp>
          <p:nvSpPr>
            <p:cNvPr id="28" name="TextBox 28"/>
            <p:cNvSpPr txBox="1"/>
            <p:nvPr/>
          </p:nvSpPr>
          <p:spPr>
            <a:xfrm>
              <a:off x="3364230" y="3933825"/>
              <a:ext cx="955358" cy="521970"/>
            </a:xfrm>
            <a:prstGeom prst="rect">
              <a:avLst/>
            </a:prstGeom>
            <a:noFill/>
            <a:ln>
              <a:noFill/>
            </a:ln>
          </p:spPr>
          <p:txBody>
            <a:bodyPr wrap="none" lIns="0" tIns="0" rIns="0" bIns="0" anchor="t" anchorCtr="0">
              <a:spAutoFit/>
            </a:bodyPr>
            <a:lstStyle/>
            <a:p>
              <a:pPr algn="l">
                <a:lnSpc>
                  <a:spcPts val="1800"/>
                </a:lnSpc>
              </a:pPr>
              <a:r>
                <a:rPr lang="vi-VN" sz="1500" b="1" dirty="0">
                  <a:solidFill>
                    <a:srgbClr val="FFFFFF"/>
                  </a:solidFill>
                  <a:latin typeface="+mn-lt"/>
                  <a:ea typeface="+mn-ea"/>
                  <a:cs typeface="+mn-cs"/>
                </a:rPr>
                <a:t>quy trình</a:t>
              </a:r>
              <a:br/>
              <a:r>
                <a:rPr lang="vi-VN" sz="1500" b="1" dirty="0">
                  <a:solidFill>
                    <a:srgbClr val="FFFFFF"/>
                  </a:solidFill>
                  <a:latin typeface="+mn-lt"/>
                  <a:ea typeface="+mn-ea"/>
                  <a:cs typeface="+mn-cs"/>
                </a:rPr>
                <a:t>chuẩn</a:t>
              </a:r>
            </a:p>
          </p:txBody>
        </p:sp>
        <p:sp>
          <p:nvSpPr>
            <p:cNvPr id="29" name="TextBox 29"/>
            <p:cNvSpPr txBox="1"/>
            <p:nvPr/>
          </p:nvSpPr>
          <p:spPr>
            <a:xfrm>
              <a:off x="3193542" y="6102668"/>
              <a:ext cx="399684"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Skill</a:t>
              </a:r>
            </a:p>
          </p:txBody>
        </p:sp>
        <p:sp>
          <p:nvSpPr>
            <p:cNvPr id="30" name="Rectangle 30"/>
            <p:cNvSpPr/>
            <p:nvPr/>
          </p:nvSpPr>
          <p:spPr>
            <a:xfrm>
              <a:off x="4610100" y="2667000"/>
              <a:ext cx="1333500" cy="3333750"/>
            </a:xfrm>
            <a:prstGeom prst="roundRect">
              <a:avLst>
                <a:gd name="adj" fmla="val 10000"/>
              </a:avLst>
            </a:prstGeom>
            <a:solidFill>
              <a:schemeClr val="accent1"/>
            </a:solidFill>
            <a:ln>
              <a:noFill/>
            </a:ln>
          </p:spPr>
        </p:sp>
        <p:sp>
          <p:nvSpPr>
            <p:cNvPr id="31" name="TextBox 31"/>
            <p:cNvSpPr txBox="1"/>
            <p:nvPr/>
          </p:nvSpPr>
          <p:spPr>
            <a:xfrm>
              <a:off x="4769358" y="2769870"/>
              <a:ext cx="210967" cy="469392"/>
            </a:xfrm>
            <a:prstGeom prst="rect">
              <a:avLst/>
            </a:prstGeom>
            <a:noFill/>
            <a:ln>
              <a:noFill/>
            </a:ln>
          </p:spPr>
          <p:txBody>
            <a:bodyPr wrap="none" lIns="0" tIns="0" rIns="0" bIns="0" anchor="t" anchorCtr="0">
              <a:spAutoFit/>
            </a:bodyPr>
            <a:lstStyle/>
            <a:p>
              <a:pPr algn="l"/>
              <a:r>
                <a:rPr lang="vi-VN" sz="2400" b="1" dirty="0">
                  <a:solidFill>
                    <a:srgbClr val="FFFFFF"/>
                  </a:solidFill>
                  <a:latin typeface="+mn-lt"/>
                  <a:ea typeface="+mn-ea"/>
                  <a:cs typeface="+mn-cs"/>
                </a:rPr>
                <a:t>4</a:t>
              </a:r>
            </a:p>
          </p:txBody>
        </p:sp>
        <p:sp>
          <p:nvSpPr>
            <p:cNvPr id="32" name="TextBox 32"/>
            <p:cNvSpPr txBox="1"/>
            <p:nvPr/>
          </p:nvSpPr>
          <p:spPr>
            <a:xfrm>
              <a:off x="4773930" y="3171825"/>
              <a:ext cx="915352" cy="521970"/>
            </a:xfrm>
            <a:prstGeom prst="rect">
              <a:avLst/>
            </a:prstGeom>
            <a:noFill/>
            <a:ln>
              <a:noFill/>
            </a:ln>
          </p:spPr>
          <p:txBody>
            <a:bodyPr wrap="none" lIns="0" tIns="0" rIns="0" bIns="0" anchor="t" anchorCtr="0">
              <a:spAutoFit/>
            </a:bodyPr>
            <a:lstStyle/>
            <a:p>
              <a:pPr algn="l">
                <a:lnSpc>
                  <a:spcPts val="1800"/>
                </a:lnSpc>
              </a:pPr>
              <a:r>
                <a:rPr lang="vi-VN" sz="1500" b="1" dirty="0">
                  <a:solidFill>
                    <a:srgbClr val="FFFFFF"/>
                  </a:solidFill>
                  <a:latin typeface="+mn-lt"/>
                  <a:ea typeface="+mn-ea"/>
                  <a:cs typeface="+mn-cs"/>
                </a:rPr>
                <a:t>với tới dữ</a:t>
              </a:r>
              <a:br/>
              <a:r>
                <a:rPr lang="vi-VN" sz="1500" b="1" dirty="0">
                  <a:solidFill>
                    <a:srgbClr val="FFFFFF"/>
                  </a:solidFill>
                  <a:latin typeface="+mn-lt"/>
                  <a:ea typeface="+mn-ea"/>
                  <a:cs typeface="+mn-cs"/>
                </a:rPr>
                <a:t>liệu thật</a:t>
              </a:r>
            </a:p>
          </p:txBody>
        </p:sp>
        <p:sp>
          <p:nvSpPr>
            <p:cNvPr id="33" name="TextBox 33"/>
            <p:cNvSpPr txBox="1"/>
            <p:nvPr/>
          </p:nvSpPr>
          <p:spPr>
            <a:xfrm>
              <a:off x="4603242" y="6102668"/>
              <a:ext cx="553063"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Plugin</a:t>
              </a:r>
            </a:p>
          </p:txBody>
        </p:sp>
        <p:sp>
          <p:nvSpPr>
            <p:cNvPr id="34" name="Line 34"/>
            <p:cNvSpPr/>
            <p:nvPr/>
          </p:nvSpPr>
          <p:spPr>
            <a:xfrm>
              <a:off x="5753100" y="2152650"/>
              <a:ext cx="9525" cy="514350"/>
            </a:xfrm>
            <a:custGeom>
              <a:avLst/>
              <a:gdLst/>
              <a:ahLst/>
              <a:cxnLst/>
              <a:rect l="l" t="t" r="r" b="b"/>
              <a:pathLst>
                <a:path w="9525" h="514350">
                  <a:moveTo>
                    <a:pt x="0" y="514350"/>
                  </a:moveTo>
                  <a:lnTo>
                    <a:pt x="0" y="0"/>
                  </a:lnTo>
                </a:path>
              </a:pathLst>
            </a:custGeom>
            <a:noFill/>
            <a:ln w="28575" cap="rnd">
              <a:solidFill>
                <a:schemeClr val="accent1"/>
              </a:solidFill>
            </a:ln>
          </p:spPr>
        </p:sp>
        <p:sp>
          <p:nvSpPr>
            <p:cNvPr id="35" name="Rectangle 35"/>
            <p:cNvSpPr/>
            <p:nvPr/>
          </p:nvSpPr>
          <p:spPr>
            <a:xfrm>
              <a:off x="5772150" y="2152650"/>
              <a:ext cx="285750" cy="209550"/>
            </a:xfrm>
            <a:prstGeom prst="roundRect">
              <a:avLst>
                <a:gd name="adj" fmla="val 13636"/>
              </a:avLst>
            </a:prstGeom>
            <a:solidFill>
              <a:schemeClr val="accent2"/>
            </a:solidFill>
            <a:ln>
              <a:noFill/>
            </a:ln>
          </p:spPr>
        </p:sp>
      </p:grpSp>
      <p:grpSp>
        <p:nvGrpSpPr>
          <p:cNvPr id="47" name="Group 47"/>
          <p:cNvGrpSpPr/>
          <p:nvPr/>
        </p:nvGrpSpPr>
        <p:grpSpPr>
          <a:xfrm>
            <a:off x="6470904" y="2251710"/>
            <a:ext cx="5232425" cy="2138743"/>
            <a:chOff x="6470904" y="2251710"/>
            <a:chExt cx="5232425" cy="2138743"/>
          </a:xfrm>
        </p:grpSpPr>
        <p:sp>
          <p:nvSpPr>
            <p:cNvPr id="37" name="TextBox 37"/>
            <p:cNvSpPr txBox="1"/>
            <p:nvPr/>
          </p:nvSpPr>
          <p:spPr>
            <a:xfrm>
              <a:off x="6470904" y="2251710"/>
              <a:ext cx="1634581"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BA ĐIỀU KHÔNG ĐỔI</a:t>
              </a:r>
            </a:p>
          </p:txBody>
        </p:sp>
        <p:sp>
          <p:nvSpPr>
            <p:cNvPr id="38" name="Ellipse 38"/>
            <p:cNvSpPr/>
            <p:nvPr/>
          </p:nvSpPr>
          <p:spPr>
            <a:xfrm>
              <a:off x="6477000" y="2571750"/>
              <a:ext cx="381000" cy="381000"/>
            </a:xfrm>
            <a:prstGeom prst="ellipse">
              <a:avLst/>
            </a:prstGeom>
            <a:solidFill>
              <a:schemeClr val="accent2"/>
            </a:solidFill>
            <a:ln>
              <a:noFill/>
            </a:ln>
          </p:spPr>
        </p:sp>
        <p:sp>
          <p:nvSpPr>
            <p:cNvPr id="39" name="TextBox 39"/>
            <p:cNvSpPr txBox="1"/>
            <p:nvPr/>
          </p:nvSpPr>
          <p:spPr>
            <a:xfrm>
              <a:off x="6594980" y="2660332"/>
              <a:ext cx="145040" cy="322707"/>
            </a:xfrm>
            <a:prstGeom prst="rect">
              <a:avLst/>
            </a:prstGeom>
            <a:noFill/>
            <a:ln>
              <a:noFill/>
            </a:ln>
          </p:spPr>
          <p:txBody>
            <a:bodyPr wrap="none" lIns="0" tIns="0" rIns="0" bIns="0" anchor="t" anchorCtr="0">
              <a:spAutoFit/>
            </a:bodyPr>
            <a:lstStyle/>
            <a:p>
              <a:pPr algn="ctr"/>
              <a:r>
                <a:rPr lang="vi-VN" sz="1650" b="1" dirty="0">
                  <a:solidFill>
                    <a:schemeClr val="dk1"/>
                  </a:solidFill>
                  <a:latin typeface="+mn-lt"/>
                  <a:ea typeface="+mn-ea"/>
                  <a:cs typeface="+mn-cs"/>
                </a:rPr>
                <a:t>1</a:t>
              </a:r>
            </a:p>
          </p:txBody>
        </p:sp>
        <p:sp>
          <p:nvSpPr>
            <p:cNvPr id="40" name="TextBox 40"/>
            <p:cNvSpPr txBox="1"/>
            <p:nvPr/>
          </p:nvSpPr>
          <p:spPr>
            <a:xfrm>
              <a:off x="7000494" y="2637472"/>
              <a:ext cx="3787730"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AI làm nháp, con người duyệt</a:t>
              </a:r>
            </a:p>
          </p:txBody>
        </p:sp>
        <p:sp>
          <p:nvSpPr>
            <p:cNvPr id="41" name="Ellipse 41"/>
            <p:cNvSpPr/>
            <p:nvPr/>
          </p:nvSpPr>
          <p:spPr>
            <a:xfrm>
              <a:off x="6477000" y="3105150"/>
              <a:ext cx="381000" cy="381000"/>
            </a:xfrm>
            <a:prstGeom prst="ellipse">
              <a:avLst/>
            </a:prstGeom>
            <a:solidFill>
              <a:schemeClr val="accent2"/>
            </a:solidFill>
            <a:ln>
              <a:noFill/>
            </a:ln>
          </p:spPr>
        </p:sp>
        <p:sp>
          <p:nvSpPr>
            <p:cNvPr id="42" name="TextBox 42"/>
            <p:cNvSpPr txBox="1"/>
            <p:nvPr/>
          </p:nvSpPr>
          <p:spPr>
            <a:xfrm>
              <a:off x="6594980" y="3193732"/>
              <a:ext cx="145040" cy="322707"/>
            </a:xfrm>
            <a:prstGeom prst="rect">
              <a:avLst/>
            </a:prstGeom>
            <a:noFill/>
            <a:ln>
              <a:noFill/>
            </a:ln>
          </p:spPr>
          <p:txBody>
            <a:bodyPr wrap="none" lIns="0" tIns="0" rIns="0" bIns="0" anchor="t" anchorCtr="0">
              <a:spAutoFit/>
            </a:bodyPr>
            <a:lstStyle/>
            <a:p>
              <a:pPr algn="ctr"/>
              <a:r>
                <a:rPr lang="vi-VN" sz="1650" b="1" dirty="0">
                  <a:solidFill>
                    <a:schemeClr val="dk1"/>
                  </a:solidFill>
                  <a:latin typeface="+mn-lt"/>
                  <a:ea typeface="+mn-ea"/>
                  <a:cs typeface="+mn-cs"/>
                </a:rPr>
                <a:t>2</a:t>
              </a:r>
            </a:p>
          </p:txBody>
        </p:sp>
        <p:sp>
          <p:nvSpPr>
            <p:cNvPr id="43" name="TextBox 43"/>
            <p:cNvSpPr txBox="1"/>
            <p:nvPr/>
          </p:nvSpPr>
          <p:spPr>
            <a:xfrm>
              <a:off x="7000494" y="3170872"/>
              <a:ext cx="4702835"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Quyền cấp từng nấc: đọc → ghi → gửi</a:t>
              </a:r>
            </a:p>
          </p:txBody>
        </p:sp>
        <p:sp>
          <p:nvSpPr>
            <p:cNvPr id="44" name="Ellipse 44"/>
            <p:cNvSpPr/>
            <p:nvPr/>
          </p:nvSpPr>
          <p:spPr>
            <a:xfrm>
              <a:off x="6477000" y="3638550"/>
              <a:ext cx="381000" cy="381000"/>
            </a:xfrm>
            <a:prstGeom prst="ellipse">
              <a:avLst/>
            </a:prstGeom>
            <a:solidFill>
              <a:schemeClr val="accent2"/>
            </a:solidFill>
            <a:ln>
              <a:noFill/>
            </a:ln>
          </p:spPr>
        </p:sp>
        <p:sp>
          <p:nvSpPr>
            <p:cNvPr id="45" name="TextBox 45"/>
            <p:cNvSpPr txBox="1"/>
            <p:nvPr/>
          </p:nvSpPr>
          <p:spPr>
            <a:xfrm>
              <a:off x="6594980" y="3727132"/>
              <a:ext cx="145040" cy="322707"/>
            </a:xfrm>
            <a:prstGeom prst="rect">
              <a:avLst/>
            </a:prstGeom>
            <a:noFill/>
            <a:ln>
              <a:noFill/>
            </a:ln>
          </p:spPr>
          <p:txBody>
            <a:bodyPr wrap="none" lIns="0" tIns="0" rIns="0" bIns="0" anchor="t" anchorCtr="0">
              <a:spAutoFit/>
            </a:bodyPr>
            <a:lstStyle/>
            <a:p>
              <a:pPr algn="ctr"/>
              <a:r>
                <a:rPr lang="vi-VN" sz="1650" b="1" dirty="0">
                  <a:solidFill>
                    <a:schemeClr val="dk1"/>
                  </a:solidFill>
                  <a:latin typeface="+mn-lt"/>
                  <a:ea typeface="+mn-ea"/>
                  <a:cs typeface="+mn-cs"/>
                </a:rPr>
                <a:t>3</a:t>
              </a:r>
            </a:p>
          </p:txBody>
        </p:sp>
        <p:sp>
          <p:nvSpPr>
            <p:cNvPr id="46" name="TextBox 46"/>
            <p:cNvSpPr txBox="1"/>
            <p:nvPr/>
          </p:nvSpPr>
          <p:spPr>
            <a:xfrm>
              <a:off x="7000494" y="3704272"/>
              <a:ext cx="3140202" cy="686181"/>
            </a:xfrm>
            <a:prstGeom prst="rect">
              <a:avLst/>
            </a:prstGeom>
            <a:noFill/>
            <a:ln>
              <a:noFill/>
            </a:ln>
          </p:spPr>
          <p:txBody>
            <a:bodyPr wrap="none" lIns="0" tIns="0" rIns="0" bIns="0" anchor="t" anchorCtr="0">
              <a:spAutoFit/>
            </a:bodyPr>
            <a:lstStyle/>
            <a:p>
              <a:pPr algn="l">
                <a:lnSpc>
                  <a:spcPts val="2400"/>
                </a:lnSpc>
              </a:pPr>
              <a:r>
                <a:rPr lang="vi-VN" sz="1950" b="1" dirty="0">
                  <a:solidFill>
                    <a:schemeClr val="accent1"/>
                  </a:solidFill>
                  <a:latin typeface="+mn-lt"/>
                  <a:ea typeface="+mn-ea"/>
                  <a:cs typeface="+mn-cs"/>
                </a:rPr>
                <a:t>“Chưa đủ dữ liệu” tốt hơn</a:t>
              </a:r>
              <a:br/>
              <a:r>
                <a:rPr lang="vi-VN" sz="1950" b="1" dirty="0">
                  <a:solidFill>
                    <a:schemeClr val="accent1"/>
                  </a:solidFill>
                  <a:latin typeface="+mn-lt"/>
                  <a:ea typeface="+mn-ea"/>
                  <a:cs typeface="+mn-cs"/>
                </a:rPr>
                <a:t>một con số bịa</a:t>
              </a:r>
            </a:p>
          </p:txBody>
        </p:sp>
      </p:grpSp>
      <p:grpSp>
        <p:nvGrpSpPr>
          <p:cNvPr id="55" name="Group 55"/>
          <p:cNvGrpSpPr/>
          <p:nvPr/>
        </p:nvGrpSpPr>
        <p:grpSpPr>
          <a:xfrm>
            <a:off x="6477000" y="4572000"/>
            <a:ext cx="5334000" cy="1181100"/>
            <a:chOff x="6477000" y="4572000"/>
            <a:chExt cx="5334000" cy="1181100"/>
          </a:xfrm>
        </p:grpSpPr>
        <p:sp>
          <p:nvSpPr>
            <p:cNvPr id="48" name="Rectangle 48"/>
            <p:cNvSpPr/>
            <p:nvPr/>
          </p:nvSpPr>
          <p:spPr>
            <a:xfrm>
              <a:off x="6477000" y="4572000"/>
              <a:ext cx="5334000" cy="1181100"/>
            </a:xfrm>
            <a:prstGeom prst="roundRect">
              <a:avLst>
                <a:gd name="adj" fmla="val 12903"/>
              </a:avLst>
            </a:prstGeom>
            <a:solidFill>
              <a:srgbClr val="FCEBDD"/>
            </a:solidFill>
            <a:ln>
              <a:noFill/>
            </a:ln>
          </p:spPr>
        </p:sp>
        <p:grpSp>
          <p:nvGrpSpPr>
            <p:cNvPr id="52" name="Group 52"/>
            <p:cNvGrpSpPr/>
            <p:nvPr/>
          </p:nvGrpSpPr>
          <p:grpSpPr>
            <a:xfrm>
              <a:off x="6734175" y="4772025"/>
              <a:ext cx="171450" cy="171450"/>
              <a:chOff x="6734175" y="4772025"/>
              <a:chExt cx="171450" cy="171450"/>
            </a:xfrm>
          </p:grpSpPr>
          <p:sp>
            <p:nvSpPr>
              <p:cNvPr id="49" name="Freeform 49"/>
              <p:cNvSpPr/>
              <p:nvPr/>
            </p:nvSpPr>
            <p:spPr>
              <a:xfrm>
                <a:off x="6734175" y="4905375"/>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9050">
                <a:solidFill>
                  <a:schemeClr val="accent1"/>
                </a:solidFill>
              </a:ln>
            </p:spPr>
          </p:sp>
          <p:sp>
            <p:nvSpPr>
              <p:cNvPr id="50" name="Freeform 50"/>
              <p:cNvSpPr/>
              <p:nvPr/>
            </p:nvSpPr>
            <p:spPr>
              <a:xfrm>
                <a:off x="6867525" y="4772025"/>
                <a:ext cx="38100" cy="38100"/>
              </a:xfrm>
              <a:custGeom>
                <a:avLst/>
                <a:gdLst/>
                <a:ahLst/>
                <a:cxnLst/>
                <a:rect l="l" t="t" r="r" b="b"/>
                <a:pathLst>
                  <a:path w="38100" h="38100">
                    <a:moveTo>
                      <a:pt x="19050" y="38100"/>
                    </a:moveTo>
                    <a:cubicBezTo>
                      <a:pt x="29571" y="38100"/>
                      <a:pt x="38100" y="29571"/>
                      <a:pt x="38100" y="19050"/>
                    </a:cubicBezTo>
                    <a:cubicBezTo>
                      <a:pt x="38100" y="8529"/>
                      <a:pt x="29571" y="0"/>
                      <a:pt x="19050" y="0"/>
                    </a:cubicBezTo>
                    <a:cubicBezTo>
                      <a:pt x="8529" y="0"/>
                      <a:pt x="0" y="8529"/>
                      <a:pt x="0" y="19050"/>
                    </a:cubicBezTo>
                    <a:cubicBezTo>
                      <a:pt x="0" y="29571"/>
                      <a:pt x="8529" y="38100"/>
                      <a:pt x="19050" y="38100"/>
                    </a:cubicBezTo>
                  </a:path>
                </a:pathLst>
              </a:custGeom>
              <a:noFill/>
              <a:ln w="19050">
                <a:solidFill>
                  <a:schemeClr val="accent1"/>
                </a:solidFill>
              </a:ln>
            </p:spPr>
          </p:sp>
          <p:sp>
            <p:nvSpPr>
              <p:cNvPr id="51" name="Freeform 51"/>
              <p:cNvSpPr/>
              <p:nvPr/>
            </p:nvSpPr>
            <p:spPr>
              <a:xfrm>
                <a:off x="6753225" y="4791075"/>
                <a:ext cx="142875" cy="133350"/>
              </a:xfrm>
              <a:custGeom>
                <a:avLst/>
                <a:gdLst/>
                <a:ahLst/>
                <a:cxnLst/>
                <a:rect l="l" t="t" r="r" b="b"/>
                <a:pathLst>
                  <a:path w="142875" h="133350">
                    <a:moveTo>
                      <a:pt x="57150" y="133350"/>
                    </a:moveTo>
                    <a:lnTo>
                      <a:pt x="109538" y="133350"/>
                    </a:lnTo>
                    <a:cubicBezTo>
                      <a:pt x="127949" y="133350"/>
                      <a:pt x="142875" y="118424"/>
                      <a:pt x="142875" y="100012"/>
                    </a:cubicBezTo>
                    <a:cubicBezTo>
                      <a:pt x="142875" y="81601"/>
                      <a:pt x="127949" y="66675"/>
                      <a:pt x="109538" y="66675"/>
                    </a:cubicBezTo>
                    <a:lnTo>
                      <a:pt x="33338" y="66675"/>
                    </a:lnTo>
                    <a:cubicBezTo>
                      <a:pt x="14926" y="66675"/>
                      <a:pt x="0" y="51749"/>
                      <a:pt x="0" y="33338"/>
                    </a:cubicBezTo>
                    <a:cubicBezTo>
                      <a:pt x="0" y="14926"/>
                      <a:pt x="14926" y="0"/>
                      <a:pt x="33338" y="0"/>
                    </a:cubicBezTo>
                    <a:lnTo>
                      <a:pt x="76200" y="0"/>
                    </a:lnTo>
                  </a:path>
                </a:pathLst>
              </a:custGeom>
              <a:noFill/>
              <a:ln w="19050">
                <a:solidFill>
                  <a:schemeClr val="accent1"/>
                </a:solidFill>
              </a:ln>
            </p:spPr>
          </p:sp>
        </p:grpSp>
        <p:sp>
          <p:nvSpPr>
            <p:cNvPr id="53" name="TextBox 53"/>
            <p:cNvSpPr txBox="1"/>
            <p:nvPr/>
          </p:nvSpPr>
          <p:spPr>
            <a:xfrm>
              <a:off x="7023354" y="4785360"/>
              <a:ext cx="1387511" cy="234696"/>
            </a:xfrm>
            <a:prstGeom prst="rect">
              <a:avLst/>
            </a:prstGeom>
            <a:noFill/>
            <a:ln>
              <a:noFill/>
            </a:ln>
          </p:spPr>
          <p:txBody>
            <a:bodyPr wrap="none" lIns="0" tIns="0" rIns="0" bIns="0" anchor="t" anchorCtr="0">
              <a:spAutoFit/>
            </a:bodyPr>
            <a:lstStyle/>
            <a:p>
              <a:pPr algn="l"/>
              <a:r>
                <a:rPr lang="vi-VN" sz="1200" b="1" spc="75" dirty="0">
                  <a:solidFill>
                    <a:srgbClr val="5B6675"/>
                  </a:solidFill>
                  <a:latin typeface="+mn-lt"/>
                  <a:ea typeface="+mn-ea"/>
                  <a:cs typeface="+mn-cs"/>
                </a:rPr>
                <a:t>VIỆC TIẾP THEO</a:t>
              </a:r>
            </a:p>
          </p:txBody>
        </p:sp>
        <p:sp>
          <p:nvSpPr>
            <p:cNvPr id="54" name="TextBox 54"/>
            <p:cNvSpPr txBox="1"/>
            <p:nvPr/>
          </p:nvSpPr>
          <p:spPr>
            <a:xfrm>
              <a:off x="6697218" y="5098732"/>
              <a:ext cx="3809619"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dk1"/>
                  </a:solidFill>
                  <a:latin typeface="+mn-lt"/>
                  <a:ea typeface="+mn-ea"/>
                  <a:cs typeface="+mn-cs"/>
                </a:rPr>
                <a:t>Chọn một việc lặp lại của phòng bạn và</a:t>
              </a:r>
              <a:br/>
              <a:r>
                <a:rPr lang="vi-VN" sz="1650" dirty="0">
                  <a:solidFill>
                    <a:schemeClr val="dk1"/>
                  </a:solidFill>
                  <a:latin typeface="+mn-lt"/>
                  <a:ea typeface="+mn-ea"/>
                  <a:cs typeface="+mn-cs"/>
                </a:rPr>
                <a:t>đi lại đủ 4 bậc với chính việc đó.</a:t>
              </a:r>
            </a:p>
          </p:txBody>
        </p:sp>
      </p:grpSp>
      <p:grpSp>
        <p:nvGrpSpPr>
          <p:cNvPr id="57" name="Group 57"/>
          <p:cNvGrpSpPr/>
          <p:nvPr/>
        </p:nvGrpSpPr>
        <p:grpSpPr>
          <a:xfrm>
            <a:off x="6470142" y="6026468"/>
            <a:ext cx="2583115" cy="264033"/>
            <a:chOff x="6470142" y="6026468"/>
            <a:chExt cx="2583115" cy="264033"/>
          </a:xfrm>
        </p:grpSpPr>
        <p:sp>
          <p:nvSpPr>
            <p:cNvPr id="56" name="TextBox 56"/>
            <p:cNvSpPr txBox="1"/>
            <p:nvPr/>
          </p:nvSpPr>
          <p:spPr>
            <a:xfrm>
              <a:off x="6470142" y="6026468"/>
              <a:ext cx="2583115" cy="264033"/>
            </a:xfrm>
            <a:prstGeom prst="rect">
              <a:avLst/>
            </a:prstGeom>
            <a:noFill/>
            <a:ln>
              <a:noFill/>
            </a:ln>
          </p:spPr>
          <p:txBody>
            <a:bodyPr wrap="none" lIns="0" tIns="0" rIns="0" bIns="0" anchor="t" anchorCtr="0">
              <a:spAutoFit/>
            </a:bodyPr>
            <a:lstStyle/>
            <a:p>
              <a:pPr algn="l"/>
              <a:r>
                <a:rPr lang="vi-VN" sz="1350" i="1" dirty="0">
                  <a:solidFill>
                    <a:srgbClr val="5B6675"/>
                  </a:solidFill>
                  <a:latin typeface="+mn-lt"/>
                  <a:ea typeface="+mn-ea"/>
                  <a:cs typeface="+mn-cs"/>
                </a:rPr>
                <a:t>Cảm ơn anh chị đã đồng hành.</a:t>
              </a:r>
            </a:p>
          </p:txBody>
        </p:sp>
      </p:grpSp>
      <p:sp>
        <p:nvSpPr>
          <p:cNvPr id="58" name="TextBox 58"/>
          <p:cNvSpPr txBox="1"/>
          <p:nvPr/>
        </p:nvSpPr>
        <p:spPr>
          <a:xfrm>
            <a:off x="6471666" y="6554152"/>
            <a:ext cx="3116770" cy="205359"/>
          </a:xfrm>
          <a:prstGeom prst="rect">
            <a:avLst/>
          </a:prstGeom>
          <a:noFill/>
          <a:ln>
            <a:noFill/>
          </a:ln>
        </p:spPr>
        <p:txBody>
          <a:bodyPr wrap="none" lIns="0" tIns="0" rIns="0" bIns="0" anchor="t" anchorCtr="0">
            <a:spAutoFit/>
          </a:bodyPr>
          <a:lstStyle/>
          <a:p>
            <a:pPr algn="l"/>
            <a:r>
              <a:rPr lang="vi-VN" sz="1050" dirty="0">
                <a:solidFill>
                  <a:srgbClr val="5B6675"/>
                </a:solidFill>
                <a:latin typeface="+mn-lt"/>
                <a:ea typeface="+mn-ea"/>
                <a:cs typeface="+mn-cs"/>
              </a:rPr>
              <a:t>Lộ trình đào tạo AI trên ChatGPT · Wir Group</a:t>
            </a:r>
          </a:p>
        </p:txBody>
      </p:sp>
      <p:sp>
        <p:nvSpPr>
          <p:cNvPr id="59" name="TextBox 59"/>
          <p:cNvSpPr txBox="1"/>
          <p:nvPr/>
        </p:nvSpPr>
        <p:spPr>
          <a:xfrm>
            <a:off x="11332140" y="6554152"/>
            <a:ext cx="484194" cy="205359"/>
          </a:xfrm>
          <a:prstGeom prst="rect">
            <a:avLst/>
          </a:prstGeom>
          <a:noFill/>
          <a:ln>
            <a:noFill/>
          </a:ln>
        </p:spPr>
        <p:txBody>
          <a:bodyPr wrap="none" lIns="0" tIns="0" rIns="0" bIns="0" anchor="t" anchorCtr="0">
            <a:spAutoFit/>
          </a:bodyPr>
          <a:lstStyle/>
          <a:p>
            <a:pPr algn="r"/>
            <a:r>
              <a:rPr lang="vi-VN" sz="1050" dirty="0">
                <a:solidFill>
                  <a:srgbClr val="5B6675"/>
                </a:solidFill>
                <a:latin typeface="+mn-lt"/>
                <a:ea typeface="+mn-ea"/>
                <a:cs typeface="+mn-cs"/>
              </a:rPr>
              <a:t>35 / 35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lo-trinh-chatgpt">
  <a:themeElements>
    <a:clrScheme name="lo-trinh-chatgpt">
      <a:dk1>
        <a:srgbClr val="1F2937"/>
      </a:dk1>
      <a:lt1>
        <a:srgbClr val="FFFFFF"/>
      </a:lt1>
      <a:dk2>
        <a:srgbClr val="1F497D"/>
      </a:dk2>
      <a:lt2>
        <a:srgbClr val="F3F6FA"/>
      </a:lt2>
      <a:accent1>
        <a:srgbClr val="1D3557"/>
      </a:accent1>
      <a:accent2>
        <a:srgbClr val="E8833A"/>
      </a:accent2>
      <a:accent3>
        <a:srgbClr val="4A7FB5"/>
      </a:accent3>
      <a:accent4>
        <a:srgbClr val="D8E0EA"/>
      </a:accent4>
      <a:accent5>
        <a:srgbClr val="6593C4"/>
      </a:accent5>
      <a:accent6>
        <a:srgbClr val="4A7FB5"/>
      </a:accent6>
      <a:hlink>
        <a:srgbClr val="E8833A"/>
      </a:hlink>
      <a:folHlink>
        <a:srgbClr val="4A7FB5"/>
      </a:folHlink>
    </a:clrScheme>
    <a:fontScheme name="lo-trinh-chatgpt">
      <a:majorFont>
        <a:latin typeface="Aptos"/>
        <a:ea typeface="Aptos"/>
        <a:cs typeface="Aptos"/>
        <a:font script="Jpan" typeface="Aptos"/>
        <a:font script="Hang" typeface="Aptos"/>
        <a:font script="Hans" typeface="Aptos"/>
        <a:font script="Hant" typeface="Aptos"/>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Aptos"/>
        <a:cs typeface="Aptos"/>
        <a:font script="Jpan" typeface="Aptos"/>
        <a:font script="Hang" typeface="Aptos"/>
        <a:font script="Hans" typeface="Aptos"/>
        <a:font script="Hant" typeface="Aptos"/>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o-trinh-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o-trinh-chatgpt">
  <a:themeElements>
    <a:clrScheme name="lo-trinh-chatgpt">
      <a:dk1>
        <a:srgbClr val="1F2937"/>
      </a:dk1>
      <a:lt1>
        <a:srgbClr val="FFFFFF"/>
      </a:lt1>
      <a:dk2>
        <a:srgbClr val="1F497D"/>
      </a:dk2>
      <a:lt2>
        <a:srgbClr val="F3F6FA"/>
      </a:lt2>
      <a:accent1>
        <a:srgbClr val="1D3557"/>
      </a:accent1>
      <a:accent2>
        <a:srgbClr val="E8833A"/>
      </a:accent2>
      <a:accent3>
        <a:srgbClr val="4A7FB5"/>
      </a:accent3>
      <a:accent4>
        <a:srgbClr val="D8E0EA"/>
      </a:accent4>
      <a:accent5>
        <a:srgbClr val="6593C4"/>
      </a:accent5>
      <a:accent6>
        <a:srgbClr val="4A7FB5"/>
      </a:accent6>
      <a:hlink>
        <a:srgbClr val="E8833A"/>
      </a:hlink>
      <a:folHlink>
        <a:srgbClr val="4A7FB5"/>
      </a:folHlink>
    </a:clrScheme>
    <a:fontScheme name="lo-trinh-chatgpt">
      <a:majorFont>
        <a:latin typeface="Aptos"/>
        <a:ea typeface="Aptos"/>
        <a:cs typeface="Aptos"/>
        <a:font script="Jpan" typeface="Aptos"/>
        <a:font script="Hang" typeface="Aptos"/>
        <a:font script="Hans" typeface="Aptos"/>
        <a:font script="Hant" typeface="Aptos"/>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Aptos"/>
        <a:cs typeface="Aptos"/>
        <a:font script="Jpan" typeface="Aptos"/>
        <a:font script="Hang" typeface="Aptos"/>
        <a:font script="Hans" typeface="Aptos"/>
        <a:font script="Hant" typeface="Aptos"/>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o-trinh-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47</TotalTime>
  <Words>11621</Words>
  <Application>Microsoft Macintosh PowerPoint</Application>
  <PresentationFormat>Widescreen</PresentationFormat>
  <Paragraphs>936</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Aptos</vt:lpstr>
      <vt:lpstr>Arial</vt:lpstr>
      <vt:lpstr>Consolas</vt:lpstr>
      <vt:lpstr>lo-trinh-chatgpt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Microsoft Office User</cp:lastModifiedBy>
  <cp:revision>2</cp:revision>
  <dcterms:created xsi:type="dcterms:W3CDTF">2026-10-05T05:08:33Z</dcterms:created>
  <dcterms:modified xsi:type="dcterms:W3CDTF">2026-10-05T07:46:59Z</dcterms:modified>
  <cp:category/>
  <cp:contentStatus/>
  <dc:language>vi-VN</dc:language>
</cp:coreProperties>
</file>