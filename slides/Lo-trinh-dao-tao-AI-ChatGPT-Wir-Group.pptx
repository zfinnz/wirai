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4" r:id="rId20"/>
    <p:sldId id="275" r:id="rId21"/>
    <p:sldId id="276" r:id="rId22"/>
    <p:sldId id="278" r:id="rId24"/>
    <p:sldId id="277" r:id="rId23"/>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20.xml"/><Relationship Id="rId24" Type="http://schemas.openxmlformats.org/officeDocument/2006/relationships/slide" Target="slides/slide19.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ChatGPT không bịa giá, nhưng viết một tin chung chung xưng em chào chị, thêm "collagen Đức" không có trong hồ sơ, thêm emoji trái tim và bông hoa trái luật phòng, không dùng bảng giá sỉ, không trả lời câu hỏi bà bầu, rồi hỏi ngược lại số lượng và giá nhập. Nghĩa là mình mất thêm một lượt và vẫn chưa có tin gửi được. Giảng viên chạy lại trước buổi học, vì mỗi lần ChatGPT trả lời một khác, bản cũ hơn có thể bịa giá hoặc nói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"Tóm tắt văn bản" quá chung, dẫn tới gọi nhầm hoặc không bao giờ được gọi. Description tốt nêu rõ phạm vi: tóm tắt tài liệu dài của Wir như hồ sơ sản phẩm, biên bản họp, báo giá thành bốn mục tóm tắt nhanh, ý chính, số liệu và hạn chót, điểm cần lưu ý; dùng khi có file hoặc văn bản dán vào và yêu cầu tóm tắt; không dùng để viết bài. Đây chính là skill tom-tat-tai-lieu mà hai slide sau sẽ làm tay rồi đóng gói.</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Giờ đóng gói. Gõ "Kết quả ổn rồi. Hãy đóng gói cách làm vừa rồi thành một skill tên tom-tat-tai-lieu"; ChatGPT làm khoảng một phút rồi báo đã tạo skill phiên bản 1.0.0 dưới dạng plugin riêng tư trên tài khoản. Anh chị không phải tự gõ file SKILL.md, nhưng phải mở ra soát đủ sáu phần. Đầu file là khối name và description nằm giữa hai dòng ba gạch, sau đó là các mục khi nào dùng, đầu vào, các bước và đầu ra. Một, tên tom-tat-tai-lieu viết thường, không dấu, nối gạch ngang. Hai, mô tả một câu, chính là dòng description ChatGPT đọc để chọn skill ở slide trước. Ba, khi nào dùng: hồ sơ sản phẩm, biên bản họp, báo giá; không dùng để viết bài. Bốn, đầu vào: bắt buộc có tài liệu, có thì tốt là tầng pháp lý của sản phẩm. Năm, các bước: bước một kiểm đã có tài liệu chưa, bước cuối tự rà chống bịa, thiếu thì ghi "Tài liệu không đề cập". Sáu, đầu ra bốn mục: tóm tắt nhanh, ý chính, số liệu và hạn chót, điểm cần lưu ý, đúng bốn mục đã sinh ra từ năm lượt làm tay ở slide trước.</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Đừng ngồi nghĩ ra skill từ tờ giấy trắng. Hãy làm việc đó bằng tay vài lượt; mỗi lần mình phải dặn thêm chính là một phần của skill sắp đóng gói. Demo chạy trong Project Wir – Marketing, trên file Dữ liệu sản phẩm Wir đã nằm trong Sources, theo Data demo Mục 4. Lượt một, "Tóm tắt giúp tôi tài liệu này": kết quả chung chung, đó là lý do cần skill, sau này ghi vào phần Khi nào dùng. Lượt hai, "Liệt kê theo từng phần của tài liệu": thành mục Ý chính chi tiết của Đầu ra. Lượt ba, "Bóc mọi con số, mốc thời gian, cam kết": thành mục Số liệu, hạn chót. Lượt bốn, "Có câu nào vượt ranh giới pháp lý hay mâu thuẫn không": thành mục Điểm cần lưu ý. Lượt năm, "Chỗ nào bạn tự đoán, rút ba đến năm ý gửi sếp": thành quy tắc chống bịa trong Các bước và mục Tóm tắt nhanh. Kết quả thật ngày 09/10/2026: ở lượt bốn ChatGPT bắt được bảy cụm vượt ranh giới thực phẩm bảo vệ sức khỏe, ví dụ "điều trị thoái hóa sụn khớp" ở CH Alpha Plus. Slide sau sẽ đóng gói năm lượt này thành skill.</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Skill tốt lên nhờ vòng chạy, soi, sửa; ví dụ ngay trên skill tom-tat-tai-lieu. Chạy trên ba tài liệu khác loại: hồ sơ sản phẩm, biên bản họp, báo giá. Soi chỗ phải sửa tay, chẳng hạn skill bỏ sót hạn chót nằm trong bảng. Rồi sửa vào skill: bảo ChatGPT thêm vào mục Số liệu yêu cầu bóc cả hạn chót trong bảng, ghi "Sửa lần 1" và chạy lại ba tài liệu. Đừng sửa tay bản tóm tắt, vì lần sau skill lại sai y như cũ và đồng nghiệp dùng skill cũng nhận cái sai đó. Sau mỗi lần sửa, làm lại phép thử phiên mới: mở chat mới ngoài Project, tải một tài liệu chưa từng dùng như Hồ sơ Elasten, chỉ gõ "Tóm tắt tài liệu này" và không gọi tên skill. Skill tự chạy, bản tóm tắt đủ bốn mục, giá Elasten ghi "Tài liệu không đề cập" thì đạt. Kết quả thật ngày 09/10/2026 đạt, skill tự được gọi ở chat mới, xem Data demo Mục 4 bước ba và bốn.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ba. Bài một, mười lăm phút, tạo skill tom-tat-tai-lieu: làm tay năm lượt trên Dữ liệu sản phẩm Wir rồi đóng gói, thử trên Hồ sơ Elasten ở chat mới; đạt khi skill tự chạy, bản tóm tắt đủ bốn mục và các số +28%, +20%, −24% đúng với file.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vào Settings, Plugins, bấm tên plugin, mục Permission, có bốn mức.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nên sau khi nối Gmail anh chị phải tự đổi về Always ask. Allow all tools làm hết không hỏi, ChatGPT gắn nhãn rủi ro cao, không dùng cho Gmail và các kênh gửi ra ngoài; mức này chỉ đặt được cho từng plugin, ô Default permission chung không có.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toàn khi nối plugin nằm ở hai thời điểm. Trước khi nối: đăng xuất tài khoản Google công ty trên trình duyệt, và nếu đã nối nhiều tài khoản thì kiểm tra kỹ tài khoản nào đang được chọn. Khi cấp quyền: đọc hết danh sách quyền Google hiện ra; quyền Gmail gộp cả đọc, soạn và gửi nên không tách riêng được, muốn chặn gửi thì đặt mức Always ask ở slide trước; thấy cảnh báo ứng dụng chưa được xác minh thì dừng lại và gọi giảng viên.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txBody>
          <a:bodyPr/>
          <a:p/>
        </p:txBody>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txBody>
            <a:bodyPr/>
            <a:p/>
          </p:txBody>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txBody>
            <a:bodyPr/>
            <a:p/>
          </p:txBody>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txBody>
            <a:bodyPr/>
            <a:p/>
          </p:txBody>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txBody>
            <a:bodyPr/>
            <a:p/>
          </p:txBody>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txBody>
            <a:bodyPr/>
            <a:p/>
          </p:txBody>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txBody>
            <a:bodyPr/>
            <a:p/>
          </p:txBody>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txBody>
            <a:bodyPr/>
            <a:p/>
          </p:txBody>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txBody>
            <a:bodyPr/>
            <a:p/>
          </p:txBody>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txBody>
            <a:bodyPr/>
            <a:p/>
          </p:txBody>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txBody>
            <a:bodyPr/>
            <a:p/>
          </p:txBody>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txBody>
            <a:bodyPr/>
            <a:p/>
          </p:txBody>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txBody>
            <a:bodyPr/>
            <a:p/>
          </p:txBody>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txBody>
            <a:bodyPr/>
            <a:p/>
          </p:txBody>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txBody>
            <a:bodyPr/>
            <a:p/>
          </p:txBody>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txBody>
            <a:bodyPr/>
            <a:p/>
          </p:txBody>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txBody>
            <a:bodyPr/>
            <a:p/>
          </p:txBody>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txBody>
            <a:bodyPr/>
            <a:p/>
          </p:txBody>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txBody>
            <a:bodyPr/>
            <a:p/>
          </p:txBody>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txBody>
            <a:bodyPr/>
            <a:p/>
          </p:txBody>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txBody>
            <a:bodyPr/>
            <a:p/>
          </p:txBody>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txBody>
            <a:bodyPr/>
            <a:p/>
          </p:txBody>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txBody>
            <a:bodyPr/>
            <a:p/>
          </p:txBody>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txBody>
            <a:bodyPr/>
            <a:p/>
          </p:txBody>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txBody>
            <a:bodyPr/>
            <a:p/>
          </p:txBody>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txBody>
              <a:bodyPr/>
              <a:p/>
            </p:txBody>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txBody>
              <a:bodyPr/>
              <a:p/>
            </p:txBody>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txBody>
              <a:bodyPr/>
              <a:p/>
            </p:txBody>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txBody>
              <a:bodyPr/>
              <a:p/>
            </p:txBody>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txBody>
            <a:bodyPr/>
            <a:p/>
          </p:txBody>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txBody>
            <a:bodyPr/>
            <a:p/>
          </p:txBody>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txBody>
              <a:bodyPr/>
              <a:p/>
            </p:txBody>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txBody>
              <a:bodyPr/>
              <a:p/>
            </p:txBody>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txBody>
              <a:bodyPr/>
              <a:p/>
            </p:txBody>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txBody>
              <a:bodyPr/>
              <a:p/>
            </p:txBody>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txBody>
              <a:bodyPr/>
              <a:p/>
            </p:txBody>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txBody>
            <a:bodyPr/>
            <a:p/>
          </p:txBody>
        </p:sp>
        <p:sp>
          <p:nvSpPr>
            <p:cNvPr id="14" name="Rectangle 14"/>
            <p:cNvSpPr/>
            <p:nvPr/>
          </p:nvSpPr>
          <p:spPr>
            <a:xfrm>
              <a:off x="7010400" y="304800"/>
              <a:ext cx="1143000" cy="114300"/>
            </a:xfrm>
            <a:prstGeom prst="roundRect">
              <a:avLst>
                <a:gd name="adj" fmla="val 25000"/>
              </a:avLst>
            </a:prstGeom>
            <a:solidFill>
              <a:srgbClr val="E3E9F1"/>
            </a:solidFill>
            <a:ln>
              <a:noFill/>
            </a:ln>
          </p:spPr>
          <p:txBody>
            <a:bodyPr/>
            <a:p/>
          </p:txBody>
        </p:sp>
        <p:sp>
          <p:nvSpPr>
            <p:cNvPr id="15" name="Rectangle 15"/>
            <p:cNvSpPr/>
            <p:nvPr/>
          </p:nvSpPr>
          <p:spPr>
            <a:xfrm>
              <a:off x="8229600" y="266700"/>
              <a:ext cx="1143000" cy="152400"/>
            </a:xfrm>
            <a:prstGeom prst="roundRect">
              <a:avLst>
                <a:gd name="adj" fmla="val 18750"/>
              </a:avLst>
            </a:prstGeom>
            <a:solidFill>
              <a:srgbClr val="E3E9F1"/>
            </a:solidFill>
            <a:ln>
              <a:noFill/>
            </a:ln>
          </p:spPr>
          <p:txBody>
            <a:bodyPr/>
            <a:p/>
          </p:txBody>
        </p:sp>
        <p:sp>
          <p:nvSpPr>
            <p:cNvPr id="16" name="Rectangle 16"/>
            <p:cNvSpPr/>
            <p:nvPr/>
          </p:nvSpPr>
          <p:spPr>
            <a:xfrm>
              <a:off x="9448800" y="228600"/>
              <a:ext cx="1143000" cy="190500"/>
            </a:xfrm>
            <a:prstGeom prst="roundRect">
              <a:avLst>
                <a:gd name="adj" fmla="val 15000"/>
              </a:avLst>
            </a:prstGeom>
            <a:solidFill>
              <a:srgbClr val="E3E9F1"/>
            </a:solidFill>
            <a:ln>
              <a:noFill/>
            </a:ln>
          </p:spPr>
          <p:txBody>
            <a:bodyPr/>
            <a:p/>
          </p:txBody>
        </p:sp>
        <p:sp>
          <p:nvSpPr>
            <p:cNvPr id="17" name="Rectangle 17"/>
            <p:cNvSpPr/>
            <p:nvPr/>
          </p:nvSpPr>
          <p:spPr>
            <a:xfrm>
              <a:off x="10668000" y="190500"/>
              <a:ext cx="1143000" cy="228600"/>
            </a:xfrm>
            <a:prstGeom prst="roundRect">
              <a:avLst>
                <a:gd name="adj" fmla="val 12500"/>
              </a:avLst>
            </a:prstGeom>
            <a:solidFill>
              <a:srgbClr val="E3E9F1"/>
            </a:solidFill>
            <a:ln>
              <a:noFill/>
            </a:ln>
          </p:spPr>
          <p:txBody>
            <a:bodyPr/>
            <a:p/>
          </p:txBody>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txBody>
            <a:bodyPr/>
            <a:p/>
          </p:txBody>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txBody>
              <a:bodyPr/>
              <a:p/>
            </p:txBody>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txBody>
              <a:bodyPr/>
              <a:p/>
            </p:txBody>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txBody>
              <a:bodyPr/>
              <a:p/>
            </p:txBody>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txBody>
              <a:bodyPr/>
              <a:p/>
            </p:txBody>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txBody>
            <a:bodyPr/>
            <a:p/>
          </p:txBody>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txBody>
            <a:bodyPr/>
            <a:p/>
          </p:txBody>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txBody>
            <a:bodyPr/>
            <a:p/>
          </p:txBody>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txBody>
            <a:bodyPr/>
            <a:p/>
          </p:txBody>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txBody>
            <a:bodyPr/>
            <a:p/>
          </p:txBody>
        </p:sp>
        <p:sp>
          <p:nvSpPr>
            <p:cNvPr id="18" name="Ellipse 18"/>
            <p:cNvSpPr/>
            <p:nvPr/>
          </p:nvSpPr>
          <p:spPr>
            <a:xfrm>
              <a:off x="609600" y="2324100"/>
              <a:ext cx="419100" cy="419100"/>
            </a:xfrm>
            <a:prstGeom prst="ellipse">
              <a:avLst/>
            </a:prstGeom>
            <a:solidFill>
              <a:schemeClr val="lt2"/>
            </a:solidFill>
            <a:ln>
              <a:noFill/>
            </a:ln>
          </p:spPr>
          <p:txBody>
            <a:bodyPr/>
            <a:p/>
          </p:txBody>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txBody>
              <a:bodyPr/>
              <a:p/>
            </p:txBody>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txBody>
              <a:bodyPr/>
              <a:p/>
            </p:txBody>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txBody>
              <a:bodyPr/>
              <a:p/>
            </p:txBody>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txBody>
              <a:bodyPr/>
              <a:p/>
            </p:txBody>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txBody>
              <a:bodyPr/>
              <a:p/>
            </p:txBody>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txBody>
            <a:bodyPr/>
            <a:p/>
          </p:txBody>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txBody>
            <a:bodyPr/>
            <a:p/>
          </p:txBody>
        </p:sp>
        <p:sp>
          <p:nvSpPr>
            <p:cNvPr id="36" name="Ellipse 36"/>
            <p:cNvSpPr/>
            <p:nvPr/>
          </p:nvSpPr>
          <p:spPr>
            <a:xfrm>
              <a:off x="4495800" y="2324100"/>
              <a:ext cx="419100" cy="419100"/>
            </a:xfrm>
            <a:prstGeom prst="ellipse">
              <a:avLst/>
            </a:prstGeom>
            <a:solidFill>
              <a:schemeClr val="lt2"/>
            </a:solidFill>
            <a:ln>
              <a:noFill/>
            </a:ln>
          </p:spPr>
          <p:txBody>
            <a:bodyPr/>
            <a:p/>
          </p:txBody>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txBody>
            <a:bodyPr/>
            <a:p/>
          </p:txBody>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txBody>
            <a:bodyPr/>
            <a:p/>
          </p:txBody>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txBody>
            <a:bodyPr/>
            <a:p/>
          </p:txBody>
        </p:sp>
        <p:sp>
          <p:nvSpPr>
            <p:cNvPr id="49" name="Ellipse 49"/>
            <p:cNvSpPr/>
            <p:nvPr/>
          </p:nvSpPr>
          <p:spPr>
            <a:xfrm>
              <a:off x="8382000" y="2324100"/>
              <a:ext cx="419100" cy="419100"/>
            </a:xfrm>
            <a:prstGeom prst="ellipse">
              <a:avLst/>
            </a:prstGeom>
            <a:solidFill>
              <a:schemeClr val="lt2"/>
            </a:solidFill>
            <a:ln>
              <a:noFill/>
            </a:ln>
          </p:spPr>
          <p:txBody>
            <a:bodyPr/>
            <a:p/>
          </p:txBody>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txBody>
              <a:bodyPr/>
              <a:p/>
            </p:txBody>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txBody>
              <a:bodyPr/>
              <a:p/>
            </p:txBody>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txBody>
              <a:bodyPr/>
              <a:p/>
            </p:txBody>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txBody>
              <a:bodyPr/>
              <a:p/>
            </p:txBody>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txBody>
              <a:bodyPr/>
              <a:p/>
            </p:txBody>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txBody>
              <a:bodyPr/>
              <a:p/>
            </p:txBody>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txBody>
            <a:bodyPr/>
            <a:p/>
          </p:txBody>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txBody>
            <a:bodyPr/>
            <a:p/>
          </p:txBody>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txBody>
            <a:bodyPr/>
            <a:p/>
          </p:txBody>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txBody>
              <a:bodyPr/>
              <a:p/>
            </p:txBody>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txBody>
              <a:bodyPr/>
              <a:p/>
            </p:txBody>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txBody>
              <a:bodyPr/>
              <a:p/>
            </p:txBody>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32</a:t>
            </a:r>
          </a:p>
        </p:txBody>
      </p:sp>
      <p:sp>
        <p:nvSpPr>
          <p:cNvPr id="76"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txBody>
            <a:bodyPr/>
            <a:p/>
          </p:txBody>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txBody>
            <a:bodyPr/>
            <a:p/>
          </p:txBody>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txBody>
            <a:bodyPr/>
            <a:p/>
          </p:txBody>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txBody>
            <a:bodyPr/>
            <a:p/>
          </p:txBody>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txBody>
            <a:bodyPr/>
            <a:p/>
          </p:txBody>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txBody>
            <a:bodyPr/>
            <a:p/>
          </p:txBody>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txBody>
            <a:bodyPr/>
            <a:p/>
          </p:txBody>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txBody>
            <a:bodyPr/>
            <a:p/>
          </p:txBody>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txBody>
            <a:bodyPr/>
            <a:p/>
          </p:txBody>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txBody>
            <a:bodyPr/>
            <a:p/>
          </p:txBody>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txBody>
            <a:bodyPr/>
            <a:p/>
          </p:txBody>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txBody>
            <a:bodyPr/>
            <a:p/>
          </p:txBody>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txBody>
            <a:bodyPr/>
            <a:p/>
          </p:txBody>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txBody>
            <a:bodyPr/>
            <a:p/>
          </p:txBody>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txBody>
            <a:bodyPr/>
            <a:p/>
          </p:txBody>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txBody>
            <a:bodyPr/>
            <a:p/>
          </p:txBody>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txBody>
            <a:bodyPr/>
            <a:p/>
          </p:txBody>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txBody>
            <a:bodyPr/>
            <a:p/>
          </p:txBody>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txBody>
            <a:bodyPr/>
            <a:p/>
          </p:txBody>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txBody>
              <a:bodyPr/>
              <a:p/>
            </p:txBody>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txBody>
              <a:bodyPr/>
              <a:p/>
            </p:txBody>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txBody>
            <a:bodyPr/>
            <a:p/>
          </p:txBody>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txBody>
            <a:bodyPr/>
            <a:p/>
          </p:txBody>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txBody>
            <a:bodyPr/>
            <a:p/>
          </p:txBody>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txBody>
              <a:bodyPr/>
              <a:p/>
            </p:txBody>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txBody>
              <a:bodyPr/>
              <a:p/>
            </p:txBody>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txBody>
            <a:bodyPr/>
            <a:p/>
          </p:txBody>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txBody>
          <a:bodyPr/>
          <a:p/>
        </p:txBody>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txBody>
            <a:bodyPr/>
            <a:p/>
          </p:txBody>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txBody>
            <a:bodyPr/>
            <a:p/>
          </p:txBody>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txBody>
            <a:bodyPr/>
            <a:p/>
          </p:txBody>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txBody>
            <a:bodyPr/>
            <a:p/>
          </p:txBody>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txBody>
          <a:bodyPr/>
          <a:p/>
        </p:txBody>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txBody>
            <a:bodyPr/>
            <a:p/>
          </p:txBody>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txBody>
            <a:bodyPr/>
            <a:p/>
          </p:txBody>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txBody>
            <a:bodyPr/>
            <a:p/>
          </p:txBody>
        </p:sp>
        <p:sp>
          <p:nvSpPr>
            <p:cNvPr id="18" name="Ellipse 18"/>
            <p:cNvSpPr/>
            <p:nvPr/>
          </p:nvSpPr>
          <p:spPr>
            <a:xfrm>
              <a:off x="590550" y="2305050"/>
              <a:ext cx="457200" cy="457200"/>
            </a:xfrm>
            <a:prstGeom prst="ellipse">
              <a:avLst/>
            </a:prstGeom>
            <a:solidFill>
              <a:schemeClr val="lt1"/>
            </a:solidFill>
            <a:ln>
              <a:noFill/>
            </a:ln>
          </p:spPr>
          <p:txBody>
            <a:bodyPr/>
            <a:p/>
          </p:txBody>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txBody>
              <a:bodyPr/>
              <a:p/>
            </p:txBody>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txBody>
              <a:bodyPr/>
              <a:p/>
            </p:txBody>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txBody>
              <a:bodyPr/>
              <a:p/>
            </p:txBody>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txBody>
            <a:bodyPr/>
            <a:p/>
          </p:txBody>
        </p:sp>
        <p:sp>
          <p:nvSpPr>
            <p:cNvPr id="27" name="Ellipse 27"/>
            <p:cNvSpPr/>
            <p:nvPr/>
          </p:nvSpPr>
          <p:spPr>
            <a:xfrm>
              <a:off x="590550" y="3695700"/>
              <a:ext cx="457200" cy="457200"/>
            </a:xfrm>
            <a:prstGeom prst="ellipse">
              <a:avLst/>
            </a:prstGeom>
            <a:solidFill>
              <a:schemeClr val="lt1"/>
            </a:solidFill>
            <a:ln>
              <a:noFill/>
            </a:ln>
          </p:spPr>
          <p:txBody>
            <a:bodyPr/>
            <a:p/>
          </p:txBody>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txBody>
              <a:bodyPr/>
              <a:p/>
            </p:txBody>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txBody>
              <a:bodyPr/>
              <a:p/>
            </p:txBody>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txBody>
              <a:bodyPr/>
              <a:p/>
            </p:txBody>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txBody>
            <a:bodyPr/>
            <a:p/>
          </p:txBody>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txBody>
              <a:bodyPr/>
              <a:p/>
            </p:txBody>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txBody>
              <a:bodyPr/>
              <a:p/>
            </p:txBody>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txBody>
            <a:bodyPr/>
            <a:p/>
          </p:txBody>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txBody>
            <a:bodyPr/>
            <a:p/>
          </p:txBody>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txBody>
            <a:bodyPr/>
            <a:p/>
          </p:txBody>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txBody>
            <a:bodyPr/>
            <a:p/>
          </p:txBody>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txBody>
            <a:bodyPr/>
            <a:p/>
          </p:txBody>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txBody>
            <a:bodyPr/>
            <a:p/>
          </p:txBody>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txBody>
              <a:bodyPr/>
              <a:p/>
            </p:txBody>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txBody>
              <a:bodyPr/>
              <a:p/>
            </p:txBody>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txBody>
              <a:bodyPr/>
              <a:p/>
            </p:txBody>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32</a:t>
            </a:r>
          </a:p>
        </p:txBody>
      </p:sp>
      <p:sp>
        <p:nvSpPr>
          <p:cNvPr id="60"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1</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txBody>
            <a:bodyPr/>
            <a:p/>
          </p:txBody>
        </p:sp>
        <p:sp>
          <p:nvSpPr>
            <p:cNvPr id="18" name="Ellipse 18"/>
            <p:cNvSpPr/>
            <p:nvPr/>
          </p:nvSpPr>
          <p:spPr>
            <a:xfrm>
              <a:off x="523875" y="2219325"/>
              <a:ext cx="285750" cy="285750"/>
            </a:xfrm>
            <a:prstGeom prst="ellipse">
              <a:avLst/>
            </a:prstGeom>
            <a:solidFill>
              <a:schemeClr val="accent5"/>
            </a:solidFill>
            <a:ln>
              <a:noFill/>
            </a:ln>
          </p:spPr>
          <p:txBody>
            <a:bodyPr/>
            <a:p/>
          </p:txBody>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txBody>
            <a:bodyPr/>
            <a:p/>
          </p:txBody>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txBody>
            <a:bodyPr/>
            <a:p/>
          </p:txBody>
        </p:sp>
        <p:sp>
          <p:nvSpPr>
            <p:cNvPr id="26" name="Ellipse 26"/>
            <p:cNvSpPr/>
            <p:nvPr/>
          </p:nvSpPr>
          <p:spPr>
            <a:xfrm>
              <a:off x="523875" y="3095625"/>
              <a:ext cx="285750" cy="285750"/>
            </a:xfrm>
            <a:prstGeom prst="ellipse">
              <a:avLst/>
            </a:prstGeom>
            <a:solidFill>
              <a:schemeClr val="accent5"/>
            </a:solidFill>
            <a:ln>
              <a:noFill/>
            </a:ln>
          </p:spPr>
          <p:txBody>
            <a:bodyPr/>
            <a:p/>
          </p:txBody>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txBody>
            <a:bodyPr/>
            <a:p/>
          </p:txBody>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txBody>
            <a:bodyPr/>
            <a:p/>
          </p:txBody>
        </p:sp>
        <p:sp>
          <p:nvSpPr>
            <p:cNvPr id="35" name="Ellipse 35"/>
            <p:cNvSpPr/>
            <p:nvPr/>
          </p:nvSpPr>
          <p:spPr>
            <a:xfrm>
              <a:off x="523875" y="4200525"/>
              <a:ext cx="285750" cy="285750"/>
            </a:xfrm>
            <a:prstGeom prst="ellipse">
              <a:avLst/>
            </a:prstGeom>
            <a:solidFill>
              <a:schemeClr val="accent5"/>
            </a:solidFill>
            <a:ln>
              <a:noFill/>
            </a:ln>
          </p:spPr>
          <p:txBody>
            <a:bodyPr/>
            <a:p/>
          </p:txBody>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txBody>
            <a:bodyPr/>
            <a:p/>
          </p:txBody>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txBody>
            <a:bodyPr/>
            <a:p/>
          </p:txBody>
        </p:sp>
        <p:sp>
          <p:nvSpPr>
            <p:cNvPr id="43" name="Ellipse 43"/>
            <p:cNvSpPr/>
            <p:nvPr/>
          </p:nvSpPr>
          <p:spPr>
            <a:xfrm>
              <a:off x="523875" y="5076825"/>
              <a:ext cx="285750" cy="285750"/>
            </a:xfrm>
            <a:prstGeom prst="ellipse">
              <a:avLst/>
            </a:prstGeom>
            <a:solidFill>
              <a:schemeClr val="accent5"/>
            </a:solidFill>
            <a:ln>
              <a:noFill/>
            </a:ln>
          </p:spPr>
          <p:txBody>
            <a:bodyPr/>
            <a:p/>
          </p:txBody>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txBody>
            <a:bodyPr/>
            <a:p/>
          </p:txBody>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32</a:t>
            </a:r>
          </a:p>
        </p:txBody>
      </p:sp>
      <p:sp>
        <p:nvSpPr>
          <p:cNvPr id="68"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txBody>
              <a:bodyPr/>
              <a:p/>
            </p:txBody>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txBody>
              <a:bodyPr/>
              <a:p/>
            </p:txBody>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txBody>
              <a:bodyPr/>
              <a:p/>
            </p:txBody>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txBody>
            <a:bodyPr/>
            <a:p/>
          </p:txBody>
        </p:sp>
        <p:sp>
          <p:nvSpPr>
            <p:cNvPr id="12" name="Rectangle 12"/>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13" name="Rectangle 13"/>
            <p:cNvSpPr/>
            <p:nvPr/>
          </p:nvSpPr>
          <p:spPr>
            <a:xfrm>
              <a:off x="8229600" y="266700"/>
              <a:ext cx="1143000" cy="152400"/>
            </a:xfrm>
            <a:prstGeom prst="roundRect">
              <a:avLst>
                <a:gd name="adj" fmla="val 18750"/>
              </a:avLst>
            </a:prstGeom>
            <a:solidFill>
              <a:srgbClr val="E3E9F1"/>
            </a:solidFill>
            <a:ln>
              <a:noFill/>
            </a:ln>
          </p:spPr>
          <p:txBody>
            <a:bodyPr/>
            <a:p/>
          </p:txBody>
        </p:sp>
        <p:sp>
          <p:nvSpPr>
            <p:cNvPr id="14" name="Rectangle 14"/>
            <p:cNvSpPr/>
            <p:nvPr/>
          </p:nvSpPr>
          <p:spPr>
            <a:xfrm>
              <a:off x="9448800" y="228600"/>
              <a:ext cx="1143000" cy="190500"/>
            </a:xfrm>
            <a:prstGeom prst="roundRect">
              <a:avLst>
                <a:gd name="adj" fmla="val 15000"/>
              </a:avLst>
            </a:prstGeom>
            <a:solidFill>
              <a:srgbClr val="E3E9F1"/>
            </a:solidFill>
            <a:ln>
              <a:noFill/>
            </a:ln>
          </p:spPr>
          <p:txBody>
            <a:bodyPr/>
            <a:p/>
          </p:txBody>
        </p:sp>
        <p:sp>
          <p:nvSpPr>
            <p:cNvPr id="15" name="Rectangle 15"/>
            <p:cNvSpPr/>
            <p:nvPr/>
          </p:nvSpPr>
          <p:spPr>
            <a:xfrm>
              <a:off x="10668000" y="190500"/>
              <a:ext cx="1143000" cy="228600"/>
            </a:xfrm>
            <a:prstGeom prst="roundRect">
              <a:avLst>
                <a:gd name="adj" fmla="val 12500"/>
              </a:avLst>
            </a:prstGeom>
            <a:solidFill>
              <a:srgbClr val="E3E9F1"/>
            </a:solidFill>
            <a:ln>
              <a:noFill/>
            </a:ln>
          </p:spPr>
          <p:txBody>
            <a:bodyPr/>
            <a:p/>
          </p:txBody>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txBody>
            <a:bodyPr/>
            <a:p/>
          </p:txBody>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txBody>
              <a:bodyPr/>
              <a:p/>
            </p:txBody>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txBody>
              <a:bodyPr/>
              <a:p/>
            </p:txBody>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txBody>
              <a:bodyPr/>
              <a:p/>
            </p:txBody>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txBody>
              <a:bodyPr/>
              <a:p/>
            </p:txBody>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txBody>
            <a:bodyPr/>
            <a:p/>
          </p:txBody>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txBody>
            <a:bodyPr/>
            <a:p/>
          </p:txBody>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txBody>
            <a:bodyPr/>
            <a:p/>
          </p:txBody>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txBody>
            <a:bodyPr/>
            <a:p/>
          </p:txBody>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txBody>
            <a:bodyPr/>
            <a:p/>
          </p:txBody>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txBody>
            <a:bodyPr/>
            <a:p/>
          </p:txBody>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txBody>
            <a:bodyPr/>
            <a:p/>
          </p:txBody>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txBody>
            <a:bodyPr/>
            <a:p/>
          </p:txBody>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txBody>
            <a:bodyPr/>
            <a:p/>
          </p:txBody>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txBody>
            <a:bodyPr/>
            <a:p/>
          </p:txBody>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txBody>
            <a:bodyPr/>
            <a:p/>
          </p:txBody>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txBody>
            <a:bodyPr/>
            <a:p/>
          </p:txBody>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txBody>
            <a:bodyPr/>
            <a:p/>
          </p:txBody>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txBody>
              <a:bodyPr/>
              <a:p/>
            </p:txBody>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txBody>
              <a:bodyPr/>
              <a:p/>
            </p:txBody>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txBody>
              <a:bodyPr/>
              <a:p/>
            </p:txBody>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txBody>
            <a:bodyPr/>
            <a:p/>
          </p:txBody>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txBody>
            <a:bodyPr/>
            <a:p/>
          </p:txBody>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số lượng, mất thêm 1 lượt</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“collagen Đức”, emoji ❤️🌷</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txBody>
              <a:bodyPr/>
              <a:p/>
            </p:txBody>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txBody>
              <a:bodyPr/>
              <a:p/>
            </p:txBody>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txBody>
              <a:bodyPr/>
              <a:p/>
            </p:txBody>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txBody>
            <a:bodyPr/>
            <a:p/>
          </p:txBody>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txBody>
              <a:bodyPr/>
              <a:p/>
            </p:txBody>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txBody>
              <a:bodyPr/>
              <a:p/>
            </p:txBody>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txBody>
              <a:bodyPr/>
              <a:p/>
            </p:txBody>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txBody>
              <a:bodyPr/>
              <a:p/>
            </p:txBody>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txBody>
            <a:bodyPr/>
            <a:p/>
          </p:txBody>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32</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3</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txBody>
            <a:bodyPr/>
            <a:p/>
          </p:txBody>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2"/>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txBody>
            <a:bodyPr/>
            <a:p/>
          </p:txBody>
        </p:sp>
        <p:sp>
          <p:nvSpPr>
            <p:cNvPr id="18" name="Ellipse 18"/>
            <p:cNvSpPr/>
            <p:nvPr/>
          </p:nvSpPr>
          <p:spPr>
            <a:xfrm>
              <a:off x="647700" y="2362200"/>
              <a:ext cx="419100" cy="419100"/>
            </a:xfrm>
            <a:prstGeom prst="ellipse">
              <a:avLst/>
            </a:prstGeom>
            <a:solidFill>
              <a:schemeClr val="accent3"/>
            </a:solidFill>
            <a:ln>
              <a:noFill/>
            </a:ln>
          </p:spPr>
          <p:txBody>
            <a:bodyPr/>
            <a:p/>
          </p:txBody>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txBody>
            <a:bodyPr/>
            <a:p/>
          </p:txBody>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txBody>
            <a:bodyPr/>
            <a:p/>
          </p:txBody>
        </p:sp>
        <p:sp>
          <p:nvSpPr>
            <p:cNvPr id="27" name="Ellipse 27"/>
            <p:cNvSpPr/>
            <p:nvPr/>
          </p:nvSpPr>
          <p:spPr>
            <a:xfrm>
              <a:off x="4533900" y="2476500"/>
              <a:ext cx="419100" cy="419100"/>
            </a:xfrm>
            <a:prstGeom prst="ellipse">
              <a:avLst/>
            </a:prstGeom>
            <a:solidFill>
              <a:schemeClr val="accent3"/>
            </a:solidFill>
            <a:ln>
              <a:noFill/>
            </a:ln>
          </p:spPr>
          <p:txBody>
            <a:bodyPr/>
            <a:p/>
          </p:txBody>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txBody>
            <a:bodyPr/>
            <a:p/>
          </p:txBody>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txBody>
            <a:bodyPr/>
            <a:p/>
          </p:txBody>
        </p:sp>
        <p:sp>
          <p:nvSpPr>
            <p:cNvPr id="36" name="Ellipse 36"/>
            <p:cNvSpPr/>
            <p:nvPr/>
          </p:nvSpPr>
          <p:spPr>
            <a:xfrm>
              <a:off x="8420100" y="2590800"/>
              <a:ext cx="419100" cy="419100"/>
            </a:xfrm>
            <a:prstGeom prst="ellipse">
              <a:avLst/>
            </a:prstGeom>
            <a:solidFill>
              <a:schemeClr val="accent3"/>
            </a:solidFill>
            <a:ln>
              <a:noFill/>
            </a:ln>
          </p:spPr>
          <p:txBody>
            <a:bodyPr/>
            <a:p/>
          </p:txBody>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txBody>
            <a:bodyPr/>
            <a:p/>
          </p:txBody>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txBody>
            <a:bodyPr/>
            <a:p/>
          </p:txBody>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txBody>
            <a:bodyPr/>
            <a:p/>
          </p:txBody>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txBody>
              <a:bodyPr/>
              <a:p/>
            </p:txBody>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txBody>
              <a:bodyPr/>
              <a:p/>
            </p:txBody>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txBody>
            <a:bodyPr/>
            <a:p/>
          </p:txBody>
        </p:sp>
        <p:sp>
          <p:nvSpPr>
            <p:cNvPr id="15" name="Rectangle 15"/>
            <p:cNvSpPr/>
            <p:nvPr/>
          </p:nvSpPr>
          <p:spPr>
            <a:xfrm>
              <a:off x="7010400" y="304800"/>
              <a:ext cx="1143000" cy="114300"/>
            </a:xfrm>
            <a:prstGeom prst="roundRect">
              <a:avLst>
                <a:gd name="adj" fmla="val 25000"/>
              </a:avLst>
            </a:prstGeom>
            <a:solidFill>
              <a:srgbClr val="E3E9F1"/>
            </a:solidFill>
            <a:ln>
              <a:noFill/>
            </a:ln>
          </p:spPr>
          <p:txBody>
            <a:bodyPr/>
            <a:p/>
          </p:txBody>
        </p:sp>
        <p:sp>
          <p:nvSpPr>
            <p:cNvPr id="16" name="Rectangle 16"/>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17" name="Rectangle 17"/>
            <p:cNvSpPr/>
            <p:nvPr/>
          </p:nvSpPr>
          <p:spPr>
            <a:xfrm>
              <a:off x="9448800" y="228600"/>
              <a:ext cx="1143000" cy="190500"/>
            </a:xfrm>
            <a:prstGeom prst="roundRect">
              <a:avLst>
                <a:gd name="adj" fmla="val 15000"/>
              </a:avLst>
            </a:prstGeom>
            <a:solidFill>
              <a:srgbClr val="E3E9F1"/>
            </a:solidFill>
            <a:ln>
              <a:noFill/>
            </a:ln>
          </p:spPr>
          <p:txBody>
            <a:bodyPr/>
            <a:p/>
          </p:txBody>
        </p:sp>
        <p:sp>
          <p:nvSpPr>
            <p:cNvPr id="18" name="Rectangle 18"/>
            <p:cNvSpPr/>
            <p:nvPr/>
          </p:nvSpPr>
          <p:spPr>
            <a:xfrm>
              <a:off x="10668000" y="190500"/>
              <a:ext cx="1143000" cy="228600"/>
            </a:xfrm>
            <a:prstGeom prst="roundRect">
              <a:avLst>
                <a:gd name="adj" fmla="val 12500"/>
              </a:avLst>
            </a:prstGeom>
            <a:solidFill>
              <a:srgbClr val="E3E9F1"/>
            </a:solidFill>
            <a:ln>
              <a:noFill/>
            </a:ln>
          </p:spPr>
          <p:txBody>
            <a:bodyPr/>
            <a:p/>
          </p:txBody>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txBody>
            <a:bodyPr/>
            <a:p/>
          </p:txBody>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txBody>
              <a:bodyPr/>
              <a:p/>
            </p:txBody>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txBody>
              <a:bodyPr/>
              <a:p/>
            </p:txBody>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txBody>
              <a:bodyPr/>
              <a:p/>
            </p:txBody>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txBody>
              <a:bodyPr/>
              <a:p/>
            </p:txBody>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txBody>
            <a:bodyPr/>
            <a:p/>
          </p:txBody>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txBody>
            <a:bodyPr/>
            <a:p/>
          </p:txBody>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txBody>
            <a:bodyPr/>
            <a:p/>
          </p:txBody>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txBody>
            <a:bodyPr/>
            <a:p/>
          </p:txBody>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txBody>
            <a:bodyPr/>
            <a:p/>
          </p:txBody>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txBody>
            <a:bodyPr/>
            <a:p/>
          </p:txBody>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txBody>
            <a:bodyPr/>
            <a:p/>
          </p:txBody>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txBody>
            <a:bodyPr/>
            <a:p/>
          </p:txBody>
        </p:sp>
        <p:sp>
          <p:nvSpPr>
            <p:cNvPr id="41" name="Rectangle 41"/>
            <p:cNvSpPr/>
            <p:nvPr/>
          </p:nvSpPr>
          <p:spPr>
            <a:xfrm>
              <a:off x="8991600" y="2228850"/>
              <a:ext cx="952500" cy="342900"/>
            </a:xfrm>
            <a:prstGeom prst="roundRect">
              <a:avLst>
                <a:gd name="adj" fmla="val 50000"/>
              </a:avLst>
            </a:prstGeom>
            <a:solidFill>
              <a:srgbClr val="2E5E91"/>
            </a:solidFill>
            <a:ln>
              <a:noFill/>
            </a:ln>
          </p:spPr>
          <p:txBody>
            <a:bodyPr/>
            <a:p/>
          </p:txBody>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txBody>
            <a:bodyPr/>
            <a:p/>
          </p:txBody>
        </p:sp>
        <p:sp>
          <p:nvSpPr>
            <p:cNvPr id="18" name="Line 18"/>
            <p:cNvSpPr/>
            <p:nvPr/>
          </p:nvSpPr>
          <p:spPr>
            <a:xfrm>
              <a:off x="4933950" y="2400300"/>
              <a:ext cx="2266950" cy="1"/>
            </a:xfrm>
            <a:prstGeom prst="line">
              <a:avLst/>
            </a:prstGeom>
            <a:noFill/>
            <a:ln w="19050">
              <a:solidFill>
                <a:srgbClr val="5B6675"/>
              </a:solidFill>
              <a:tailEnd type="triangle" w="lg" len="lg"/>
            </a:ln>
          </p:spPr>
          <p:txBody>
            <a:bodyPr/>
            <a:p/>
          </p:txBody>
        </p:sp>
        <p:sp>
          <p:nvSpPr>
            <p:cNvPr id="19" name="Line 19"/>
            <p:cNvSpPr/>
            <p:nvPr/>
          </p:nvSpPr>
          <p:spPr>
            <a:xfrm>
              <a:off x="7791450" y="2400300"/>
              <a:ext cx="2266950" cy="1"/>
            </a:xfrm>
            <a:prstGeom prst="line">
              <a:avLst/>
            </a:prstGeom>
            <a:noFill/>
            <a:ln w="19050">
              <a:solidFill>
                <a:srgbClr val="5B6675"/>
              </a:solidFill>
              <a:tailEnd type="triangle" w="lg" len="lg"/>
            </a:ln>
          </p:spPr>
          <p:txBody>
            <a:bodyPr/>
            <a:p/>
          </p:txBody>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txBody>
            <a:bodyPr/>
            <a:p/>
          </p:txBody>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txBody>
            <a:bodyPr/>
            <a:p/>
          </p:txBody>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txBody>
            <a:bodyPr/>
            <a:p/>
          </p:txBody>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txBody>
            <a:bodyPr/>
            <a:p/>
          </p:txBody>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txBody>
            <a:bodyPr/>
            <a:p/>
          </p:txBody>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txBody>
            <a:bodyPr/>
            <a:p/>
          </p:txBody>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txBody>
              <a:bodyPr/>
              <a:p/>
            </p:txBody>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txBody>
              <a:bodyPr/>
              <a:p/>
            </p:txBody>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txBody>
            <a:bodyPr/>
            <a:p/>
          </p:txBody>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Tóm tắt</a:t>
              </a:r>
              <a:br/>
              <a:r>
                <a:rPr lang="vi-VN" sz="1500" dirty="0">
                  <a:solidFill>
                    <a:schemeClr val="accent1"/>
                  </a:solidFill>
                  <a:latin typeface="Consolas"/>
                  <a:ea typeface="Consolas"/>
                  <a:cs typeface="Consolas"/>
                </a:rPr>
                <a:t>văn bản.</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txBody>
            <a:bodyPr/>
            <a:p/>
          </p:txBody>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txBody>
              <a:bodyPr/>
              <a:p/>
            </p:txBody>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txBody>
              <a:bodyPr/>
              <a:p/>
            </p:txBody>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txBody>
            <a:bodyPr/>
            <a:p/>
          </p:txBody>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Tóm tắt tài liệu dài của Wir (hồ sơ sản phẩm,</a:t>
              </a:r>
              <a:br/>
              <a:r>
                <a:rPr lang="vi-VN" sz="1500" dirty="0">
                  <a:solidFill>
                    <a:schemeClr val="accent1"/>
                  </a:solidFill>
                  <a:latin typeface="Consolas"/>
                  <a:ea typeface="Consolas"/>
                  <a:cs typeface="Consolas"/>
                </a:rPr>
                <a:t>biên bản họp, báo giá) thành 4 mục: tóm tắt nhanh, ý chính,</a:t>
              </a:r>
              <a:br/>
              <a:r>
                <a:rPr lang="vi-VN" sz="1500" dirty="0">
                  <a:solidFill>
                    <a:schemeClr val="accent1"/>
                  </a:solidFill>
                  <a:latin typeface="Consolas"/>
                  <a:ea typeface="Consolas"/>
                  <a:cs typeface="Consolas"/>
                </a:rPr>
                <a:t>số liệu và hạn chót, điểm cần lưu ý. Dùng khi có file hoặc</a:t>
              </a:r>
              <a:br/>
              <a:r>
                <a:rPr lang="vi-VN" sz="1500" dirty="0">
                  <a:solidFill>
                    <a:schemeClr val="accent1"/>
                  </a:solidFill>
                  <a:latin typeface="Consolas"/>
                  <a:ea typeface="Consolas"/>
                  <a:cs typeface="Consolas"/>
                </a:rPr>
                <a:t>văn bản dán vào và yêu cầu tóm tắt. Không dùng để viết bài.</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Làm tay 5 lượt trên một tài liệu thật trước,</a:t>
            </a:r>
            <a:br/>
            <a:r>
              <a:rPr lang="vi-VN" sz="3150" dirty="0" b="1">
                <a:solidFill>
                  <a:schemeClr val="accent1"/>
                </a:solidFill>
                <a:latin typeface="+mn-lt"/>
                <a:ea typeface="+mn-ea"/>
                <a:cs typeface="+mn-cs"/>
              </a:rPr>
              <a:t>mỗi lần phải dặn thêm là một phần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txBody>
            <a:bodyPr/>
            <a:p/>
          </p:txBody>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txBody>
            <a:bodyPr/>
            <a:p/>
          </p:txBody>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chung chung → lý do cần skill (KHI NÀO DÙNG)</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txBody>
            <a:bodyPr/>
            <a:p/>
          </p:txBody>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txBody>
            <a:bodyPr/>
            <a:p/>
          </p:txBody>
        </p:sp>
        <p:sp>
          <p:nvSpPr>
            <p:cNvPr id="27" name="Rectangle 27"/>
            <p:cNvSpPr/>
            <p:nvPr/>
          </p:nvSpPr>
          <p:spPr>
            <a:xfrm>
              <a:off x="7353300" y="2724150"/>
              <a:ext cx="4457700" cy="457200"/>
            </a:xfrm>
            <a:prstGeom prst="roundRect">
              <a:avLst>
                <a:gd name="adj" fmla="val 25000"/>
              </a:avLst>
            </a:prstGeom>
            <a:solidFill>
              <a:srgbClr val="2E5E91"/>
            </a:solidFill>
            <a:ln>
              <a:noFill/>
            </a:ln>
          </p:spPr>
          <p:txBody>
            <a:bodyPr/>
            <a:p/>
          </p:txBody>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txBody>
            <a:bodyPr/>
            <a:p/>
          </p:txBody>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txBody>
            <a:bodyPr/>
            <a:p/>
          </p:txBody>
        </p:sp>
        <p:sp>
          <p:nvSpPr>
            <p:cNvPr id="34" name="Rectangle 34"/>
            <p:cNvSpPr/>
            <p:nvPr/>
          </p:nvSpPr>
          <p:spPr>
            <a:xfrm>
              <a:off x="7353300" y="3314700"/>
              <a:ext cx="4457700" cy="457200"/>
            </a:xfrm>
            <a:prstGeom prst="roundRect">
              <a:avLst>
                <a:gd name="adj" fmla="val 25000"/>
              </a:avLst>
            </a:prstGeom>
            <a:solidFill>
              <a:srgbClr val="2E5E91"/>
            </a:solidFill>
            <a:ln>
              <a:noFill/>
            </a:ln>
          </p:spPr>
          <p:txBody>
            <a:bodyPr/>
            <a:p/>
          </p:txBody>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Số liệu,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txBody>
            <a:bodyPr/>
            <a:p/>
          </p:txBody>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txBody>
            <a:bodyPr/>
            <a:p/>
          </p:txBody>
        </p:sp>
        <p:sp>
          <p:nvSpPr>
            <p:cNvPr id="41" name="Rectangle 41"/>
            <p:cNvSpPr/>
            <p:nvPr/>
          </p:nvSpPr>
          <p:spPr>
            <a:xfrm>
              <a:off x="7353300" y="3905250"/>
              <a:ext cx="4457700" cy="457200"/>
            </a:xfrm>
            <a:prstGeom prst="roundRect">
              <a:avLst>
                <a:gd name="adj" fmla="val 25000"/>
              </a:avLst>
            </a:prstGeom>
            <a:solidFill>
              <a:srgbClr val="2E5E91"/>
            </a:solidFill>
            <a:ln>
              <a:noFill/>
            </a:ln>
          </p:spPr>
          <p:txBody>
            <a:bodyPr/>
            <a:p/>
          </p:txBody>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dirty="0" b="1">
                  <a:solidFill>
                    <a:srgbClr val="FFFFFF"/>
                  </a:solidFill>
                  <a:latin typeface="+mn-lt"/>
                  <a:ea typeface="+mn-ea"/>
                  <a:cs typeface="+mn-cs"/>
                </a:rPr>
                <a:t>ĐẦU RA</a:t>
              </a:r>
              <a:r>
                <a:rPr lang="vi-VN" sz="1350" dirty="0">
                  <a:solidFill>
                    <a:srgbClr val="FFFFFF"/>
                  </a:solidFill>
                  <a:latin typeface="+mn-lt"/>
                  <a:ea typeface="+mn-ea"/>
                  <a:cs typeface="+mn-cs"/>
                </a:rPr>
                <a:t> · mục Điểm cần lưu ý</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txBody>
            <a:bodyPr/>
            <a:p/>
          </p:txBody>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txBody>
            <a:bodyPr/>
            <a:p/>
          </p:txBody>
        </p:sp>
        <p:sp>
          <p:nvSpPr>
            <p:cNvPr id="48" name="Rectangle 48"/>
            <p:cNvSpPr/>
            <p:nvPr/>
          </p:nvSpPr>
          <p:spPr>
            <a:xfrm>
              <a:off x="7353300" y="4495800"/>
              <a:ext cx="4457700" cy="457200"/>
            </a:xfrm>
            <a:prstGeom prst="roundRect">
              <a:avLst>
                <a:gd name="adj" fmla="val 25000"/>
              </a:avLst>
            </a:prstGeom>
            <a:solidFill>
              <a:srgbClr val="E8833A"/>
            </a:solidFill>
            <a:ln>
              <a:noFill/>
            </a:ln>
          </p:spPr>
          <p:txBody>
            <a:bodyPr/>
            <a:p/>
          </p:txBody>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dirty="0" b="1">
                  <a:solidFill>
                    <a:srgbClr val="1F2937"/>
                  </a:solidFill>
                  <a:latin typeface="+mn-lt"/>
                  <a:ea typeface="+mn-ea"/>
                  <a:cs typeface="+mn-cs"/>
                </a:rPr>
                <a:t>CÁC BƯỚC</a:t>
              </a:r>
              <a:r>
                <a:rPr lang="vi-VN" sz="1350" dirty="0">
                  <a:solidFill>
                    <a:srgbClr val="1F2937"/>
                  </a:solidFill>
                  <a:latin typeface="+mn-lt"/>
                  <a:ea typeface="+mn-ea"/>
                  <a:cs typeface="+mn-cs"/>
                </a:rPr>
                <a:t> · 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txBody>
            <a:bodyPr/>
            <a:p/>
          </p:txBody>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txBody>
            <a:bodyPr/>
            <a:p/>
          </p:txBody>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KẾT QUẢ THẬT 09/10/2026 · TÀI LIỆU “DỮ LIỆU SẢN PHẨM WIR” TRONG PROJECT MARKETING</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Lượt 4: ChatGPT bắt được 7 cụm vượt ranh giới TPCN, ví dụ </a:t>
              </a:r>
              <a:r>
                <a:rPr lang="vi-VN" sz="1650" dirty="0" b="1">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ở CH Alpha Plus.</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5810250" y="6554152"/>
            <a:ext cx="5334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Data demo Mục 4 · file du-lieu-san-pham-wir.md trong Sources của Project</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Đóng gói: 5 lượt vừa làm thành một file SKILL.md</a:t>
            </a:r>
            <a:br/>
            <a:r>
              <a:rPr lang="vi-VN" sz="3150" dirty="0" b="1">
                <a:solidFill>
                  <a:schemeClr val="accent1"/>
                </a:solidFill>
                <a:latin typeface="+mn-lt"/>
                <a:ea typeface="+mn-ea"/>
                <a:cs typeface="+mn-cs"/>
              </a:rPr>
              <a:t>6 phần. ChatGPT tự viết khi bạn bảo “đóng gói”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txBody>
            <a:bodyPr/>
            <a:p/>
          </p:txBody>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txBody>
              <a:bodyPr/>
              <a:p/>
            </p:txBody>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txBody>
              <a:bodyPr/>
              <a:p/>
            </p:txBody>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txBody>
              <a:bodyPr/>
              <a:p/>
            </p:txBody>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txBody>
              <a:bodyPr/>
              <a:p/>
            </p:txBody>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txBody>
              <a:bodyPr/>
              <a:p/>
            </p:txBody>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spc="75" dirty="0" b="1">
                  <a:solidFill>
                    <a:srgbClr val="E3E9F1"/>
                  </a:solidFill>
                  <a:latin typeface="+mn-lt"/>
                  <a:ea typeface="+mn-ea"/>
                  <a:cs typeface="+mn-cs"/>
                </a:rPr>
                <a:t>SKILL.md · tom-tat-tai-lieu</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txBody>
            <a:bodyPr/>
            <a:p/>
          </p:txBody>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rgbClr val="E8833A"/>
                  </a:solidFill>
                  <a:latin typeface="Consolas"/>
                  <a:ea typeface="Consolas"/>
                  <a:cs typeface="Consolas"/>
                </a:rPr>
                <a:t>name:</a:t>
              </a:r>
              <a:r>
                <a:rPr lang="vi-VN" sz="1500" dirty="0">
                  <a:solidFill>
                    <a:schemeClr val="accent2"/>
                  </a:solidFill>
                  <a:latin typeface="Consolas"/>
                  <a:ea typeface="Consolas"/>
                  <a:cs typeface="Consolas"/>
                </a:rPr>
                <a:t> tom-tat-tai-lieu</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rgbClr val="E8833A"/>
                  </a:solidFill>
                  <a:latin typeface="Consolas"/>
                  <a:ea typeface="Consolas"/>
                  <a:cs typeface="Consolas"/>
                </a:rPr>
                <a:t>description:</a:t>
              </a:r>
              <a:r>
                <a:rPr lang="vi-VN" sz="1500" dirty="0">
                  <a:solidFill>
                    <a:schemeClr val="accent2"/>
                  </a:solidFill>
                  <a:latin typeface="Consolas"/>
                  <a:ea typeface="Consolas"/>
                  <a:cs typeface="Consolas"/>
                </a:rPr>
                <a:t> Tóm tắt tài liệu dài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của Wir thành 4 mục…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dirty="0" b="1">
                  <a:solidFill>
                    <a:srgbClr val="E3E9F1"/>
                  </a:solidFill>
                  <a:latin typeface="Consolas"/>
                  <a:ea typeface="Consolas"/>
                  <a:cs typeface="Consolas"/>
                </a:rPr>
                <a:t># Tóm tắt tài liệu</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txBody>
            <a:bodyPr/>
            <a:p/>
          </p:txBody>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tom-tat-tai-lieu: 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txBody>
            <a:bodyPr/>
            <a:p/>
          </p:txBody>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 ChatGPT chỉ đọc câu này để chọn skill (slide 18)</a:t>
              </a:r>
            </a:p>
          </p:txBody>
        </p:sp>
        <p:sp>
          <p:nvSpPr>
            <p:cNvPr id="46" name="Ellipse 46"/>
            <p:cNvSpPr/>
            <p:nvPr/>
          </p:nvSpPr>
          <p:spPr>
            <a:xfrm>
              <a:off x="6096000" y="3409950"/>
              <a:ext cx="304800" cy="304800"/>
            </a:xfrm>
            <a:prstGeom prst="ellipse">
              <a:avLst/>
            </a:prstGeom>
            <a:solidFill>
              <a:srgbClr val="2E5E91"/>
            </a:solidFill>
            <a:ln>
              <a:noFill/>
            </a:ln>
          </p:spPr>
          <p:txBody>
            <a:bodyPr/>
            <a:p/>
          </p:txBody>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hồ sơ sản phẩm, biên bản họp, báo giá; không dùng để viết bài</a:t>
              </a:r>
            </a:p>
          </p:txBody>
        </p:sp>
        <p:sp>
          <p:nvSpPr>
            <p:cNvPr id="50" name="Ellipse 50"/>
            <p:cNvSpPr/>
            <p:nvPr/>
          </p:nvSpPr>
          <p:spPr>
            <a:xfrm>
              <a:off x="6096000" y="4000500"/>
              <a:ext cx="304800" cy="304800"/>
            </a:xfrm>
            <a:prstGeom prst="ellipse">
              <a:avLst/>
            </a:prstGeom>
            <a:solidFill>
              <a:srgbClr val="2E5E91"/>
            </a:solidFill>
            <a:ln>
              <a:noFill/>
            </a:ln>
          </p:spPr>
          <p:txBody>
            <a:bodyPr/>
            <a:p/>
          </p:txBody>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bắt buộc: tài liệu; có thì tốt: tầng pháp lý của sản phẩm</a:t>
              </a:r>
            </a:p>
          </p:txBody>
        </p:sp>
        <p:sp>
          <p:nvSpPr>
            <p:cNvPr id="54" name="Ellipse 54"/>
            <p:cNvSpPr/>
            <p:nvPr/>
          </p:nvSpPr>
          <p:spPr>
            <a:xfrm>
              <a:off x="6096000" y="4591050"/>
              <a:ext cx="304800" cy="304800"/>
            </a:xfrm>
            <a:prstGeom prst="ellipse">
              <a:avLst/>
            </a:prstGeom>
            <a:solidFill>
              <a:schemeClr val="accent2"/>
            </a:solidFill>
            <a:ln>
              <a:noFill/>
            </a:ln>
          </p:spPr>
          <p:txBody>
            <a:bodyPr/>
            <a:p/>
          </p:txBody>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đã có tài liệu chưa; bước cuối tự rà chống bịa</a:t>
              </a:r>
            </a:p>
          </p:txBody>
        </p:sp>
        <p:sp>
          <p:nvSpPr>
            <p:cNvPr id="58" name="Ellipse 58"/>
            <p:cNvSpPr/>
            <p:nvPr/>
          </p:nvSpPr>
          <p:spPr>
            <a:xfrm>
              <a:off x="6096000" y="5181600"/>
              <a:ext cx="304800" cy="304800"/>
            </a:xfrm>
            <a:prstGeom prst="ellipse">
              <a:avLst/>
            </a:prstGeom>
            <a:solidFill>
              <a:srgbClr val="2E5E91"/>
            </a:solidFill>
            <a:ln>
              <a:noFill/>
            </a:ln>
          </p:spPr>
          <p:txBody>
            <a:bodyPr/>
            <a:p/>
          </p:txBody>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4 mục: Tóm tắt nhanh · Ý chính · Số liệu, hạn chót · Lưu ý</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32</a:t>
            </a:r>
          </a:p>
        </p:txBody>
      </p:sp>
      <p:sp>
        <p:nvSpPr>
          <p:cNvPr id="65" name="pack-note"/>
          <p:cNvSpPr txBox="1"/>
          <p:nvPr/>
        </p:nvSpPr>
        <p:spPr>
          <a:xfrm>
            <a:off x="381000" y="6172200"/>
            <a:ext cx="11430000" cy="247650"/>
          </a:xfrm>
          <a:prstGeom prst="rect">
            <a:avLst/>
          </a:prstGeom>
          <a:noFill/>
          <a:ln>
            <a:noFill/>
          </a:ln>
        </p:spPr>
        <p:txBody>
          <a:bodyPr wrap="none" lIns="0" tIns="0" rIns="0" bIns="0" anchor="t" anchorCtr="0">
            <a:spAutoFit/>
          </a:bodyPr>
          <a:lstStyle/>
          <a:p>
            <a:pPr algn="l"/>
            <a:r>
              <a:rPr lang="vi-VN" sz="1350" dirty="0">
                <a:solidFill>
                  <a:srgbClr val="1F2937"/>
                </a:solidFill>
                <a:latin typeface="+mn-lt"/>
                <a:ea typeface="+mn-ea"/>
                <a:cs typeface="+mn-cs"/>
              </a:rPr>
              <a:t>Câu đóng gói: </a:t>
            </a:r>
            <a:r>
              <a:rPr lang="vi-VN" sz="1350" dirty="0" i="1">
                <a:solidFill>
                  <a:srgbClr val="1F2937"/>
                </a:solidFill>
                <a:latin typeface="+mn-lt"/>
                <a:ea typeface="+mn-ea"/>
                <a:cs typeface="+mn-cs"/>
              </a:rPr>
              <a:t>“Kết quả ổn rồi. Hãy đóng gói cách làm vừa rồi thành một skill tên tom-tat-tai-lieu.”</a:t>
            </a:r>
            <a:r>
              <a:rPr lang="vi-VN" sz="1350" dirty="0">
                <a:solidFill>
                  <a:srgbClr val="1F2937"/>
                </a:solidFill>
                <a:latin typeface="+mn-lt"/>
                <a:ea typeface="+mn-ea"/>
                <a:cs typeface="+mn-cs"/>
              </a:rPr>
              <a:t> → ChatGPT tạo skill 1.0.0; mở ra soát đủ 6 phần.</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Skill ra sai thì sửa skill, không sửa tay kết quả;</a:t>
            </a:r>
            <a:br/>
            <a:r>
              <a:rPr lang="vi-VN" sz="3150" dirty="0" b="1">
                <a:solidFill>
                  <a:schemeClr val="accent1"/>
                </a:solidFill>
                <a:latin typeface="+mn-lt"/>
                <a:ea typeface="+mn-ea"/>
                <a:cs typeface="+mn-cs"/>
              </a:rPr>
              <a:t>sửa xong phải qua lại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VÒNG CẢI TIẾN · VÍ DỤ TRÊN SKILL TOM-TAT-TAI-LIEU</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txBody>
            <a:bodyPr/>
            <a:p/>
          </p:txBody>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txBody>
            <a:bodyPr/>
            <a:p/>
          </p:txBody>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txBody>
            <a:bodyPr/>
            <a:p/>
          </p:txBody>
        </p:sp>
        <p:sp>
          <p:nvSpPr>
            <p:cNvPr id="21" name="Ellipse 21"/>
            <p:cNvSpPr/>
            <p:nvPr/>
          </p:nvSpPr>
          <p:spPr>
            <a:xfrm>
              <a:off x="1676400" y="2343150"/>
              <a:ext cx="647700" cy="647700"/>
            </a:xfrm>
            <a:prstGeom prst="ellipse">
              <a:avLst/>
            </a:prstGeom>
            <a:solidFill>
              <a:srgbClr val="2E5E91"/>
            </a:solidFill>
            <a:ln>
              <a:noFill/>
            </a:ln>
          </p:spPr>
          <p:txBody>
            <a:bodyPr/>
            <a:p/>
          </p:txBody>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txBody>
            <a:bodyPr/>
            <a:p/>
          </p:txBody>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txBody>
            <a:bodyPr/>
            <a:p/>
          </p:txBody>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333750" y="2581275"/>
              <a:ext cx="2857500" cy="476250"/>
            </a:xfrm>
            <a:prstGeom prst="rect">
              <a:avLst/>
            </a:prstGeom>
            <a:noFill/>
            <a:ln>
              <a:noFill/>
            </a:ln>
          </p:spPr>
          <p:txBody>
            <a:bodyPr wrap="none" lIns="0" tIns="0" rIns="0" bIns="0" anchor="t" anchorCtr="0">
              <a:spAutoFit/>
            </a:bodyPr>
            <a:lstStyle/>
            <a:p>
              <a:pPr algn="l">
                <a:lnSpc>
                  <a:spcPts val="1950"/>
                </a:lnSpc>
              </a:pPr>
              <a:r>
                <a:rPr lang="vi-VN" sz="1350" dirty="0" b="1">
                  <a:solidFill>
                    <a:srgbClr val="2E5E91"/>
                  </a:solidFill>
                  <a:latin typeface="+mn-lt"/>
                  <a:ea typeface="+mn-ea"/>
                  <a:cs typeface="+mn-cs"/>
                </a:rPr>
                <a:t>Chạy</a:t>
              </a:r>
              <a:r>
                <a:rPr lang="vi-VN" sz="1350" dirty="0">
                  <a:solidFill>
                    <a:schemeClr val="dk1"/>
                  </a:solidFill>
                  <a:latin typeface="+mn-lt"/>
                  <a:ea typeface="+mn-ea"/>
                  <a:cs typeface="+mn-cs"/>
                </a:rPr>
                <a:t> trên 3 tài liệu khác loại:</a:t>
              </a:r>
              <a:br/>
              <a:r>
                <a:rPr lang="vi-VN" sz="1350" dirty="0">
                  <a:solidFill>
                    <a:schemeClr val="dk1"/>
                  </a:solidFill>
                  <a:latin typeface="+mn-lt"/>
                  <a:ea typeface="+mn-ea"/>
                  <a:cs typeface="+mn-cs"/>
                </a:rPr>
                <a:t>hồ sơ sản phẩm, biên bản họp, báo giá</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6470904" y="2137410"/>
              <a:ext cx="1287231" cy="234696"/>
            </a:xfrm>
            <a:prstGeom prst="rect">
              <a:avLst/>
            </a:prstGeom>
            <a:noFill/>
            <a:ln>
              <a:noFill/>
            </a:ln>
          </p:spPr>
          <p:txBody>
            <a:bodyPr wrap="none" lIns="0" tIns="0" rIns="0" bIns="0" anchor="t" anchorCtr="0">
              <a:spAutoFit/>
            </a:bodyPr>
            <a:lstStyle/>
            <a:p>
              <a:pPr algn="l"/>
              <a:r>
                <a:rPr lang="vi-VN" sz="1200" spc="75" dirty="0" b="1">
                  <a:solidFill>
                    <a:srgbClr val="5B6675"/>
                  </a:solidFill>
                  <a:latin typeface="+mn-lt"/>
                  <a:ea typeface="+mn-ea"/>
                  <a:cs typeface="+mn-cs"/>
                </a:rPr>
                <a:t>PHÉP THỬ PHIÊN MỚI · SAU MỖI LẦN SỬA</a:t>
              </a:r>
            </a:p>
          </p:txBody>
        </p:sp>
        <p:sp>
          <p:nvSpPr>
            <p:cNvPr id="44" name="Rectangle 44"/>
            <p:cNvSpPr/>
            <p:nvPr/>
          </p:nvSpPr>
          <p:spPr>
            <a:xfrm>
              <a:off x="6477000" y="2438400"/>
              <a:ext cx="5334000" cy="3238500"/>
            </a:xfrm>
            <a:prstGeom prst="roundRect">
              <a:avLst>
                <a:gd name="adj" fmla="val 5797"/>
              </a:avLst>
            </a:prstGeom>
            <a:solidFill>
              <a:schemeClr val="lt2"/>
            </a:solidFill>
            <a:ln>
              <a:noFill/>
            </a:ln>
          </p:spPr>
          <p:txBody>
            <a:bodyPr/>
            <a:p/>
          </p:txBody>
        </p:sp>
        <p:sp>
          <p:nvSpPr>
            <p:cNvPr id="45" name="Ellipse 45"/>
            <p:cNvSpPr/>
            <p:nvPr/>
          </p:nvSpPr>
          <p:spPr>
            <a:xfrm>
              <a:off x="6686550" y="2667000"/>
              <a:ext cx="266700" cy="266700"/>
            </a:xfrm>
            <a:prstGeom prst="ellipse">
              <a:avLst/>
            </a:prstGeom>
            <a:solidFill>
              <a:srgbClr val="2E5E91"/>
            </a:solidFill>
            <a:ln>
              <a:noFill/>
            </a:ln>
          </p:spPr>
          <p:txBody>
            <a:bodyPr/>
            <a:p/>
          </p:txBody>
        </p:sp>
        <p:sp>
          <p:nvSpPr>
            <p:cNvPr id="46" name="TextBox 46"/>
            <p:cNvSpPr txBox="1"/>
            <p:nvPr/>
          </p:nvSpPr>
          <p:spPr>
            <a:xfrm>
              <a:off x="67671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70599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chat mới, ngoài Project</a:t>
              </a:r>
            </a:p>
          </p:txBody>
        </p:sp>
        <p:sp>
          <p:nvSpPr>
            <p:cNvPr id="48" name="Ellipse 48"/>
            <p:cNvSpPr/>
            <p:nvPr/>
          </p:nvSpPr>
          <p:spPr>
            <a:xfrm>
              <a:off x="6686550" y="3200400"/>
              <a:ext cx="266700" cy="266700"/>
            </a:xfrm>
            <a:prstGeom prst="ellipse">
              <a:avLst/>
            </a:prstGeom>
            <a:solidFill>
              <a:srgbClr val="2E5E91"/>
            </a:solidFill>
            <a:ln>
              <a:noFill/>
            </a:ln>
          </p:spPr>
          <p:txBody>
            <a:bodyPr/>
            <a:p/>
          </p:txBody>
        </p:sp>
        <p:sp>
          <p:nvSpPr>
            <p:cNvPr id="49" name="TextBox 49"/>
            <p:cNvSpPr txBox="1"/>
            <p:nvPr/>
          </p:nvSpPr>
          <p:spPr>
            <a:xfrm>
              <a:off x="6767158" y="3261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7059930" y="32385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Tải tài liệu chưa từng dùng, ví dụ Hồ sơ Elasten</a:t>
              </a:r>
            </a:p>
          </p:txBody>
        </p:sp>
        <p:sp>
          <p:nvSpPr>
            <p:cNvPr id="51" name="Ellipse 51"/>
            <p:cNvSpPr/>
            <p:nvPr/>
          </p:nvSpPr>
          <p:spPr>
            <a:xfrm>
              <a:off x="6686550" y="3733800"/>
              <a:ext cx="266700" cy="266700"/>
            </a:xfrm>
            <a:prstGeom prst="ellipse">
              <a:avLst/>
            </a:prstGeom>
            <a:solidFill>
              <a:srgbClr val="2E5E91"/>
            </a:solidFill>
            <a:ln>
              <a:noFill/>
            </a:ln>
          </p:spPr>
          <p:txBody>
            <a:bodyPr/>
            <a:p/>
          </p:txBody>
        </p:sp>
        <p:sp>
          <p:nvSpPr>
            <p:cNvPr id="52" name="TextBox 52"/>
            <p:cNvSpPr txBox="1"/>
            <p:nvPr/>
          </p:nvSpPr>
          <p:spPr>
            <a:xfrm>
              <a:off x="6767158" y="37947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7059930" y="37719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Chỉ gõ </a:t>
              </a:r>
              <a:r>
                <a:rPr lang="vi-VN" sz="1500" dirty="0" i="1">
                  <a:solidFill>
                    <a:schemeClr val="dk1"/>
                  </a:solidFill>
                  <a:latin typeface="+mn-lt"/>
                  <a:ea typeface="+mn-ea"/>
                  <a:cs typeface="+mn-cs"/>
                </a:rPr>
                <a:t>“Tóm tắt tài liệu này”</a:t>
              </a:r>
              <a:r>
                <a:rPr lang="vi-VN" sz="1500" dirty="0">
                  <a:solidFill>
                    <a:schemeClr val="dk1"/>
                  </a:solidFill>
                  <a:latin typeface="+mn-lt"/>
                  <a:ea typeface="+mn-ea"/>
                  <a:cs typeface="+mn-cs"/>
                </a:rPr>
                <a:t>, không gọi tên skill</a:t>
              </a:r>
            </a:p>
          </p:txBody>
        </p:sp>
        <p:sp>
          <p:nvSpPr>
            <p:cNvPr id="54" name="Line 54"/>
            <p:cNvSpPr/>
            <p:nvPr/>
          </p:nvSpPr>
          <p:spPr>
            <a:xfrm>
              <a:off x="6705600" y="4305300"/>
              <a:ext cx="4876800" cy="9525"/>
            </a:xfrm>
            <a:custGeom>
              <a:avLst/>
              <a:gdLst/>
              <a:ahLst/>
              <a:cxnLst/>
              <a:rect l="l" t="t" r="r" b="b"/>
              <a:pathLst>
                <a:path w="3162300" h="9525">
                  <a:moveTo>
                    <a:pt x="0" y="0"/>
                  </a:moveTo>
                  <a:lnTo>
                    <a:pt x="3162300" y="0"/>
                  </a:lnTo>
                </a:path>
              </a:pathLst>
            </a:custGeom>
            <a:noFill/>
            <a:ln w="9525">
              <a:solidFill>
                <a:schemeClr val="accent4"/>
              </a:solidFill>
            </a:ln>
          </p:spPr>
          <p:txBody>
            <a:bodyPr/>
            <a:p/>
          </p:txBody>
        </p:sp>
        <p:grpSp>
          <p:nvGrpSpPr>
            <p:cNvPr id="57" name="Group 57"/>
            <p:cNvGrpSpPr/>
            <p:nvPr/>
          </p:nvGrpSpPr>
          <p:grpSpPr>
            <a:xfrm>
              <a:off x="6736556" y="456485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58" name="TextBox 58"/>
            <p:cNvSpPr txBox="1"/>
            <p:nvPr/>
          </p:nvSpPr>
          <p:spPr>
            <a:xfrm>
              <a:off x="7059930" y="4562475"/>
              <a:ext cx="2695575" cy="560070"/>
            </a:xfrm>
            <a:prstGeom prst="rect">
              <a:avLst/>
            </a:prstGeom>
            <a:noFill/>
            <a:ln>
              <a:noFill/>
            </a:ln>
          </p:spPr>
          <p:txBody>
            <a:bodyPr wrap="none" lIns="0" tIns="0" rIns="0" bIns="0" anchor="t" anchorCtr="0">
              <a:spAutoFit/>
            </a:bodyPr>
            <a:lstStyle/>
            <a:p>
              <a:pPr algn="l">
                <a:lnSpc>
                  <a:spcPts val="2100"/>
                </a:lnSpc>
              </a:pPr>
              <a:r>
                <a:rPr lang="vi-VN" sz="1500" dirty="0" b="1">
                  <a:solidFill>
                    <a:srgbClr val="2E8B57"/>
                  </a:solidFill>
                  <a:latin typeface="+mn-lt"/>
                  <a:ea typeface="+mn-ea"/>
                  <a:cs typeface="+mn-cs"/>
                </a:rPr>
                <a:t>Skill tự chạy, bản tóm tắt đủ 4 mục,</a:t>
              </a:r>
              <a:br/>
              <a:r>
                <a:rPr lang="vi-VN" sz="1500" dirty="0" b="1">
                  <a:solidFill>
                    <a:srgbClr val="2E8B57"/>
                  </a:solidFill>
                  <a:latin typeface="+mn-lt"/>
                  <a:ea typeface="+mn-ea"/>
                  <a:cs typeface="+mn-cs"/>
                </a:rPr>
                <a:t>giá Elasten ghi “Tài liệu không đề cập” →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32</a:t>
            </a:r>
          </a:p>
        </p:txBody>
      </p:sp>
      <p:sp>
        <p:nvSpPr>
          <p:cNvPr id="62" name="loop-soi"/>
          <p:cNvSpPr txBox="1"/>
          <p:nvPr/>
        </p:nvSpPr>
        <p:spPr>
          <a:xfrm>
            <a:off x="3333750" y="3324225"/>
            <a:ext cx="2857500" cy="476250"/>
          </a:xfrm>
          <a:prstGeom prst="rect">
            <a:avLst/>
          </a:prstGeom>
          <a:noFill/>
          <a:ln>
            <a:noFill/>
          </a:ln>
        </p:spPr>
        <p:txBody>
          <a:bodyPr wrap="none" lIns="0" tIns="0" rIns="0" bIns="0" anchor="t" anchorCtr="0">
            <a:spAutoFit/>
          </a:bodyPr>
          <a:lstStyle/>
          <a:p>
            <a:pPr algn="l">
              <a:lnSpc>
                <a:spcPts val="1950"/>
              </a:lnSpc>
            </a:pPr>
            <a:r>
              <a:rPr lang="vi-VN" sz="1350" dirty="0" b="1">
                <a:solidFill>
                  <a:srgbClr val="2E5E91"/>
                </a:solidFill>
                <a:latin typeface="+mn-lt"/>
                <a:ea typeface="+mn-ea"/>
                <a:cs typeface="+mn-cs"/>
              </a:rPr>
              <a:t>Soi</a:t>
            </a:r>
            <a:r>
              <a:rPr lang="vi-VN" sz="1350" dirty="0">
                <a:solidFill>
                  <a:srgbClr val="2E5E91"/>
                </a:solidFill>
                <a:latin typeface="+mn-lt"/>
                <a:ea typeface="+mn-ea"/>
                <a:cs typeface="+mn-cs"/>
              </a:rPr>
              <a:t> chỗ phải sửa tay, ví dụ:</a:t>
            </a:r>
            <a:br/>
            <a:r>
              <a:rPr lang="vi-VN" sz="1350" dirty="0">
                <a:solidFill>
                  <a:srgbClr val="2E5E91"/>
                </a:solidFill>
                <a:latin typeface="+mn-lt"/>
                <a:ea typeface="+mn-ea"/>
                <a:cs typeface="+mn-cs"/>
              </a:rPr>
              <a:t>bỏ sót hạn chót nằm trong bảng</a:t>
            </a:r>
          </a:p>
        </p:txBody>
      </p:sp>
      <p:sp>
        <p:nvSpPr>
          <p:cNvPr id="63" name="loop-sua"/>
          <p:cNvSpPr txBox="1"/>
          <p:nvPr/>
        </p:nvSpPr>
        <p:spPr>
          <a:xfrm>
            <a:off x="3333750" y="4067175"/>
            <a:ext cx="2857500" cy="704850"/>
          </a:xfrm>
          <a:prstGeom prst="rect">
            <a:avLst/>
          </a:prstGeom>
          <a:noFill/>
          <a:ln>
            <a:noFill/>
          </a:ln>
        </p:spPr>
        <p:txBody>
          <a:bodyPr wrap="none" lIns="0" tIns="0" rIns="0" bIns="0" anchor="t" anchorCtr="0">
            <a:spAutoFit/>
          </a:bodyPr>
          <a:lstStyle/>
          <a:p>
            <a:pPr algn="l">
              <a:lnSpc>
                <a:spcPts val="1950"/>
              </a:lnSpc>
            </a:pPr>
            <a:r>
              <a:rPr lang="vi-VN" sz="1350" dirty="0" b="1">
                <a:solidFill>
                  <a:srgbClr val="E8833A"/>
                </a:solidFill>
                <a:latin typeface="+mn-lt"/>
                <a:ea typeface="+mn-ea"/>
                <a:cs typeface="+mn-cs"/>
              </a:rPr>
              <a:t>Sửa</a:t>
            </a:r>
            <a:r>
              <a:rPr lang="vi-VN" sz="1350" dirty="0">
                <a:solidFill>
                  <a:srgbClr val="2E5E91"/>
                </a:solidFill>
                <a:latin typeface="+mn-lt"/>
                <a:ea typeface="+mn-ea"/>
                <a:cs typeface="+mn-cs"/>
              </a:rPr>
              <a:t> vào skill, không sửa tay kết quả:</a:t>
            </a:r>
            <a:br/>
            <a:r>
              <a:rPr lang="vi-VN" sz="1350" dirty="0">
                <a:solidFill>
                  <a:srgbClr val="2E5E91"/>
                </a:solidFill>
                <a:latin typeface="+mn-lt"/>
                <a:ea typeface="+mn-ea"/>
                <a:cs typeface="+mn-cs"/>
              </a:rPr>
              <a:t>“Số liệu: bóc cả hạn chót trong bảng”</a:t>
            </a:r>
            <a:br/>
            <a:r>
              <a:rPr lang="vi-VN" sz="1350" dirty="0">
                <a:solidFill>
                  <a:srgbClr val="5B6675"/>
                </a:solidFill>
                <a:latin typeface="+mn-lt"/>
                <a:ea typeface="+mn-ea"/>
                <a:cs typeface="+mn-cs"/>
              </a:rPr>
              <a:t>ghi “Sửa lần 1”, rồi chạy lại 3 tài liệu</a:t>
            </a:r>
          </a:p>
        </p:txBody>
      </p:sp>
      <p:sp>
        <p:nvSpPr>
          <p:cNvPr id="64" name="loop-warn-rect"/>
          <p:cNvSpPr/>
          <p:nvPr/>
        </p:nvSpPr>
        <p:spPr>
          <a:xfrm>
            <a:off x="381000" y="5105400"/>
            <a:ext cx="5524500" cy="571500"/>
          </a:xfrm>
          <a:prstGeom prst="roundRect">
            <a:avLst>
              <a:gd name="adj" fmla="val 16667"/>
            </a:avLst>
          </a:prstGeom>
          <a:solidFill>
            <a:srgbClr val="FCEBDD"/>
          </a:solidFill>
          <a:ln>
            <a:noFill/>
          </a:ln>
        </p:spPr>
        <p:txBody>
          <a:bodyPr/>
          <a:p/>
        </p:txBody>
      </p:sp>
      <p:sp>
        <p:nvSpPr>
          <p:cNvPr id="65" name="loop-warn-text"/>
          <p:cNvSpPr txBox="1"/>
          <p:nvPr/>
        </p:nvSpPr>
        <p:spPr>
          <a:xfrm>
            <a:off x="609600" y="5200650"/>
            <a:ext cx="5143500" cy="438150"/>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Sửa tay kết quả thì lần sau skill lại sai y như cũ,</a:t>
            </a:r>
            <a:br/>
            <a:r>
              <a:rPr lang="vi-VN" sz="1350" dirty="0">
                <a:solidFill>
                  <a:schemeClr val="dk1"/>
                </a:solidFill>
                <a:latin typeface="+mn-lt"/>
                <a:ea typeface="+mn-ea"/>
                <a:cs typeface="+mn-cs"/>
              </a:rPr>
              <a:t>và đồng nghiệp dùng skill cũng nhận cái sai đó.</a:t>
            </a:r>
          </a:p>
        </p:txBody>
      </p:sp>
      <p:sp>
        <p:nvSpPr>
          <p:cNvPr id="66" name="loop-result"/>
          <p:cNvSpPr txBox="1"/>
          <p:nvPr/>
        </p:nvSpPr>
        <p:spPr>
          <a:xfrm>
            <a:off x="7058025" y="5267325"/>
            <a:ext cx="4572000" cy="228600"/>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Kết quả thật 09/10/2026: đạt, skill tự được gọi ở chat mới</a:t>
            </a:r>
          </a:p>
        </p:txBody>
      </p:sp>
      <p:sp>
        <p:nvSpPr>
          <p:cNvPr id="67" name="source-note"/>
          <p:cNvSpPr txBox="1"/>
          <p:nvPr/>
        </p:nvSpPr>
        <p:spPr>
          <a:xfrm>
            <a:off x="8286750" y="6553200"/>
            <a:ext cx="2857500" cy="209550"/>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Data demo Mục 4, bước 3 và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chemeClr val="accent2"/>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txBody>
            <a:bodyPr/>
            <a:p/>
          </p:txBody>
        </p:sp>
        <p:sp>
          <p:nvSpPr>
            <p:cNvPr id="18" name="Ellipse 18"/>
            <p:cNvSpPr/>
            <p:nvPr/>
          </p:nvSpPr>
          <p:spPr>
            <a:xfrm>
              <a:off x="523875" y="2219325"/>
              <a:ext cx="285750" cy="285750"/>
            </a:xfrm>
            <a:prstGeom prst="ellipse">
              <a:avLst/>
            </a:prstGeom>
            <a:solidFill>
              <a:srgbClr val="2E5E91"/>
            </a:solidFill>
            <a:ln>
              <a:noFill/>
            </a:ln>
          </p:spPr>
          <p:txBody>
            <a:bodyPr/>
            <a:p/>
          </p:txBody>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txBody>
            <a:bodyPr/>
            <a:p/>
          </p:txBody>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Làm tay 5 lượt trên Dữ liệu sản phẩm Wir, thử trên Hồ sơ Elasten</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dirty="0" b="1">
                  <a:solidFill>
                    <a:srgbClr val="2E8B57"/>
                  </a:solidFill>
                  <a:latin typeface="+mn-lt"/>
                  <a:ea typeface="+mn-ea"/>
                  <a:cs typeface="+mn-cs"/>
                </a:rPr>
                <a:t>Đạt khi:</a:t>
              </a:r>
              <a:r>
                <a:rPr lang="vi-VN" sz="1350" dirty="0">
                  <a:solidFill>
                    <a:srgbClr val="2E8B57"/>
                  </a:solidFill>
                  <a:latin typeface="+mn-lt"/>
                  <a:ea typeface="+mn-ea"/>
                  <a:cs typeface="+mn-cs"/>
                </a:rPr>
                <a:t> tự chạy ở chat mới, đủ 4 mục, +28% · +20% · −24% đúng file</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txBody>
            <a:bodyPr/>
            <a:p/>
          </p:txBody>
        </p:sp>
        <p:sp>
          <p:nvSpPr>
            <p:cNvPr id="27" name="Ellipse 27"/>
            <p:cNvSpPr/>
            <p:nvPr/>
          </p:nvSpPr>
          <p:spPr>
            <a:xfrm>
              <a:off x="523875" y="3362325"/>
              <a:ext cx="285750" cy="285750"/>
            </a:xfrm>
            <a:prstGeom prst="ellipse">
              <a:avLst/>
            </a:prstGeom>
            <a:solidFill>
              <a:srgbClr val="2E5E91"/>
            </a:solidFill>
            <a:ln>
              <a:noFill/>
            </a:ln>
          </p:spPr>
          <p:txBody>
            <a:bodyPr/>
            <a:p/>
          </p:txBody>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txBody>
            <a:bodyPr/>
            <a:p/>
          </p:txBody>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txBody>
            <a:bodyPr/>
            <a:p/>
          </p:txBody>
        </p:sp>
        <p:sp>
          <p:nvSpPr>
            <p:cNvPr id="35" name="Ellipse 35"/>
            <p:cNvSpPr/>
            <p:nvPr/>
          </p:nvSpPr>
          <p:spPr>
            <a:xfrm>
              <a:off x="523875" y="4238625"/>
              <a:ext cx="285750" cy="285750"/>
            </a:xfrm>
            <a:prstGeom prst="ellipse">
              <a:avLst/>
            </a:prstGeom>
            <a:solidFill>
              <a:srgbClr val="2E5E91"/>
            </a:solidFill>
            <a:ln>
              <a:noFill/>
            </a:ln>
          </p:spPr>
          <p:txBody>
            <a:bodyPr/>
            <a:p/>
          </p:txBody>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txBody>
            <a:bodyPr/>
            <a:p/>
          </p:txBody>
        </p:sp>
        <p:sp>
          <p:nvSpPr>
            <p:cNvPr id="41" name="Ellipse 41"/>
            <p:cNvSpPr/>
            <p:nvPr/>
          </p:nvSpPr>
          <p:spPr>
            <a:xfrm>
              <a:off x="523875" y="5114925"/>
              <a:ext cx="285750" cy="285750"/>
            </a:xfrm>
            <a:prstGeom prst="ellipse">
              <a:avLst/>
            </a:prstGeom>
            <a:solidFill>
              <a:srgbClr val="2E5E91"/>
            </a:solidFill>
            <a:ln>
              <a:noFill/>
            </a:ln>
          </p:spPr>
          <p:txBody>
            <a:bodyPr/>
            <a:p/>
          </p:txBody>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txBody>
            <a:bodyPr/>
            <a:p/>
          </p:txBody>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8667750" y="6554152"/>
            <a:ext cx="24765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Elasten: hồ sơ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32</a:t>
            </a:r>
          </a:p>
        </p:txBody>
      </p:sp>
      <p:sp>
        <p:nvSpPr>
          <p:cNvPr id="6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4</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txBody>
            <a:bodyPr/>
            <a:p/>
          </p:txBody>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txBody>
              <a:bodyPr/>
              <a:p/>
            </p:txBody>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txBody>
              <a:bodyPr/>
              <a:p/>
            </p:txBody>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txBody>
              <a:bodyPr/>
              <a:p/>
            </p:txBody>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txBody>
              <a:bodyPr/>
              <a:p/>
            </p:txBody>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txBody>
              <a:bodyPr/>
              <a:p/>
            </p:txBody>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txBody>
              <a:bodyPr/>
              <a:p/>
            </p:txBody>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txBody>
            <a:bodyPr/>
            <a:p/>
          </p:txBody>
        </p:sp>
        <p:sp>
          <p:nvSpPr>
            <p:cNvPr id="15" name="Rectangle 15"/>
            <p:cNvSpPr/>
            <p:nvPr/>
          </p:nvSpPr>
          <p:spPr>
            <a:xfrm>
              <a:off x="7010400" y="304800"/>
              <a:ext cx="1143000" cy="114300"/>
            </a:xfrm>
            <a:prstGeom prst="roundRect">
              <a:avLst>
                <a:gd name="adj" fmla="val 25000"/>
              </a:avLst>
            </a:prstGeom>
            <a:solidFill>
              <a:srgbClr val="E3E9F1"/>
            </a:solidFill>
            <a:ln>
              <a:noFill/>
            </a:ln>
          </p:spPr>
          <p:txBody>
            <a:bodyPr/>
            <a:p/>
          </p:txBody>
        </p:sp>
        <p:sp>
          <p:nvSpPr>
            <p:cNvPr id="16" name="Rectangle 16"/>
            <p:cNvSpPr/>
            <p:nvPr/>
          </p:nvSpPr>
          <p:spPr>
            <a:xfrm>
              <a:off x="8229600" y="266700"/>
              <a:ext cx="1143000" cy="152400"/>
            </a:xfrm>
            <a:prstGeom prst="roundRect">
              <a:avLst>
                <a:gd name="adj" fmla="val 18750"/>
              </a:avLst>
            </a:prstGeom>
            <a:solidFill>
              <a:srgbClr val="E3E9F1"/>
            </a:solidFill>
            <a:ln>
              <a:noFill/>
            </a:ln>
          </p:spPr>
          <p:txBody>
            <a:bodyPr/>
            <a:p/>
          </p:txBody>
        </p:sp>
        <p:sp>
          <p:nvSpPr>
            <p:cNvPr id="17" name="Rectangle 17"/>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18" name="Rectangle 18"/>
            <p:cNvSpPr/>
            <p:nvPr/>
          </p:nvSpPr>
          <p:spPr>
            <a:xfrm>
              <a:off x="10668000" y="190500"/>
              <a:ext cx="1143000" cy="228600"/>
            </a:xfrm>
            <a:prstGeom prst="roundRect">
              <a:avLst>
                <a:gd name="adj" fmla="val 12500"/>
              </a:avLst>
            </a:prstGeom>
            <a:solidFill>
              <a:srgbClr val="E3E9F1"/>
            </a:solidFill>
            <a:ln>
              <a:noFill/>
            </a:ln>
          </p:spPr>
          <p:txBody>
            <a:bodyPr/>
            <a:p/>
          </p:txBody>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txBody>
            <a:bodyPr/>
            <a:p/>
          </p:txBody>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txBody>
              <a:bodyPr/>
              <a:p/>
            </p:txBody>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txBody>
              <a:bodyPr/>
              <a:p/>
            </p:txBody>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txBody>
            <a:bodyPr/>
            <a:p/>
          </p:txBody>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txBody>
            <a:bodyPr/>
            <a:p/>
          </p:txBody>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txBody>
            <a:bodyPr/>
            <a:p/>
          </p:txBody>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txBody>
            <a:bodyPr/>
            <a:p/>
          </p:txBody>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txBody>
            <a:bodyPr/>
            <a:p/>
          </p:txBody>
        </p:sp>
        <p:sp>
          <p:nvSpPr>
            <p:cNvPr id="18" name="Ellipse 18"/>
            <p:cNvSpPr/>
            <p:nvPr/>
          </p:nvSpPr>
          <p:spPr>
            <a:xfrm>
              <a:off x="647700" y="2381250"/>
              <a:ext cx="533400" cy="533400"/>
            </a:xfrm>
            <a:prstGeom prst="ellipse">
              <a:avLst/>
            </a:prstGeom>
            <a:solidFill>
              <a:schemeClr val="lt2"/>
            </a:solidFill>
            <a:ln>
              <a:noFill/>
            </a:ln>
          </p:spPr>
          <p:txBody>
            <a:bodyPr/>
            <a:p/>
          </p:txBody>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txBody>
              <a:bodyPr/>
              <a:p/>
            </p:txBody>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txBody>
              <a:bodyPr/>
              <a:p/>
            </p:txBody>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txBody>
              <a:bodyPr/>
              <a:p/>
            </p:txBody>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txBody>
              <a:bodyPr/>
              <a:p/>
            </p:txBody>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txBody>
              <a:bodyPr/>
              <a:p/>
            </p:txBody>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txBody>
              <a:bodyPr/>
              <a:p/>
            </p:txBody>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txBody>
            <a:bodyPr/>
            <a:p/>
          </p:txBody>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txBody>
            <a:bodyPr/>
            <a:p/>
          </p:txBody>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txBody>
            <a:bodyPr/>
            <a:p/>
          </p:txBody>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txBody>
            <a:bodyPr/>
            <a:p/>
          </p:txBody>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txBody>
            <a:bodyPr/>
            <a:p/>
          </p:txBody>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txBody>
            <a:bodyPr/>
            <a:p/>
          </p:txBody>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txBody>
            <a:bodyPr/>
            <a:p/>
          </p:txBody>
        </p:sp>
        <p:sp>
          <p:nvSpPr>
            <p:cNvPr id="42" name="Ellipse 42"/>
            <p:cNvSpPr/>
            <p:nvPr/>
          </p:nvSpPr>
          <p:spPr>
            <a:xfrm>
              <a:off x="6553200" y="2381250"/>
              <a:ext cx="533400" cy="533400"/>
            </a:xfrm>
            <a:prstGeom prst="ellipse">
              <a:avLst/>
            </a:prstGeom>
            <a:solidFill>
              <a:schemeClr val="lt2"/>
            </a:solidFill>
            <a:ln>
              <a:noFill/>
            </a:ln>
          </p:spPr>
          <p:txBody>
            <a:bodyPr/>
            <a:p/>
          </p:txBody>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txBody>
              <a:bodyPr/>
              <a:p/>
            </p:txBody>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txBody>
              <a:bodyPr/>
              <a:p/>
            </p:txBody>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txBody>
              <a:bodyPr/>
              <a:p/>
            </p:txBody>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txBody>
              <a:bodyPr/>
              <a:p/>
            </p:txBody>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txBody>
              <a:bodyPr/>
              <a:p/>
            </p:txBody>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txBody>
            <a:bodyPr/>
            <a:p/>
          </p:txBody>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txBody>
            <a:bodyPr/>
            <a:p/>
          </p:txBody>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txBody>
            <a:bodyPr/>
            <a:p/>
          </p:txBody>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txBody>
              <a:bodyPr/>
              <a:p/>
            </p:txBody>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txBody>
              <a:bodyPr/>
              <a:p/>
            </p:txBody>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txBody>
            <a:bodyPr/>
            <a:p/>
          </p:txBody>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txBody>
              <a:bodyPr/>
              <a:p/>
            </p:txBody>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txBody>
              <a:bodyPr/>
              <a:p/>
            </p:txBody>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txBody>
            <a:bodyPr/>
            <a:p/>
          </p:txBody>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txBody>
              <a:bodyPr/>
              <a:p/>
            </p:txBody>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txBody>
              <a:bodyPr/>
              <a:p/>
            </p:txBody>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txBody>
            <a:bodyPr/>
            <a:p/>
          </p:txBody>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txBody>
              <a:bodyPr/>
              <a:p/>
            </p:txBody>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txBody>
              <a:bodyPr/>
              <a:p/>
            </p:txBody>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TÊN PLUGIN →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txBody>
            <a:bodyPr/>
            <a:p/>
          </p:txBody>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txBody>
            <a:bodyPr/>
            <a:p/>
          </p:txBody>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txBody>
            <a:bodyPr/>
            <a:p/>
          </p:txBody>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txBody>
            <a:bodyPr/>
            <a:p/>
          </p:txBody>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strike="sngStrike">
                  <a:solidFill>
                    <a:srgbClr val="C0392B"/>
                  </a:solidFill>
                  <a:latin typeface="+mn-lt"/>
                  <a:ea typeface="+mn-ea"/>
                  <a:cs typeface="+mn-cs"/>
                </a:rPr>
                <a:t>Allow all tools</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Làm hết, không hỏi; ChatGPT</a:t>
              </a:r>
              <a:br/>
              <a:r>
                <a:rPr lang="vi-VN" sz="1350" dirty="0">
                  <a:solidFill>
                    <a:schemeClr val="dk1"/>
                  </a:solidFill>
                  <a:latin typeface="+mn-lt"/>
                  <a:ea typeface="+mn-ea"/>
                  <a:cs typeface="+mn-cs"/>
                </a:rPr>
                <a:t>gắn nhãn rủi ro cao. Không dùng</a:t>
              </a:r>
              <a:br/>
              <a:r>
                <a:rPr lang="vi-VN" sz="1350" dirty="0">
                  <a:solidFill>
                    <a:schemeClr val="dk1"/>
                  </a:solidFill>
                  <a:latin typeface="+mn-lt"/>
                  <a:ea typeface="+mn-ea"/>
                  <a:cs typeface="+mn-cs"/>
                </a:rPr>
                <a:t>cho Gmail, kênh gửi ra ngoài</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txBody>
              <a:bodyPr/>
              <a:p/>
            </p:txBody>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txBody>
              <a:bodyPr/>
              <a:p/>
            </p:txBody>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txBody>
              <a:bodyPr/>
              <a:p/>
            </p:txBody>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txBody>
              <a:bodyPr/>
              <a:p/>
            </p:txBody>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dirty="0" b="1">
                <a:solidFill>
                  <a:schemeClr val="accent1"/>
                </a:solidFill>
                <a:latin typeface="+mn-lt"/>
                <a:ea typeface="+mn-ea"/>
                <a:cs typeface="+mn-cs"/>
              </a:rPr>
              <a:t>Nối tài khoản cá nhân và đọc hết danh sách quyền</a:t>
            </a:r>
            <a:br/>
            <a:r>
              <a:rPr lang="vi-VN" sz="3150" dirty="0" b="1">
                <a:solidFill>
                  <a:schemeClr val="accent1"/>
                </a:solidFill>
                <a:latin typeface="+mn-lt"/>
                <a:ea typeface="+mn-ea"/>
                <a:cs typeface="+mn-cs"/>
              </a:rPr>
              <a:t>trước khi bấm đồng ý</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txBody>
            <a:bodyPr/>
            <a:p/>
          </p:txBody>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txBody>
            <a:bodyPr/>
            <a:p/>
          </p:txBody>
        </p:sp>
        <p:sp>
          <p:nvSpPr>
            <p:cNvPr id="20" name="Rectangle 20"/>
            <p:cNvSpPr/>
            <p:nvPr/>
          </p:nvSpPr>
          <p:spPr>
            <a:xfrm>
              <a:off x="723900" y="2114550"/>
              <a:ext cx="1600200" cy="285750"/>
            </a:xfrm>
            <a:prstGeom prst="rect">
              <a:avLst/>
            </a:prstGeom>
            <a:solidFill>
              <a:schemeClr val="lt1"/>
            </a:solidFill>
            <a:ln>
              <a:noFill/>
            </a:ln>
          </p:spPr>
          <p:txBody>
            <a:bodyPr/>
            <a:p/>
          </p:txBody>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5524500" cy="2667000"/>
            </a:xfrm>
            <a:prstGeom prst="roundRect">
              <a:avLst>
                <a:gd name="adj" fmla="val 4571"/>
              </a:avLst>
            </a:prstGeom>
            <a:solidFill>
              <a:schemeClr val="lt2"/>
            </a:solidFill>
            <a:ln>
              <a:noFill/>
            </a:ln>
          </p:spPr>
          <p:txBody>
            <a:bodyPr/>
            <a:p/>
          </p:txBody>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txBody>
            <a:bodyPr/>
            <a:p/>
          </p:txBody>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 trên trình duyệt</a:t>
              </a:r>
            </a:p>
          </p:txBody>
        </p:sp>
        <p:sp>
          <p:nvSpPr>
            <p:cNvPr id="30" name="Rectangle 30"/>
            <p:cNvSpPr/>
            <p:nvPr/>
          </p:nvSpPr>
          <p:spPr>
            <a:xfrm>
              <a:off x="609600" y="3295650"/>
              <a:ext cx="190500" cy="190500"/>
            </a:xfrm>
            <a:prstGeom prst="roundRect">
              <a:avLst>
                <a:gd name="adj" fmla="val 25000"/>
              </a:avLst>
            </a:prstGeom>
            <a:solidFill>
              <a:schemeClr val="lt1"/>
            </a:solidFill>
            <a:ln w="19050">
              <a:solidFill>
                <a:schemeClr val="accent1"/>
              </a:solidFill>
            </a:ln>
          </p:spPr>
          <p:txBody>
            <a:bodyPr/>
            <a:p/>
          </p:txBody>
        </p:sp>
        <p:sp>
          <p:nvSpPr>
            <p:cNvPr id="31" name="TextBox 31"/>
            <p:cNvSpPr txBox="1"/>
            <p:nvPr/>
          </p:nvSpPr>
          <p:spPr>
            <a:xfrm>
              <a:off x="944880" y="32956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 kiểm tra kỹ</a:t>
              </a:r>
              <a:br/>
              <a:r>
                <a:rPr lang="vi-VN" sz="1500" dirty="0">
                  <a:solidFill>
                    <a:schemeClr val="dk1"/>
                  </a:solidFill>
                  <a:latin typeface="+mn-lt"/>
                  <a:ea typeface="+mn-ea"/>
                  <a:cs typeface="+mn-cs"/>
                </a:rPr>
                <a:t>tài khoản nào đang được chọn</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6343650" y="2162175"/>
              <a:ext cx="190500" cy="190500"/>
            </a:xfrm>
            <a:prstGeom prst="ellipse">
              <a:avLst/>
            </a:prstGeom>
            <a:solidFill>
              <a:schemeClr val="accent1"/>
            </a:solidFill>
            <a:ln>
              <a:noFill/>
            </a:ln>
          </p:spPr>
          <p:txBody>
            <a:bodyPr/>
            <a:p/>
          </p:txBody>
        </p:sp>
        <p:sp>
          <p:nvSpPr>
            <p:cNvPr id="34" name="Rectangle 34"/>
            <p:cNvSpPr/>
            <p:nvPr/>
          </p:nvSpPr>
          <p:spPr>
            <a:xfrm>
              <a:off x="6629400" y="2114550"/>
              <a:ext cx="1676400" cy="285750"/>
            </a:xfrm>
            <a:prstGeom prst="rect">
              <a:avLst/>
            </a:prstGeom>
            <a:solidFill>
              <a:schemeClr val="lt1"/>
            </a:solidFill>
            <a:ln>
              <a:noFill/>
            </a:ln>
          </p:spPr>
          <p:txBody>
            <a:bodyPr/>
            <a:p/>
          </p:txBody>
        </p:sp>
        <p:sp>
          <p:nvSpPr>
            <p:cNvPr id="35" name="TextBox 35"/>
            <p:cNvSpPr txBox="1"/>
            <p:nvPr/>
          </p:nvSpPr>
          <p:spPr>
            <a:xfrm>
              <a:off x="66583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6286500" y="2552700"/>
              <a:ext cx="5524500" cy="2667000"/>
            </a:xfrm>
            <a:prstGeom prst="roundRect">
              <a:avLst>
                <a:gd name="adj" fmla="val 4571"/>
              </a:avLst>
            </a:prstGeom>
            <a:solidFill>
              <a:schemeClr val="lt2"/>
            </a:solidFill>
            <a:ln>
              <a:noFill/>
            </a:ln>
          </p:spPr>
          <p:txBody>
            <a:bodyPr/>
            <a:p/>
          </p:txBody>
        </p:sp>
        <p:sp>
          <p:nvSpPr>
            <p:cNvPr id="37" name="Rectangle 37"/>
            <p:cNvSpPr/>
            <p:nvPr/>
          </p:nvSpPr>
          <p:spPr>
            <a:xfrm>
              <a:off x="6515100" y="2800350"/>
              <a:ext cx="190500" cy="190500"/>
            </a:xfrm>
            <a:prstGeom prst="roundRect">
              <a:avLst>
                <a:gd name="adj" fmla="val 25000"/>
              </a:avLst>
            </a:prstGeom>
            <a:solidFill>
              <a:schemeClr val="lt1"/>
            </a:solidFill>
            <a:ln w="19050">
              <a:solidFill>
                <a:schemeClr val="accent1"/>
              </a:solidFill>
            </a:ln>
          </p:spPr>
          <p:txBody>
            <a:bodyPr/>
            <a:p/>
          </p:txBody>
        </p:sp>
        <p:sp>
          <p:nvSpPr>
            <p:cNvPr id="38" name="TextBox 38"/>
            <p:cNvSpPr txBox="1"/>
            <p:nvPr/>
          </p:nvSpPr>
          <p:spPr>
            <a:xfrm>
              <a:off x="68503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 Google hiện ra</a:t>
              </a:r>
            </a:p>
          </p:txBody>
        </p:sp>
        <p:sp>
          <p:nvSpPr>
            <p:cNvPr id="39" name="Rectangle 39"/>
            <p:cNvSpPr/>
            <p:nvPr/>
          </p:nvSpPr>
          <p:spPr>
            <a:xfrm>
              <a:off x="6515100" y="3295650"/>
              <a:ext cx="190500" cy="190500"/>
            </a:xfrm>
            <a:prstGeom prst="roundRect">
              <a:avLst>
                <a:gd name="adj" fmla="val 25000"/>
              </a:avLst>
            </a:prstGeom>
            <a:solidFill>
              <a:schemeClr val="lt1"/>
            </a:solidFill>
            <a:ln w="19050">
              <a:solidFill>
                <a:schemeClr val="accent1"/>
              </a:solidFill>
            </a:ln>
          </p:spPr>
          <p:txBody>
            <a:bodyPr/>
            <a:p/>
          </p:txBody>
        </p:sp>
        <p:sp>
          <p:nvSpPr>
            <p:cNvPr id="40" name="TextBox 40"/>
            <p:cNvSpPr txBox="1"/>
            <p:nvPr/>
          </p:nvSpPr>
          <p:spPr>
            <a:xfrm>
              <a:off x="68503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 gửi</a:t>
              </a:r>
              <a:br/>
              <a:r>
                <a:rPr lang="vi-VN" sz="1500" dirty="0">
                  <a:solidFill>
                    <a:schemeClr val="dk1"/>
                  </a:solidFill>
                  <a:latin typeface="+mn-lt"/>
                  <a:ea typeface="+mn-ea"/>
                  <a:cs typeface="+mn-cs"/>
                </a:rPr>
                <a:t>→ chặn gửi bằng mức </a:t>
              </a:r>
              <a:r>
                <a:rPr lang="vi-VN" sz="1500" dirty="0" b="1">
                  <a:solidFill>
                    <a:srgbClr val="1D3557"/>
                  </a:solidFill>
                  <a:latin typeface="+mn-lt"/>
                  <a:ea typeface="+mn-ea"/>
                  <a:cs typeface="+mn-cs"/>
                </a:rPr>
                <a:t>Always ask</a:t>
              </a:r>
            </a:p>
          </p:txBody>
        </p:sp>
        <p:sp>
          <p:nvSpPr>
            <p:cNvPr id="41" name="Rectangle 41"/>
            <p:cNvSpPr/>
            <p:nvPr/>
          </p:nvSpPr>
          <p:spPr>
            <a:xfrm>
              <a:off x="6515100" y="4038600"/>
              <a:ext cx="190500" cy="190500"/>
            </a:xfrm>
            <a:prstGeom prst="roundRect">
              <a:avLst>
                <a:gd name="adj" fmla="val 25000"/>
              </a:avLst>
            </a:prstGeom>
            <a:solidFill>
              <a:schemeClr val="lt1"/>
            </a:solidFill>
            <a:ln w="19050">
              <a:solidFill>
                <a:schemeClr val="accent1"/>
              </a:solidFill>
            </a:ln>
          </p:spPr>
          <p:txBody>
            <a:bodyPr/>
            <a:p/>
          </p:txBody>
        </p:sp>
        <p:sp>
          <p:nvSpPr>
            <p:cNvPr id="42" name="TextBox 42"/>
            <p:cNvSpPr txBox="1"/>
            <p:nvPr/>
          </p:nvSpPr>
          <p:spPr>
            <a:xfrm>
              <a:off x="6850380" y="403860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 xác minh”</a:t>
              </a:r>
              <a:br/>
              <a:r>
                <a:rPr lang="vi-VN" sz="1500" dirty="0">
                  <a:solidFill>
                    <a:schemeClr val="dk1"/>
                  </a:solidFill>
                  <a:latin typeface="+mn-lt"/>
                  <a:ea typeface="+mn-ea"/>
                  <a:cs typeface="+mn-cs"/>
                </a:rPr>
                <a:t>thì dừng, gọi giảng viên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txBody>
            <a:bodyPr/>
            <a:p/>
          </p:txBody>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txBody>
              <a:bodyPr/>
              <a:p/>
            </p:txBody>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txBody>
              <a:bodyPr/>
              <a:p/>
            </p:txBody>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txBody>
            <a:bodyPr/>
            <a:p/>
          </p:txBody>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txBody>
              <a:bodyPr/>
              <a:p/>
            </p:txBody>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txBody>
              <a:bodyPr/>
              <a:p/>
            </p:txBody>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txBody>
            <a:bodyPr/>
            <a:p/>
          </p:txBody>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txBody>
            <a:bodyPr/>
            <a:p/>
          </p:txBody>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txBody>
            <a:bodyPr/>
            <a:p/>
          </p:txBody>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txBody>
            <a:bodyPr/>
            <a:p/>
          </p:txBody>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txBody>
              <a:bodyPr/>
              <a:p/>
            </p:txBody>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txBody>
              <a:bodyPr/>
              <a:p/>
            </p:txBody>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txBody>
              <a:bodyPr/>
              <a:p/>
            </p:txBody>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txBody>
              <a:bodyPr/>
              <a:p/>
            </p:txBody>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txBody>
            <a:bodyPr/>
            <a:p/>
          </p:txBody>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txBody>
            <a:bodyPr/>
            <a:p/>
          </p:txBody>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txBody>
            <a:bodyPr/>
            <a:p/>
          </p:txBody>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txBody>
              <a:bodyPr/>
              <a:p/>
            </p:txBody>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txBody>
              <a:bodyPr/>
              <a:p/>
            </p:txBody>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txBody>
              <a:bodyPr/>
              <a:p/>
            </p:txBody>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txBody>
              <a:bodyPr/>
              <a:p/>
            </p:txBody>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txBody>
              <a:bodyPr/>
              <a:p/>
            </p:txBody>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txBody>
            <a:bodyPr/>
            <a:p/>
          </p:txBody>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txBody>
            <a:bodyPr/>
            <a:p/>
          </p:txBody>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txBody>
            <a:bodyPr/>
            <a:p/>
          </p:txBody>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txBody>
            <a:bodyPr/>
            <a:p/>
          </p:txBody>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txBody>
              <a:bodyPr/>
              <a:p/>
            </p:txBody>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txBody>
              <a:bodyPr/>
              <a:p/>
            </p:txBody>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txBody>
              <a:bodyPr/>
              <a:p/>
            </p:txBody>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txBody>
            <a:bodyPr/>
            <a:p/>
          </p:txBody>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txBody>
              <a:bodyPr/>
              <a:p/>
            </p:txBody>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txBody>
              <a:bodyPr/>
              <a:p/>
            </p:txBody>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txBody>
              <a:bodyPr/>
              <a:p/>
            </p:txBody>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txBody>
              <a:bodyPr/>
              <a:p/>
            </p:txBody>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txBody>
              <a:bodyPr/>
              <a:p/>
            </p:txBody>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txBody>
            <a:bodyPr/>
            <a:p/>
          </p:txBody>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txBody>
            <a:bodyPr/>
            <a:p/>
          </p:txBody>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txBody>
            <a:bodyPr/>
            <a:p/>
          </p:txBody>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txBody>
              <a:bodyPr/>
              <a:p/>
            </p:txBody>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txBody>
              <a:bodyPr/>
              <a:p/>
            </p:txBody>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txBody>
              <a:bodyPr/>
              <a:p/>
            </p:txBody>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txBody>
            <a:bodyPr/>
            <a:p/>
          </p:txBody>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32</a:t>
            </a:r>
          </a:p>
        </p:txBody>
      </p:sp>
      <p:sp>
        <p:nvSpPr>
          <p:cNvPr id="57"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6</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txBody>
            <a:bodyPr/>
            <a:p/>
          </p:txBody>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2"/>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txBody>
            <a:bodyPr/>
            <a:p/>
          </p:txBody>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txBody>
              <a:bodyPr/>
              <a:p/>
            </p:txBody>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txBody>
              <a:bodyPr/>
              <a:p/>
            </p:txBody>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txBody>
              <a:bodyPr/>
              <a:p/>
            </p:txBody>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txBody>
              <a:bodyPr/>
              <a:p/>
            </p:txBody>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txBody>
              <a:bodyPr/>
              <a:p/>
            </p:txBody>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txBody>
              <a:bodyPr/>
              <a:p/>
            </p:txBody>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txBody>
            <a:bodyPr/>
            <a:p/>
          </p:txBody>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txBody>
            <a:bodyPr/>
            <a:p/>
          </p:txBody>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txBody>
            <a:bodyPr/>
            <a:p/>
          </p:txBody>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txBody>
            <a:bodyPr/>
            <a:p/>
          </p:txBody>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txBody>
              <a:bodyPr/>
              <a:p/>
            </p:txBody>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txBody>
              <a:bodyPr/>
              <a:p/>
            </p:txBody>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txBody>
              <a:bodyPr/>
              <a:p/>
            </p:txBody>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txBody>
              <a:bodyPr/>
              <a:p/>
            </p:txBody>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txBody>
              <a:bodyPr/>
              <a:p/>
            </p:txBody>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txBody>
            <a:bodyPr/>
            <a:p/>
          </p:txBody>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txBody>
            <a:bodyPr/>
            <a:p/>
          </p:txBody>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txBody>
            <a:bodyPr/>
            <a:p/>
          </p:txBody>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txBody>
            <a:bodyPr/>
            <a:p/>
          </p:txBody>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txBody>
              <a:bodyPr/>
              <a:p/>
            </p:txBody>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txBody>
              <a:bodyPr/>
              <a:p/>
            </p:txBody>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txBody>
              <a:bodyPr/>
              <a:p/>
            </p:txBody>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txBody>
            <a:bodyPr/>
            <a:p/>
          </p:txBody>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32</a:t>
            </a:r>
          </a:p>
        </p:txBody>
      </p:sp>
      <p:sp>
        <p:nvSpPr>
          <p:cNvPr id="69" name="demo-flag"/>
          <p:cNvSpPr/>
          <p:nvPr/>
        </p:nvSpPr>
        <p:spPr>
          <a:xfrm>
            <a:off x="3581400" y="304800"/>
            <a:ext cx="2095500" cy="228600"/>
          </a:xfrm>
          <a:prstGeom prst="roundRect">
            <a:avLst>
              <a:gd name="adj" fmla="val 50000"/>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b="1">
                <a:solidFill>
                  <a:srgbClr val="FFFFFF"/>
                </a:solidFill>
              </a:rPr>
              <a:t>▶ HƯỚNG DẪN DEMO · MỤC 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txBody>
            <a:bodyPr/>
            <a:p/>
          </p:txBody>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chemeClr val="accent2"/>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txBody>
            <a:bodyPr/>
            <a:p/>
          </p:txBody>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txBody>
            <a:bodyPr/>
            <a:p/>
          </p:txBody>
        </p:sp>
        <p:sp>
          <p:nvSpPr>
            <p:cNvPr id="21" name="Rectangle 21"/>
            <p:cNvSpPr/>
            <p:nvPr/>
          </p:nvSpPr>
          <p:spPr>
            <a:xfrm>
              <a:off x="495300" y="2971800"/>
              <a:ext cx="3429000" cy="495300"/>
            </a:xfrm>
            <a:prstGeom prst="roundRect">
              <a:avLst>
                <a:gd name="adj" fmla="val 23077"/>
              </a:avLst>
            </a:prstGeom>
            <a:solidFill>
              <a:srgbClr val="64748B"/>
            </a:solidFill>
            <a:ln>
              <a:noFill/>
            </a:ln>
          </p:spPr>
          <p:txBody>
            <a:bodyPr/>
            <a:p/>
          </p:txBody>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txBody>
              <a:bodyPr/>
              <a:p/>
            </p:txBody>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txBody>
              <a:bodyPr/>
              <a:p/>
            </p:txBody>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txBody>
              <a:bodyPr/>
              <a:p/>
            </p:txBody>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txBody>
            <a:bodyPr/>
            <a:p/>
          </p:txBody>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txBody>
            <a:bodyPr/>
            <a:p/>
          </p:txBody>
        </p:sp>
        <p:sp>
          <p:nvSpPr>
            <p:cNvPr id="34" name="Rectangle 34"/>
            <p:cNvSpPr/>
            <p:nvPr/>
          </p:nvSpPr>
          <p:spPr>
            <a:xfrm>
              <a:off x="4381500" y="2609850"/>
              <a:ext cx="3429000" cy="495300"/>
            </a:xfrm>
            <a:prstGeom prst="roundRect">
              <a:avLst>
                <a:gd name="adj" fmla="val 23077"/>
              </a:avLst>
            </a:prstGeom>
            <a:solidFill>
              <a:srgbClr val="64748B"/>
            </a:solidFill>
            <a:ln>
              <a:noFill/>
            </a:ln>
          </p:spPr>
          <p:txBody>
            <a:bodyPr/>
            <a:p/>
          </p:txBody>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txBody>
            <a:bodyPr/>
            <a:p/>
          </p:txBody>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txBody>
            <a:bodyPr/>
            <a:p/>
          </p:txBody>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txBody>
            <a:bodyPr/>
            <a:p/>
          </p:txBody>
        </p:sp>
        <p:sp>
          <p:nvSpPr>
            <p:cNvPr id="44" name="Rectangle 44"/>
            <p:cNvSpPr/>
            <p:nvPr/>
          </p:nvSpPr>
          <p:spPr>
            <a:xfrm>
              <a:off x="8267700" y="2228850"/>
              <a:ext cx="3429000" cy="495300"/>
            </a:xfrm>
            <a:prstGeom prst="roundRect">
              <a:avLst>
                <a:gd name="adj" fmla="val 23077"/>
              </a:avLst>
            </a:prstGeom>
            <a:solidFill>
              <a:srgbClr val="64748B"/>
            </a:solidFill>
            <a:ln>
              <a:noFill/>
            </a:ln>
          </p:spPr>
          <p:txBody>
            <a:bodyPr/>
            <a:p/>
          </p:txBody>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txBody>
            <a:bodyPr/>
            <a:p/>
          </p:txBody>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txBody>
            <a:bodyPr/>
            <a:p/>
          </p:txBody>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txBody>
            <a:bodyPr/>
            <a:p/>
          </p:txBody>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txBody>
            <a:bodyPr/>
            <a:p/>
          </p:txBody>
        </p:sp>
        <p:sp>
          <p:nvSpPr>
            <p:cNvPr id="6" name="Rectangle 6"/>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2E5E91"/>
            </a:solidFill>
            <a:ln>
              <a:noFill/>
            </a:ln>
          </p:spPr>
          <p:txBody>
            <a:bodyPr/>
            <a:p/>
          </p:txBody>
        </p:sp>
        <p:sp>
          <p:nvSpPr>
            <p:cNvPr id="8" name="Rectangle 8"/>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64748B"/>
            </a:solidFill>
            <a:ln>
              <a:noFill/>
            </a:ln>
          </p:spPr>
          <p:txBody>
            <a:bodyPr/>
            <a:p/>
          </p:txBody>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txBody>
            <a:bodyPr/>
            <a:p/>
          </p:txBody>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txBody>
            <a:bodyPr/>
            <a:p/>
          </p:txBody>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txBody>
          <a:bodyPr/>
          <a:p/>
        </p:txBody>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txBody>
            <a:bodyPr/>
            <a:p/>
          </p:txBody>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txBody>
            <a:bodyPr/>
            <a:p/>
          </p:txBody>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txBody>
          <a:bodyPr/>
          <a:p/>
        </p:txBody>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txBody>
            <a:bodyPr/>
            <a:p/>
          </p:txBody>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txBody>
            <a:bodyPr/>
            <a:p/>
          </p:txBody>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txBody>
          <a:bodyPr/>
          <a:p/>
        </p:txBody>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txBody>
            <a:bodyPr/>
            <a:p/>
          </p:txBody>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txBody>
            <a:bodyPr/>
            <a:p/>
          </p:txBody>
        </p:sp>
        <p:sp>
          <p:nvSpPr>
            <p:cNvPr id="7" name="Rectangle 7"/>
            <p:cNvSpPr/>
            <p:nvPr/>
          </p:nvSpPr>
          <p:spPr>
            <a:xfrm>
              <a:off x="7010400" y="304800"/>
              <a:ext cx="1143000" cy="114300"/>
            </a:xfrm>
            <a:prstGeom prst="roundRect">
              <a:avLst>
                <a:gd name="adj" fmla="val 25000"/>
              </a:avLst>
            </a:prstGeom>
            <a:solidFill>
              <a:schemeClr val="accent3"/>
            </a:solidFill>
            <a:ln>
              <a:noFill/>
            </a:ln>
          </p:spPr>
          <p:txBody>
            <a:bodyPr/>
            <a:p/>
          </p:txBody>
        </p:sp>
        <p:sp>
          <p:nvSpPr>
            <p:cNvPr id="8" name="Rectangle 8"/>
            <p:cNvSpPr/>
            <p:nvPr/>
          </p:nvSpPr>
          <p:spPr>
            <a:xfrm>
              <a:off x="8229600" y="266700"/>
              <a:ext cx="1143000" cy="152400"/>
            </a:xfrm>
            <a:prstGeom prst="roundRect">
              <a:avLst>
                <a:gd name="adj" fmla="val 18750"/>
              </a:avLst>
            </a:prstGeom>
            <a:solidFill>
              <a:srgbClr val="2E5E91"/>
            </a:solidFill>
            <a:ln>
              <a:noFill/>
            </a:ln>
          </p:spPr>
          <p:txBody>
            <a:bodyPr/>
            <a:p/>
          </p:txBody>
        </p:sp>
        <p:sp>
          <p:nvSpPr>
            <p:cNvPr id="9" name="Rectangle 9"/>
            <p:cNvSpPr/>
            <p:nvPr/>
          </p:nvSpPr>
          <p:spPr>
            <a:xfrm>
              <a:off x="9448800" y="228600"/>
              <a:ext cx="1143000" cy="190500"/>
            </a:xfrm>
            <a:prstGeom prst="roundRect">
              <a:avLst>
                <a:gd name="adj" fmla="val 15000"/>
              </a:avLst>
            </a:prstGeom>
            <a:solidFill>
              <a:schemeClr val="accent1"/>
            </a:solidFill>
            <a:ln>
              <a:noFill/>
            </a:ln>
          </p:spPr>
          <p:txBody>
            <a:bodyPr/>
            <a:p/>
          </p:txBody>
        </p:sp>
        <p:sp>
          <p:nvSpPr>
            <p:cNvPr id="10" name="Rectangle 10"/>
            <p:cNvSpPr/>
            <p:nvPr/>
          </p:nvSpPr>
          <p:spPr>
            <a:xfrm>
              <a:off x="10668000" y="190500"/>
              <a:ext cx="1143000" cy="228600"/>
            </a:xfrm>
            <a:prstGeom prst="roundRect">
              <a:avLst>
                <a:gd name="adj" fmla="val 12500"/>
              </a:avLst>
            </a:prstGeom>
            <a:solidFill>
              <a:srgbClr val="64748B"/>
            </a:solidFill>
            <a:ln>
              <a:noFill/>
            </a:ln>
          </p:spPr>
          <p:txBody>
            <a:bodyPr/>
            <a:p/>
          </p:txBody>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txBody>
            <a:bodyPr/>
            <a:p/>
          </p:txBody>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txBody>
            <a:bodyPr/>
            <a:p/>
          </p:txBody>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txBody>
            <a:bodyPr/>
            <a:p/>
          </p:txBody>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txBody>
            <a:bodyPr/>
            <a:p/>
          </p:txBody>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txBody>
            <a:bodyPr/>
            <a:p/>
          </p:txBody>
        </p:sp>
        <p:sp>
          <p:nvSpPr>
            <p:cNvPr id="35" name="Rectangle 35"/>
            <p:cNvSpPr/>
            <p:nvPr/>
          </p:nvSpPr>
          <p:spPr>
            <a:xfrm>
              <a:off x="5772150" y="2152650"/>
              <a:ext cx="285750" cy="209550"/>
            </a:xfrm>
            <a:prstGeom prst="roundRect">
              <a:avLst>
                <a:gd name="adj" fmla="val 13636"/>
              </a:avLst>
            </a:prstGeom>
            <a:solidFill>
              <a:schemeClr val="accent2"/>
            </a:solidFill>
            <a:ln>
              <a:noFill/>
            </a:ln>
          </p:spPr>
          <p:txBody>
            <a:bodyPr/>
            <a:p/>
          </p:txBody>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txBody>
            <a:bodyPr/>
            <a:p/>
          </p:txBody>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txBody>
            <a:bodyPr/>
            <a:p/>
          </p:txBody>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txBody>
            <a:bodyPr/>
            <a:p/>
          </p:txBody>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txBody>
            <a:bodyPr/>
            <a:p/>
          </p:txBody>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txBody>
              <a:bodyPr/>
              <a:p/>
            </p:txBody>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txBody>
              <a:bodyPr/>
              <a:p/>
            </p:txBody>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txBody>
              <a:bodyPr/>
              <a:p/>
            </p:txBody>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32</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