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gồm bốn buổi, mỗi buổi một trăm năm mươi phút.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Mỗi tầng là một buổi một trăm năm mươi phút, cả lớp học chung, và mọi ví dụ đều chạy trên sản phẩm và dữ liệu của Wir. Sau bốn tầng có phần nâng cao về AI tự thao tác, gồm Browser extension, Computer use và Dots, phần này chỉ giới thiệu, không thực hành. Mỗi buổi chia như sau: mở đầu mười phút, lời giảng hai mươi lăm phút, demo ba mươi phút, thực hành một trên dữ liệu mẫu ba mươi phút, nghỉ mười phút, thực hành hai trên việc thật của anh chị ba mươi phút, và chốt mười lăm phút.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Bắt đầu tầng một, Instructions. Với một tài khoản mới tinh, chưa khai báo gì, ChatGPT không biết mình là ai, làm ở đâu, bán sản phẩm gì, và mình phải gõ lại từ đầu ở mỗi việc. Nhưng ChatGPT bản hiện nay có Memory và Library: khai báo một lần đúng chỗ thì mọi chat mới đều nhớ. Chạy thử ngày 09/10/2026 trên tài khoản đã khai báo: hỏi "Tôi làm ở công ty nào, phụ trách khách nào, bán sản phẩm gì?" trong chat mới, ChatGPT trả lời đúng Wir Group, khách đại lý và nhà phân phối miền Bắc, tám nhãn hàng, và trích nguồn từ file ho-so-sale.md trong Library. Vấn đề vì thế không còn là ChatGPT quên, mà là mình khai báo cái gì, ở đâu, để nó nhớ đúng thứ cần nhớ và không nhớ thứ nhạy cảm. Học xong tầng này, anh chị sẽ phân biệt được Custom Instructions, Project, Memory và Library,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ChatGPT có ba nơi đặt Instructions, mỗi nơi giữ một loại thông tin, cộng thêm một kho file.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Thứ tư là Library ở thanh bên: mọi file anh chị đã tải lên và file từ Google Drive đã nối đều nằm đó, ChatGPT tự tìm trong Library để trả lời khi cần, kể cả ở chat mới. Vì vậy file nào đã tải lên là ChatGPT có thể nhớ mãi, đừng tải file nhạy cảm. Điều quan trọng nhất: trong Project, Project instructions ghi đè Custom Instructions, đã đối chiếu tài liệu chính thức của OpenAI, nên luật nghiệp vụ của phòng phải đặt trong Project. Tên menu tra ngày 09/10/2026,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hai, Prompt, là phiếu giao việc mỗi ngày. Với prompt một dòng, ChatGPT bản hiện nay ít bịa hơn trước, nhưng nó phải đoán bối cảnh hoặc hỏi lại mình, và kết quả vẫn chung chung, chưa theo luật của phòng.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chốt số câu hỏi lại và chia nhiều bước; phân tích file số liệu mà không để AI tính sai;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hai cách giao cùng một việc. Prompt tồi chỉ có một dòng "Trả lời spa hỏi giá sỉ Elasten". Kết quả thật khi chạy ngày 09/10/2026: ChatGPT không bịa giá, nhưng viết một tin chung chung xưng em chào chị, thêm "collagen Đức" không có trong hồ sơ, thêm emoji trái tim và bông hoa trái luật phòng, không dùng bảng giá sỉ, không trả lời câu hỏi bà bầu, rồi hỏi ngược lại số lượng và giá nhập. Nghĩa là mình mất thêm một lượt và vẫn chưa có tin gửi được. Giảng viên chạy lại trước buổi học, vì mỗi lần ChatGPT trả lời một khác, bản cũ hơn có thể bịa giá hoặc nói tốt cho bà bầu.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còn thiếu?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Thêm ba kỹ thuật để nâng chất lượng. Một, đưa một mẫu tốt: một mẫu tốt đáng giá hơn mười dòng mô tả, dán một bài hoặc một tin chuẩn cũ của phòng và bảo AI học đúng bố cục và giọng văn của mẫu đó. Hai, chốt số câu hỏi lại: ChatGPT bản hiện nay thường tự hỏi khi thiếu thông tin, như demo vừa rồi nó hỏi số lượng nhập; vấn đề là nó có thể hỏi lan man hoặc hỏi xong lại tự đoán. Thêm câu "Nếu thiếu thông tin, hỏi tôi tối đa ba câu, rồi mới làm" để chốt số câu và bắt nó hỏi trước khi viết.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Với số liệu, ChatGPT bản hiện nay đã qua được bẫy cũ: tải file đơn hàng demo lên và gõ "Phân tích doanh số theo từng nhân viên bán hàng", nó đếm đúng bốn mươi dòng, liệt kê sáu cột, nói rõ không có cột nhân viên, chuyển sang phân tích theo kênh với tổng đúng một trăm bốn mươi bảy triệu ba trăm nghìn đồng, rồi đề xuất bổ sung cột. Bẫy mới nằm ở cách đưa dữ liệu vào. Khi tải file, ChatGPT chạy code để tính nên số đúng. Khi dán bốn mươi dòng dạng chữ vào khung chat, nó tính nhẩm: chạy thử ngày 09/10/2026, hỏi "Vì sao Shopee nhiều đơn nhất mà doanh thu thấp", nó trả lời chắc nịch Đại lý sỉ sáu đơn, chín mươi sáu phẩy bảy mốt triệu, Website mười một đơn, trong khi file thật là Đại lý sỉ bảy đơn, một trăm lẻ sáu phẩy bảy mốt triệu, Website mười đơn. Nó còn "đính chính" ngược lại số đúng của lượt trước. Bảng sai nhưng trình bày rất đẹp, đó mới là thứ nguy hiểm. Từ đó có bốn quy tắc: tải file, đừng dán chữ; đếm trước, bắt AI báo số dòng và các cột, và chỉ tách theo chiều file có; đối chiếu tổng và hai ba số lẻ với file gốc trước khi dùng; nguyên nhân là suy đoán, viết dạng "nghi do, cần kiểm chứng bằng". Trong demo, phần nguyên nhân ChatGPT đã tự tách "nguyên nhân cần kiểm chứng thêm" khỏi số liệu, hãy khen nó và chỉ cho lớp thấy. Đây là dữ liệu demo, không phải số liệu kinh doanh thật.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Kiểm chứng tốn vài phút, rẻ hơn rất nhiều so với hậu quả của một con số sai. Cách một, bấm chip nguồn: khi làm việc trong Project có file, ChatGPT gắn một chip tên file ngay sau câu nó trích, ví dụ ho-so-elasten hay du-lieu-san-pham-wir; bấm vào là mở đúng đoạn trong file, mất khoảng năm giây mỗi câu. Câu nào không có chip thì copy câu đó và Ctrl F trong tài liệu gốc. Cách hai, rà ngẫu nhiên số liệu: chọn hai, ba con số và tự đối chiếu với file gốc, mất khoảng một phút; đây là cách bắt được lỗi tính nhẩm ở slide trước. Cách ba, phép thử đổi tên: thay tên mình bằng tên đối thủ, câu vẫn đúng tức là chưa đủ cụ thể, mất ba mươi giây. Cách bốn, bắt AI tự khai bằng câu hỏi "Chỗ nào bạn tự suy đoán mà tài liệu không nói?". Chạy thử ngày 09/10/2026, ChatGPT tự liệt kê bốn chỗ nó suy luận, phân loại DATA THẬT và SUY LUẬN, và chỉ đúng tới dòng trong file. Lưu ý: tự khai chỉ bắt được chỗ nó biết là suy đoán, không bắt được lỗi tính nhẩm, nên vẫn cần cách hai.</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hai, mỗi người chọn ít nhất ba việc trên bộ dữ liệu demo của Wir: viết biên bản họp và danh sách đầu việc từ transcript họp thô; làm báo cáo doanh thu từ file đơn hàng bốn mươi dòng; rút năm insight có mã bằng chứng từ ba mươi review và tin nhắn khách; hoặc chấm điểm mười hai lead và soạn tin tiếp cận. Đạt khi prompt đủ bốn phần, kết quả không có số sai, và anh chị tự kiểm chứng được ít nhất hai con số hoặc hai trích dẫn. Câu hỏi chốt: dán bốn mươi dòng vào chat hay tải file lên? Tải file, vì ChatGPT chạy code trên file nên số đúng; dán chữ thì nó tính nhẩm, dễ sai mà vẫn nói chắc. Một đề xuất trong báo cáo cần đủ bốn thứ: việc, người chịu trách nhiệm, hạn, nguồn lực hoặc chi phí. Và nên chuyển từ prompt sang skill khi một việc lặp lại hàng tuần và anh chị thấy mình đang gõ lại cùng một bộ chỉ dẫn.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"Viết nội dung cho công ty" quá chung, dẫn tới gọi nhầm hoặc không bao giờ được gọi. Description tốt nêu rõ phạm vi: viết bài mạng xã hội cho sản phẩm thực phẩm bảo vệ sức khỏe của Wir như Elasten, CH Alpha Plus, Lactobact Intima; dùng khi cần bài Facebook, Zalo OA, kịch bản video ngắn; không dùng cho Karima là thiết bị tiêm, và không dùng cho tin trả lời khách.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Một skill là một thư mục chứa file SKILL.md. Đầu file bắt buộc có khối name và description nằm giữa hai dòng ba gạch, sau đó là các mục khi nào dùng, đầu vào, các bước và đầu ra. Cụ thể có sáu phần: tên viết thường, không dấu, nối gạch ngang; mô tả một câu; khi nào dùng với ít nhất ba tình huống và cả khi nào không dùng; đầu vào ghi rõ mục bắt buộc và mục có thì tốt; các bước, trong đó bước một luôn là kiểm tra đủ đầu vào và bước cuối luôn là tự rà lại; và đầu ra kèm một ví dụ mẫu đã điền số liệu.</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Đừng ngồi nghĩ ra skill từ tờ giấy trắng. Hãy làm việc đó bằng tay vài lượt, mỗi lần mình phải dặn thêm chính là một mục trong skill. Demo trên tài liệu CH Alpha Plus của Wir. Lượt một, "Tóm tắt giúp tôi tài liệu này", kết quả chung chung, đó là lý do cần skill. Lượt hai, "Liệt kê theo từng phần", thành mục ý chính chi tiết. Lượt ba, "Bóc mọi con số, mốc thời gian, cam kết", thành mục số liệu, ngày tháng, hạn chót. Lượt bốn, "Có câu nào vượt ranh giới pháp lý hay mâu thuẫn không", thành mục điểm cần lưu ý và rủi ro. Lượt năm, "Chỗ nào bạn tự đoán, rút ba đến năm ý gửi sếp", thành quy tắc chống bịa và tóm tắt nhanh. Ở lượt bốn, ChatGPT bắt được cụm "điều trị thoái hóa sụn khớp" có trong tài liệu gốc, trong khi thực phẩm bảo vệ sức khỏe không được nói điều trị. Sau đó gõ "Hãy đóng gói cách làm vừa rồi thành một skill tên tom-tat-tai-lieu" để ChatGPT tạo skill, rồi mở chat mới, tải một tài liệu khác và chỉ gõ "Tóm tắt tài liệu này" để thấy skill tự chạy.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tốt lên nhờ vòng chạy, soi, sửa: chạy skill trên ba việc thật, ghi lại chỗ phải sửa tay, rồi sửa ngược vào skill và ghi một dòng "Sửa lần N". Sai thì sửa skill, đừng sửa tay kết quả, vì sửa tay thì lần sau lại sai y như cũ. Mỗi skill chỉ làm một việc và nối thành chuỗi, ví dụ skill customer-insight rút insight từ review khách, rồi đầu ra đó trở thành đầu vào cho skill content-engine viết nội dung; còn mục CẦN ĐIỀN thì không chạy sang skill sau. Phép thử cuối của một skill là mở phiên mới, không gọi tên skill, và giao một yêu cầu skill chưa từng làm; skill tự được gọi và làm đúng thì mới đạt.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ba. Bài một, mười lăm phút, tạo skill tom-tat-tai-lieu và chạy trên tài liệu Lactobact Intima của Wir; đạt khi bóc đúng các tỷ lệ chín mươi phần trăm, bảy mươi lăm phần trăm, bốn mươi đến bốn mươi lăm phần trăm và năm mươi phần trăm, đồng thời chỉ ra cụm "điều trị" vượt ranh giới thực phẩm bảo vệ sức khỏe.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và gỡ được quyền;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Tra ngày 09/10/2026: vào Settings, Plugins, bấm tên plugin, mục Permission, có bốn mức. Always ask hỏi trước khi đọc hay thay đổi bất cứ gì, đây là mức đặt cho Gmail khi học. Allow read-only tools tự đọc, muốn ghi hoặc gửi thì hỏi. Allow low-risk tools tự duyệt việc rủi ro thấp, việc nhạy cảm vẫn hỏi, và đây là mức mặc định khi cài, nên sau khi nối Gmail anh chị phải tự đổi về Always ask. Allow all tools làm hết không hỏi, ChatGPT gắn nhãn rủi ro cao, không dùng cho Gmail và các kênh gửi ra ngoài; mức này chỉ đặt được cho từng plugin, ô Default permission chung không có.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 toàn khi nối plugin nằm ở ba thời điểm. Trước khi nối: đăng xuất tài khoản Google công ty trên trình duyệt, tuyệt đối không nối hộp thư công ty khi đang học vì đây là quy định cứng, và nếu đã nối nhiều tài khoản thì kiểm tra kỹ. Khi cấp quyền: đọc hết danh sách quyền; quyền Gmail gộp cả đọc, soạn và gửi nên không tách riêng được, muốn chặn gửi thì đặt mức Always ask; thấy cảnh báo ứng dụng chưa được xác minh thì dừng lại và gọi giảng viên. Sau buổi học: vào myaccount.google.com/linkedapps, chọn ChatGPT hoặc OpenAI, bấm Remove access, rồi vào ChatGPT, Settings, Plugins để ngắt kết nối. Gỡ quyền ngay tối hôm đó.</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đã gỡ quyền.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Sáu nguyên tắc đi cùng mọi buổi,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buổi trước là đầu vào buổi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4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sp>
        <p:sp>
          <p:nvSpPr>
            <p:cNvPr id="14" name="Rectangle 14"/>
            <p:cNvSpPr/>
            <p:nvPr/>
          </p:nvSpPr>
          <p:spPr>
            <a:xfrm>
              <a:off x="7010400" y="304800"/>
              <a:ext cx="1143000" cy="114300"/>
            </a:xfrm>
            <a:prstGeom prst="roundRect">
              <a:avLst>
                <a:gd name="adj" fmla="val 25000"/>
              </a:avLst>
            </a:prstGeom>
            <a:solidFill>
              <a:srgbClr val="E3E9F1"/>
            </a:solidFill>
            <a:ln>
              <a:noFill/>
            </a:ln>
          </p:spPr>
        </p:sp>
        <p:sp>
          <p:nvSpPr>
            <p:cNvPr id="15" name="Rectangle 15"/>
            <p:cNvSpPr/>
            <p:nvPr/>
          </p:nvSpPr>
          <p:spPr>
            <a:xfrm>
              <a:off x="8229600" y="266700"/>
              <a:ext cx="1143000" cy="152400"/>
            </a:xfrm>
            <a:prstGeom prst="roundRect">
              <a:avLst>
                <a:gd name="adj" fmla="val 18750"/>
              </a:avLst>
            </a:prstGeom>
            <a:solidFill>
              <a:srgbClr val="E3E9F1"/>
            </a:solidFill>
            <a:ln>
              <a:noFill/>
            </a:ln>
          </p:spPr>
        </p:sp>
        <p:sp>
          <p:nvSpPr>
            <p:cNvPr id="16" name="Rectangle 16"/>
            <p:cNvSpPr/>
            <p:nvPr/>
          </p:nvSpPr>
          <p:spPr>
            <a:xfrm>
              <a:off x="9448800" y="228600"/>
              <a:ext cx="1143000" cy="190500"/>
            </a:xfrm>
            <a:prstGeom prst="roundRect">
              <a:avLst>
                <a:gd name="adj" fmla="val 15000"/>
              </a:avLst>
            </a:prstGeom>
            <a:solidFill>
              <a:srgbClr val="E3E9F1"/>
            </a:solidFill>
            <a:ln>
              <a:noFill/>
            </a:ln>
          </p:spPr>
        </p:sp>
        <p:sp>
          <p:nvSpPr>
            <p:cNvPr id="17" name="Rectangle 17"/>
            <p:cNvSpPr/>
            <p:nvPr/>
          </p:nvSpPr>
          <p:spPr>
            <a:xfrm>
              <a:off x="10668000" y="190500"/>
              <a:ext cx="1143000" cy="228600"/>
            </a:xfrm>
            <a:prstGeom prst="roundRect">
              <a:avLst>
                <a:gd name="adj" fmla="val 12500"/>
              </a:avLst>
            </a:prstGeom>
            <a:solidFill>
              <a:srgbClr val="E3E9F1"/>
            </a:solidFill>
            <a:ln>
              <a:noFill/>
            </a:ln>
          </p:spPr>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Chưa khai báo, ChatGPT không biết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Memory, Library;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sp>
        <p:sp>
          <p:nvSpPr>
            <p:cNvPr id="18" name="Ellipse 18"/>
            <p:cNvSpPr/>
            <p:nvPr/>
          </p:nvSpPr>
          <p:spPr>
            <a:xfrm>
              <a:off x="609600" y="2324100"/>
              <a:ext cx="419100" cy="419100"/>
            </a:xfrm>
            <a:prstGeom prst="ellipse">
              <a:avLst/>
            </a:prstGeom>
            <a:solidFill>
              <a:schemeClr val="lt2"/>
            </a:solidFill>
            <a:ln>
              <a:noFill/>
            </a:ln>
          </p:spPr>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sp>
        <p:sp>
          <p:nvSpPr>
            <p:cNvPr id="36" name="Ellipse 36"/>
            <p:cNvSpPr/>
            <p:nvPr/>
          </p:nvSpPr>
          <p:spPr>
            <a:xfrm>
              <a:off x="4495800" y="2324100"/>
              <a:ext cx="419100" cy="419100"/>
            </a:xfrm>
            <a:prstGeom prst="ellipse">
              <a:avLst/>
            </a:prstGeom>
            <a:solidFill>
              <a:schemeClr val="lt2"/>
            </a:solidFill>
            <a:ln>
              <a:noFill/>
            </a:ln>
          </p:spPr>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Projects + → ••• → Project settings</a:t>
              </a:r>
              <a:br/>
              <a:r>
                <a:rPr lang="vi-VN" sz="1200" dirty="0">
                  <a:solidFill>
                    <a:srgbClr val="5B6675"/>
                  </a:solidFill>
                  <a:latin typeface="+mn-lt"/>
                  <a:ea typeface="+mn-ea"/>
                  <a:cs typeface="+mn-cs"/>
                </a:rPr>
                <a:t>File: tab Sources → Add sources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sp>
        <p:sp>
          <p:nvSpPr>
            <p:cNvPr id="49" name="Ellipse 49"/>
            <p:cNvSpPr/>
            <p:nvPr/>
          </p:nvSpPr>
          <p:spPr>
            <a:xfrm>
              <a:off x="8382000" y="2324100"/>
              <a:ext cx="419100" cy="419100"/>
            </a:xfrm>
            <a:prstGeom prst="ellipse">
              <a:avLst/>
            </a:prstGeom>
            <a:solidFill>
              <a:schemeClr val="lt2"/>
            </a:solidFill>
            <a:ln>
              <a:noFill/>
            </a:ln>
          </p:spPr>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 + tủ hồ sơ</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 bảng”;</a:t>
              </a:r>
              <a:br/>
              <a:r>
                <a:rPr lang="vi-VN" sz="1650" dirty="0">
                  <a:solidFill>
                    <a:schemeClr val="dk1"/>
                  </a:solidFill>
                  <a:latin typeface="+mn-lt"/>
                  <a:ea typeface="+mn-ea"/>
                  <a:cs typeface="+mn-cs"/>
                </a:rPr>
                <a:t>file đã tải lên nằm ở Library</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 · Thanh bên → Library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35</a:t>
            </a:r>
          </a:p>
        </p:txBody>
      </p:sp>
      <p:sp>
        <p:nvSpPr>
          <p:cNvPr id="76"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sp>
        <p:sp>
          <p:nvSpPr>
            <p:cNvPr id="18" name="Ellipse 18"/>
            <p:cNvSpPr/>
            <p:nvPr/>
          </p:nvSpPr>
          <p:spPr>
            <a:xfrm>
              <a:off x="590550" y="2305050"/>
              <a:ext cx="457200" cy="457200"/>
            </a:xfrm>
            <a:prstGeom prst="ellipse">
              <a:avLst/>
            </a:prstGeom>
            <a:solidFill>
              <a:schemeClr val="lt1"/>
            </a:solidFill>
            <a:ln>
              <a:noFill/>
            </a:ln>
          </p:spPr>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sp>
        <p:sp>
          <p:nvSpPr>
            <p:cNvPr id="27" name="Ellipse 27"/>
            <p:cNvSpPr/>
            <p:nvPr/>
          </p:nvSpPr>
          <p:spPr>
            <a:xfrm>
              <a:off x="590550" y="3695700"/>
              <a:ext cx="457200" cy="457200"/>
            </a:xfrm>
            <a:prstGeom prst="ellipse">
              <a:avLst/>
            </a:prstGeom>
            <a:solidFill>
              <a:schemeClr val="lt1"/>
            </a:solidFill>
            <a:ln>
              <a:noFill/>
            </a:ln>
          </p:spPr>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35</a:t>
            </a:r>
          </a:p>
        </p:txBody>
      </p:sp>
      <p:sp>
        <p:nvSpPr>
          <p:cNvPr id="60"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chemeClr val="accent5"/>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sp>
        <p:sp>
          <p:nvSpPr>
            <p:cNvPr id="26" name="Ellipse 26"/>
            <p:cNvSpPr/>
            <p:nvPr/>
          </p:nvSpPr>
          <p:spPr>
            <a:xfrm>
              <a:off x="523875" y="3095625"/>
              <a:ext cx="285750" cy="285750"/>
            </a:xfrm>
            <a:prstGeom prst="ellipse">
              <a:avLst/>
            </a:prstGeom>
            <a:solidFill>
              <a:schemeClr val="accent5"/>
            </a:solidFill>
            <a:ln>
              <a:noFill/>
            </a:ln>
          </p:spPr>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00525"/>
              <a:ext cx="285750" cy="285750"/>
            </a:xfrm>
            <a:prstGeom prst="ellipse">
              <a:avLst/>
            </a:prstGeom>
            <a:solidFill>
              <a:schemeClr val="accent5"/>
            </a:solidFill>
            <a:ln>
              <a:noFill/>
            </a:ln>
          </p:spPr>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sp>
        <p:sp>
          <p:nvSpPr>
            <p:cNvPr id="43" name="Ellipse 43"/>
            <p:cNvSpPr/>
            <p:nvPr/>
          </p:nvSpPr>
          <p:spPr>
            <a:xfrm>
              <a:off x="523875" y="5076825"/>
              <a:ext cx="285750" cy="285750"/>
            </a:xfrm>
            <a:prstGeom prst="ellipse">
              <a:avLst/>
            </a:prstGeom>
            <a:solidFill>
              <a:schemeClr val="accent5"/>
            </a:solidFill>
            <a:ln>
              <a:noFill/>
            </a:ln>
          </p:spPr>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35</a:t>
            </a:r>
          </a:p>
        </p:txBody>
      </p:sp>
      <p:sp>
        <p:nvSpPr>
          <p:cNvPr id="68"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sp>
        <p:sp>
          <p:nvSpPr>
            <p:cNvPr id="12" name="Rectangle 12"/>
            <p:cNvSpPr/>
            <p:nvPr/>
          </p:nvSpPr>
          <p:spPr>
            <a:xfrm>
              <a:off x="7010400" y="304800"/>
              <a:ext cx="1143000" cy="114300"/>
            </a:xfrm>
            <a:prstGeom prst="roundRect">
              <a:avLst>
                <a:gd name="adj" fmla="val 25000"/>
              </a:avLst>
            </a:prstGeom>
            <a:solidFill>
              <a:schemeClr val="accent2"/>
            </a:solidFill>
            <a:ln>
              <a:noFill/>
            </a:ln>
          </p:spPr>
        </p:sp>
        <p:sp>
          <p:nvSpPr>
            <p:cNvPr id="13" name="Rectangle 13"/>
            <p:cNvSpPr/>
            <p:nvPr/>
          </p:nvSpPr>
          <p:spPr>
            <a:xfrm>
              <a:off x="8229600" y="266700"/>
              <a:ext cx="1143000" cy="152400"/>
            </a:xfrm>
            <a:prstGeom prst="roundRect">
              <a:avLst>
                <a:gd name="adj" fmla="val 18750"/>
              </a:avLst>
            </a:prstGeom>
            <a:solidFill>
              <a:srgbClr val="E3E9F1"/>
            </a:solidFill>
            <a:ln>
              <a:noFill/>
            </a:ln>
          </p:spPr>
        </p:sp>
        <p:sp>
          <p:nvSpPr>
            <p:cNvPr id="14" name="Rectangle 14"/>
            <p:cNvSpPr/>
            <p:nvPr/>
          </p:nvSpPr>
          <p:spPr>
            <a:xfrm>
              <a:off x="9448800" y="228600"/>
              <a:ext cx="1143000" cy="190500"/>
            </a:xfrm>
            <a:prstGeom prst="roundRect">
              <a:avLst>
                <a:gd name="adj" fmla="val 15000"/>
              </a:avLst>
            </a:prstGeom>
            <a:solidFill>
              <a:srgbClr val="E3E9F1"/>
            </a:solidFill>
            <a:ln>
              <a:noFill/>
            </a:ln>
          </p:spPr>
        </p:sp>
        <p:sp>
          <p:nvSpPr>
            <p:cNvPr id="15" name="Rectangle 15"/>
            <p:cNvSpPr/>
            <p:nvPr/>
          </p:nvSpPr>
          <p:spPr>
            <a:xfrm>
              <a:off x="10668000" y="190500"/>
              <a:ext cx="1143000" cy="228600"/>
            </a:xfrm>
            <a:prstGeom prst="roundRect">
              <a:avLst>
                <a:gd name="adj" fmla="val 12500"/>
              </a:avLst>
            </a:prstGeom>
            <a:solidFill>
              <a:srgbClr val="E3E9F1"/>
            </a:solidFill>
            <a:ln>
              <a:noFill/>
            </a:ln>
          </p:spPr>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ChatGPT phải đoán hoặc hỏi lại, mất thêm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3 kỹ thuật: đưa mẫu, chốt số câu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THẬT · 09/10/2026</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Hỏi lại số lượng, mất thêm 1 lượt</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“collagen Đức”, emoji ❤️🌷</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Bỏ qua bảng giá sỉ và câu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35</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chốt số câu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sp>
        <p:sp>
          <p:nvSpPr>
            <p:cNvPr id="18" name="Ellipse 18"/>
            <p:cNvSpPr/>
            <p:nvPr/>
          </p:nvSpPr>
          <p:spPr>
            <a:xfrm>
              <a:off x="647700" y="2362200"/>
              <a:ext cx="419100" cy="419100"/>
            </a:xfrm>
            <a:prstGeom prst="ellipse">
              <a:avLst/>
            </a:prstGeom>
            <a:solidFill>
              <a:schemeClr val="accent3"/>
            </a:solidFill>
            <a:ln>
              <a:noFill/>
            </a:ln>
          </p:spPr>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sp>
        <p:sp>
          <p:nvSpPr>
            <p:cNvPr id="27" name="Ellipse 27"/>
            <p:cNvSpPr/>
            <p:nvPr/>
          </p:nvSpPr>
          <p:spPr>
            <a:xfrm>
              <a:off x="4533900" y="2476500"/>
              <a:ext cx="419100" cy="419100"/>
            </a:xfrm>
            <a:prstGeom prst="ellipse">
              <a:avLst/>
            </a:prstGeom>
            <a:solidFill>
              <a:schemeClr val="accent3"/>
            </a:solidFill>
            <a:ln>
              <a:noFill/>
            </a:ln>
          </p:spPr>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Chốt số câu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ChatGPT tự hỏi khi thiếu.</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tôi tối đa 3 câu,</a:t>
              </a:r>
              <a:br/>
              <a:r>
                <a:rPr lang="vi-VN" sz="1500" dirty="0">
                  <a:solidFill>
                    <a:schemeClr val="accent1"/>
                  </a:solidFill>
                  <a:latin typeface="Consolas"/>
                  <a:ea typeface="Consolas"/>
                  <a:cs typeface="Consolas"/>
                </a:rPr>
                <a:t>rồi mới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sp>
        <p:sp>
          <p:nvSpPr>
            <p:cNvPr id="36" name="Ellipse 36"/>
            <p:cNvSpPr/>
            <p:nvPr/>
          </p:nvSpPr>
          <p:spPr>
            <a:xfrm>
              <a:off x="8420100" y="2590800"/>
              <a:ext cx="419100" cy="419100"/>
            </a:xfrm>
            <a:prstGeom prst="ellipse">
              <a:avLst/>
            </a:prstGeom>
            <a:solidFill>
              <a:schemeClr val="accent3"/>
            </a:solidFill>
            <a:ln>
              <a:noFill/>
            </a:ln>
          </p:spPr>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5405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Với file số liệu, tải file thay vì dán chữ,</a:t>
            </a:r>
            <a:br/>
            <a:r>
              <a:rPr lang="vi-VN" sz="3150" b="1" dirty="0">
                <a:solidFill>
                  <a:schemeClr val="accent1"/>
                </a:solidFill>
                <a:latin typeface="+mn-lt"/>
                <a:ea typeface="+mn-ea"/>
                <a:cs typeface="+mn-cs"/>
              </a:rPr>
              <a:t>đếm trước, đối chiếu tổng rồi mới dùng</a:t>
            </a:r>
          </a:p>
        </p:txBody>
      </p:sp>
      <p:grpSp>
        <p:nvGrpSpPr>
          <p:cNvPr id="32" name="Group 32"/>
          <p:cNvGrpSpPr/>
          <p:nvPr/>
        </p:nvGrpSpPr>
        <p:grpSpPr>
          <a:xfrm>
            <a:off x="371094" y="2227898"/>
            <a:ext cx="4962906" cy="3237547"/>
            <a:chOff x="371094" y="2227898"/>
            <a:chExt cx="4962906" cy="3237547"/>
          </a:xfrm>
        </p:grpSpPr>
        <p:sp>
          <p:nvSpPr>
            <p:cNvPr id="17" name="TextBox 17"/>
            <p:cNvSpPr txBox="1"/>
            <p:nvPr/>
          </p:nvSpPr>
          <p:spPr>
            <a:xfrm>
              <a:off x="371094" y="22278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1</a:t>
              </a:r>
            </a:p>
          </p:txBody>
        </p:sp>
        <p:sp>
          <p:nvSpPr>
            <p:cNvPr id="18" name="TextBox 18"/>
            <p:cNvSpPr txBox="1"/>
            <p:nvPr/>
          </p:nvSpPr>
          <p:spPr>
            <a:xfrm>
              <a:off x="715518" y="2260282"/>
              <a:ext cx="291742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Tải file, đừng dán chữ</a:t>
              </a:r>
            </a:p>
          </p:txBody>
        </p:sp>
        <p:sp>
          <p:nvSpPr>
            <p:cNvPr id="19" name="TextBox 19"/>
            <p:cNvSpPr txBox="1"/>
            <p:nvPr/>
          </p:nvSpPr>
          <p:spPr>
            <a:xfrm>
              <a:off x="716280" y="2543175"/>
              <a:ext cx="377846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file, ChatGPT chạy code; dán chữ, nó tính nhẩm</a:t>
              </a:r>
            </a:p>
          </p:txBody>
        </p:sp>
        <p:sp>
          <p:nvSpPr>
            <p:cNvPr id="20" name="Line 20"/>
            <p:cNvSpPr/>
            <p:nvPr/>
          </p:nvSpPr>
          <p:spPr>
            <a:xfrm>
              <a:off x="381000" y="29337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1" name="TextBox 21"/>
            <p:cNvSpPr txBox="1"/>
            <p:nvPr/>
          </p:nvSpPr>
          <p:spPr>
            <a:xfrm>
              <a:off x="371094" y="31041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2</a:t>
              </a:r>
            </a:p>
          </p:txBody>
        </p:sp>
        <p:sp>
          <p:nvSpPr>
            <p:cNvPr id="22" name="TextBox 22"/>
            <p:cNvSpPr txBox="1"/>
            <p:nvPr/>
          </p:nvSpPr>
          <p:spPr>
            <a:xfrm>
              <a:off x="715518" y="3136582"/>
              <a:ext cx="24382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Đếm trước, chỉ theo chiều file có</a:t>
              </a:r>
            </a:p>
          </p:txBody>
        </p:sp>
        <p:sp>
          <p:nvSpPr>
            <p:cNvPr id="23" name="TextBox 23"/>
            <p:cNvSpPr txBox="1"/>
            <p:nvPr/>
          </p:nvSpPr>
          <p:spPr>
            <a:xfrm>
              <a:off x="716280" y="3419475"/>
              <a:ext cx="39398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Báo số dòng, các cột; không có cột thì không tách</a:t>
              </a:r>
            </a:p>
          </p:txBody>
        </p:sp>
        <p:sp>
          <p:nvSpPr>
            <p:cNvPr id="24" name="Line 24"/>
            <p:cNvSpPr/>
            <p:nvPr/>
          </p:nvSpPr>
          <p:spPr>
            <a:xfrm>
              <a:off x="381000" y="38100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5" name="TextBox 25"/>
            <p:cNvSpPr txBox="1"/>
            <p:nvPr/>
          </p:nvSpPr>
          <p:spPr>
            <a:xfrm>
              <a:off x="371094" y="39804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3</a:t>
              </a:r>
            </a:p>
          </p:txBody>
        </p:sp>
        <p:sp>
          <p:nvSpPr>
            <p:cNvPr id="26" name="TextBox 26"/>
            <p:cNvSpPr txBox="1"/>
            <p:nvPr/>
          </p:nvSpPr>
          <p:spPr>
            <a:xfrm>
              <a:off x="715518" y="4012882"/>
              <a:ext cx="158677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Đối chiếu tổng</a:t>
              </a:r>
            </a:p>
          </p:txBody>
        </p:sp>
        <p:sp>
          <p:nvSpPr>
            <p:cNvPr id="27" name="TextBox 27"/>
            <p:cNvSpPr txBox="1"/>
            <p:nvPr/>
          </p:nvSpPr>
          <p:spPr>
            <a:xfrm>
              <a:off x="716280" y="4295775"/>
              <a:ext cx="396974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Tổng và 2–3 số lẻ phải khớp file gốc</a:t>
              </a:r>
            </a:p>
          </p:txBody>
        </p:sp>
        <p:sp>
          <p:nvSpPr>
            <p:cNvPr id="28" name="Line 28"/>
            <p:cNvSpPr/>
            <p:nvPr/>
          </p:nvSpPr>
          <p:spPr>
            <a:xfrm>
              <a:off x="381000" y="46863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9" name="TextBox 29"/>
            <p:cNvSpPr txBox="1"/>
            <p:nvPr/>
          </p:nvSpPr>
          <p:spPr>
            <a:xfrm>
              <a:off x="371094" y="48567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4</a:t>
              </a:r>
            </a:p>
          </p:txBody>
        </p:sp>
        <p:sp>
          <p:nvSpPr>
            <p:cNvPr id="30" name="TextBox 30"/>
            <p:cNvSpPr txBox="1"/>
            <p:nvPr/>
          </p:nvSpPr>
          <p:spPr>
            <a:xfrm>
              <a:off x="715518" y="4889182"/>
              <a:ext cx="268349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Nguyên nhân là suy đoán</a:t>
              </a:r>
            </a:p>
          </p:txBody>
        </p:sp>
        <p:sp>
          <p:nvSpPr>
            <p:cNvPr id="31" name="TextBox 31"/>
            <p:cNvSpPr txBox="1"/>
            <p:nvPr/>
          </p:nvSpPr>
          <p:spPr>
            <a:xfrm>
              <a:off x="716280" y="5172075"/>
              <a:ext cx="37186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“nghi do…, cần kiểm chứng bằng…”</a:t>
              </a:r>
            </a:p>
          </p:txBody>
        </p:sp>
      </p:grpSp>
      <p:grpSp>
        <p:nvGrpSpPr>
          <p:cNvPr id="41" name="Group 41"/>
          <p:cNvGrpSpPr/>
          <p:nvPr/>
        </p:nvGrpSpPr>
        <p:grpSpPr>
          <a:xfrm>
            <a:off x="5715000" y="2114550"/>
            <a:ext cx="6096000" cy="3886200"/>
            <a:chOff x="5715000" y="2114550"/>
            <a:chExt cx="6096000" cy="3886200"/>
          </a:xfrm>
        </p:grpSpPr>
        <p:sp>
          <p:nvSpPr>
            <p:cNvPr id="33" name="Rectangle 33"/>
            <p:cNvSpPr/>
            <p:nvPr/>
          </p:nvSpPr>
          <p:spPr>
            <a:xfrm>
              <a:off x="5715000" y="2114550"/>
              <a:ext cx="6096000" cy="3886200"/>
            </a:xfrm>
            <a:prstGeom prst="roundRect">
              <a:avLst>
                <a:gd name="adj" fmla="val 3922"/>
              </a:avLst>
            </a:prstGeom>
            <a:solidFill>
              <a:schemeClr val="lt1"/>
            </a:solidFill>
            <a:ln w="14288">
              <a:solidFill>
                <a:schemeClr val="accent3"/>
              </a:solidFill>
            </a:ln>
          </p:spPr>
        </p:sp>
        <p:grpSp>
          <p:nvGrpSpPr>
            <p:cNvPr id="39" name="Group 39"/>
            <p:cNvGrpSpPr/>
            <p:nvPr/>
          </p:nvGrpSpPr>
          <p:grpSpPr>
            <a:xfrm>
              <a:off x="5987256" y="2293144"/>
              <a:ext cx="122238" cy="157163"/>
              <a:chOff x="5987256" y="2293144"/>
              <a:chExt cx="122238" cy="157163"/>
            </a:xfrm>
          </p:grpSpPr>
          <p:sp>
            <p:nvSpPr>
              <p:cNvPr id="34" name="Freeform 34"/>
              <p:cNvSpPr/>
              <p:nvPr/>
            </p:nvSpPr>
            <p:spPr>
              <a:xfrm>
                <a:off x="6065838" y="22931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3"/>
                </a:solidFill>
              </a:ln>
            </p:spPr>
          </p:sp>
          <p:sp>
            <p:nvSpPr>
              <p:cNvPr id="35" name="Freeform 35"/>
              <p:cNvSpPr/>
              <p:nvPr/>
            </p:nvSpPr>
            <p:spPr>
              <a:xfrm>
                <a:off x="5987256" y="22931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3"/>
                </a:solidFill>
              </a:ln>
            </p:spPr>
          </p:sp>
          <p:sp>
            <p:nvSpPr>
              <p:cNvPr id="36" name="Freeform 36"/>
              <p:cNvSpPr/>
              <p:nvPr/>
            </p:nvSpPr>
            <p:spPr>
              <a:xfrm>
                <a:off x="6013450" y="2362994"/>
                <a:ext cx="69850" cy="61119"/>
              </a:xfrm>
              <a:custGeom>
                <a:avLst/>
                <a:gdLst/>
                <a:ahLst/>
                <a:cxnLst/>
                <a:rect l="l" t="t" r="r" b="b"/>
                <a:pathLst>
                  <a:path w="69850" h="61119">
                    <a:moveTo>
                      <a:pt x="0" y="0"/>
                    </a:moveTo>
                    <a:lnTo>
                      <a:pt x="69850" y="0"/>
                    </a:lnTo>
                    <a:lnTo>
                      <a:pt x="69850" y="61119"/>
                    </a:lnTo>
                    <a:lnTo>
                      <a:pt x="0" y="61119"/>
                    </a:lnTo>
                    <a:lnTo>
                      <a:pt x="0" y="0"/>
                    </a:lnTo>
                  </a:path>
                </a:pathLst>
              </a:custGeom>
              <a:noFill/>
              <a:ln w="17463">
                <a:solidFill>
                  <a:schemeClr val="accent3"/>
                </a:solidFill>
              </a:ln>
            </p:spPr>
          </p:sp>
          <p:sp>
            <p:nvSpPr>
              <p:cNvPr id="37" name="Freeform 37"/>
              <p:cNvSpPr/>
              <p:nvPr/>
            </p:nvSpPr>
            <p:spPr>
              <a:xfrm>
                <a:off x="6013450" y="2397919"/>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38" name="Freeform 38"/>
              <p:cNvSpPr/>
              <p:nvPr/>
            </p:nvSpPr>
            <p:spPr>
              <a:xfrm>
                <a:off x="6039644" y="2362994"/>
                <a:ext cx="9525" cy="61119"/>
              </a:xfrm>
              <a:custGeom>
                <a:avLst/>
                <a:gdLst/>
                <a:ahLst/>
                <a:cxnLst/>
                <a:rect l="l" t="t" r="r" b="b"/>
                <a:pathLst>
                  <a:path w="9525" h="61119">
                    <a:moveTo>
                      <a:pt x="0" y="0"/>
                    </a:moveTo>
                    <a:lnTo>
                      <a:pt x="0" y="61119"/>
                    </a:lnTo>
                  </a:path>
                </a:pathLst>
              </a:custGeom>
              <a:noFill/>
              <a:ln w="17463">
                <a:solidFill>
                  <a:schemeClr val="accent3"/>
                </a:solidFill>
              </a:ln>
            </p:spPr>
          </p:sp>
        </p:grpSp>
        <p:sp>
          <p:nvSpPr>
            <p:cNvPr id="40" name="TextBox 40"/>
            <p:cNvSpPr txBox="1"/>
            <p:nvPr/>
          </p:nvSpPr>
          <p:spPr>
            <a:xfrm>
              <a:off x="6223254" y="2299335"/>
              <a:ext cx="3593653"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BẪY DEMO · 40 DÒNG ĐƠN HÀNG, HAI CÁCH ĐƯA VÀO</a:t>
              </a:r>
            </a:p>
          </p:txBody>
        </p:sp>
      </p:grpSp>
      <p:grpSp>
        <p:nvGrpSpPr>
          <p:cNvPr id="54" name="Group 54"/>
          <p:cNvGrpSpPr/>
          <p:nvPr/>
        </p:nvGrpSpPr>
        <p:grpSpPr>
          <a:xfrm>
            <a:off x="5943600" y="2609850"/>
            <a:ext cx="5638800" cy="342900"/>
            <a:chOff x="5943600" y="2609850"/>
            <a:chExt cx="5638800" cy="342900"/>
          </a:xfrm>
        </p:grpSpPr>
        <p:sp>
          <p:nvSpPr>
            <p:cNvPr id="42" name="Rectangle 42"/>
            <p:cNvSpPr/>
            <p:nvPr/>
          </p:nvSpPr>
          <p:spPr>
            <a:xfrm>
              <a:off x="5943600" y="2609850"/>
              <a:ext cx="762000" cy="342900"/>
            </a:xfrm>
            <a:prstGeom prst="roundRect">
              <a:avLst>
                <a:gd name="adj" fmla="val 16667"/>
              </a:avLst>
            </a:prstGeom>
            <a:solidFill>
              <a:schemeClr val="accent1"/>
            </a:solidFill>
            <a:ln>
              <a:noFill/>
            </a:ln>
          </p:spPr>
        </p:sp>
        <p:sp>
          <p:nvSpPr>
            <p:cNvPr id="43" name="TextBox 43"/>
            <p:cNvSpPr txBox="1"/>
            <p:nvPr/>
          </p:nvSpPr>
          <p:spPr>
            <a:xfrm>
              <a:off x="61292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Ngày</a:t>
              </a:r>
            </a:p>
          </p:txBody>
        </p:sp>
        <p:sp>
          <p:nvSpPr>
            <p:cNvPr id="44" name="Rectangle 44"/>
            <p:cNvSpPr/>
            <p:nvPr/>
          </p:nvSpPr>
          <p:spPr>
            <a:xfrm>
              <a:off x="6743700" y="2609850"/>
              <a:ext cx="762000" cy="342900"/>
            </a:xfrm>
            <a:prstGeom prst="roundRect">
              <a:avLst>
                <a:gd name="adj" fmla="val 16667"/>
              </a:avLst>
            </a:prstGeom>
            <a:solidFill>
              <a:schemeClr val="accent1"/>
            </a:solidFill>
            <a:ln>
              <a:noFill/>
            </a:ln>
          </p:spPr>
        </p:sp>
        <p:sp>
          <p:nvSpPr>
            <p:cNvPr id="45" name="TextBox 45"/>
            <p:cNvSpPr txBox="1"/>
            <p:nvPr/>
          </p:nvSpPr>
          <p:spPr>
            <a:xfrm>
              <a:off x="69293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Kênh</a:t>
              </a:r>
            </a:p>
          </p:txBody>
        </p:sp>
        <p:sp>
          <p:nvSpPr>
            <p:cNvPr id="46" name="Rectangle 46"/>
            <p:cNvSpPr/>
            <p:nvPr/>
          </p:nvSpPr>
          <p:spPr>
            <a:xfrm>
              <a:off x="7543800" y="2609850"/>
              <a:ext cx="990600" cy="342900"/>
            </a:xfrm>
            <a:prstGeom prst="roundRect">
              <a:avLst>
                <a:gd name="adj" fmla="val 16667"/>
              </a:avLst>
            </a:prstGeom>
            <a:solidFill>
              <a:schemeClr val="accent1"/>
            </a:solidFill>
            <a:ln>
              <a:noFill/>
            </a:ln>
          </p:spPr>
        </p:sp>
        <p:sp>
          <p:nvSpPr>
            <p:cNvPr id="47" name="TextBox 47"/>
            <p:cNvSpPr txBox="1"/>
            <p:nvPr/>
          </p:nvSpPr>
          <p:spPr>
            <a:xfrm>
              <a:off x="7661095" y="2708910"/>
              <a:ext cx="756011"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Sản phẩm</a:t>
              </a:r>
            </a:p>
          </p:txBody>
        </p:sp>
        <p:sp>
          <p:nvSpPr>
            <p:cNvPr id="48" name="Rectangle 48"/>
            <p:cNvSpPr/>
            <p:nvPr/>
          </p:nvSpPr>
          <p:spPr>
            <a:xfrm>
              <a:off x="8572500" y="2609850"/>
              <a:ext cx="952500" cy="342900"/>
            </a:xfrm>
            <a:prstGeom prst="roundRect">
              <a:avLst>
                <a:gd name="adj" fmla="val 16667"/>
              </a:avLst>
            </a:prstGeom>
            <a:solidFill>
              <a:schemeClr val="accent1"/>
            </a:solidFill>
            <a:ln>
              <a:noFill/>
            </a:ln>
          </p:spPr>
        </p:sp>
        <p:sp>
          <p:nvSpPr>
            <p:cNvPr id="49" name="TextBox 49"/>
            <p:cNvSpPr txBox="1"/>
            <p:nvPr/>
          </p:nvSpPr>
          <p:spPr>
            <a:xfrm>
              <a:off x="8709218" y="2708910"/>
              <a:ext cx="67906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Số lượng</a:t>
              </a:r>
            </a:p>
          </p:txBody>
        </p:sp>
        <p:sp>
          <p:nvSpPr>
            <p:cNvPr id="50" name="Rectangle 50"/>
            <p:cNvSpPr/>
            <p:nvPr/>
          </p:nvSpPr>
          <p:spPr>
            <a:xfrm>
              <a:off x="9563100" y="2609850"/>
              <a:ext cx="876300" cy="342900"/>
            </a:xfrm>
            <a:prstGeom prst="roundRect">
              <a:avLst>
                <a:gd name="adj" fmla="val 16667"/>
              </a:avLst>
            </a:prstGeom>
            <a:solidFill>
              <a:schemeClr val="accent1"/>
            </a:solidFill>
            <a:ln>
              <a:noFill/>
            </a:ln>
          </p:spPr>
        </p:sp>
        <p:sp>
          <p:nvSpPr>
            <p:cNvPr id="51" name="TextBox 51"/>
            <p:cNvSpPr txBox="1"/>
            <p:nvPr/>
          </p:nvSpPr>
          <p:spPr>
            <a:xfrm>
              <a:off x="9708358" y="2708910"/>
              <a:ext cx="5857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Đơn giá</a:t>
              </a:r>
            </a:p>
          </p:txBody>
        </p:sp>
        <p:sp>
          <p:nvSpPr>
            <p:cNvPr id="52" name="Rectangle 52"/>
            <p:cNvSpPr/>
            <p:nvPr/>
          </p:nvSpPr>
          <p:spPr>
            <a:xfrm>
              <a:off x="10477500" y="2609850"/>
              <a:ext cx="1104900" cy="342900"/>
            </a:xfrm>
            <a:prstGeom prst="roundRect">
              <a:avLst>
                <a:gd name="adj" fmla="val 16667"/>
              </a:avLst>
            </a:prstGeom>
            <a:solidFill>
              <a:schemeClr val="accent1"/>
            </a:solidFill>
            <a:ln>
              <a:noFill/>
            </a:ln>
          </p:spPr>
        </p:sp>
        <p:sp>
          <p:nvSpPr>
            <p:cNvPr id="53" name="TextBox 53"/>
            <p:cNvSpPr txBox="1"/>
            <p:nvPr/>
          </p:nvSpPr>
          <p:spPr>
            <a:xfrm>
              <a:off x="10597134" y="2708910"/>
              <a:ext cx="865632"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Thành tiền</a:t>
              </a:r>
            </a:p>
          </p:txBody>
        </p:sp>
      </p:grpSp>
      <p:grpSp>
        <p:nvGrpSpPr>
          <p:cNvPr id="57" name="Group 57"/>
          <p:cNvGrpSpPr/>
          <p:nvPr/>
        </p:nvGrpSpPr>
        <p:grpSpPr>
          <a:xfrm>
            <a:off x="5943600" y="3086100"/>
            <a:ext cx="3390900" cy="346901"/>
            <a:chOff x="5943600" y="3086100"/>
            <a:chExt cx="3390900" cy="346901"/>
          </a:xfrm>
        </p:grpSpPr>
        <p:sp>
          <p:nvSpPr>
            <p:cNvPr id="55" name="Rectangle 55"/>
            <p:cNvSpPr/>
            <p:nvPr/>
          </p:nvSpPr>
          <p:spPr>
            <a:xfrm>
              <a:off x="5943600" y="3086100"/>
              <a:ext cx="5638800" cy="342900"/>
            </a:xfrm>
            <a:prstGeom prst="roundRect">
              <a:avLst>
                <a:gd name="adj" fmla="val 22222"/>
              </a:avLst>
            </a:prstGeom>
            <a:solidFill>
              <a:schemeClr val="lt1"/>
            </a:solidFill>
            <a:ln w="19050">
              <a:solidFill>
                <a:srgbClr val="C0392B"/>
              </a:solidFill>
              <a:prstDash val="dash"/>
            </a:ln>
          </p:spPr>
        </p:sp>
        <p:sp>
          <p:nvSpPr>
            <p:cNvPr id="56" name="TextBox 56"/>
            <p:cNvSpPr txBox="1"/>
            <p:nvPr/>
          </p:nvSpPr>
          <p:spPr>
            <a:xfrm>
              <a:off x="6089142" y="3168968"/>
              <a:ext cx="5300000"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Dán 40 dòng dạng chữ → ChatGPT tính nhẩm</a:t>
              </a:r>
            </a:p>
          </p:txBody>
        </p:sp>
      </p:grpSp>
      <p:grpSp>
        <p:nvGrpSpPr>
          <p:cNvPr id="64" name="Group 64"/>
          <p:cNvGrpSpPr/>
          <p:nvPr/>
        </p:nvGrpSpPr>
        <p:grpSpPr>
          <a:xfrm>
            <a:off x="5943600" y="3619500"/>
            <a:ext cx="5638800" cy="666750"/>
            <a:chOff x="5943600" y="3619500"/>
            <a:chExt cx="5638800" cy="666750"/>
          </a:xfrm>
        </p:grpSpPr>
        <p:sp>
          <p:nvSpPr>
            <p:cNvPr id="58" name="Rectangle 58"/>
            <p:cNvSpPr/>
            <p:nvPr/>
          </p:nvSpPr>
          <p:spPr>
            <a:xfrm>
              <a:off x="5943600" y="3619500"/>
              <a:ext cx="5638800" cy="666750"/>
            </a:xfrm>
            <a:prstGeom prst="roundRect">
              <a:avLst>
                <a:gd name="adj" fmla="val 20000"/>
              </a:avLst>
            </a:prstGeom>
            <a:solidFill>
              <a:schemeClr val="lt2"/>
            </a:solidFill>
            <a:ln>
              <a:noFill/>
            </a:ln>
          </p:spPr>
        </p:sp>
        <p:grpSp>
          <p:nvGrpSpPr>
            <p:cNvPr id="62" name="Group 62"/>
            <p:cNvGrpSpPr/>
            <p:nvPr/>
          </p:nvGrpSpPr>
          <p:grpSpPr>
            <a:xfrm>
              <a:off x="6141244" y="3873500"/>
              <a:ext cx="157163" cy="148431"/>
              <a:chOff x="6141244" y="3873500"/>
              <a:chExt cx="157163" cy="148431"/>
            </a:xfrm>
          </p:grpSpPr>
          <p:sp>
            <p:nvSpPr>
              <p:cNvPr id="59" name="Freeform 59"/>
              <p:cNvSpPr/>
              <p:nvPr/>
            </p:nvSpPr>
            <p:spPr>
              <a:xfrm>
                <a:off x="6184900" y="3917156"/>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60" name="Freeform 60"/>
              <p:cNvSpPr/>
              <p:nvPr/>
            </p:nvSpPr>
            <p:spPr>
              <a:xfrm>
                <a:off x="6184900" y="3952081"/>
                <a:ext cx="52388" cy="9525"/>
              </a:xfrm>
              <a:custGeom>
                <a:avLst/>
                <a:gdLst/>
                <a:ahLst/>
                <a:cxnLst/>
                <a:rect l="l" t="t" r="r" b="b"/>
                <a:pathLst>
                  <a:path w="52388" h="9525">
                    <a:moveTo>
                      <a:pt x="0" y="0"/>
                    </a:moveTo>
                    <a:lnTo>
                      <a:pt x="52388" y="0"/>
                    </a:lnTo>
                  </a:path>
                </a:pathLst>
              </a:custGeom>
              <a:noFill/>
              <a:ln w="17463">
                <a:solidFill>
                  <a:schemeClr val="accent3"/>
                </a:solidFill>
              </a:ln>
            </p:spPr>
          </p:sp>
          <p:sp>
            <p:nvSpPr>
              <p:cNvPr id="61" name="Freeform 61"/>
              <p:cNvSpPr/>
              <p:nvPr/>
            </p:nvSpPr>
            <p:spPr>
              <a:xfrm>
                <a:off x="6141244" y="3873500"/>
                <a:ext cx="157163" cy="148431"/>
              </a:xfrm>
              <a:custGeom>
                <a:avLst/>
                <a:gdLst/>
                <a:ahLst/>
                <a:cxnLst/>
                <a:rect l="l" t="t" r="r" b="b"/>
                <a:pathLst>
                  <a:path w="157163" h="148431">
                    <a:moveTo>
                      <a:pt x="52388" y="122238"/>
                    </a:moveTo>
                    <a:lnTo>
                      <a:pt x="26194" y="122238"/>
                    </a:lnTo>
                    <a:cubicBezTo>
                      <a:pt x="11727" y="122238"/>
                      <a:pt x="0" y="110510"/>
                      <a:pt x="0" y="96044"/>
                    </a:cubicBezTo>
                    <a:lnTo>
                      <a:pt x="0" y="26194"/>
                    </a:ln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104775" y="122238"/>
                    </a:lnTo>
                    <a:lnTo>
                      <a:pt x="78581" y="148431"/>
                    </a:lnTo>
                    <a:lnTo>
                      <a:pt x="52388" y="122238"/>
                    </a:lnTo>
                  </a:path>
                </a:pathLst>
              </a:custGeom>
              <a:noFill/>
              <a:ln w="17463">
                <a:solidFill>
                  <a:schemeClr val="accent3"/>
                </a:solidFill>
              </a:ln>
            </p:spPr>
          </p:sp>
        </p:grpSp>
        <p:sp>
          <p:nvSpPr>
            <p:cNvPr id="63" name="TextBox 63"/>
            <p:cNvSpPr txBox="1"/>
            <p:nvPr/>
          </p:nvSpPr>
          <p:spPr>
            <a:xfrm>
              <a:off x="6450330" y="3724275"/>
              <a:ext cx="2710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Vì sao Shopee nhiều đơn nhất</a:t>
              </a:r>
              <a:br/>
              <a:r>
                <a:rPr lang="vi-VN" sz="1500" dirty="0">
                  <a:solidFill>
                    <a:schemeClr val="accent1"/>
                  </a:solidFill>
                  <a:latin typeface="Consolas"/>
                  <a:ea typeface="Consolas"/>
                  <a:cs typeface="Consolas"/>
                </a:rPr>
                <a:t>mà doanh thu thấp?</a:t>
              </a:r>
            </a:p>
          </p:txBody>
        </p:sp>
      </p:grpSp>
      <p:grpSp>
        <p:nvGrpSpPr>
          <p:cNvPr id="71" name="Group 71"/>
          <p:cNvGrpSpPr/>
          <p:nvPr/>
        </p:nvGrpSpPr>
        <p:grpSpPr>
          <a:xfrm>
            <a:off x="5961839" y="4505325"/>
            <a:ext cx="4347761" cy="643509"/>
            <a:chOff x="5961839" y="4505325"/>
            <a:chExt cx="4347761" cy="643509"/>
          </a:xfrm>
        </p:grpSpPr>
        <p:grpSp>
          <p:nvGrpSpPr>
            <p:cNvPr id="68" name="Group 68"/>
            <p:cNvGrpSpPr/>
            <p:nvPr/>
          </p:nvGrpSpPr>
          <p:grpSpPr>
            <a:xfrm>
              <a:off x="5961839" y="4521211"/>
              <a:ext cx="192114" cy="165051"/>
              <a:chOff x="5961839" y="4521211"/>
              <a:chExt cx="192114" cy="165051"/>
            </a:xfrm>
          </p:grpSpPr>
          <p:sp>
            <p:nvSpPr>
              <p:cNvPr id="65" name="Freeform 65"/>
              <p:cNvSpPr/>
              <p:nvPr/>
            </p:nvSpPr>
            <p:spPr>
              <a:xfrm>
                <a:off x="6057900" y="45815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66" name="Freeform 66"/>
              <p:cNvSpPr/>
              <p:nvPr/>
            </p:nvSpPr>
            <p:spPr>
              <a:xfrm>
                <a:off x="5961839" y="45212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67" name="Freeform 67"/>
              <p:cNvSpPr/>
              <p:nvPr/>
            </p:nvSpPr>
            <p:spPr>
              <a:xfrm>
                <a:off x="6057900" y="46482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69" name="TextBox 69"/>
            <p:cNvSpPr txBox="1"/>
            <p:nvPr/>
          </p:nvSpPr>
          <p:spPr>
            <a:xfrm>
              <a:off x="6278880" y="4505325"/>
              <a:ext cx="40307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Trả lời chắc nịch: Đại lý sỉ 6 đơn, 96,71 tr</a:t>
              </a:r>
            </a:p>
          </p:txBody>
        </p:sp>
        <p:sp>
          <p:nvSpPr>
            <p:cNvPr id="70" name="TextBox 70"/>
            <p:cNvSpPr txBox="1"/>
            <p:nvPr/>
          </p:nvSpPr>
          <p:spPr>
            <a:xfrm>
              <a:off x="6277356" y="4796790"/>
              <a:ext cx="4300000"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 Sai: thật là 7 đơn, 106,71 tr</a:t>
              </a:r>
            </a:p>
          </p:txBody>
        </p:sp>
      </p:grpSp>
      <p:grpSp>
        <p:nvGrpSpPr>
          <p:cNvPr id="77" name="Group 77"/>
          <p:cNvGrpSpPr/>
          <p:nvPr/>
        </p:nvGrpSpPr>
        <p:grpSpPr>
          <a:xfrm>
            <a:off x="5943600" y="5238750"/>
            <a:ext cx="5638800" cy="670751"/>
            <a:chOff x="5943600" y="5238750"/>
            <a:chExt cx="5638800" cy="670751"/>
          </a:xfrm>
        </p:grpSpPr>
        <p:sp>
          <p:nvSpPr>
            <p:cNvPr id="72" name="Line 72"/>
            <p:cNvSpPr/>
            <p:nvPr/>
          </p:nvSpPr>
          <p:spPr>
            <a:xfrm>
              <a:off x="5943600" y="5238750"/>
              <a:ext cx="5638800" cy="9525"/>
            </a:xfrm>
            <a:custGeom>
              <a:avLst/>
              <a:gdLst/>
              <a:ahLst/>
              <a:cxnLst/>
              <a:rect l="l" t="t" r="r" b="b"/>
              <a:pathLst>
                <a:path w="5638800" h="9525">
                  <a:moveTo>
                    <a:pt x="0" y="0"/>
                  </a:moveTo>
                  <a:lnTo>
                    <a:pt x="5638800" y="0"/>
                  </a:lnTo>
                </a:path>
              </a:pathLst>
            </a:custGeom>
            <a:noFill/>
            <a:ln w="9525">
              <a:solidFill>
                <a:schemeClr val="accent4"/>
              </a:solidFill>
            </a:ln>
          </p:spPr>
        </p:sp>
        <p:grpSp>
          <p:nvGrpSpPr>
            <p:cNvPr id="75" name="Group 75"/>
            <p:cNvGrpSpPr/>
            <p:nvPr/>
          </p:nvGrpSpPr>
          <p:grpSpPr>
            <a:xfrm>
              <a:off x="5972175" y="5419725"/>
              <a:ext cx="171450" cy="171450"/>
              <a:chOff x="5972175" y="5419725"/>
              <a:chExt cx="171450" cy="171450"/>
            </a:xfrm>
          </p:grpSpPr>
          <p:sp>
            <p:nvSpPr>
              <p:cNvPr id="73" name="Freeform 73"/>
              <p:cNvSpPr/>
              <p:nvPr/>
            </p:nvSpPr>
            <p:spPr>
              <a:xfrm>
                <a:off x="5972175" y="54197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74" name="Freeform 74"/>
              <p:cNvSpPr/>
              <p:nvPr/>
            </p:nvSpPr>
            <p:spPr>
              <a:xfrm>
                <a:off x="6029325" y="54864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76" name="TextBox 76"/>
            <p:cNvSpPr txBox="1"/>
            <p:nvPr/>
          </p:nvSpPr>
          <p:spPr>
            <a:xfrm>
              <a:off x="6279642" y="5416868"/>
              <a:ext cx="3949351"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Tải file thì đúng: 40 dòng · tổng 147.300.000 đ</a:t>
              </a:r>
              <a:br/>
              <a:r>
                <a:rPr lang="vi-VN" sz="1350" b="1" dirty="0">
                  <a:solidFill>
                    <a:schemeClr val="accent1"/>
                  </a:solidFill>
                  <a:latin typeface="+mn-lt"/>
                  <a:ea typeface="+mn-ea"/>
                  <a:cs typeface="+mn-cs"/>
                </a:rPr>
                <a:t>· Đại lý sỉ 7 đơn, 106.710.000 đ</a:t>
              </a:r>
            </a:p>
          </p:txBody>
        </p:sp>
      </p:grpSp>
      <p:sp>
        <p:nvSpPr>
          <p:cNvPr id="78" name="TextBox 7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9" name="TextBox 79"/>
          <p:cNvSpPr txBox="1"/>
          <p:nvPr/>
        </p:nvSpPr>
        <p:spPr>
          <a:xfrm>
            <a:off x="7750291" y="6554152"/>
            <a:ext cx="3399293"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 kết quả thật chạy 09/10/2026</a:t>
            </a:r>
          </a:p>
        </p:txBody>
      </p:sp>
      <p:sp>
        <p:nvSpPr>
          <p:cNvPr id="80" name="TextBox 8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35</a:t>
            </a:r>
          </a:p>
        </p:txBody>
      </p:sp>
      <p:sp>
        <p:nvSpPr>
          <p:cNvPr id="81"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p:cTn id="7" dur="4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fade">
                                      <p:cBhvr>
                                        <p:cTn id="12" dur="4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1"/>
                                        </p:tgtEl>
                                        <p:attrNameLst>
                                          <p:attrName>style.visibility</p:attrName>
                                        </p:attrNameLst>
                                      </p:cBhvr>
                                      <p:to>
                                        <p:strVal val="visible"/>
                                      </p:to>
                                    </p:set>
                                    <p:animEffect transition="in" filter="fade">
                                      <p:cBhvr>
                                        <p:cTn id="17" dur="400"/>
                                        <p:tgtEl>
                                          <p:spTgt spid="71"/>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7"/>
                                        </p:tgtEl>
                                        <p:attrNameLst>
                                          <p:attrName>style.visibility</p:attrName>
                                        </p:attrNameLst>
                                      </p:cBhvr>
                                      <p:to>
                                        <p:strVal val="visible"/>
                                      </p:to>
                                    </p:set>
                                    <p:anim calcmode="lin" valueType="num">
                                      <p:cBhvr>
                                        <p:cTn id="22" dur="400" fill="hold"/>
                                        <p:tgtEl>
                                          <p:spTgt spid="57"/>
                                        </p:tgtEl>
                                        <p:attrNameLst>
                                          <p:attrName>ppt_w</p:attrName>
                                        </p:attrNameLst>
                                      </p:cBhvr>
                                      <p:tavLst>
                                        <p:tav tm="0">
                                          <p:val>
                                            <p:fltVal val="0"/>
                                          </p:val>
                                        </p:tav>
                                        <p:tav tm="100000">
                                          <p:val>
                                            <p:strVal val="#ppt_w"/>
                                          </p:val>
                                        </p:tav>
                                      </p:tavLst>
                                    </p:anim>
                                    <p:anim calcmode="lin" valueType="num">
                                      <p:cBhvr>
                                        <p:cTn id="23" dur="400" fill="hold"/>
                                        <p:tgtEl>
                                          <p:spTgt spid="57"/>
                                        </p:tgtEl>
                                        <p:attrNameLst>
                                          <p:attrName>ppt_h</p:attrName>
                                        </p:attrNameLst>
                                      </p:cBhvr>
                                      <p:tavLst>
                                        <p:tav tm="0">
                                          <p:val>
                                            <p:fltVal val="0"/>
                                          </p:val>
                                        </p:tav>
                                        <p:tav tm="100000">
                                          <p:val>
                                            <p:strVal val="#ppt_h"/>
                                          </p:val>
                                        </p:tav>
                                      </p:tavLst>
                                    </p:anim>
                                    <p:animEffect transition="in" filter="fade">
                                      <p:cBhvr>
                                        <p:cTn id="24" dur="400"/>
                                        <p:tgtEl>
                                          <p:spTgt spid="5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7"/>
                                        </p:tgtEl>
                                        <p:attrNameLst>
                                          <p:attrName>style.visibility</p:attrName>
                                        </p:attrNameLst>
                                      </p:cBhvr>
                                      <p:to>
                                        <p:strVal val="visible"/>
                                      </p:to>
                                    </p:set>
                                    <p:animEffect transition="in" filter="fade">
                                      <p:cBhvr>
                                        <p:cTn id="29"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6688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Kiểm chứng đầu ra trong vài phút</a:t>
            </a:r>
            <a:br/>
            <a:r>
              <a:rPr lang="vi-VN" sz="3150" b="1" dirty="0">
                <a:solidFill>
                  <a:schemeClr val="accent1"/>
                </a:solidFill>
                <a:latin typeface="+mn-lt"/>
                <a:ea typeface="+mn-ea"/>
                <a:cs typeface="+mn-cs"/>
              </a:rPr>
              <a:t>bằng bốn cách trước khi dùng</a:t>
            </a:r>
          </a:p>
        </p:txBody>
      </p:sp>
      <p:grpSp>
        <p:nvGrpSpPr>
          <p:cNvPr id="29" name="Group 29"/>
          <p:cNvGrpSpPr/>
          <p:nvPr/>
        </p:nvGrpSpPr>
        <p:grpSpPr>
          <a:xfrm>
            <a:off x="381000" y="2114550"/>
            <a:ext cx="5638800" cy="1733550"/>
            <a:chOff x="381000" y="2114550"/>
            <a:chExt cx="5638800" cy="1733550"/>
          </a:xfrm>
        </p:grpSpPr>
        <p:sp>
          <p:nvSpPr>
            <p:cNvPr id="17" name="Rectangle 17"/>
            <p:cNvSpPr/>
            <p:nvPr/>
          </p:nvSpPr>
          <p:spPr>
            <a:xfrm>
              <a:off x="381000" y="2114550"/>
              <a:ext cx="5638800" cy="1733550"/>
            </a:xfrm>
            <a:prstGeom prst="roundRect">
              <a:avLst>
                <a:gd name="adj" fmla="val 8791"/>
              </a:avLst>
            </a:prstGeom>
            <a:solidFill>
              <a:schemeClr val="lt1"/>
            </a:solidFill>
            <a:ln w="14288">
              <a:solidFill>
                <a:schemeClr val="accent4"/>
              </a:solidFill>
            </a:ln>
          </p:spPr>
        </p:sp>
        <p:sp>
          <p:nvSpPr>
            <p:cNvPr id="18" name="Ellipse 18"/>
            <p:cNvSpPr/>
            <p:nvPr/>
          </p:nvSpPr>
          <p:spPr>
            <a:xfrm>
              <a:off x="609600" y="2343150"/>
              <a:ext cx="495300" cy="495300"/>
            </a:xfrm>
            <a:prstGeom prst="ellipse">
              <a:avLst/>
            </a:prstGeom>
            <a:solidFill>
              <a:schemeClr val="lt2"/>
            </a:solidFill>
            <a:ln>
              <a:noFill/>
            </a:ln>
          </p:spPr>
        </p:sp>
        <p:grpSp>
          <p:nvGrpSpPr>
            <p:cNvPr id="24" name="Group 24"/>
            <p:cNvGrpSpPr/>
            <p:nvPr/>
          </p:nvGrpSpPr>
          <p:grpSpPr>
            <a:xfrm>
              <a:off x="768350" y="2476500"/>
              <a:ext cx="177800" cy="228599"/>
              <a:chOff x="768350" y="2476500"/>
              <a:chExt cx="177800" cy="228599"/>
            </a:xfrm>
          </p:grpSpPr>
          <p:sp>
            <p:nvSpPr>
              <p:cNvPr id="19" name="Freeform 19"/>
              <p:cNvSpPr/>
              <p:nvPr/>
            </p:nvSpPr>
            <p:spPr>
              <a:xfrm>
                <a:off x="8826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20" name="Freeform 20"/>
              <p:cNvSpPr/>
              <p:nvPr/>
            </p:nvSpPr>
            <p:spPr>
              <a:xfrm>
                <a:off x="7683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21" name="Freeform 21"/>
              <p:cNvSpPr/>
              <p:nvPr/>
            </p:nvSpPr>
            <p:spPr>
              <a:xfrm>
                <a:off x="819150" y="2552700"/>
                <a:ext cx="12700" cy="9525"/>
              </a:xfrm>
              <a:custGeom>
                <a:avLst/>
                <a:gdLst/>
                <a:ahLst/>
                <a:cxnLst/>
                <a:rect l="l" t="t" r="r" b="b"/>
                <a:pathLst>
                  <a:path w="12700" h="9525">
                    <a:moveTo>
                      <a:pt x="0" y="0"/>
                    </a:moveTo>
                    <a:lnTo>
                      <a:pt x="12700" y="0"/>
                    </a:lnTo>
                  </a:path>
                </a:pathLst>
              </a:custGeom>
              <a:noFill/>
              <a:ln w="25400">
                <a:solidFill>
                  <a:schemeClr val="accent3"/>
                </a:solidFill>
              </a:ln>
            </p:spPr>
          </p:sp>
          <p:sp>
            <p:nvSpPr>
              <p:cNvPr id="22" name="Freeform 22"/>
              <p:cNvSpPr/>
              <p:nvPr/>
            </p:nvSpPr>
            <p:spPr>
              <a:xfrm>
                <a:off x="819150" y="260350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23" name="Freeform 23"/>
              <p:cNvSpPr/>
              <p:nvPr/>
            </p:nvSpPr>
            <p:spPr>
              <a:xfrm>
                <a:off x="819150" y="2654299"/>
                <a:ext cx="76200" cy="9525"/>
              </a:xfrm>
              <a:custGeom>
                <a:avLst/>
                <a:gdLst/>
                <a:ahLst/>
                <a:cxnLst/>
                <a:rect l="l" t="t" r="r" b="b"/>
                <a:pathLst>
                  <a:path w="76200" h="9525">
                    <a:moveTo>
                      <a:pt x="0" y="0"/>
                    </a:moveTo>
                    <a:lnTo>
                      <a:pt x="76200" y="0"/>
                    </a:lnTo>
                  </a:path>
                </a:pathLst>
              </a:custGeom>
              <a:noFill/>
              <a:ln w="25400">
                <a:solidFill>
                  <a:schemeClr val="accent3"/>
                </a:solidFill>
              </a:ln>
            </p:spPr>
          </p:sp>
        </p:grpSp>
        <p:sp>
          <p:nvSpPr>
            <p:cNvPr id="25" name="TextBox 25"/>
            <p:cNvSpPr txBox="1"/>
            <p:nvPr/>
          </p:nvSpPr>
          <p:spPr>
            <a:xfrm>
              <a:off x="1247394" y="2475548"/>
              <a:ext cx="225799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Bấm chip nguồn</a:t>
              </a:r>
            </a:p>
          </p:txBody>
        </p:sp>
        <p:sp>
          <p:nvSpPr>
            <p:cNvPr id="26" name="Rectangle 26"/>
            <p:cNvSpPr/>
            <p:nvPr/>
          </p:nvSpPr>
          <p:spPr>
            <a:xfrm>
              <a:off x="4667250" y="2343150"/>
              <a:ext cx="1123950" cy="285750"/>
            </a:xfrm>
            <a:prstGeom prst="roundRect">
              <a:avLst>
                <a:gd name="adj" fmla="val 50000"/>
              </a:avLst>
            </a:prstGeom>
            <a:solidFill>
              <a:srgbClr val="FCEBDD"/>
            </a:solidFill>
            <a:ln>
              <a:noFill/>
            </a:ln>
          </p:spPr>
        </p:sp>
        <p:sp>
          <p:nvSpPr>
            <p:cNvPr id="27" name="TextBox 27"/>
            <p:cNvSpPr txBox="1"/>
            <p:nvPr/>
          </p:nvSpPr>
          <p:spPr>
            <a:xfrm>
              <a:off x="4748190" y="2413635"/>
              <a:ext cx="962071"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 giây / câu</a:t>
              </a:r>
            </a:p>
          </p:txBody>
        </p:sp>
        <p:sp>
          <p:nvSpPr>
            <p:cNvPr id="28" name="TextBox 28"/>
            <p:cNvSpPr txBox="1"/>
            <p:nvPr/>
          </p:nvSpPr>
          <p:spPr>
            <a:xfrm>
              <a:off x="601218" y="3060382"/>
              <a:ext cx="436492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gắn chip tên file sau câu trích; bấm</a:t>
              </a:r>
              <a:br/>
              <a:r>
                <a:rPr lang="vi-VN" sz="1650" dirty="0">
                  <a:solidFill>
                    <a:schemeClr val="dk1"/>
                  </a:solidFill>
                  <a:latin typeface="+mn-lt"/>
                  <a:ea typeface="+mn-ea"/>
                  <a:cs typeface="+mn-cs"/>
                </a:rPr>
                <a:t>mở đúng đoạn. Không có chip thì Ctrl+F.</a:t>
              </a:r>
            </a:p>
          </p:txBody>
        </p:sp>
      </p:grpSp>
      <p:grpSp>
        <p:nvGrpSpPr>
          <p:cNvPr id="42" name="Group 42"/>
          <p:cNvGrpSpPr/>
          <p:nvPr/>
        </p:nvGrpSpPr>
        <p:grpSpPr>
          <a:xfrm>
            <a:off x="6172200" y="2114550"/>
            <a:ext cx="5638800" cy="1733550"/>
            <a:chOff x="6172200" y="2114550"/>
            <a:chExt cx="5638800" cy="1733550"/>
          </a:xfrm>
        </p:grpSpPr>
        <p:sp>
          <p:nvSpPr>
            <p:cNvPr id="30" name="Rectangle 30"/>
            <p:cNvSpPr/>
            <p:nvPr/>
          </p:nvSpPr>
          <p:spPr>
            <a:xfrm>
              <a:off x="6172200" y="2114550"/>
              <a:ext cx="5638800" cy="1733550"/>
            </a:xfrm>
            <a:prstGeom prst="roundRect">
              <a:avLst>
                <a:gd name="adj" fmla="val 8791"/>
              </a:avLst>
            </a:prstGeom>
            <a:solidFill>
              <a:schemeClr val="lt1"/>
            </a:solidFill>
            <a:ln w="14288">
              <a:solidFill>
                <a:schemeClr val="accent4"/>
              </a:solidFill>
            </a:ln>
          </p:spPr>
        </p:sp>
        <p:sp>
          <p:nvSpPr>
            <p:cNvPr id="31" name="Ellipse 31"/>
            <p:cNvSpPr/>
            <p:nvPr/>
          </p:nvSpPr>
          <p:spPr>
            <a:xfrm>
              <a:off x="6400800" y="2343150"/>
              <a:ext cx="495300" cy="495300"/>
            </a:xfrm>
            <a:prstGeom prst="ellipse">
              <a:avLst/>
            </a:prstGeom>
            <a:solidFill>
              <a:schemeClr val="lt2"/>
            </a:solidFill>
            <a:ln>
              <a:noFill/>
            </a:ln>
          </p:spPr>
        </p:sp>
        <p:grpSp>
          <p:nvGrpSpPr>
            <p:cNvPr id="37" name="Group 37"/>
            <p:cNvGrpSpPr/>
            <p:nvPr/>
          </p:nvGrpSpPr>
          <p:grpSpPr>
            <a:xfrm>
              <a:off x="6559550" y="2476500"/>
              <a:ext cx="177800" cy="228599"/>
              <a:chOff x="6559550" y="2476500"/>
              <a:chExt cx="177800" cy="228599"/>
            </a:xfrm>
          </p:grpSpPr>
          <p:sp>
            <p:nvSpPr>
              <p:cNvPr id="32" name="Freeform 32"/>
              <p:cNvSpPr/>
              <p:nvPr/>
            </p:nvSpPr>
            <p:spPr>
              <a:xfrm>
                <a:off x="66738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33" name="Freeform 33"/>
              <p:cNvSpPr/>
              <p:nvPr/>
            </p:nvSpPr>
            <p:spPr>
              <a:xfrm>
                <a:off x="65595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34" name="Freeform 34"/>
              <p:cNvSpPr/>
              <p:nvPr/>
            </p:nvSpPr>
            <p:spPr>
              <a:xfrm>
                <a:off x="6597650" y="2578100"/>
                <a:ext cx="101600" cy="88900"/>
              </a:xfrm>
              <a:custGeom>
                <a:avLst/>
                <a:gdLst/>
                <a:ahLst/>
                <a:cxnLst/>
                <a:rect l="l" t="t" r="r" b="b"/>
                <a:pathLst>
                  <a:path w="101600" h="88900">
                    <a:moveTo>
                      <a:pt x="0" y="0"/>
                    </a:moveTo>
                    <a:lnTo>
                      <a:pt x="101600" y="0"/>
                    </a:lnTo>
                    <a:lnTo>
                      <a:pt x="101600" y="88900"/>
                    </a:lnTo>
                    <a:lnTo>
                      <a:pt x="0" y="88900"/>
                    </a:lnTo>
                    <a:lnTo>
                      <a:pt x="0" y="0"/>
                    </a:lnTo>
                  </a:path>
                </a:pathLst>
              </a:custGeom>
              <a:noFill/>
              <a:ln w="25400">
                <a:solidFill>
                  <a:schemeClr val="accent3"/>
                </a:solidFill>
              </a:ln>
            </p:spPr>
          </p:sp>
          <p:sp>
            <p:nvSpPr>
              <p:cNvPr id="35" name="Freeform 35"/>
              <p:cNvSpPr/>
              <p:nvPr/>
            </p:nvSpPr>
            <p:spPr>
              <a:xfrm>
                <a:off x="6597650" y="262890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36" name="Freeform 36"/>
              <p:cNvSpPr/>
              <p:nvPr/>
            </p:nvSpPr>
            <p:spPr>
              <a:xfrm>
                <a:off x="6635750" y="2578100"/>
                <a:ext cx="9525" cy="88900"/>
              </a:xfrm>
              <a:custGeom>
                <a:avLst/>
                <a:gdLst/>
                <a:ahLst/>
                <a:cxnLst/>
                <a:rect l="l" t="t" r="r" b="b"/>
                <a:pathLst>
                  <a:path w="9525" h="88900">
                    <a:moveTo>
                      <a:pt x="0" y="0"/>
                    </a:moveTo>
                    <a:lnTo>
                      <a:pt x="0" y="88900"/>
                    </a:lnTo>
                  </a:path>
                </a:pathLst>
              </a:custGeom>
              <a:noFill/>
              <a:ln w="25400">
                <a:solidFill>
                  <a:schemeClr val="accent3"/>
                </a:solidFill>
              </a:ln>
            </p:spPr>
          </p:sp>
        </p:grpSp>
        <p:sp>
          <p:nvSpPr>
            <p:cNvPr id="38" name="TextBox 38"/>
            <p:cNvSpPr txBox="1"/>
            <p:nvPr/>
          </p:nvSpPr>
          <p:spPr>
            <a:xfrm>
              <a:off x="7038594" y="2475548"/>
              <a:ext cx="273002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Rà ngẫu nhiên số liệu</a:t>
              </a:r>
            </a:p>
          </p:txBody>
        </p:sp>
        <p:sp>
          <p:nvSpPr>
            <p:cNvPr id="39" name="Rectangle 39"/>
            <p:cNvSpPr/>
            <p:nvPr/>
          </p:nvSpPr>
          <p:spPr>
            <a:xfrm>
              <a:off x="10458450" y="2343150"/>
              <a:ext cx="1123950" cy="285750"/>
            </a:xfrm>
            <a:prstGeom prst="roundRect">
              <a:avLst>
                <a:gd name="adj" fmla="val 50000"/>
              </a:avLst>
            </a:prstGeom>
            <a:solidFill>
              <a:srgbClr val="FCEBDD"/>
            </a:solidFill>
            <a:ln>
              <a:noFill/>
            </a:ln>
          </p:spPr>
        </p:sp>
        <p:sp>
          <p:nvSpPr>
            <p:cNvPr id="40" name="TextBox 40"/>
            <p:cNvSpPr txBox="1"/>
            <p:nvPr/>
          </p:nvSpPr>
          <p:spPr>
            <a:xfrm>
              <a:off x="10755657" y="2413635"/>
              <a:ext cx="52953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phút</a:t>
              </a:r>
            </a:p>
          </p:txBody>
        </p:sp>
        <p:sp>
          <p:nvSpPr>
            <p:cNvPr id="41" name="TextBox 41"/>
            <p:cNvSpPr txBox="1"/>
            <p:nvPr/>
          </p:nvSpPr>
          <p:spPr>
            <a:xfrm>
              <a:off x="6392418" y="3060382"/>
              <a:ext cx="417917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Chọn 2–3 con số, tự đối chiếu với file gốc</a:t>
              </a:r>
            </a:p>
          </p:txBody>
        </p:sp>
      </p:grpSp>
      <p:grpSp>
        <p:nvGrpSpPr>
          <p:cNvPr id="52" name="Group 52"/>
          <p:cNvGrpSpPr/>
          <p:nvPr/>
        </p:nvGrpSpPr>
        <p:grpSpPr>
          <a:xfrm>
            <a:off x="381000" y="4000500"/>
            <a:ext cx="5638800" cy="1733550"/>
            <a:chOff x="381000" y="4000500"/>
            <a:chExt cx="5638800" cy="1733550"/>
          </a:xfrm>
        </p:grpSpPr>
        <p:sp>
          <p:nvSpPr>
            <p:cNvPr id="43" name="Rectangle 43"/>
            <p:cNvSpPr/>
            <p:nvPr/>
          </p:nvSpPr>
          <p:spPr>
            <a:xfrm>
              <a:off x="381000" y="4000500"/>
              <a:ext cx="5638800" cy="1733550"/>
            </a:xfrm>
            <a:prstGeom prst="roundRect">
              <a:avLst>
                <a:gd name="adj" fmla="val 8791"/>
              </a:avLst>
            </a:prstGeom>
            <a:solidFill>
              <a:schemeClr val="lt1"/>
            </a:solidFill>
            <a:ln w="14288">
              <a:solidFill>
                <a:schemeClr val="accent4"/>
              </a:solidFill>
            </a:ln>
          </p:spPr>
        </p:sp>
        <p:sp>
          <p:nvSpPr>
            <p:cNvPr id="44" name="Ellipse 44"/>
            <p:cNvSpPr/>
            <p:nvPr/>
          </p:nvSpPr>
          <p:spPr>
            <a:xfrm>
              <a:off x="609600" y="4229100"/>
              <a:ext cx="495300" cy="495300"/>
            </a:xfrm>
            <a:prstGeom prst="ellipse">
              <a:avLst/>
            </a:prstGeom>
            <a:solidFill>
              <a:schemeClr val="lt2"/>
            </a:solidFill>
            <a:ln>
              <a:noFill/>
            </a:ln>
          </p:spPr>
        </p:sp>
        <p:grpSp>
          <p:nvGrpSpPr>
            <p:cNvPr id="47" name="Group 47"/>
            <p:cNvGrpSpPr/>
            <p:nvPr/>
          </p:nvGrpSpPr>
          <p:grpSpPr>
            <a:xfrm>
              <a:off x="755650" y="4370250"/>
              <a:ext cx="203199" cy="213000"/>
              <a:chOff x="755650" y="4370250"/>
              <a:chExt cx="203199" cy="213000"/>
            </a:xfrm>
          </p:grpSpPr>
          <p:sp>
            <p:nvSpPr>
              <p:cNvPr id="45" name="Freeform 45"/>
              <p:cNvSpPr/>
              <p:nvPr/>
            </p:nvSpPr>
            <p:spPr>
              <a:xfrm>
                <a:off x="755650" y="4370250"/>
                <a:ext cx="203199" cy="93800"/>
              </a:xfrm>
              <a:custGeom>
                <a:avLst/>
                <a:gdLst/>
                <a:ahLst/>
                <a:cxnLst/>
                <a:rect l="l" t="t" r="r" b="b"/>
                <a:pathLst>
                  <a:path w="203199" h="93800">
                    <a:moveTo>
                      <a:pt x="203199" y="93800"/>
                    </a:moveTo>
                    <a:cubicBezTo>
                      <a:pt x="196815" y="47858"/>
                      <a:pt x="160475" y="11871"/>
                      <a:pt x="114473" y="5936"/>
                    </a:cubicBezTo>
                    <a:cubicBezTo>
                      <a:pt x="68472" y="0"/>
                      <a:pt x="24187" y="25584"/>
                      <a:pt x="6350" y="68400"/>
                    </a:cubicBezTo>
                    <a:moveTo>
                      <a:pt x="0" y="17600"/>
                    </a:moveTo>
                    <a:lnTo>
                      <a:pt x="0" y="68400"/>
                    </a:lnTo>
                    <a:lnTo>
                      <a:pt x="50800" y="68400"/>
                    </a:lnTo>
                  </a:path>
                </a:pathLst>
              </a:custGeom>
              <a:noFill/>
              <a:ln w="25400">
                <a:solidFill>
                  <a:schemeClr val="accent3"/>
                </a:solidFill>
              </a:ln>
            </p:spPr>
          </p:sp>
          <p:sp>
            <p:nvSpPr>
              <p:cNvPr id="46" name="Freeform 46"/>
              <p:cNvSpPr/>
              <p:nvPr/>
            </p:nvSpPr>
            <p:spPr>
              <a:xfrm>
                <a:off x="755650" y="4489450"/>
                <a:ext cx="203199" cy="93800"/>
              </a:xfrm>
              <a:custGeom>
                <a:avLst/>
                <a:gdLst/>
                <a:ahLst/>
                <a:cxnLst/>
                <a:rect l="l" t="t" r="r" b="b"/>
                <a:pathLst>
                  <a:path w="203199" h="93800">
                    <a:moveTo>
                      <a:pt x="0" y="0"/>
                    </a:moveTo>
                    <a:cubicBezTo>
                      <a:pt x="6385" y="45942"/>
                      <a:pt x="42724" y="81928"/>
                      <a:pt x="88726" y="87864"/>
                    </a:cubicBezTo>
                    <a:cubicBezTo>
                      <a:pt x="134728" y="93800"/>
                      <a:pt x="179012" y="68216"/>
                      <a:pt x="196850" y="25400"/>
                    </a:cubicBezTo>
                    <a:moveTo>
                      <a:pt x="203199" y="76200"/>
                    </a:moveTo>
                    <a:lnTo>
                      <a:pt x="203199" y="25400"/>
                    </a:lnTo>
                    <a:lnTo>
                      <a:pt x="152400" y="25400"/>
                    </a:lnTo>
                  </a:path>
                </a:pathLst>
              </a:custGeom>
              <a:noFill/>
              <a:ln w="25400">
                <a:solidFill>
                  <a:schemeClr val="accent3"/>
                </a:solidFill>
              </a:ln>
            </p:spPr>
          </p:sp>
        </p:grpSp>
        <p:sp>
          <p:nvSpPr>
            <p:cNvPr id="48" name="TextBox 48"/>
            <p:cNvSpPr txBox="1"/>
            <p:nvPr/>
          </p:nvSpPr>
          <p:spPr>
            <a:xfrm>
              <a:off x="1247394" y="4361498"/>
              <a:ext cx="217912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Phép thử đổi tên</a:t>
              </a:r>
            </a:p>
          </p:txBody>
        </p:sp>
        <p:sp>
          <p:nvSpPr>
            <p:cNvPr id="49" name="Rectangle 49"/>
            <p:cNvSpPr/>
            <p:nvPr/>
          </p:nvSpPr>
          <p:spPr>
            <a:xfrm>
              <a:off x="4667250" y="4229100"/>
              <a:ext cx="1123950" cy="285750"/>
            </a:xfrm>
            <a:prstGeom prst="roundRect">
              <a:avLst>
                <a:gd name="adj" fmla="val 50000"/>
              </a:avLst>
            </a:prstGeom>
            <a:solidFill>
              <a:srgbClr val="FCEBDD"/>
            </a:solidFill>
            <a:ln>
              <a:noFill/>
            </a:ln>
          </p:spPr>
        </p:sp>
        <p:sp>
          <p:nvSpPr>
            <p:cNvPr id="50" name="TextBox 50"/>
            <p:cNvSpPr txBox="1"/>
            <p:nvPr/>
          </p:nvSpPr>
          <p:spPr>
            <a:xfrm>
              <a:off x="4939013" y="4299585"/>
              <a:ext cx="580423"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 giây</a:t>
              </a:r>
            </a:p>
          </p:txBody>
        </p:sp>
        <p:sp>
          <p:nvSpPr>
            <p:cNvPr id="51" name="TextBox 51"/>
            <p:cNvSpPr txBox="1"/>
            <p:nvPr/>
          </p:nvSpPr>
          <p:spPr>
            <a:xfrm>
              <a:off x="601218" y="4946332"/>
              <a:ext cx="40820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Thay tên mình bằng tên đối thủ; câu vẫn</a:t>
              </a:r>
              <a:br/>
              <a:r>
                <a:rPr lang="vi-VN" sz="1650" dirty="0">
                  <a:solidFill>
                    <a:schemeClr val="dk1"/>
                  </a:solidFill>
                  <a:latin typeface="+mn-lt"/>
                  <a:ea typeface="+mn-ea"/>
                  <a:cs typeface="+mn-cs"/>
                </a:rPr>
                <a:t>đúng là chưa đủ cụ thể</a:t>
              </a:r>
            </a:p>
          </p:txBody>
        </p:sp>
      </p:grpSp>
      <p:grpSp>
        <p:nvGrpSpPr>
          <p:cNvPr id="63" name="Group 63"/>
          <p:cNvGrpSpPr/>
          <p:nvPr/>
        </p:nvGrpSpPr>
        <p:grpSpPr>
          <a:xfrm>
            <a:off x="6172200" y="4000500"/>
            <a:ext cx="5638800" cy="1733550"/>
            <a:chOff x="6172200" y="4000500"/>
            <a:chExt cx="5638800" cy="1733550"/>
          </a:xfrm>
        </p:grpSpPr>
        <p:sp>
          <p:nvSpPr>
            <p:cNvPr id="53" name="Rectangle 53"/>
            <p:cNvSpPr/>
            <p:nvPr/>
          </p:nvSpPr>
          <p:spPr>
            <a:xfrm>
              <a:off x="6172200" y="4000500"/>
              <a:ext cx="5638800" cy="1733550"/>
            </a:xfrm>
            <a:prstGeom prst="roundRect">
              <a:avLst>
                <a:gd name="adj" fmla="val 8791"/>
              </a:avLst>
            </a:prstGeom>
            <a:solidFill>
              <a:schemeClr val="lt1"/>
            </a:solidFill>
            <a:ln w="14288">
              <a:solidFill>
                <a:schemeClr val="accent4"/>
              </a:solidFill>
            </a:ln>
          </p:spPr>
        </p:sp>
        <p:sp>
          <p:nvSpPr>
            <p:cNvPr id="54" name="Ellipse 54"/>
            <p:cNvSpPr/>
            <p:nvPr/>
          </p:nvSpPr>
          <p:spPr>
            <a:xfrm>
              <a:off x="6400800" y="4229100"/>
              <a:ext cx="495300" cy="495300"/>
            </a:xfrm>
            <a:prstGeom prst="ellipse">
              <a:avLst/>
            </a:prstGeom>
            <a:solidFill>
              <a:schemeClr val="lt2"/>
            </a:solidFill>
            <a:ln>
              <a:noFill/>
            </a:ln>
          </p:spPr>
        </p:sp>
        <p:grpSp>
          <p:nvGrpSpPr>
            <p:cNvPr id="58" name="Group 58"/>
            <p:cNvGrpSpPr/>
            <p:nvPr/>
          </p:nvGrpSpPr>
          <p:grpSpPr>
            <a:xfrm>
              <a:off x="6534150" y="4375150"/>
              <a:ext cx="228599" cy="215899"/>
              <a:chOff x="6534150" y="4375150"/>
              <a:chExt cx="228599" cy="215899"/>
            </a:xfrm>
          </p:grpSpPr>
          <p:sp>
            <p:nvSpPr>
              <p:cNvPr id="55" name="Freeform 55"/>
              <p:cNvSpPr/>
              <p:nvPr/>
            </p:nvSpPr>
            <p:spPr>
              <a:xfrm>
                <a:off x="6597650" y="443865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56" name="Freeform 56"/>
              <p:cNvSpPr/>
              <p:nvPr/>
            </p:nvSpPr>
            <p:spPr>
              <a:xfrm>
                <a:off x="6597650" y="448945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57" name="Freeform 57"/>
              <p:cNvSpPr/>
              <p:nvPr/>
            </p:nvSpPr>
            <p:spPr>
              <a:xfrm>
                <a:off x="6534150" y="4375150"/>
                <a:ext cx="228599" cy="215899"/>
              </a:xfrm>
              <a:custGeom>
                <a:avLst/>
                <a:gdLst/>
                <a:ahLst/>
                <a:cxnLst/>
                <a:rect l="l" t="t" r="r" b="b"/>
                <a:pathLst>
                  <a:path w="228599" h="215899">
                    <a:moveTo>
                      <a:pt x="76200" y="177800"/>
                    </a:moveTo>
                    <a:lnTo>
                      <a:pt x="38100" y="177800"/>
                    </a:lnTo>
                    <a:cubicBezTo>
                      <a:pt x="17058" y="177800"/>
                      <a:pt x="0" y="160742"/>
                      <a:pt x="0" y="139700"/>
                    </a:cubicBezTo>
                    <a:lnTo>
                      <a:pt x="0" y="38100"/>
                    </a:lnTo>
                    <a:cubicBezTo>
                      <a:pt x="0" y="17058"/>
                      <a:pt x="17058" y="0"/>
                      <a:pt x="38100" y="0"/>
                    </a:cubicBezTo>
                    <a:lnTo>
                      <a:pt x="190500" y="0"/>
                    </a:lnTo>
                    <a:cubicBezTo>
                      <a:pt x="211542" y="0"/>
                      <a:pt x="228599" y="17058"/>
                      <a:pt x="228599" y="38100"/>
                    </a:cubicBezTo>
                    <a:lnTo>
                      <a:pt x="228599" y="139700"/>
                    </a:lnTo>
                    <a:cubicBezTo>
                      <a:pt x="228599" y="160742"/>
                      <a:pt x="211542" y="177800"/>
                      <a:pt x="190500" y="177800"/>
                    </a:cubicBezTo>
                    <a:lnTo>
                      <a:pt x="152400" y="177800"/>
                    </a:lnTo>
                    <a:lnTo>
                      <a:pt x="114300" y="215899"/>
                    </a:lnTo>
                    <a:lnTo>
                      <a:pt x="76200" y="177800"/>
                    </a:lnTo>
                  </a:path>
                </a:pathLst>
              </a:custGeom>
              <a:noFill/>
              <a:ln w="25400">
                <a:solidFill>
                  <a:schemeClr val="accent3"/>
                </a:solidFill>
              </a:ln>
            </p:spPr>
          </p:sp>
        </p:grpSp>
        <p:sp>
          <p:nvSpPr>
            <p:cNvPr id="59" name="TextBox 59"/>
            <p:cNvSpPr txBox="1"/>
            <p:nvPr/>
          </p:nvSpPr>
          <p:spPr>
            <a:xfrm>
              <a:off x="7038594" y="4361498"/>
              <a:ext cx="1825099"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Bắt AI tự khai</a:t>
              </a:r>
            </a:p>
          </p:txBody>
        </p:sp>
        <p:sp>
          <p:nvSpPr>
            <p:cNvPr id="60" name="Rectangle 60"/>
            <p:cNvSpPr/>
            <p:nvPr/>
          </p:nvSpPr>
          <p:spPr>
            <a:xfrm>
              <a:off x="10458450" y="4229100"/>
              <a:ext cx="1123950" cy="285750"/>
            </a:xfrm>
            <a:prstGeom prst="roundRect">
              <a:avLst>
                <a:gd name="adj" fmla="val 50000"/>
              </a:avLst>
            </a:prstGeom>
            <a:solidFill>
              <a:srgbClr val="FCEBDD"/>
            </a:solidFill>
            <a:ln>
              <a:noFill/>
            </a:ln>
          </p:spPr>
        </p:sp>
        <p:sp>
          <p:nvSpPr>
            <p:cNvPr id="61" name="TextBox 61"/>
            <p:cNvSpPr txBox="1"/>
            <p:nvPr/>
          </p:nvSpPr>
          <p:spPr>
            <a:xfrm>
              <a:off x="10564833" y="4299585"/>
              <a:ext cx="91118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lượt chat</a:t>
              </a:r>
            </a:p>
          </p:txBody>
        </p:sp>
        <p:sp>
          <p:nvSpPr>
            <p:cNvPr id="62" name="TextBox 62"/>
            <p:cNvSpPr txBox="1"/>
            <p:nvPr/>
          </p:nvSpPr>
          <p:spPr>
            <a:xfrm>
              <a:off x="6392418" y="4946332"/>
              <a:ext cx="410298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Hỏi: “Chỗ nào bạn tự suy đoán mà tài liệu</a:t>
              </a:r>
              <a:br/>
              <a:r>
                <a:rPr lang="vi-VN" sz="1650" dirty="0">
                  <a:solidFill>
                    <a:schemeClr val="dk1"/>
                  </a:solidFill>
                  <a:latin typeface="+mn-lt"/>
                  <a:ea typeface="+mn-ea"/>
                  <a:cs typeface="+mn-cs"/>
                </a:rPr>
                <a:t>không nói?” → nó tự liệt kê [SUY LUẬN]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35</a:t>
            </a:r>
          </a:p>
        </p:txBody>
      </p:sp>
      <p:sp>
        <p:nvSpPr>
          <p:cNvPr id="66"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8793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2: làm ít nhất 3 việc</a:t>
            </a:r>
            <a:br/>
            <a:r>
              <a:rPr lang="vi-VN" sz="3150" b="1" dirty="0">
                <a:solidFill>
                  <a:schemeClr val="accent1"/>
                </a:solidFill>
                <a:latin typeface="+mn-lt"/>
                <a:ea typeface="+mn-ea"/>
                <a:cs typeface="+mn-cs"/>
              </a:rPr>
              <a:t>trên dữ liệu Wir với prompt đủ 4 phần</a:t>
            </a:r>
          </a:p>
        </p:txBody>
      </p:sp>
      <p:grpSp>
        <p:nvGrpSpPr>
          <p:cNvPr id="51" name="Group 51"/>
          <p:cNvGrpSpPr/>
          <p:nvPr/>
        </p:nvGrpSpPr>
        <p:grpSpPr>
          <a:xfrm>
            <a:off x="381000" y="2140744"/>
            <a:ext cx="6572250" cy="2888456"/>
            <a:chOff x="381000" y="2140744"/>
            <a:chExt cx="6572250" cy="2888456"/>
          </a:xfrm>
        </p:grpSpPr>
        <p:grpSp>
          <p:nvGrpSpPr>
            <p:cNvPr id="20" name="Group 20"/>
            <p:cNvGrpSpPr/>
            <p:nvPr/>
          </p:nvGrpSpPr>
          <p:grpSpPr>
            <a:xfrm>
              <a:off x="424656" y="2140744"/>
              <a:ext cx="122238" cy="157162"/>
              <a:chOff x="424656" y="2140744"/>
              <a:chExt cx="122238" cy="157162"/>
            </a:xfrm>
          </p:grpSpPr>
          <p:sp>
            <p:nvSpPr>
              <p:cNvPr id="17" name="Freeform 17"/>
              <p:cNvSpPr/>
              <p:nvPr/>
            </p:nvSpPr>
            <p:spPr>
              <a:xfrm>
                <a:off x="424656" y="215820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chemeClr val="accent3"/>
                </a:solidFill>
              </a:ln>
            </p:spPr>
          </p:sp>
          <p:sp>
            <p:nvSpPr>
              <p:cNvPr id="18" name="Freeform 18"/>
              <p:cNvSpPr/>
              <p:nvPr/>
            </p:nvSpPr>
            <p:spPr>
              <a:xfrm>
                <a:off x="459581" y="214074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chemeClr val="accent3"/>
                </a:solidFill>
              </a:ln>
            </p:spPr>
          </p:sp>
          <p:sp>
            <p:nvSpPr>
              <p:cNvPr id="19" name="Freeform 19"/>
              <p:cNvSpPr/>
              <p:nvPr/>
            </p:nvSpPr>
            <p:spPr>
              <a:xfrm>
                <a:off x="459581" y="2219325"/>
                <a:ext cx="52388" cy="34925"/>
              </a:xfrm>
              <a:custGeom>
                <a:avLst/>
                <a:gdLst/>
                <a:ahLst/>
                <a:cxnLst/>
                <a:rect l="l" t="t" r="r" b="b"/>
                <a:pathLst>
                  <a:path w="52388" h="34925">
                    <a:moveTo>
                      <a:pt x="0" y="17463"/>
                    </a:moveTo>
                    <a:lnTo>
                      <a:pt x="17463" y="34925"/>
                    </a:lnTo>
                    <a:lnTo>
                      <a:pt x="52388" y="0"/>
                    </a:lnTo>
                  </a:path>
                </a:pathLst>
              </a:custGeom>
              <a:noFill/>
              <a:ln w="17463">
                <a:solidFill>
                  <a:schemeClr val="accent3"/>
                </a:solidFill>
              </a:ln>
            </p:spPr>
          </p:sp>
        </p:grpSp>
        <p:sp>
          <p:nvSpPr>
            <p:cNvPr id="21" name="TextBox 21"/>
            <p:cNvSpPr txBox="1"/>
            <p:nvPr/>
          </p:nvSpPr>
          <p:spPr>
            <a:xfrm>
              <a:off x="660654" y="2146935"/>
              <a:ext cx="185306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CHỌN ÍT NHẤT 3 VIỆC</a:t>
              </a:r>
            </a:p>
          </p:txBody>
        </p:sp>
        <p:sp>
          <p:nvSpPr>
            <p:cNvPr id="22" name="Rectangle 22"/>
            <p:cNvSpPr/>
            <p:nvPr/>
          </p:nvSpPr>
          <p:spPr>
            <a:xfrm>
              <a:off x="381000" y="2438400"/>
              <a:ext cx="6572250" cy="590550"/>
            </a:xfrm>
            <a:prstGeom prst="roundRect">
              <a:avLst>
                <a:gd name="adj" fmla="val 22581"/>
              </a:avLst>
            </a:prstGeom>
            <a:solidFill>
              <a:schemeClr val="lt1"/>
            </a:solidFill>
            <a:ln w="14288">
              <a:solidFill>
                <a:schemeClr val="accent4"/>
              </a:solidFill>
            </a:ln>
          </p:spPr>
        </p:sp>
        <p:grpSp>
          <p:nvGrpSpPr>
            <p:cNvPr id="28" name="Group 28"/>
            <p:cNvGrpSpPr/>
            <p:nvPr/>
          </p:nvGrpSpPr>
          <p:grpSpPr>
            <a:xfrm>
              <a:off x="600075" y="2647950"/>
              <a:ext cx="133350" cy="171450"/>
              <a:chOff x="600075" y="2647950"/>
              <a:chExt cx="133350" cy="171450"/>
            </a:xfrm>
          </p:grpSpPr>
          <p:sp>
            <p:nvSpPr>
              <p:cNvPr id="23" name="Freeform 23"/>
              <p:cNvSpPr/>
              <p:nvPr/>
            </p:nvSpPr>
            <p:spPr>
              <a:xfrm>
                <a:off x="685800" y="26479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24" name="Freeform 24"/>
              <p:cNvSpPr/>
              <p:nvPr/>
            </p:nvSpPr>
            <p:spPr>
              <a:xfrm>
                <a:off x="600075" y="26479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25" name="Freeform 25"/>
              <p:cNvSpPr/>
              <p:nvPr/>
            </p:nvSpPr>
            <p:spPr>
              <a:xfrm>
                <a:off x="638175" y="2705100"/>
                <a:ext cx="9525" cy="9525"/>
              </a:xfrm>
              <a:custGeom>
                <a:avLst/>
                <a:gdLst/>
                <a:ahLst/>
                <a:cxnLst/>
                <a:rect l="l" t="t" r="r" b="b"/>
                <a:pathLst>
                  <a:path w="9525" h="9525">
                    <a:moveTo>
                      <a:pt x="0" y="0"/>
                    </a:moveTo>
                    <a:lnTo>
                      <a:pt x="9525" y="0"/>
                    </a:lnTo>
                  </a:path>
                </a:pathLst>
              </a:custGeom>
              <a:noFill/>
              <a:ln w="19050">
                <a:solidFill>
                  <a:schemeClr val="accent3"/>
                </a:solidFill>
              </a:ln>
            </p:spPr>
          </p:sp>
          <p:sp>
            <p:nvSpPr>
              <p:cNvPr id="26" name="Freeform 26"/>
              <p:cNvSpPr/>
              <p:nvPr/>
            </p:nvSpPr>
            <p:spPr>
              <a:xfrm>
                <a:off x="638175" y="2743200"/>
                <a:ext cx="57150" cy="9525"/>
              </a:xfrm>
              <a:custGeom>
                <a:avLst/>
                <a:gdLst/>
                <a:ahLst/>
                <a:cxnLst/>
                <a:rect l="l" t="t" r="r" b="b"/>
                <a:pathLst>
                  <a:path w="57150" h="9525">
                    <a:moveTo>
                      <a:pt x="0" y="0"/>
                    </a:moveTo>
                    <a:lnTo>
                      <a:pt x="57150" y="0"/>
                    </a:lnTo>
                  </a:path>
                </a:pathLst>
              </a:custGeom>
              <a:noFill/>
              <a:ln w="19050">
                <a:solidFill>
                  <a:schemeClr val="accent3"/>
                </a:solidFill>
              </a:ln>
            </p:spPr>
          </p:sp>
          <p:sp>
            <p:nvSpPr>
              <p:cNvPr id="27" name="Freeform 27"/>
              <p:cNvSpPr/>
              <p:nvPr/>
            </p:nvSpPr>
            <p:spPr>
              <a:xfrm>
                <a:off x="638175" y="2781300"/>
                <a:ext cx="57150" cy="9525"/>
              </a:xfrm>
              <a:custGeom>
                <a:avLst/>
                <a:gdLst/>
                <a:ahLst/>
                <a:cxnLst/>
                <a:rect l="l" t="t" r="r" b="b"/>
                <a:pathLst>
                  <a:path w="57150" h="9525">
                    <a:moveTo>
                      <a:pt x="0" y="0"/>
                    </a:moveTo>
                    <a:lnTo>
                      <a:pt x="57150" y="0"/>
                    </a:lnTo>
                  </a:path>
                </a:pathLst>
              </a:custGeom>
              <a:noFill/>
              <a:ln w="19050">
                <a:solidFill>
                  <a:schemeClr val="accent3"/>
                </a:solidFill>
              </a:ln>
            </p:spPr>
          </p:sp>
        </p:grpSp>
        <p:sp>
          <p:nvSpPr>
            <p:cNvPr id="29" name="TextBox 29"/>
            <p:cNvSpPr txBox="1"/>
            <p:nvPr/>
          </p:nvSpPr>
          <p:spPr>
            <a:xfrm>
              <a:off x="906018" y="2631758"/>
              <a:ext cx="485575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Biên bản họp + đầu việc từ transcript họp thô</a:t>
              </a:r>
            </a:p>
          </p:txBody>
        </p:sp>
        <p:sp>
          <p:nvSpPr>
            <p:cNvPr id="30" name="Rectangle 30"/>
            <p:cNvSpPr/>
            <p:nvPr/>
          </p:nvSpPr>
          <p:spPr>
            <a:xfrm>
              <a:off x="381000" y="3105150"/>
              <a:ext cx="6572250" cy="590550"/>
            </a:xfrm>
            <a:prstGeom prst="roundRect">
              <a:avLst>
                <a:gd name="adj" fmla="val 22581"/>
              </a:avLst>
            </a:prstGeom>
            <a:solidFill>
              <a:schemeClr val="lt1"/>
            </a:solidFill>
            <a:ln w="14288">
              <a:solidFill>
                <a:schemeClr val="accent4"/>
              </a:solidFill>
            </a:ln>
          </p:spPr>
        </p:sp>
        <p:grpSp>
          <p:nvGrpSpPr>
            <p:cNvPr id="36" name="Group 36"/>
            <p:cNvGrpSpPr/>
            <p:nvPr/>
          </p:nvGrpSpPr>
          <p:grpSpPr>
            <a:xfrm>
              <a:off x="600075" y="3314700"/>
              <a:ext cx="133350" cy="171450"/>
              <a:chOff x="600075" y="3314700"/>
              <a:chExt cx="133350" cy="171450"/>
            </a:xfrm>
          </p:grpSpPr>
          <p:sp>
            <p:nvSpPr>
              <p:cNvPr id="31" name="Freeform 31"/>
              <p:cNvSpPr/>
              <p:nvPr/>
            </p:nvSpPr>
            <p:spPr>
              <a:xfrm>
                <a:off x="685800" y="331470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32" name="Freeform 32"/>
              <p:cNvSpPr/>
              <p:nvPr/>
            </p:nvSpPr>
            <p:spPr>
              <a:xfrm>
                <a:off x="600075" y="331470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33" name="Freeform 33"/>
              <p:cNvSpPr/>
              <p:nvPr/>
            </p:nvSpPr>
            <p:spPr>
              <a:xfrm>
                <a:off x="628650" y="3390900"/>
                <a:ext cx="76200" cy="66675"/>
              </a:xfrm>
              <a:custGeom>
                <a:avLst/>
                <a:gdLst/>
                <a:ahLst/>
                <a:cxnLst/>
                <a:rect l="l" t="t" r="r" b="b"/>
                <a:pathLst>
                  <a:path w="76200" h="66675">
                    <a:moveTo>
                      <a:pt x="0" y="0"/>
                    </a:moveTo>
                    <a:lnTo>
                      <a:pt x="76200" y="0"/>
                    </a:lnTo>
                    <a:lnTo>
                      <a:pt x="76200" y="66675"/>
                    </a:lnTo>
                    <a:lnTo>
                      <a:pt x="0" y="66675"/>
                    </a:lnTo>
                    <a:lnTo>
                      <a:pt x="0" y="0"/>
                    </a:lnTo>
                  </a:path>
                </a:pathLst>
              </a:custGeom>
              <a:noFill/>
              <a:ln w="19050">
                <a:solidFill>
                  <a:schemeClr val="accent3"/>
                </a:solidFill>
              </a:ln>
            </p:spPr>
          </p:sp>
          <p:sp>
            <p:nvSpPr>
              <p:cNvPr id="34" name="Freeform 34"/>
              <p:cNvSpPr/>
              <p:nvPr/>
            </p:nvSpPr>
            <p:spPr>
              <a:xfrm>
                <a:off x="628650" y="3429000"/>
                <a:ext cx="76200" cy="9525"/>
              </a:xfrm>
              <a:custGeom>
                <a:avLst/>
                <a:gdLst/>
                <a:ahLst/>
                <a:cxnLst/>
                <a:rect l="l" t="t" r="r" b="b"/>
                <a:pathLst>
                  <a:path w="76200" h="9525">
                    <a:moveTo>
                      <a:pt x="0" y="0"/>
                    </a:moveTo>
                    <a:lnTo>
                      <a:pt x="76200" y="0"/>
                    </a:lnTo>
                  </a:path>
                </a:pathLst>
              </a:custGeom>
              <a:noFill/>
              <a:ln w="19050">
                <a:solidFill>
                  <a:schemeClr val="accent3"/>
                </a:solidFill>
              </a:ln>
            </p:spPr>
          </p:sp>
          <p:sp>
            <p:nvSpPr>
              <p:cNvPr id="35" name="Freeform 35"/>
              <p:cNvSpPr/>
              <p:nvPr/>
            </p:nvSpPr>
            <p:spPr>
              <a:xfrm>
                <a:off x="657225" y="3390900"/>
                <a:ext cx="9525" cy="66675"/>
              </a:xfrm>
              <a:custGeom>
                <a:avLst/>
                <a:gdLst/>
                <a:ahLst/>
                <a:cxnLst/>
                <a:rect l="l" t="t" r="r" b="b"/>
                <a:pathLst>
                  <a:path w="9525" h="66675">
                    <a:moveTo>
                      <a:pt x="0" y="0"/>
                    </a:moveTo>
                    <a:lnTo>
                      <a:pt x="0" y="66675"/>
                    </a:lnTo>
                  </a:path>
                </a:pathLst>
              </a:custGeom>
              <a:noFill/>
              <a:ln w="19050">
                <a:solidFill>
                  <a:schemeClr val="accent3"/>
                </a:solidFill>
              </a:ln>
            </p:spPr>
          </p:sp>
        </p:grpSp>
        <p:sp>
          <p:nvSpPr>
            <p:cNvPr id="37" name="TextBox 37"/>
            <p:cNvSpPr txBox="1"/>
            <p:nvPr/>
          </p:nvSpPr>
          <p:spPr>
            <a:xfrm>
              <a:off x="906018" y="3298508"/>
              <a:ext cx="4545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Báo cáo doanh thu từ file đơn hàng 40 dòng</a:t>
              </a:r>
            </a:p>
          </p:txBody>
        </p:sp>
        <p:sp>
          <p:nvSpPr>
            <p:cNvPr id="38" name="Rectangle 38"/>
            <p:cNvSpPr/>
            <p:nvPr/>
          </p:nvSpPr>
          <p:spPr>
            <a:xfrm>
              <a:off x="381000" y="3771900"/>
              <a:ext cx="6572250" cy="590550"/>
            </a:xfrm>
            <a:prstGeom prst="roundRect">
              <a:avLst>
                <a:gd name="adj" fmla="val 22581"/>
              </a:avLst>
            </a:prstGeom>
            <a:solidFill>
              <a:schemeClr val="lt1"/>
            </a:solidFill>
            <a:ln w="14288">
              <a:solidFill>
                <a:schemeClr val="accent4"/>
              </a:solidFill>
            </a:ln>
          </p:spPr>
        </p:sp>
        <p:grpSp>
          <p:nvGrpSpPr>
            <p:cNvPr id="43" name="Group 43"/>
            <p:cNvGrpSpPr/>
            <p:nvPr/>
          </p:nvGrpSpPr>
          <p:grpSpPr>
            <a:xfrm>
              <a:off x="581025" y="3981450"/>
              <a:ext cx="171450" cy="171450"/>
              <a:chOff x="581025" y="3981450"/>
              <a:chExt cx="171450" cy="171450"/>
            </a:xfrm>
          </p:grpSpPr>
          <p:sp>
            <p:nvSpPr>
              <p:cNvPr id="39" name="Freeform 39"/>
              <p:cNvSpPr/>
              <p:nvPr/>
            </p:nvSpPr>
            <p:spPr>
              <a:xfrm>
                <a:off x="600075" y="39814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chemeClr val="accent3"/>
                </a:solidFill>
              </a:ln>
            </p:spPr>
          </p:sp>
          <p:sp>
            <p:nvSpPr>
              <p:cNvPr id="40" name="Freeform 40"/>
              <p:cNvSpPr/>
              <p:nvPr/>
            </p:nvSpPr>
            <p:spPr>
              <a:xfrm>
                <a:off x="581025" y="40957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chemeClr val="accent3"/>
                </a:solidFill>
              </a:ln>
            </p:spPr>
          </p:sp>
          <p:sp>
            <p:nvSpPr>
              <p:cNvPr id="41" name="Freeform 41"/>
              <p:cNvSpPr/>
              <p:nvPr/>
            </p:nvSpPr>
            <p:spPr>
              <a:xfrm>
                <a:off x="704850" y="39826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chemeClr val="accent3"/>
                </a:solidFill>
              </a:ln>
            </p:spPr>
          </p:sp>
          <p:sp>
            <p:nvSpPr>
              <p:cNvPr id="42" name="Freeform 42"/>
              <p:cNvSpPr/>
              <p:nvPr/>
            </p:nvSpPr>
            <p:spPr>
              <a:xfrm>
                <a:off x="723900" y="40971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chemeClr val="accent3"/>
                </a:solidFill>
              </a:ln>
            </p:spPr>
          </p:sp>
        </p:grpSp>
        <p:sp>
          <p:nvSpPr>
            <p:cNvPr id="44" name="TextBox 44"/>
            <p:cNvSpPr txBox="1"/>
            <p:nvPr/>
          </p:nvSpPr>
          <p:spPr>
            <a:xfrm>
              <a:off x="906018" y="3965258"/>
              <a:ext cx="599187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5 insight có mã bằng chứng từ 30 review, tin nhắn khách</a:t>
              </a:r>
            </a:p>
          </p:txBody>
        </p:sp>
        <p:sp>
          <p:nvSpPr>
            <p:cNvPr id="45" name="Rectangle 45"/>
            <p:cNvSpPr/>
            <p:nvPr/>
          </p:nvSpPr>
          <p:spPr>
            <a:xfrm>
              <a:off x="381000" y="4438650"/>
              <a:ext cx="6572250" cy="590550"/>
            </a:xfrm>
            <a:prstGeom prst="roundRect">
              <a:avLst>
                <a:gd name="adj" fmla="val 22581"/>
              </a:avLst>
            </a:prstGeom>
            <a:solidFill>
              <a:schemeClr val="lt1"/>
            </a:solidFill>
            <a:ln w="14288">
              <a:solidFill>
                <a:schemeClr val="accent4"/>
              </a:solidFill>
            </a:ln>
          </p:spPr>
        </p:sp>
        <p:grpSp>
          <p:nvGrpSpPr>
            <p:cNvPr id="49" name="Group 49"/>
            <p:cNvGrpSpPr/>
            <p:nvPr/>
          </p:nvGrpSpPr>
          <p:grpSpPr>
            <a:xfrm>
              <a:off x="581025" y="4648200"/>
              <a:ext cx="171450" cy="171450"/>
              <a:chOff x="581025" y="4648200"/>
              <a:chExt cx="171450" cy="171450"/>
            </a:xfrm>
          </p:grpSpPr>
          <p:sp>
            <p:nvSpPr>
              <p:cNvPr id="46" name="Freeform 46"/>
              <p:cNvSpPr/>
              <p:nvPr/>
            </p:nvSpPr>
            <p:spPr>
              <a:xfrm>
                <a:off x="657225" y="47244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chemeClr val="accent3"/>
                </a:solidFill>
              </a:ln>
            </p:spPr>
          </p:sp>
          <p:sp>
            <p:nvSpPr>
              <p:cNvPr id="47" name="Freeform 47"/>
              <p:cNvSpPr/>
              <p:nvPr/>
            </p:nvSpPr>
            <p:spPr>
              <a:xfrm>
                <a:off x="619125" y="468630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chemeClr val="accent3"/>
                </a:solidFill>
              </a:ln>
            </p:spPr>
          </p:sp>
          <p:sp>
            <p:nvSpPr>
              <p:cNvPr id="48" name="Freeform 48"/>
              <p:cNvSpPr/>
              <p:nvPr/>
            </p:nvSpPr>
            <p:spPr>
              <a:xfrm>
                <a:off x="581025" y="46482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chemeClr val="accent3"/>
                </a:solidFill>
              </a:ln>
            </p:spPr>
          </p:sp>
        </p:grpSp>
        <p:sp>
          <p:nvSpPr>
            <p:cNvPr id="50" name="TextBox 50"/>
            <p:cNvSpPr txBox="1"/>
            <p:nvPr/>
          </p:nvSpPr>
          <p:spPr>
            <a:xfrm>
              <a:off x="906018" y="4632008"/>
              <a:ext cx="408983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Chấm điểm 12 lead và soạn tin tiếp cận</a:t>
              </a:r>
            </a:p>
          </p:txBody>
        </p:sp>
      </p:grpSp>
      <p:grpSp>
        <p:nvGrpSpPr>
          <p:cNvPr id="57" name="Group 57"/>
          <p:cNvGrpSpPr/>
          <p:nvPr/>
        </p:nvGrpSpPr>
        <p:grpSpPr>
          <a:xfrm>
            <a:off x="381000" y="5219700"/>
            <a:ext cx="6572250" cy="742950"/>
            <a:chOff x="381000" y="5219700"/>
            <a:chExt cx="6572250" cy="742950"/>
          </a:xfrm>
        </p:grpSpPr>
        <p:sp>
          <p:nvSpPr>
            <p:cNvPr id="52" name="Rectangle 52"/>
            <p:cNvSpPr/>
            <p:nvPr/>
          </p:nvSpPr>
          <p:spPr>
            <a:xfrm>
              <a:off x="381000" y="5219700"/>
              <a:ext cx="6572250" cy="742950"/>
            </a:xfrm>
            <a:prstGeom prst="roundRect">
              <a:avLst>
                <a:gd name="adj" fmla="val 17949"/>
              </a:avLst>
            </a:prstGeom>
            <a:solidFill>
              <a:schemeClr val="lt2"/>
            </a:solidFill>
            <a:ln>
              <a:noFill/>
            </a:ln>
          </p:spPr>
        </p:sp>
        <p:grpSp>
          <p:nvGrpSpPr>
            <p:cNvPr id="55" name="Group 55"/>
            <p:cNvGrpSpPr/>
            <p:nvPr/>
          </p:nvGrpSpPr>
          <p:grpSpPr>
            <a:xfrm>
              <a:off x="581025" y="5381625"/>
              <a:ext cx="171450" cy="171450"/>
              <a:chOff x="581025" y="5381625"/>
              <a:chExt cx="171450" cy="171450"/>
            </a:xfrm>
          </p:grpSpPr>
          <p:sp>
            <p:nvSpPr>
              <p:cNvPr id="53" name="Freeform 53"/>
              <p:cNvSpPr/>
              <p:nvPr/>
            </p:nvSpPr>
            <p:spPr>
              <a:xfrm>
                <a:off x="581025" y="53816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4" name="Freeform 54"/>
              <p:cNvSpPr/>
              <p:nvPr/>
            </p:nvSpPr>
            <p:spPr>
              <a:xfrm>
                <a:off x="638175" y="54483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6" name="TextBox 56"/>
            <p:cNvSpPr txBox="1"/>
            <p:nvPr/>
          </p:nvSpPr>
          <p:spPr>
            <a:xfrm>
              <a:off x="906780" y="5362575"/>
              <a:ext cx="4071938"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prompt đủ 4 phần · không có số bịa</a:t>
              </a:r>
            </a:p>
            <a:p>
              <a:pPr marL="161925" indent="-161925" algn="l">
                <a:lnSpc>
                  <a:spcPts val="2100"/>
                </a:lnSpc>
                <a:buClr>
                  <a:schemeClr val="dk1"/>
                </a:buClr>
                <a:buSzTx/>
                <a:buFontTx/>
                <a:buChar char="•"/>
              </a:pPr>
              <a:r>
                <a:rPr lang="vi-VN" sz="1500" dirty="0">
                  <a:solidFill>
                    <a:schemeClr val="dk1"/>
                  </a:solidFill>
                  <a:latin typeface="+mn-lt"/>
                  <a:ea typeface="+mn-ea"/>
                  <a:cs typeface="+mn-cs"/>
                </a:rPr>
                <a:t>tự kiểm chứng ≥ 2 con số hoặc trích dẫn</a:t>
              </a:r>
            </a:p>
          </p:txBody>
        </p:sp>
      </p:grpSp>
      <p:grpSp>
        <p:nvGrpSpPr>
          <p:cNvPr id="69" name="Group 69"/>
          <p:cNvGrpSpPr/>
          <p:nvPr/>
        </p:nvGrpSpPr>
        <p:grpSpPr>
          <a:xfrm>
            <a:off x="7181850" y="2114550"/>
            <a:ext cx="4629150" cy="3848100"/>
            <a:chOff x="7181850" y="2114550"/>
            <a:chExt cx="4629150" cy="3848100"/>
          </a:xfrm>
        </p:grpSpPr>
        <p:sp>
          <p:nvSpPr>
            <p:cNvPr id="58" name="Rectangle 58"/>
            <p:cNvSpPr/>
            <p:nvPr/>
          </p:nvSpPr>
          <p:spPr>
            <a:xfrm>
              <a:off x="7181850" y="2114550"/>
              <a:ext cx="4629150" cy="3848100"/>
            </a:xfrm>
            <a:prstGeom prst="roundRect">
              <a:avLst>
                <a:gd name="adj" fmla="val 3960"/>
              </a:avLst>
            </a:prstGeom>
            <a:solidFill>
              <a:schemeClr val="lt2"/>
            </a:solidFill>
            <a:ln>
              <a:noFill/>
            </a:ln>
          </p:spPr>
        </p:sp>
        <p:grpSp>
          <p:nvGrpSpPr>
            <p:cNvPr id="62" name="Group 62"/>
            <p:cNvGrpSpPr/>
            <p:nvPr/>
          </p:nvGrpSpPr>
          <p:grpSpPr>
            <a:xfrm>
              <a:off x="7441406" y="2316956"/>
              <a:ext cx="185737" cy="185737"/>
              <a:chOff x="7441406" y="2316956"/>
              <a:chExt cx="185737" cy="185737"/>
            </a:xfrm>
          </p:grpSpPr>
          <p:sp>
            <p:nvSpPr>
              <p:cNvPr id="59" name="Freeform 5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60" name="Freeform 6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61" name="Freeform 6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63" name="TextBox 6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64" name="TextBox 64"/>
            <p:cNvSpPr txBox="1"/>
            <p:nvPr/>
          </p:nvSpPr>
          <p:spPr>
            <a:xfrm>
              <a:off x="7402830" y="2695575"/>
              <a:ext cx="376570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Dán 40 dòng vào chat hay tải file lên?</a:t>
              </a:r>
              <a:br/>
              <a:r>
                <a:rPr lang="vi-VN" sz="1500" b="1" dirty="0">
                  <a:solidFill>
                    <a:schemeClr val="accent1"/>
                  </a:solidFill>
                  <a:latin typeface="+mn-lt"/>
                  <a:ea typeface="+mn-ea"/>
                  <a:cs typeface="+mn-cs"/>
                </a:rPr>
                <a:t>Vì sao?</a:t>
              </a:r>
            </a:p>
          </p:txBody>
        </p:sp>
        <p:sp>
          <p:nvSpPr>
            <p:cNvPr id="65" name="Line 65"/>
            <p:cNvSpPr/>
            <p:nvPr/>
          </p:nvSpPr>
          <p:spPr>
            <a:xfrm>
              <a:off x="7410450" y="38671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6" name="TextBox 66"/>
            <p:cNvSpPr txBox="1"/>
            <p:nvPr/>
          </p:nvSpPr>
          <p:spPr>
            <a:xfrm>
              <a:off x="7402830" y="4010025"/>
              <a:ext cx="29605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Một đề xuất cần đủ 4 thứ gì?</a:t>
              </a:r>
            </a:p>
          </p:txBody>
        </p:sp>
        <p:sp>
          <p:nvSpPr>
            <p:cNvPr id="67" name="Line 67"/>
            <p:cNvSpPr/>
            <p:nvPr/>
          </p:nvSpPr>
          <p:spPr>
            <a:xfrm>
              <a:off x="7410450" y="49339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8" name="TextBox 68"/>
            <p:cNvSpPr txBox="1"/>
            <p:nvPr/>
          </p:nvSpPr>
          <p:spPr>
            <a:xfrm>
              <a:off x="7402830" y="5076825"/>
              <a:ext cx="374018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Khi nào chuyển từ prompt sang Skill?</a:t>
              </a:r>
            </a:p>
          </p:txBody>
        </p:sp>
      </p:grpSp>
      <p:grpSp>
        <p:nvGrpSpPr>
          <p:cNvPr id="71" name="Group 71"/>
          <p:cNvGrpSpPr/>
          <p:nvPr/>
        </p:nvGrpSpPr>
        <p:grpSpPr>
          <a:xfrm>
            <a:off x="7402830" y="3228975"/>
            <a:ext cx="3116104" cy="541020"/>
            <a:chOff x="7402830" y="3228975"/>
            <a:chExt cx="3116104" cy="541020"/>
          </a:xfrm>
        </p:grpSpPr>
        <p:sp>
          <p:nvSpPr>
            <p:cNvPr id="70" name="TextBox 70"/>
            <p:cNvSpPr txBox="1"/>
            <p:nvPr/>
          </p:nvSpPr>
          <p:spPr>
            <a:xfrm>
              <a:off x="7402830" y="3228975"/>
              <a:ext cx="311610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 Tải file: ChatGPT chạy code; dán chữ</a:t>
              </a:r>
              <a:br/>
              <a:r>
                <a:rPr lang="vi-VN" sz="1500" b="1" dirty="0">
                  <a:solidFill>
                    <a:srgbClr val="2E8B57"/>
                  </a:solidFill>
                  <a:latin typeface="+mn-lt"/>
                  <a:ea typeface="+mn-ea"/>
                  <a:cs typeface="+mn-cs"/>
                </a:rPr>
                <a:t>nó tính nhẩm, dễ sai mà nói chắc</a:t>
              </a:r>
            </a:p>
          </p:txBody>
        </p:sp>
      </p:grpSp>
      <p:grpSp>
        <p:nvGrpSpPr>
          <p:cNvPr id="73" name="Group 73"/>
          <p:cNvGrpSpPr/>
          <p:nvPr/>
        </p:nvGrpSpPr>
        <p:grpSpPr>
          <a:xfrm>
            <a:off x="7402830" y="4295775"/>
            <a:ext cx="3401854" cy="541020"/>
            <a:chOff x="7402830" y="4295775"/>
            <a:chExt cx="3401854" cy="541020"/>
          </a:xfrm>
        </p:grpSpPr>
        <p:sp>
          <p:nvSpPr>
            <p:cNvPr id="72" name="TextBox 72"/>
            <p:cNvSpPr txBox="1"/>
            <p:nvPr/>
          </p:nvSpPr>
          <p:spPr>
            <a:xfrm>
              <a:off x="7402830" y="4295775"/>
              <a:ext cx="340185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Việc, người chịu trách nhiệm, hạn,</a:t>
              </a:r>
              <a:br/>
              <a:r>
                <a:rPr lang="vi-VN" sz="1500" dirty="0">
                  <a:solidFill>
                    <a:schemeClr val="dk1"/>
                  </a:solidFill>
                  <a:latin typeface="+mn-lt"/>
                  <a:ea typeface="+mn-ea"/>
                  <a:cs typeface="+mn-cs"/>
                </a:rPr>
                <a:t>nguồn lực/chi phí</a:t>
              </a:r>
            </a:p>
          </p:txBody>
        </p:sp>
      </p:grpSp>
      <p:grpSp>
        <p:nvGrpSpPr>
          <p:cNvPr id="75" name="Group 75"/>
          <p:cNvGrpSpPr/>
          <p:nvPr/>
        </p:nvGrpSpPr>
        <p:grpSpPr>
          <a:xfrm>
            <a:off x="7402830" y="5362575"/>
            <a:ext cx="3068479" cy="541020"/>
            <a:chOff x="7402830" y="5362575"/>
            <a:chExt cx="3068479" cy="541020"/>
          </a:xfrm>
        </p:grpSpPr>
        <p:sp>
          <p:nvSpPr>
            <p:cNvPr id="74" name="TextBox 74"/>
            <p:cNvSpPr txBox="1"/>
            <p:nvPr/>
          </p:nvSpPr>
          <p:spPr>
            <a:xfrm>
              <a:off x="7402830" y="5362575"/>
              <a:ext cx="3068479"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Khi việc lặp lại hàng tuần và bạn</a:t>
              </a:r>
              <a:br/>
              <a:r>
                <a:rPr lang="vi-VN" sz="1500" dirty="0">
                  <a:solidFill>
                    <a:schemeClr val="dk1"/>
                  </a:solidFill>
                  <a:latin typeface="+mn-lt"/>
                  <a:ea typeface="+mn-ea"/>
                  <a:cs typeface="+mn-cs"/>
                </a:rPr>
                <a:t>gõ lại cùng bộ chỉ dẫn</a:t>
              </a:r>
            </a:p>
          </p:txBody>
        </p:sp>
      </p:grpSp>
      <p:sp>
        <p:nvSpPr>
          <p:cNvPr id="76" name="TextBox 7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7" name="TextBox 77"/>
          <p:cNvSpPr txBox="1"/>
          <p:nvPr/>
        </p:nvSpPr>
        <p:spPr>
          <a:xfrm>
            <a:off x="9406920" y="6554152"/>
            <a:ext cx="174266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Bộ dữ liệu demo Wir Group</a:t>
            </a:r>
          </a:p>
        </p:txBody>
      </p:sp>
      <p:sp>
        <p:nvSpPr>
          <p:cNvPr id="78" name="TextBox 7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35</a:t>
            </a:r>
          </a:p>
        </p:txBody>
      </p:sp>
      <p:sp>
        <p:nvSpPr>
          <p:cNvPr id="7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6</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3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3"/>
                                        </p:tgtEl>
                                        <p:attrNameLst>
                                          <p:attrName>style.visibility</p:attrName>
                                        </p:attrNameLst>
                                      </p:cBhvr>
                                      <p:to>
                                        <p:strVal val="visible"/>
                                      </p:to>
                                    </p:set>
                                    <p:animEffect transition="in" filter="fade">
                                      <p:cBhvr>
                                        <p:cTn id="12" dur="300"/>
                                        <p:tgtEl>
                                          <p:spTgt spid="7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5"/>
                                        </p:tgtEl>
                                        <p:attrNameLst>
                                          <p:attrName>style.visibility</p:attrName>
                                        </p:attrNameLst>
                                      </p:cBhvr>
                                      <p:to>
                                        <p:strVal val="visible"/>
                                      </p:to>
                                    </p:set>
                                    <p:animEffect transition="in" filter="fade">
                                      <p:cBhvr>
                                        <p:cTn id="17" dur="3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chemeClr val="accent2"/>
            </a:solidFill>
            <a:ln>
              <a:noFill/>
            </a:ln>
          </p:spPr>
        </p:sp>
        <p:sp>
          <p:nvSpPr>
            <p:cNvPr id="17" name="Rectangle 17"/>
            <p:cNvSpPr/>
            <p:nvPr/>
          </p:nvSpPr>
          <p:spPr>
            <a:xfrm>
              <a:off x="9448800" y="228600"/>
              <a:ext cx="1143000" cy="190500"/>
            </a:xfrm>
            <a:prstGeom prst="roundRect">
              <a:avLst>
                <a:gd name="adj" fmla="val 15000"/>
              </a:avLst>
            </a:prstGeom>
            <a:solidFill>
              <a:srgbClr val="E3E9F1"/>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sp>
        <p:sp>
          <p:nvSpPr>
            <p:cNvPr id="41" name="Rectangle 41"/>
            <p:cNvSpPr/>
            <p:nvPr/>
          </p:nvSpPr>
          <p:spPr>
            <a:xfrm>
              <a:off x="8991600" y="2228850"/>
              <a:ext cx="952500" cy="342900"/>
            </a:xfrm>
            <a:prstGeom prst="roundRect">
              <a:avLst>
                <a:gd name="adj" fmla="val 50000"/>
              </a:avLst>
            </a:prstGeom>
            <a:solidFill>
              <a:srgbClr val="2E5E91"/>
            </a:solidFill>
            <a:ln>
              <a:noFill/>
            </a:ln>
          </p:spPr>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sp>
        <p:sp>
          <p:nvSpPr>
            <p:cNvPr id="18" name="Line 18"/>
            <p:cNvSpPr/>
            <p:nvPr/>
          </p:nvSpPr>
          <p:spPr>
            <a:xfrm>
              <a:off x="4933950" y="2400300"/>
              <a:ext cx="2266950" cy="1"/>
            </a:xfrm>
            <a:prstGeom prst="line">
              <a:avLst/>
            </a:prstGeom>
            <a:noFill/>
            <a:ln w="19050">
              <a:solidFill>
                <a:srgbClr val="5B6675"/>
              </a:solidFill>
              <a:tailEnd type="triangle" w="lg" len="lg"/>
            </a:ln>
          </p:spPr>
        </p:sp>
        <p:sp>
          <p:nvSpPr>
            <p:cNvPr id="19" name="Line 19"/>
            <p:cNvSpPr/>
            <p:nvPr/>
          </p:nvSpPr>
          <p:spPr>
            <a:xfrm>
              <a:off x="7791450" y="2400300"/>
              <a:ext cx="2266950" cy="1"/>
            </a:xfrm>
            <a:prstGeom prst="line">
              <a:avLst/>
            </a:prstGeom>
            <a:noFill/>
            <a:ln w="19050">
              <a:solidFill>
                <a:srgbClr val="5B6675"/>
              </a:solidFill>
              <a:tailEnd type="triangle" w="lg" len="lg"/>
            </a:ln>
          </p:spPr>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nội</a:t>
              </a:r>
              <a:br/>
              <a:r>
                <a:rPr lang="vi-VN" sz="1500" dirty="0">
                  <a:solidFill>
                    <a:schemeClr val="accent1"/>
                  </a:solidFill>
                  <a:latin typeface="Consolas"/>
                  <a:ea typeface="Consolas"/>
                  <a:cs typeface="Consolas"/>
                </a:rPr>
                <a:t>dung cho công ty.</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bài mạng xã hội cho sản phẩm TPCN</a:t>
              </a:r>
              <a:br/>
              <a:r>
                <a:rPr lang="vi-VN" sz="1500" dirty="0">
                  <a:solidFill>
                    <a:schemeClr val="accent1"/>
                  </a:solidFill>
                  <a:latin typeface="Consolas"/>
                  <a:ea typeface="Consolas"/>
                  <a:cs typeface="Consolas"/>
                </a:rPr>
                <a:t>của Wir (Elasten, CH Alpha Plus, Lactobact Intima).</a:t>
              </a:r>
              <a:br/>
              <a:r>
                <a:rPr lang="vi-VN" sz="1500" dirty="0">
                  <a:solidFill>
                    <a:schemeClr val="accent1"/>
                  </a:solidFill>
                  <a:latin typeface="Consolas"/>
                  <a:ea typeface="Consolas"/>
                  <a:cs typeface="Consolas"/>
                </a:rPr>
                <a:t>Dùng khi cần bài Facebook, Zalo OA, kịch bản video</a:t>
              </a:r>
              <a:br/>
              <a:r>
                <a:rPr lang="vi-VN" sz="1500" dirty="0">
                  <a:solidFill>
                    <a:schemeClr val="accent1"/>
                  </a:solidFill>
                  <a:latin typeface="Consolas"/>
                  <a:ea typeface="Consolas"/>
                  <a:cs typeface="Consolas"/>
                </a:rPr>
                <a:t>ngắn. Không dùng cho Karima (thiết bị tiêm) và tin trả lời khách.</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Một skill là một file SKILL.md gồm 6 phần:</a:t>
            </a:r>
            <a:br/>
            <a:r>
              <a:rPr lang="vi-VN" sz="3150" b="1" dirty="0">
                <a:solidFill>
                  <a:schemeClr val="accent1"/>
                </a:solidFill>
                <a:latin typeface="+mn-lt"/>
                <a:ea typeface="+mn-ea"/>
                <a:cs typeface="+mn-cs"/>
              </a:rPr>
              <a:t>bước đầu kiểm đầu vào, bước cuối tự rà lại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b="1" spc="75" dirty="0">
                  <a:solidFill>
                    <a:srgbClr val="E3E9F1"/>
                  </a:solidFill>
                  <a:latin typeface="+mn-lt"/>
                  <a:ea typeface="+mn-ea"/>
                  <a:cs typeface="+mn-cs"/>
                </a:rPr>
                <a:t>SKILL.md</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name:</a:t>
              </a:r>
              <a:r>
                <a:rPr lang="vi-VN" sz="1500" dirty="0">
                  <a:solidFill>
                    <a:srgbClr val="E3E9F1"/>
                  </a:solidFill>
                  <a:latin typeface="Consolas"/>
                  <a:ea typeface="Consolas"/>
                  <a:cs typeface="Consolas"/>
                </a:rPr>
                <a:t> viet-bai-tpcn</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description:</a:t>
              </a:r>
              <a:r>
                <a:rPr lang="vi-VN" sz="1500" dirty="0">
                  <a:solidFill>
                    <a:srgbClr val="E3E9F1"/>
                  </a:solidFill>
                  <a:latin typeface="Consolas"/>
                  <a:ea typeface="Consolas"/>
                  <a:cs typeface="Consolas"/>
                </a:rPr>
                <a:t> Viết bài mạng xã hội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cho sản phẩm TPCN…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b="1" dirty="0">
                  <a:solidFill>
                    <a:srgbClr val="E3E9F1"/>
                  </a:solidFill>
                  <a:latin typeface="Consolas"/>
                  <a:ea typeface="Consolas"/>
                  <a:cs typeface="Consolas"/>
                </a:rPr>
                <a:t># Viết bài sản phẩm TPCN</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a:t>
              </a:r>
            </a:p>
          </p:txBody>
        </p:sp>
        <p:sp>
          <p:nvSpPr>
            <p:cNvPr id="46" name="Ellipse 46"/>
            <p:cNvSpPr/>
            <p:nvPr/>
          </p:nvSpPr>
          <p:spPr>
            <a:xfrm>
              <a:off x="6096000" y="3409950"/>
              <a:ext cx="304800" cy="304800"/>
            </a:xfrm>
            <a:prstGeom prst="ellipse">
              <a:avLst/>
            </a:prstGeom>
            <a:solidFill>
              <a:srgbClr val="2E5E91"/>
            </a:solidFill>
            <a:ln>
              <a:noFill/>
            </a:ln>
          </p:spPr>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 3 tình huống, và khi nào không dùng</a:t>
              </a:r>
            </a:p>
          </p:txBody>
        </p:sp>
        <p:sp>
          <p:nvSpPr>
            <p:cNvPr id="50" name="Ellipse 50"/>
            <p:cNvSpPr/>
            <p:nvPr/>
          </p:nvSpPr>
          <p:spPr>
            <a:xfrm>
              <a:off x="6096000" y="4000500"/>
              <a:ext cx="304800" cy="304800"/>
            </a:xfrm>
            <a:prstGeom prst="ellipse">
              <a:avLst/>
            </a:prstGeom>
            <a:solidFill>
              <a:srgbClr val="2E5E91"/>
            </a:solidFill>
            <a:ln>
              <a:noFill/>
            </a:ln>
          </p:spPr>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mục bắt buộc và mục “có thì tốt”</a:t>
              </a:r>
            </a:p>
          </p:txBody>
        </p:sp>
        <p:sp>
          <p:nvSpPr>
            <p:cNvPr id="54" name="Ellipse 54"/>
            <p:cNvSpPr/>
            <p:nvPr/>
          </p:nvSpPr>
          <p:spPr>
            <a:xfrm>
              <a:off x="6096000" y="4591050"/>
              <a:ext cx="304800" cy="304800"/>
            </a:xfrm>
            <a:prstGeom prst="ellipse">
              <a:avLst/>
            </a:prstGeom>
            <a:solidFill>
              <a:schemeClr val="accent2"/>
            </a:solidFill>
            <a:ln>
              <a:noFill/>
            </a:ln>
          </p:spPr>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đủ đầu vào; bước cuối tự rà lại</a:t>
              </a:r>
            </a:p>
          </p:txBody>
        </p:sp>
        <p:sp>
          <p:nvSpPr>
            <p:cNvPr id="58" name="Ellipse 58"/>
            <p:cNvSpPr/>
            <p:nvPr/>
          </p:nvSpPr>
          <p:spPr>
            <a:xfrm>
              <a:off x="6096000" y="5181600"/>
              <a:ext cx="304800" cy="304800"/>
            </a:xfrm>
            <a:prstGeom prst="ellipse">
              <a:avLst/>
            </a:prstGeom>
            <a:solidFill>
              <a:srgbClr val="2E5E91"/>
            </a:solidFill>
            <a:ln>
              <a:noFill/>
            </a:ln>
          </p:spPr>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kèm một ví dụ mẫu đã điền số liệu</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Làm tay 5 lượt rồi đóng gói: mỗi lần phải dặn thêm</a:t>
            </a:r>
            <a:br/>
            <a:r>
              <a:rPr lang="vi-VN" sz="3150" b="1" dirty="0">
                <a:solidFill>
                  <a:schemeClr val="accent1"/>
                </a:solidFill>
                <a:latin typeface="+mn-lt"/>
                <a:ea typeface="+mn-ea"/>
                <a:cs typeface="+mn-cs"/>
              </a:rPr>
              <a:t>chính là một mục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kết quả chung chung → lý do cần skill</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sp>
        <p:sp>
          <p:nvSpPr>
            <p:cNvPr id="27" name="Rectangle 27"/>
            <p:cNvSpPr/>
            <p:nvPr/>
          </p:nvSpPr>
          <p:spPr>
            <a:xfrm>
              <a:off x="7353300" y="2724150"/>
              <a:ext cx="4457700" cy="457200"/>
            </a:xfrm>
            <a:prstGeom prst="roundRect">
              <a:avLst>
                <a:gd name="adj" fmla="val 25000"/>
              </a:avLst>
            </a:prstGeom>
            <a:solidFill>
              <a:srgbClr val="2E5E91"/>
            </a:solidFill>
            <a:ln>
              <a:noFill/>
            </a:ln>
          </p:spPr>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sp>
        <p:sp>
          <p:nvSpPr>
            <p:cNvPr id="34" name="Rectangle 34"/>
            <p:cNvSpPr/>
            <p:nvPr/>
          </p:nvSpPr>
          <p:spPr>
            <a:xfrm>
              <a:off x="7353300" y="3314700"/>
              <a:ext cx="4457700" cy="457200"/>
            </a:xfrm>
            <a:prstGeom prst="roundRect">
              <a:avLst>
                <a:gd name="adj" fmla="val 25000"/>
              </a:avLst>
            </a:prstGeom>
            <a:solidFill>
              <a:srgbClr val="2E5E91"/>
            </a:solidFill>
            <a:ln>
              <a:noFill/>
            </a:ln>
          </p:spPr>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SỐ LIỆU, NGÀY THÁNG,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sp>
        <p:sp>
          <p:nvSpPr>
            <p:cNvPr id="41" name="Rectangle 41"/>
            <p:cNvSpPr/>
            <p:nvPr/>
          </p:nvSpPr>
          <p:spPr>
            <a:xfrm>
              <a:off x="7353300" y="3905250"/>
              <a:ext cx="4457700" cy="457200"/>
            </a:xfrm>
            <a:prstGeom prst="roundRect">
              <a:avLst>
                <a:gd name="adj" fmla="val 25000"/>
              </a:avLst>
            </a:prstGeom>
            <a:solidFill>
              <a:srgbClr val="2E5E91"/>
            </a:solidFill>
            <a:ln>
              <a:noFill/>
            </a:ln>
          </p:spPr>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ĐIỂM CẦN LƯU Ý / RỦI RO</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sp>
        <p:sp>
          <p:nvSpPr>
            <p:cNvPr id="48" name="Rectangle 48"/>
            <p:cNvSpPr/>
            <p:nvPr/>
          </p:nvSpPr>
          <p:spPr>
            <a:xfrm>
              <a:off x="7353300" y="4495800"/>
              <a:ext cx="4457700" cy="457200"/>
            </a:xfrm>
            <a:prstGeom prst="roundRect">
              <a:avLst>
                <a:gd name="adj" fmla="val 25000"/>
              </a:avLst>
            </a:prstGeom>
            <a:solidFill>
              <a:srgbClr val="2E5E91"/>
            </a:solidFill>
            <a:ln>
              <a:noFill/>
            </a:ln>
          </p:spPr>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DEMO TRÊN TÀI LIỆU CH ALPHA PLUS CỦA WIR</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ChatGPT bắt được cụm </a:t>
              </a:r>
              <a:r>
                <a:rPr lang="vi-VN" sz="1650" b="1" dirty="0">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 TPCN không được nói “điều trị”.</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7057034" y="6554152"/>
            <a:ext cx="409255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Nguồn: dữ liệu sản phẩm Wir — bộ “từ cấm” theo tầng pháp lý</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Sai thì sửa skill, không sửa tay kết quả;</a:t>
            </a:r>
            <a:br/>
            <a:r>
              <a:rPr lang="vi-VN" sz="3150" b="1" dirty="0">
                <a:solidFill>
                  <a:schemeClr val="accent1"/>
                </a:solidFill>
                <a:latin typeface="+mn-lt"/>
                <a:ea typeface="+mn-ea"/>
                <a:cs typeface="+mn-cs"/>
              </a:rPr>
              <a:t>mỗi skill một việc và phải qua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VÒNG CẢI TIẾN</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sp>
        <p:sp>
          <p:nvSpPr>
            <p:cNvPr id="21" name="Ellipse 21"/>
            <p:cNvSpPr/>
            <p:nvPr/>
          </p:nvSpPr>
          <p:spPr>
            <a:xfrm>
              <a:off x="1676400" y="2343150"/>
              <a:ext cx="647700" cy="647700"/>
            </a:xfrm>
            <a:prstGeom prst="ellipse">
              <a:avLst/>
            </a:prstGeom>
            <a:solidFill>
              <a:srgbClr val="2E5E91"/>
            </a:solidFill>
            <a:ln>
              <a:noFill/>
            </a:ln>
          </p:spPr>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74142" y="4826318"/>
              <a:ext cx="2894076" cy="759333"/>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Chạy trên 3 việc thật</a:t>
              </a:r>
              <a:br/>
              <a:r>
                <a:rPr lang="vi-VN" sz="1350" dirty="0">
                  <a:solidFill>
                    <a:schemeClr val="dk1"/>
                  </a:solidFill>
                  <a:latin typeface="+mn-lt"/>
                  <a:ea typeface="+mn-ea"/>
                  <a:cs typeface="+mn-cs"/>
                </a:rPr>
                <a:t>Ghi lại chỗ phải sửa tay</a:t>
              </a:r>
              <a:br/>
              <a:r>
                <a:rPr lang="vi-VN" sz="1350" dirty="0">
                  <a:solidFill>
                    <a:schemeClr val="dk1"/>
                  </a:solidFill>
                  <a:latin typeface="+mn-lt"/>
                  <a:ea typeface="+mn-ea"/>
                  <a:cs typeface="+mn-cs"/>
                </a:rPr>
                <a:t>Sửa ngược vào skill, ghi “Sửa lần N”</a:t>
              </a:r>
            </a:p>
          </p:txBody>
        </p:sp>
      </p:grpSp>
      <p:grpSp>
        <p:nvGrpSpPr>
          <p:cNvPr id="42" name="Group 42"/>
          <p:cNvGrpSpPr/>
          <p:nvPr/>
        </p:nvGrpSpPr>
        <p:grpSpPr>
          <a:xfrm>
            <a:off x="4314444" y="2137410"/>
            <a:ext cx="3332226" cy="3101340"/>
            <a:chOff x="4314444" y="2137410"/>
            <a:chExt cx="3332226" cy="3101340"/>
          </a:xfrm>
        </p:grpSpPr>
        <p:sp>
          <p:nvSpPr>
            <p:cNvPr id="29" name="TextBox 29"/>
            <p:cNvSpPr txBox="1"/>
            <p:nvPr/>
          </p:nvSpPr>
          <p:spPr>
            <a:xfrm>
              <a:off x="4375404" y="2137410"/>
              <a:ext cx="1815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MỘT SKILL MỘT VIỆC</a:t>
              </a:r>
            </a:p>
          </p:txBody>
        </p:sp>
        <p:sp>
          <p:nvSpPr>
            <p:cNvPr id="30" name="Rectangle 30"/>
            <p:cNvSpPr/>
            <p:nvPr/>
          </p:nvSpPr>
          <p:spPr>
            <a:xfrm>
              <a:off x="4381500" y="2571750"/>
              <a:ext cx="3048000" cy="457200"/>
            </a:xfrm>
            <a:prstGeom prst="roundRect">
              <a:avLst>
                <a:gd name="adj" fmla="val 50000"/>
              </a:avLst>
            </a:prstGeom>
            <a:solidFill>
              <a:schemeClr val="lt1"/>
            </a:solidFill>
            <a:ln w="19050">
              <a:solidFill>
                <a:srgbClr val="2E5E91"/>
              </a:solidFill>
            </a:ln>
          </p:spPr>
        </p:sp>
        <p:sp>
          <p:nvSpPr>
            <p:cNvPr id="31" name="TextBox 31"/>
            <p:cNvSpPr txBox="1"/>
            <p:nvPr/>
          </p:nvSpPr>
          <p:spPr>
            <a:xfrm>
              <a:off x="4905894" y="2688908"/>
              <a:ext cx="1999212"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customer-insight</a:t>
              </a:r>
            </a:p>
          </p:txBody>
        </p:sp>
        <p:sp>
          <p:nvSpPr>
            <p:cNvPr id="32" name="Line 32"/>
            <p:cNvSpPr/>
            <p:nvPr/>
          </p:nvSpPr>
          <p:spPr>
            <a:xfrm>
              <a:off x="5905500" y="3086100"/>
              <a:ext cx="1" cy="400050"/>
            </a:xfrm>
            <a:prstGeom prst="line">
              <a:avLst/>
            </a:prstGeom>
            <a:noFill/>
            <a:ln w="19050">
              <a:solidFill>
                <a:srgbClr val="5B6675"/>
              </a:solidFill>
              <a:tailEnd type="triangle" w="lg" len="lg"/>
            </a:ln>
          </p:spPr>
        </p:sp>
        <p:sp>
          <p:nvSpPr>
            <p:cNvPr id="33" name="Rectangle 33"/>
            <p:cNvSpPr/>
            <p:nvPr/>
          </p:nvSpPr>
          <p:spPr>
            <a:xfrm>
              <a:off x="4381500" y="3562350"/>
              <a:ext cx="3048000" cy="457200"/>
            </a:xfrm>
            <a:prstGeom prst="roundRect">
              <a:avLst>
                <a:gd name="adj" fmla="val 50000"/>
              </a:avLst>
            </a:prstGeom>
            <a:solidFill>
              <a:schemeClr val="lt1"/>
            </a:solidFill>
            <a:ln w="19050">
              <a:solidFill>
                <a:srgbClr val="2E5E91"/>
              </a:solidFill>
            </a:ln>
          </p:spPr>
        </p:sp>
        <p:sp>
          <p:nvSpPr>
            <p:cNvPr id="34" name="TextBox 34"/>
            <p:cNvSpPr txBox="1"/>
            <p:nvPr/>
          </p:nvSpPr>
          <p:spPr>
            <a:xfrm>
              <a:off x="5028339" y="3679508"/>
              <a:ext cx="1754321"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content-engine</a:t>
              </a:r>
            </a:p>
          </p:txBody>
        </p:sp>
        <p:sp>
          <p:nvSpPr>
            <p:cNvPr id="35" name="TextBox 35"/>
            <p:cNvSpPr txBox="1"/>
            <p:nvPr/>
          </p:nvSpPr>
          <p:spPr>
            <a:xfrm>
              <a:off x="4314444" y="4178618"/>
              <a:ext cx="3182112" cy="264033"/>
            </a:xfrm>
            <a:prstGeom prst="rect">
              <a:avLst/>
            </a:prstGeom>
            <a:noFill/>
            <a:ln>
              <a:noFill/>
            </a:ln>
          </p:spPr>
          <p:txBody>
            <a:bodyPr wrap="none" lIns="0" tIns="0" rIns="0" bIns="0" anchor="t" anchorCtr="0">
              <a:spAutoFit/>
            </a:bodyPr>
            <a:lstStyle/>
            <a:p>
              <a:pPr algn="ctr"/>
              <a:r>
                <a:rPr lang="vi-VN" sz="1350" dirty="0">
                  <a:solidFill>
                    <a:srgbClr val="5B6675"/>
                  </a:solidFill>
                  <a:latin typeface="+mn-lt"/>
                  <a:ea typeface="+mn-ea"/>
                  <a:cs typeface="+mn-cs"/>
                </a:rPr>
                <a:t>Đầu ra skill trước = đầu vào skill sau</a:t>
              </a:r>
            </a:p>
          </p:txBody>
        </p:sp>
        <p:sp>
          <p:nvSpPr>
            <p:cNvPr id="36" name="Rectangle 36"/>
            <p:cNvSpPr/>
            <p:nvPr/>
          </p:nvSpPr>
          <p:spPr>
            <a:xfrm>
              <a:off x="4381500" y="4552950"/>
              <a:ext cx="3048000" cy="685800"/>
            </a:xfrm>
            <a:prstGeom prst="roundRect">
              <a:avLst>
                <a:gd name="adj" fmla="val 16667"/>
              </a:avLst>
            </a:prstGeom>
            <a:solidFill>
              <a:srgbClr val="FCEBDD"/>
            </a:solidFill>
            <a:ln>
              <a:noFill/>
            </a:ln>
          </p:spPr>
        </p:sp>
        <p:grpSp>
          <p:nvGrpSpPr>
            <p:cNvPr id="40" name="Group 40"/>
            <p:cNvGrpSpPr/>
            <p:nvPr/>
          </p:nvGrpSpPr>
          <p:grpSpPr>
            <a:xfrm>
              <a:off x="4550619" y="4709593"/>
              <a:ext cx="176105" cy="151297"/>
              <a:chOff x="4550619" y="4709593"/>
              <a:chExt cx="176105" cy="151297"/>
            </a:xfrm>
          </p:grpSpPr>
          <p:sp>
            <p:nvSpPr>
              <p:cNvPr id="37" name="Freeform 37"/>
              <p:cNvSpPr/>
              <p:nvPr/>
            </p:nvSpPr>
            <p:spPr>
              <a:xfrm>
                <a:off x="4638675" y="476488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8" name="Freeform 38"/>
              <p:cNvSpPr/>
              <p:nvPr/>
            </p:nvSpPr>
            <p:spPr>
              <a:xfrm>
                <a:off x="4550619" y="47095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9" name="Freeform 39"/>
              <p:cNvSpPr/>
              <p:nvPr/>
            </p:nvSpPr>
            <p:spPr>
              <a:xfrm>
                <a:off x="4638675" y="482600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41" name="TextBox 41"/>
            <p:cNvSpPr txBox="1"/>
            <p:nvPr/>
          </p:nvSpPr>
          <p:spPr>
            <a:xfrm>
              <a:off x="4831080" y="4676775"/>
              <a:ext cx="28155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Còn </a:t>
              </a:r>
              <a:r>
                <a:rPr lang="vi-VN" sz="1500" b="1" dirty="0">
                  <a:solidFill>
                    <a:srgbClr val="C0392B"/>
                  </a:solidFill>
                  <a:latin typeface="+mn-lt"/>
                  <a:ea typeface="+mn-ea"/>
                  <a:cs typeface="+mn-cs"/>
                </a:rPr>
                <a:t>[CẦN ĐIỀN]</a:t>
              </a:r>
              <a:r>
                <a:rPr lang="vi-VN" sz="1500" dirty="0">
                  <a:solidFill>
                    <a:schemeClr val="dk1"/>
                  </a:solidFill>
                  <a:latin typeface="+mn-lt"/>
                  <a:ea typeface="+mn-ea"/>
                  <a:cs typeface="+mn-cs"/>
                </a:rPr>
                <a:t> thì không chạy</a:t>
              </a:r>
              <a:br/>
              <a:r>
                <a:rPr lang="vi-VN" sz="1500" dirty="0">
                  <a:solidFill>
                    <a:schemeClr val="dk1"/>
                  </a:solidFill>
                  <a:latin typeface="+mn-lt"/>
                  <a:ea typeface="+mn-ea"/>
                  <a:cs typeface="+mn-cs"/>
                </a:rPr>
                <a:t>sang skill sau</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8185404" y="2137410"/>
              <a:ext cx="128723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PHÉP THỬ CUỐI</a:t>
              </a:r>
            </a:p>
          </p:txBody>
        </p:sp>
        <p:sp>
          <p:nvSpPr>
            <p:cNvPr id="44" name="Rectangle 44"/>
            <p:cNvSpPr/>
            <p:nvPr/>
          </p:nvSpPr>
          <p:spPr>
            <a:xfrm>
              <a:off x="8191500" y="2438400"/>
              <a:ext cx="3619500" cy="2628900"/>
            </a:xfrm>
            <a:prstGeom prst="roundRect">
              <a:avLst>
                <a:gd name="adj" fmla="val 5797"/>
              </a:avLst>
            </a:prstGeom>
            <a:solidFill>
              <a:schemeClr val="lt2"/>
            </a:solidFill>
            <a:ln>
              <a:noFill/>
            </a:ln>
          </p:spPr>
        </p:sp>
        <p:sp>
          <p:nvSpPr>
            <p:cNvPr id="45" name="Ellipse 45"/>
            <p:cNvSpPr/>
            <p:nvPr/>
          </p:nvSpPr>
          <p:spPr>
            <a:xfrm>
              <a:off x="8401050" y="2667000"/>
              <a:ext cx="266700" cy="266700"/>
            </a:xfrm>
            <a:prstGeom prst="ellipse">
              <a:avLst/>
            </a:prstGeom>
            <a:solidFill>
              <a:srgbClr val="2E5E91"/>
            </a:solidFill>
            <a:ln>
              <a:noFill/>
            </a:ln>
          </p:spPr>
        </p:sp>
        <p:sp>
          <p:nvSpPr>
            <p:cNvPr id="46" name="TextBox 46"/>
            <p:cNvSpPr txBox="1"/>
            <p:nvPr/>
          </p:nvSpPr>
          <p:spPr>
            <a:xfrm>
              <a:off x="84816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87744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phiên mới</a:t>
              </a:r>
            </a:p>
          </p:txBody>
        </p:sp>
        <p:sp>
          <p:nvSpPr>
            <p:cNvPr id="48" name="Ellipse 48"/>
            <p:cNvSpPr/>
            <p:nvPr/>
          </p:nvSpPr>
          <p:spPr>
            <a:xfrm>
              <a:off x="8401050" y="3124200"/>
              <a:ext cx="266700" cy="266700"/>
            </a:xfrm>
            <a:prstGeom prst="ellipse">
              <a:avLst/>
            </a:prstGeom>
            <a:solidFill>
              <a:srgbClr val="2E5E91"/>
            </a:solidFill>
            <a:ln>
              <a:noFill/>
            </a:ln>
          </p:spPr>
        </p:sp>
        <p:sp>
          <p:nvSpPr>
            <p:cNvPr id="49" name="TextBox 49"/>
            <p:cNvSpPr txBox="1"/>
            <p:nvPr/>
          </p:nvSpPr>
          <p:spPr>
            <a:xfrm>
              <a:off x="8481658" y="31851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8774430" y="31623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gọi tên skill</a:t>
              </a:r>
            </a:p>
          </p:txBody>
        </p:sp>
        <p:sp>
          <p:nvSpPr>
            <p:cNvPr id="51" name="Ellipse 51"/>
            <p:cNvSpPr/>
            <p:nvPr/>
          </p:nvSpPr>
          <p:spPr>
            <a:xfrm>
              <a:off x="8401050" y="3581400"/>
              <a:ext cx="266700" cy="266700"/>
            </a:xfrm>
            <a:prstGeom prst="ellipse">
              <a:avLst/>
            </a:prstGeom>
            <a:solidFill>
              <a:srgbClr val="2E5E91"/>
            </a:solidFill>
            <a:ln>
              <a:noFill/>
            </a:ln>
          </p:spPr>
        </p:sp>
        <p:sp>
          <p:nvSpPr>
            <p:cNvPr id="52" name="TextBox 52"/>
            <p:cNvSpPr txBox="1"/>
            <p:nvPr/>
          </p:nvSpPr>
          <p:spPr>
            <a:xfrm>
              <a:off x="8481658" y="3642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8774430" y="36195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Giao yêu cầu chưa từng làm</a:t>
              </a:r>
            </a:p>
          </p:txBody>
        </p:sp>
        <p:sp>
          <p:nvSpPr>
            <p:cNvPr id="54" name="Line 54"/>
            <p:cNvSpPr/>
            <p:nvPr/>
          </p:nvSpPr>
          <p:spPr>
            <a:xfrm>
              <a:off x="8420100" y="4076700"/>
              <a:ext cx="3162300" cy="9525"/>
            </a:xfrm>
            <a:custGeom>
              <a:avLst/>
              <a:gdLst/>
              <a:ahLst/>
              <a:cxnLst/>
              <a:rect l="l" t="t" r="r" b="b"/>
              <a:pathLst>
                <a:path w="3162300" h="9525">
                  <a:moveTo>
                    <a:pt x="0" y="0"/>
                  </a:moveTo>
                  <a:lnTo>
                    <a:pt x="3162300" y="0"/>
                  </a:lnTo>
                </a:path>
              </a:pathLst>
            </a:custGeom>
            <a:noFill/>
            <a:ln w="9525">
              <a:solidFill>
                <a:schemeClr val="accent4"/>
              </a:solidFill>
            </a:ln>
          </p:spPr>
        </p:sp>
        <p:grpSp>
          <p:nvGrpSpPr>
            <p:cNvPr id="57" name="Group 57"/>
            <p:cNvGrpSpPr/>
            <p:nvPr/>
          </p:nvGrpSpPr>
          <p:grpSpPr>
            <a:xfrm>
              <a:off x="8451056" y="431720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58" name="TextBox 58"/>
            <p:cNvSpPr txBox="1"/>
            <p:nvPr/>
          </p:nvSpPr>
          <p:spPr>
            <a:xfrm>
              <a:off x="8774430" y="4314825"/>
              <a:ext cx="2695575"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Skill tự được gọi và làm đúng</a:t>
              </a:r>
              <a:br/>
              <a:r>
                <a:rPr lang="vi-VN" sz="1500" b="1" dirty="0">
                  <a:solidFill>
                    <a:srgbClr val="2E8B57"/>
                  </a:solidFill>
                  <a:latin typeface="+mn-lt"/>
                  <a:ea typeface="+mn-ea"/>
                  <a:cs typeface="+mn-cs"/>
                </a:rPr>
                <a:t>→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rgbClr val="2E5E91"/>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Chạy trên tài liệu Lactobact Intima của Wir</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bóc đúng 90% · 75% · 40–45% · 50% và chỉ ra cụm “điều trị”</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sp>
        <p:sp>
          <p:nvSpPr>
            <p:cNvPr id="27" name="Ellipse 27"/>
            <p:cNvSpPr/>
            <p:nvPr/>
          </p:nvSpPr>
          <p:spPr>
            <a:xfrm>
              <a:off x="523875" y="3362325"/>
              <a:ext cx="285750" cy="285750"/>
            </a:xfrm>
            <a:prstGeom prst="ellipse">
              <a:avLst/>
            </a:prstGeom>
            <a:solidFill>
              <a:srgbClr val="2E5E91"/>
            </a:solidFill>
            <a:ln>
              <a:noFill/>
            </a:ln>
          </p:spPr>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38625"/>
              <a:ext cx="285750" cy="285750"/>
            </a:xfrm>
            <a:prstGeom prst="ellipse">
              <a:avLst/>
            </a:prstGeom>
            <a:solidFill>
              <a:srgbClr val="2E5E91"/>
            </a:solidFill>
            <a:ln>
              <a:noFill/>
            </a:ln>
          </p:spPr>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sp>
        <p:sp>
          <p:nvSpPr>
            <p:cNvPr id="41" name="Ellipse 41"/>
            <p:cNvSpPr/>
            <p:nvPr/>
          </p:nvSpPr>
          <p:spPr>
            <a:xfrm>
              <a:off x="523875" y="5114925"/>
              <a:ext cx="285750" cy="285750"/>
            </a:xfrm>
            <a:prstGeom prst="ellipse">
              <a:avLst/>
            </a:prstGeom>
            <a:solidFill>
              <a:srgbClr val="2E5E91"/>
            </a:solidFill>
            <a:ln>
              <a:noFill/>
            </a:ln>
          </p:spPr>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7946678" y="6554152"/>
            <a:ext cx="3202906"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Lactobact Intima: tài liệu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35</a:t>
            </a:r>
          </a:p>
        </p:txBody>
      </p:sp>
      <p:sp>
        <p:nvSpPr>
          <p:cNvPr id="6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7</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rgbClr val="E3E9F1"/>
            </a:solidFill>
            <a:ln>
              <a:noFill/>
            </a:ln>
          </p:spPr>
        </p:sp>
        <p:sp>
          <p:nvSpPr>
            <p:cNvPr id="17" name="Rectangle 17"/>
            <p:cNvSpPr/>
            <p:nvPr/>
          </p:nvSpPr>
          <p:spPr>
            <a:xfrm>
              <a:off x="9448800" y="228600"/>
              <a:ext cx="1143000" cy="190500"/>
            </a:xfrm>
            <a:prstGeom prst="roundRect">
              <a:avLst>
                <a:gd name="adj" fmla="val 15000"/>
              </a:avLst>
            </a:prstGeom>
            <a:solidFill>
              <a:schemeClr val="accent2"/>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và gỡ được quyền</a:t>
              </a:r>
            </a:p>
          </p:txBody>
        </p:sp>
        <p:sp>
          <p:nvSpPr>
            <p:cNvPr id="37" name="Ellipse 37"/>
            <p:cNvSpPr/>
            <p:nvPr/>
          </p:nvSpPr>
          <p:spPr>
            <a:xfrm>
              <a:off x="4962525" y="4800600"/>
              <a:ext cx="285750" cy="285750"/>
            </a:xfrm>
            <a:prstGeom prst="ellipse">
              <a:avLst/>
            </a:prstGeom>
            <a:solidFill>
              <a:schemeClr val="accent1"/>
            </a:solidFill>
            <a:ln>
              <a:noFill/>
            </a:ln>
          </p:spPr>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sp>
        <p:sp>
          <p:nvSpPr>
            <p:cNvPr id="18" name="Ellipse 18"/>
            <p:cNvSpPr/>
            <p:nvPr/>
          </p:nvSpPr>
          <p:spPr>
            <a:xfrm>
              <a:off x="647700" y="2381250"/>
              <a:ext cx="533400" cy="533400"/>
            </a:xfrm>
            <a:prstGeom prst="ellipse">
              <a:avLst/>
            </a:prstGeom>
            <a:solidFill>
              <a:schemeClr val="lt2"/>
            </a:solidFill>
            <a:ln>
              <a:noFill/>
            </a:ln>
          </p:spPr>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sp>
        <p:sp>
          <p:nvSpPr>
            <p:cNvPr id="42" name="Ellipse 42"/>
            <p:cNvSpPr/>
            <p:nvPr/>
          </p:nvSpPr>
          <p:spPr>
            <a:xfrm>
              <a:off x="6553200" y="2381250"/>
              <a:ext cx="533400" cy="533400"/>
            </a:xfrm>
            <a:prstGeom prst="ellipse">
              <a:avLst/>
            </a:prstGeom>
            <a:solidFill>
              <a:schemeClr val="lt2"/>
            </a:solidFill>
            <a:ln>
              <a:noFill/>
            </a:ln>
          </p:spPr>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PLUGIN · SETTINGS → PLUGINS → TÊN PLUGIN → PERMISSION</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read-only tools</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 tools</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Mặc định hiện nay. Tự làm việc</a:t>
              </a:r>
              <a:br/>
              <a:r>
                <a:rPr lang="vi-VN" sz="1350" dirty="0">
                  <a:solidFill>
                    <a:schemeClr val="dk1"/>
                  </a:solidFill>
                  <a:latin typeface="+mn-lt"/>
                  <a:ea typeface="+mn-ea"/>
                  <a:cs typeface="+mn-cs"/>
                </a:rPr>
                <a:t>rủi ro thấp,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dirty="0" strike="sngStrike">
                  <a:solidFill>
                    <a:srgbClr val="C0392B"/>
                  </a:solidFill>
                  <a:latin typeface="+mn-lt"/>
                  <a:ea typeface="+mn-ea"/>
                  <a:cs typeface="+mn-cs"/>
                </a:rPr>
                <a:t>Allow all tools</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Làm hết, không hỏi; ChatGPT</a:t>
              </a:r>
              <a:br/>
              <a:r>
                <a:rPr lang="vi-VN" sz="1350" dirty="0">
                  <a:solidFill>
                    <a:schemeClr val="dk1"/>
                  </a:solidFill>
                  <a:latin typeface="+mn-lt"/>
                  <a:ea typeface="+mn-ea"/>
                  <a:cs typeface="+mn-cs"/>
                </a:rPr>
                <a:t>gắn nhãn rủi ro cao. Không dùng</a:t>
              </a:r>
              <a:br/>
              <a:r>
                <a:rPr lang="vi-VN" sz="1350" dirty="0">
                  <a:solidFill>
                    <a:schemeClr val="dk1"/>
                  </a:solidFill>
                  <a:latin typeface="+mn-lt"/>
                  <a:ea typeface="+mn-ea"/>
                  <a:cs typeface="+mn-cs"/>
                </a:rPr>
                <a:t>cho Gmail, kênh gửi ra ngoài</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Nối tài khoản cá nhân, đọc hết quyền trước khi đồng ý,</a:t>
            </a:r>
            <a:br/>
            <a:r>
              <a:rPr lang="vi-VN" sz="3150" b="1" dirty="0">
                <a:solidFill>
                  <a:schemeClr val="accent1"/>
                </a:solidFill>
                <a:latin typeface="+mn-lt"/>
                <a:ea typeface="+mn-ea"/>
                <a:cs typeface="+mn-cs"/>
              </a:rPr>
              <a:t>gỡ quyền ngay tối hôm đó</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sp>
        <p:sp>
          <p:nvSpPr>
            <p:cNvPr id="20" name="Rectangle 20"/>
            <p:cNvSpPr/>
            <p:nvPr/>
          </p:nvSpPr>
          <p:spPr>
            <a:xfrm>
              <a:off x="723900" y="2114550"/>
              <a:ext cx="1600200" cy="285750"/>
            </a:xfrm>
            <a:prstGeom prst="rect">
              <a:avLst/>
            </a:prstGeom>
            <a:solidFill>
              <a:schemeClr val="lt1"/>
            </a:solidFill>
            <a:ln>
              <a:noFill/>
            </a:ln>
          </p:spPr>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3657600" cy="3333750"/>
            </a:xfrm>
            <a:prstGeom prst="roundRect">
              <a:avLst>
                <a:gd name="adj" fmla="val 4571"/>
              </a:avLst>
            </a:prstGeom>
            <a:solidFill>
              <a:schemeClr val="lt2"/>
            </a:solidFill>
            <a:ln>
              <a:noFill/>
            </a:ln>
          </p:spPr>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a:t>
              </a:r>
              <a:br/>
              <a:r>
                <a:rPr lang="vi-VN" sz="1500" dirty="0">
                  <a:solidFill>
                    <a:schemeClr val="dk1"/>
                  </a:solidFill>
                  <a:latin typeface="+mn-lt"/>
                  <a:ea typeface="+mn-ea"/>
                  <a:cs typeface="+mn-cs"/>
                </a:rPr>
                <a:t>trên trình duyệt</a:t>
              </a:r>
            </a:p>
          </p:txBody>
        </p:sp>
        <p:sp>
          <p:nvSpPr>
            <p:cNvPr id="25" name="Rectangle 25"/>
            <p:cNvSpPr/>
            <p:nvPr/>
          </p:nvSpPr>
          <p:spPr>
            <a:xfrm>
              <a:off x="533400" y="3448050"/>
              <a:ext cx="3352800" cy="742950"/>
            </a:xfrm>
            <a:prstGeom prst="roundRect">
              <a:avLst>
                <a:gd name="adj" fmla="val 15385"/>
              </a:avLst>
            </a:prstGeom>
            <a:solidFill>
              <a:schemeClr val="lt1"/>
            </a:solidFill>
            <a:ln w="19050">
              <a:solidFill>
                <a:srgbClr val="C0392B"/>
              </a:solidFill>
            </a:ln>
          </p:spPr>
        </p:sp>
        <p:grpSp>
          <p:nvGrpSpPr>
            <p:cNvPr id="28" name="Group 28"/>
            <p:cNvGrpSpPr/>
            <p:nvPr/>
          </p:nvGrpSpPr>
          <p:grpSpPr>
            <a:xfrm>
              <a:off x="635794" y="3626644"/>
              <a:ext cx="157163" cy="157163"/>
              <a:chOff x="635794" y="3626644"/>
              <a:chExt cx="157163" cy="157163"/>
            </a:xfrm>
          </p:grpSpPr>
          <p:sp>
            <p:nvSpPr>
              <p:cNvPr id="26" name="Freeform 26"/>
              <p:cNvSpPr/>
              <p:nvPr/>
            </p:nvSpPr>
            <p:spPr>
              <a:xfrm>
                <a:off x="635794" y="36266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27" name="Freeform 27"/>
              <p:cNvSpPr/>
              <p:nvPr/>
            </p:nvSpPr>
            <p:spPr>
              <a:xfrm>
                <a:off x="659368" y="3650218"/>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29" name="TextBox 29"/>
            <p:cNvSpPr txBox="1"/>
            <p:nvPr/>
          </p:nvSpPr>
          <p:spPr>
            <a:xfrm>
              <a:off x="944880" y="3600450"/>
              <a:ext cx="2795588"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C0392B"/>
                  </a:solidFill>
                  <a:latin typeface="+mn-lt"/>
                  <a:ea typeface="+mn-ea"/>
                  <a:cs typeface="+mn-cs"/>
                </a:rPr>
                <a:t>Không nối hộp thư công ty</a:t>
              </a:r>
              <a:br/>
              <a:r>
                <a:rPr lang="vi-VN" sz="1500" b="1" dirty="0">
                  <a:solidFill>
                    <a:srgbClr val="C0392B"/>
                  </a:solidFill>
                  <a:latin typeface="+mn-lt"/>
                  <a:ea typeface="+mn-ea"/>
                  <a:cs typeface="+mn-cs"/>
                </a:rPr>
                <a:t>khi đang học (quy định cứng)</a:t>
              </a:r>
            </a:p>
          </p:txBody>
        </p:sp>
        <p:sp>
          <p:nvSpPr>
            <p:cNvPr id="30" name="Rectangle 30"/>
            <p:cNvSpPr/>
            <p:nvPr/>
          </p:nvSpPr>
          <p:spPr>
            <a:xfrm>
              <a:off x="609600" y="4400550"/>
              <a:ext cx="190500" cy="190500"/>
            </a:xfrm>
            <a:prstGeom prst="roundRect">
              <a:avLst>
                <a:gd name="adj" fmla="val 25000"/>
              </a:avLst>
            </a:prstGeom>
            <a:solidFill>
              <a:schemeClr val="lt1"/>
            </a:solidFill>
            <a:ln w="19050">
              <a:solidFill>
                <a:schemeClr val="accent1"/>
              </a:solidFill>
            </a:ln>
          </p:spPr>
        </p:sp>
        <p:sp>
          <p:nvSpPr>
            <p:cNvPr id="31" name="TextBox 31"/>
            <p:cNvSpPr txBox="1"/>
            <p:nvPr/>
          </p:nvSpPr>
          <p:spPr>
            <a:xfrm>
              <a:off x="944880" y="44005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a:t>
              </a:r>
              <a:br/>
              <a:r>
                <a:rPr lang="vi-VN" sz="1500" dirty="0">
                  <a:solidFill>
                    <a:schemeClr val="dk1"/>
                  </a:solidFill>
                  <a:latin typeface="+mn-lt"/>
                  <a:ea typeface="+mn-ea"/>
                  <a:cs typeface="+mn-cs"/>
                </a:rPr>
                <a:t>kiểm tra kỹ</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4324350" y="2162175"/>
              <a:ext cx="190500" cy="190500"/>
            </a:xfrm>
            <a:prstGeom prst="ellipse">
              <a:avLst/>
            </a:prstGeom>
            <a:solidFill>
              <a:schemeClr val="accent1"/>
            </a:solidFill>
            <a:ln>
              <a:noFill/>
            </a:ln>
          </p:spPr>
        </p:sp>
        <p:sp>
          <p:nvSpPr>
            <p:cNvPr id="34" name="Rectangle 34"/>
            <p:cNvSpPr/>
            <p:nvPr/>
          </p:nvSpPr>
          <p:spPr>
            <a:xfrm>
              <a:off x="4610100" y="2114550"/>
              <a:ext cx="1676400" cy="285750"/>
            </a:xfrm>
            <a:prstGeom prst="rect">
              <a:avLst/>
            </a:prstGeom>
            <a:solidFill>
              <a:schemeClr val="lt1"/>
            </a:solidFill>
            <a:ln>
              <a:noFill/>
            </a:ln>
          </p:spPr>
        </p:sp>
        <p:sp>
          <p:nvSpPr>
            <p:cNvPr id="35" name="TextBox 35"/>
            <p:cNvSpPr txBox="1"/>
            <p:nvPr/>
          </p:nvSpPr>
          <p:spPr>
            <a:xfrm>
              <a:off x="46390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4267200" y="2552700"/>
              <a:ext cx="3657600" cy="3333750"/>
            </a:xfrm>
            <a:prstGeom prst="roundRect">
              <a:avLst>
                <a:gd name="adj" fmla="val 4571"/>
              </a:avLst>
            </a:prstGeom>
            <a:solidFill>
              <a:schemeClr val="lt2"/>
            </a:solidFill>
            <a:ln>
              <a:noFill/>
            </a:ln>
          </p:spPr>
        </p:sp>
        <p:sp>
          <p:nvSpPr>
            <p:cNvPr id="37" name="Rectangle 37"/>
            <p:cNvSpPr/>
            <p:nvPr/>
          </p:nvSpPr>
          <p:spPr>
            <a:xfrm>
              <a:off x="4495800" y="2800350"/>
              <a:ext cx="190500" cy="190500"/>
            </a:xfrm>
            <a:prstGeom prst="roundRect">
              <a:avLst>
                <a:gd name="adj" fmla="val 25000"/>
              </a:avLst>
            </a:prstGeom>
            <a:solidFill>
              <a:schemeClr val="lt1"/>
            </a:solidFill>
            <a:ln w="19050">
              <a:solidFill>
                <a:schemeClr val="accent1"/>
              </a:solidFill>
            </a:ln>
          </p:spPr>
        </p:sp>
        <p:sp>
          <p:nvSpPr>
            <p:cNvPr id="38" name="TextBox 38"/>
            <p:cNvSpPr txBox="1"/>
            <p:nvPr/>
          </p:nvSpPr>
          <p:spPr>
            <a:xfrm>
              <a:off x="48310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a:t>
              </a:r>
            </a:p>
          </p:txBody>
        </p:sp>
        <p:sp>
          <p:nvSpPr>
            <p:cNvPr id="39" name="Rectangle 39"/>
            <p:cNvSpPr/>
            <p:nvPr/>
          </p:nvSpPr>
          <p:spPr>
            <a:xfrm>
              <a:off x="4495800" y="3295650"/>
              <a:ext cx="190500" cy="190500"/>
            </a:xfrm>
            <a:prstGeom prst="roundRect">
              <a:avLst>
                <a:gd name="adj" fmla="val 25000"/>
              </a:avLst>
            </a:prstGeom>
            <a:solidFill>
              <a:schemeClr val="lt1"/>
            </a:solidFill>
            <a:ln w="19050">
              <a:solidFill>
                <a:schemeClr val="accent1"/>
              </a:solidFill>
            </a:ln>
          </p:spPr>
        </p:sp>
        <p:sp>
          <p:nvSpPr>
            <p:cNvPr id="40" name="TextBox 40"/>
            <p:cNvSpPr txBox="1"/>
            <p:nvPr/>
          </p:nvSpPr>
          <p:spPr>
            <a:xfrm>
              <a:off x="48310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a:t>
              </a:r>
              <a:br/>
              <a:r>
                <a:rPr lang="vi-VN" sz="1500" dirty="0">
                  <a:solidFill>
                    <a:schemeClr val="dk1"/>
                  </a:solidFill>
                  <a:latin typeface="+mn-lt"/>
                  <a:ea typeface="+mn-ea"/>
                  <a:cs typeface="+mn-cs"/>
                </a:rPr>
                <a:t>gửi → chặn gửi bằng</a:t>
              </a:r>
              <a:br/>
              <a:r>
                <a:rPr lang="vi-VN" sz="1500" b="1" dirty="0">
                  <a:solidFill>
                    <a:schemeClr val="accent1"/>
                  </a:solidFill>
                  <a:latin typeface="+mn-lt"/>
                  <a:ea typeface="+mn-ea"/>
                  <a:cs typeface="+mn-cs"/>
                </a:rPr>
                <a:t>Always ask</a:t>
              </a:r>
            </a:p>
          </p:txBody>
        </p:sp>
        <p:sp>
          <p:nvSpPr>
            <p:cNvPr id="41" name="Rectangle 41"/>
            <p:cNvSpPr/>
            <p:nvPr/>
          </p:nvSpPr>
          <p:spPr>
            <a:xfrm>
              <a:off x="4495800" y="4286250"/>
              <a:ext cx="190500" cy="190500"/>
            </a:xfrm>
            <a:prstGeom prst="roundRect">
              <a:avLst>
                <a:gd name="adj" fmla="val 25000"/>
              </a:avLst>
            </a:prstGeom>
            <a:solidFill>
              <a:schemeClr val="lt1"/>
            </a:solidFill>
            <a:ln w="19050">
              <a:solidFill>
                <a:schemeClr val="accent1"/>
              </a:solidFill>
            </a:ln>
          </p:spPr>
        </p:sp>
        <p:sp>
          <p:nvSpPr>
            <p:cNvPr id="42" name="TextBox 42"/>
            <p:cNvSpPr txBox="1"/>
            <p:nvPr/>
          </p:nvSpPr>
          <p:spPr>
            <a:xfrm>
              <a:off x="4831080" y="428625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a:t>
              </a:r>
              <a:br/>
              <a:r>
                <a:rPr lang="vi-VN" sz="1500" dirty="0">
                  <a:solidFill>
                    <a:schemeClr val="dk1"/>
                  </a:solidFill>
                  <a:latin typeface="+mn-lt"/>
                  <a:ea typeface="+mn-ea"/>
                  <a:cs typeface="+mn-cs"/>
                </a:rPr>
                <a:t>xác minh” thì dừng, gọi</a:t>
              </a:r>
              <a:br/>
              <a:r>
                <a:rPr lang="vi-VN" sz="1500" dirty="0">
                  <a:solidFill>
                    <a:schemeClr val="dk1"/>
                  </a:solidFill>
                  <a:latin typeface="+mn-lt"/>
                  <a:ea typeface="+mn-ea"/>
                  <a:cs typeface="+mn-cs"/>
                </a:rPr>
                <a:t>giảng viên</a:t>
              </a:r>
            </a:p>
          </p:txBody>
        </p:sp>
      </p:grpSp>
      <p:grpSp>
        <p:nvGrpSpPr>
          <p:cNvPr id="52" name="Group 52"/>
          <p:cNvGrpSpPr/>
          <p:nvPr/>
        </p:nvGrpSpPr>
        <p:grpSpPr>
          <a:xfrm>
            <a:off x="8153400" y="2114550"/>
            <a:ext cx="3657600" cy="3771900"/>
            <a:chOff x="8153400" y="2114550"/>
            <a:chExt cx="3657600" cy="3771900"/>
          </a:xfrm>
        </p:grpSpPr>
        <p:sp>
          <p:nvSpPr>
            <p:cNvPr id="44" name="Ellipse 44"/>
            <p:cNvSpPr/>
            <p:nvPr/>
          </p:nvSpPr>
          <p:spPr>
            <a:xfrm>
              <a:off x="8210550" y="2162175"/>
              <a:ext cx="190500" cy="190500"/>
            </a:xfrm>
            <a:prstGeom prst="ellipse">
              <a:avLst/>
            </a:prstGeom>
            <a:solidFill>
              <a:schemeClr val="accent2"/>
            </a:solidFill>
            <a:ln>
              <a:noFill/>
            </a:ln>
          </p:spPr>
        </p:sp>
        <p:sp>
          <p:nvSpPr>
            <p:cNvPr id="45" name="Rectangle 45"/>
            <p:cNvSpPr/>
            <p:nvPr/>
          </p:nvSpPr>
          <p:spPr>
            <a:xfrm>
              <a:off x="8496300" y="2114550"/>
              <a:ext cx="1562100" cy="285750"/>
            </a:xfrm>
            <a:prstGeom prst="rect">
              <a:avLst/>
            </a:prstGeom>
            <a:solidFill>
              <a:schemeClr val="lt1"/>
            </a:solidFill>
            <a:ln>
              <a:noFill/>
            </a:ln>
          </p:spPr>
        </p:sp>
        <p:sp>
          <p:nvSpPr>
            <p:cNvPr id="46" name="TextBox 46"/>
            <p:cNvSpPr txBox="1"/>
            <p:nvPr/>
          </p:nvSpPr>
          <p:spPr>
            <a:xfrm>
              <a:off x="8525256" y="2139315"/>
              <a:ext cx="1515139"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Sau buổi học</a:t>
              </a:r>
            </a:p>
          </p:txBody>
        </p:sp>
        <p:sp>
          <p:nvSpPr>
            <p:cNvPr id="47" name="Rectangle 47"/>
            <p:cNvSpPr/>
            <p:nvPr/>
          </p:nvSpPr>
          <p:spPr>
            <a:xfrm>
              <a:off x="8153400" y="2552700"/>
              <a:ext cx="3657600" cy="3333750"/>
            </a:xfrm>
            <a:prstGeom prst="roundRect">
              <a:avLst>
                <a:gd name="adj" fmla="val 4571"/>
              </a:avLst>
            </a:prstGeom>
            <a:solidFill>
              <a:schemeClr val="lt2"/>
            </a:solidFill>
            <a:ln>
              <a:noFill/>
            </a:ln>
          </p:spPr>
        </p:sp>
        <p:sp>
          <p:nvSpPr>
            <p:cNvPr id="48" name="Rectangle 48"/>
            <p:cNvSpPr/>
            <p:nvPr/>
          </p:nvSpPr>
          <p:spPr>
            <a:xfrm>
              <a:off x="8382000" y="2800350"/>
              <a:ext cx="190500" cy="190500"/>
            </a:xfrm>
            <a:prstGeom prst="roundRect">
              <a:avLst>
                <a:gd name="adj" fmla="val 25000"/>
              </a:avLst>
            </a:prstGeom>
            <a:solidFill>
              <a:schemeClr val="lt1"/>
            </a:solidFill>
            <a:ln w="19050">
              <a:solidFill>
                <a:schemeClr val="accent1"/>
              </a:solidFill>
            </a:ln>
          </p:spPr>
        </p:sp>
        <p:sp>
          <p:nvSpPr>
            <p:cNvPr id="49" name="TextBox 49"/>
            <p:cNvSpPr txBox="1"/>
            <p:nvPr/>
          </p:nvSpPr>
          <p:spPr>
            <a:xfrm>
              <a:off x="8717280" y="2800350"/>
              <a:ext cx="26441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Vào myaccount.google.com/</a:t>
              </a:r>
              <a:br/>
              <a:r>
                <a:rPr lang="vi-VN" sz="1500" dirty="0">
                  <a:solidFill>
                    <a:schemeClr val="dk1"/>
                  </a:solidFill>
                  <a:latin typeface="+mn-lt"/>
                  <a:ea typeface="+mn-ea"/>
                  <a:cs typeface="+mn-cs"/>
                </a:rPr>
                <a:t>linkedapps → ChatGPT/OpenAI</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Remove access</a:t>
              </a:r>
            </a:p>
          </p:txBody>
        </p:sp>
        <p:sp>
          <p:nvSpPr>
            <p:cNvPr id="50" name="Rectangle 50"/>
            <p:cNvSpPr/>
            <p:nvPr/>
          </p:nvSpPr>
          <p:spPr>
            <a:xfrm>
              <a:off x="8382000" y="3790950"/>
              <a:ext cx="190500" cy="190500"/>
            </a:xfrm>
            <a:prstGeom prst="roundRect">
              <a:avLst>
                <a:gd name="adj" fmla="val 25000"/>
              </a:avLst>
            </a:prstGeom>
            <a:solidFill>
              <a:schemeClr val="lt1"/>
            </a:solidFill>
            <a:ln w="19050">
              <a:solidFill>
                <a:schemeClr val="accent1"/>
              </a:solidFill>
            </a:ln>
          </p:spPr>
        </p:sp>
        <p:sp>
          <p:nvSpPr>
            <p:cNvPr id="51" name="TextBox 51"/>
            <p:cNvSpPr txBox="1"/>
            <p:nvPr/>
          </p:nvSpPr>
          <p:spPr>
            <a:xfrm>
              <a:off x="8717280" y="3790950"/>
              <a:ext cx="25584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ChatGPT: Settings → Plugins</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ngắt kết nối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35</a:t>
            </a:r>
          </a:p>
        </p:txBody>
      </p:sp>
      <p:sp>
        <p:nvSpPr>
          <p:cNvPr id="5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9</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đã gỡ quyền</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35</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8</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chemeClr val="accent2"/>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sp>
        <p:sp>
          <p:nvSpPr>
            <p:cNvPr id="21" name="Rectangle 21"/>
            <p:cNvSpPr/>
            <p:nvPr/>
          </p:nvSpPr>
          <p:spPr>
            <a:xfrm>
              <a:off x="495300" y="2971800"/>
              <a:ext cx="3429000" cy="495300"/>
            </a:xfrm>
            <a:prstGeom prst="roundRect">
              <a:avLst>
                <a:gd name="adj" fmla="val 23077"/>
              </a:avLst>
            </a:prstGeom>
            <a:solidFill>
              <a:srgbClr val="64748B"/>
            </a:solidFill>
            <a:ln>
              <a:noFill/>
            </a:ln>
          </p:spPr>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sp>
        <p:sp>
          <p:nvSpPr>
            <p:cNvPr id="34" name="Rectangle 34"/>
            <p:cNvSpPr/>
            <p:nvPr/>
          </p:nvSpPr>
          <p:spPr>
            <a:xfrm>
              <a:off x="4381500" y="2609850"/>
              <a:ext cx="3429000" cy="495300"/>
            </a:xfrm>
            <a:prstGeom prst="roundRect">
              <a:avLst>
                <a:gd name="adj" fmla="val 23077"/>
              </a:avLst>
            </a:prstGeom>
            <a:solidFill>
              <a:srgbClr val="64748B"/>
            </a:solidFill>
            <a:ln>
              <a:noFill/>
            </a:ln>
          </p:spPr>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sp>
        <p:sp>
          <p:nvSpPr>
            <p:cNvPr id="44" name="Rectangle 44"/>
            <p:cNvSpPr/>
            <p:nvPr/>
          </p:nvSpPr>
          <p:spPr>
            <a:xfrm>
              <a:off x="8267700" y="2228850"/>
              <a:ext cx="3429000" cy="495300"/>
            </a:xfrm>
            <a:prstGeom prst="roundRect">
              <a:avLst>
                <a:gd name="adj" fmla="val 23077"/>
              </a:avLst>
            </a:prstGeom>
            <a:solidFill>
              <a:srgbClr val="64748B"/>
            </a:solidFill>
            <a:ln>
              <a:noFill/>
            </a:ln>
          </p:spPr>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mọi buổi,</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buổi trước là đầu vào</a:t>
              </a:r>
              <a:br/>
              <a:r>
                <a:rPr lang="vi-VN" sz="1500" dirty="0">
                  <a:solidFill>
                    <a:schemeClr val="dk1"/>
                  </a:solidFill>
                  <a:latin typeface="+mn-lt"/>
                  <a:ea typeface="+mn-ea"/>
                  <a:cs typeface="+mn-cs"/>
                </a:rPr>
                <a:t>buổi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sp>
        <p:sp>
          <p:nvSpPr>
            <p:cNvPr id="7" name="Rectangle 7"/>
            <p:cNvSpPr/>
            <p:nvPr/>
          </p:nvSpPr>
          <p:spPr>
            <a:xfrm>
              <a:off x="7010400" y="304800"/>
              <a:ext cx="1143000" cy="114300"/>
            </a:xfrm>
            <a:prstGeom prst="roundRect">
              <a:avLst>
                <a:gd name="adj" fmla="val 25000"/>
              </a:avLst>
            </a:prstGeom>
            <a:solidFill>
              <a:schemeClr val="accent3"/>
            </a:solidFill>
            <a:ln>
              <a:noFill/>
            </a:ln>
          </p:spPr>
        </p:sp>
        <p:sp>
          <p:nvSpPr>
            <p:cNvPr id="8" name="Rectangle 8"/>
            <p:cNvSpPr/>
            <p:nvPr/>
          </p:nvSpPr>
          <p:spPr>
            <a:xfrm>
              <a:off x="8229600" y="266700"/>
              <a:ext cx="1143000" cy="152400"/>
            </a:xfrm>
            <a:prstGeom prst="roundRect">
              <a:avLst>
                <a:gd name="adj" fmla="val 18750"/>
              </a:avLst>
            </a:prstGeom>
            <a:solidFill>
              <a:srgbClr val="2E5E91"/>
            </a:solidFill>
            <a:ln>
              <a:noFill/>
            </a:ln>
          </p:spPr>
        </p:sp>
        <p:sp>
          <p:nvSpPr>
            <p:cNvPr id="9" name="Rectangle 9"/>
            <p:cNvSpPr/>
            <p:nvPr/>
          </p:nvSpPr>
          <p:spPr>
            <a:xfrm>
              <a:off x="9448800" y="228600"/>
              <a:ext cx="1143000" cy="190500"/>
            </a:xfrm>
            <a:prstGeom prst="roundRect">
              <a:avLst>
                <a:gd name="adj" fmla="val 15000"/>
              </a:avLst>
            </a:prstGeom>
            <a:solidFill>
              <a:schemeClr val="accent1"/>
            </a:solidFill>
            <a:ln>
              <a:noFill/>
            </a:ln>
          </p:spPr>
        </p:sp>
        <p:sp>
          <p:nvSpPr>
            <p:cNvPr id="10" name="Rectangle 10"/>
            <p:cNvSpPr/>
            <p:nvPr/>
          </p:nvSpPr>
          <p:spPr>
            <a:xfrm>
              <a:off x="10668000" y="190500"/>
              <a:ext cx="1143000" cy="228600"/>
            </a:xfrm>
            <a:prstGeom prst="roundRect">
              <a:avLst>
                <a:gd name="adj" fmla="val 12500"/>
              </a:avLst>
            </a:prstGeom>
            <a:solidFill>
              <a:srgbClr val="64748B"/>
            </a:solidFill>
            <a:ln>
              <a:noFill/>
            </a:ln>
          </p:spPr>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sp>
        <p:sp>
          <p:nvSpPr>
            <p:cNvPr id="35" name="Rectangle 35"/>
            <p:cNvSpPr/>
            <p:nvPr/>
          </p:nvSpPr>
          <p:spPr>
            <a:xfrm>
              <a:off x="5772150" y="2152650"/>
              <a:ext cx="285750" cy="209550"/>
            </a:xfrm>
            <a:prstGeom prst="roundRect">
              <a:avLst>
                <a:gd name="adj" fmla="val 13636"/>
              </a:avLst>
            </a:prstGeom>
            <a:solidFill>
              <a:schemeClr val="accent2"/>
            </a:solidFill>
            <a:ln>
              <a:noFill/>
            </a:ln>
          </p:spPr>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