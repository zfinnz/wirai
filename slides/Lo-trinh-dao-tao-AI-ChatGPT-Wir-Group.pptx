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8981"/>
  </p:normalViewPr>
  <p:slideViewPr>
    <p:cSldViewPr snapToGrid="0" snapToObjects="1">
      <p:cViewPr varScale="1">
        <p:scale>
          <a:sx n="102" d="100"/>
          <a:sy n="102" d="100"/>
        </p:scale>
        <p:origin x="11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vi-VN"/>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vi-V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vi-VN"/>
          </a:p>
        </p:txBody>
      </p:sp>
    </p:spTree>
  </p:cSld>
  <p:clrMap bg1="lt1" tx1="dk1" bg2="lt2" tx2="dk2" accent1="accent1" accent2="accent2" accent3="accent3" accent4="accent4" accent5="accent5" accent6="accent6" hlink="hlink" folHlink="folHlink"/>
  <p:hf/>
  <p:notesStyle>
    <a:lvl1pPr marL="0" algn="l">
      <a:defRPr lang="vi-VN"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Chào anh chị. Hôm nay chúng ta bắt đầu khóa đào tạo AI nội bộ của Wir Group, học trên ChatGPT. Hãy coi ChatGPT là một nhân viên mới rất giỏi: đọc nhanh, viết nhanh, nhưng chưa biết gì về công ty mình. Cả khóa này là quy trình đào tạo nhân viên đó, đi đúng bốn bậc Instructions, Prompt, Skill, Plugin, rồi mới tới phần nâng cao. Khóa học dành cho toàn bộ nhân sự Wir, gồm bốn buổi, mỗi buổi một trăm năm mươi phút.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Đây là bản đồ của cả khóa, mỗi tầng thêm cho ChatGPT một năng lực mới. Tầng một là Instructions: ChatGPT biết mình là ai và luật chung, không phải dặn lại; tính năng dùng là Custom Instructions, Project và Memory. Tầng hai là Prompt: giao đúng từng việc và kiểm chứng được kết quả, qua chat, tải file và phân tích dữ liệu. Tầng ba là Skill: biến việc lặp lại thành quy trình chuẩn, gọi lại được. Tầng bốn là Plugin: nối ChatGPT vào ứng dụng có sẵn và đóng gói thành bộ công cụ của phòng, dùng Plugins, ChatGPT Work và Scheduled tasks. Mỗi tầng là một buổi một trăm năm mươi phút, cả lớp học chung, và mọi ví dụ đều chạy trên sản phẩm và dữ liệu của Wir. Sau bốn tầng có phần nâng cao về AI tự thao tác, gồm Browser extension, Computer use và Dots, phần này chỉ giới thiệu, không thực hành. Mỗi buổi chia như sau: mở đầu mười phút, lời giảng hai mươi lăm phút, demo ba mươi phút, thực hành một trên dữ liệu mẫu ba mươi phút, nghỉ mười phút, thực hành hai trên việc thật của anh chị ba mươi phút, và chốt mười lăm phút.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Cả khóa đi đúng bốn bước như khi anh chị nhận một người mới vào phòng. Ngày đầu, ta phát hồ sơ nhập môn và nội quy; với ChatGPT, đó là khai báo một lần tôi là ai và luật chung. Mỗi ngày, ta giao việc bằng phiếu rõ ràng; với ChatGPT, đó là giao việc theo công thức bốn phần. Với việc lặp lại, ta dán tờ quy trình chuẩn lên tường; với ChatGPT, đó là đóng gói quy trình thành skill. Cuối cùng, ta cấp chìa khóa và bàn giao thùng đồ nghề; với ChatGPT, đó là nối Gmail, Drive và đóng gói thành plugin. Nguyên tắc là đừng nhảy cóc: Instructions viết kém thì prompt nào cũng phải dặn lại từ đầu, prompt chưa vững thì không biết nên đóng gói gì vào skill, và skill chưa chuẩn thì plugin chỉ nhân bản cái sai nhanh hơn.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Bắt đầu tầng một, Instructions. Anh chị để ý, mỗi lần mở chat mới, ChatGPT không biết mình là ai, làm ở đâu, bán sản phẩm gì, và mình lại phải gõ lại từ đầu. Giống một nhân viên sáng nào đi làm cũng quên sạch chuyện hôm qua. Instructions là cách nói một lần để ChatGPT nhớ mãi. Học xong tầng này, anh chị sẽ phân biệt được Custom Instructions, Project và Memory, biết thông tin nào đặt ở đâu; viết được Instructions cho phòng mình; kiểm tra được ChatGPT có tuân thủ luật bằng phép thử chống bịa; và tự cài đặt bảo mật cho tài khoản.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Trong ChatGPT có ba nơi đặt Instructions, mỗi nơi giữ một loại thông tin. Custom Instructions áp dụng cho mọi cuộc chat, giống danh thiếp của chính mình, nên đặt chức danh, cách xưng hô và văn phong; mở trong Settings, Personalization, Custom instructions. Project instructions chỉ áp dụng cho các chat nằm trong Project đó, giống hồ sơ nhập môn của phòng, nên đặt đơn vị, sản phẩm, thuật ngữ, luật riêng và kèm file tham chiếu; tạo New project rồi vào Project settings. Memory là phần ChatGPT tự ghi qua các cuộc chat, giống sổ giao ca, dành cho thói quen nhỏ như thích báo cáo dạng bảng; xem trong Settings, Personalization, Memory và nhớ kiểm tra định kỳ. Điều quan trọng nhất: trong Project, Project instructions ghi đè Custom Instructions, nên luật nghiệp vụ của phòng phải đặt trong Project. Tên menu có thể thay đổi theo phiên bản, giảng viên nên mở thử trước buổi học.</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Instructions giống bảng nội quy dán ở cửa phòng: chỉ ghi điều đúng cho mọi việc, nhét quy trình chi tiết vào thì bảng nội quy dài ba trang và không ai đọc. Anh chị đoán thử từng dòng trước khi tôi mở đáp án. Câu "Tôi là nhân viên Sale của Wir Group, phụ trách khách sỉ" đặt ở Instructions vì đúng cho mọi việc. Luật "TPCN không dùng từ điều trị, không bịa số" cũng đặt ở Instructions vì là luật chung của phòng. Các bước viết lịch nội dung mười bốn ngày thuộc Skill ở tầng ba, vì chỉ đúng cho một việc. Số liệu đơn hàng tháng này đưa vào Prompt ở tầng hai, vì chỉ dùng một lần. Hộp thư và file trên Drive thuộc Plugin ở tầng bốn, vì dữ liệu nằm ngoài ChatGPT. Còn câu "Tôi thích bảng hơn đoạn văn" là thói quen nhỏ, để Memory tự nhớ.</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Chữ "chuyên nghiệp" với anh là một kiểu, với chị là kiểu khác, với ChatGPT lại là kiểu thứ ba. Muốn ChatGPT viết đúng giọng thì phải tả bằng thứ đếm được, nhìn thấy được. Thay vì "viết chuyên nghiệp", hãy ghi: câu dưới hai mươi chữ, không emoji, xưng Wir Group, gọi đối tác là Quý đối tác. Thay vì "thân thiện", hãy ghi: gọi khách là anh chị, xưng em, mở bài bằng một tình huống da cụ thể. Thay vì "ngắn gọn", hãy ghi: tin nhắn dưới một trăm năm mươi chữ, tối đa năm gạch đầu dòng. Thay vì "cẩn thận số liệu", hãy ghi: không tự bịa số, thiếu thì ghi CẦN ĐIỀN. Cuối cùng là phép thử đổi tên: thay chữ Wir Group bằng tên đối thủ, nếu câu vẫn đúng thì câu đó quá chung chung và phải viết lại.</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Ba nguyên tắc chống bịa phải cài ngay từ tầng một. Một, chỉ dùng dữ liệu được cấp, không tự chế số liệu, tên người, ngày tháng hay điều khoản. Hai, gắn nhãn nguồn: thông tin lấy từ tài liệu ghi DATA THẬT, thông tin tự suy ra ghi SUY LUẬN, chưa có dữ liệu thì ghi CẦN ĐIỀN. Ba, người duyệt cuối: mọi thứ ChatGPT viết là bản nháp, người ký và người bấm gửi chịu trách nhiệm. Câu trả lời "chưa đủ dữ liệu" tốt hơn một con số nghe hợp lý, vì con số bịa mà trơn tru mới là thứ nguy hiểm nhất, không ai nghi ngờ nó.</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Bảo mật là cài đặt một lần cộng với một thói quen. Thứ nhất, tắt huấn luyện: vào Settings, Data controls, tắt Improve the model for everyone. Thứ hai, với nội dung nhạy cảm, dùng Temporary Chat: chat tạm không vào lịch sử và không tạo Memory mới. Có năm loại tuyệt đối không dán vào ChatGPT: giá vốn, giá thành, công thức; hợp đồng có điều khoản bảo mật; lương và CCCD của nhân viên; mật khẩu, tài khoản; và tài liệu đóng dấu MẬT. Trước khi dán, hãy làm sạch: thay tên thật bằng khách hàng A, hợp đồng số X. Và không ghi thông tin nhạy cảm vào Instructions hay Memory, vì hai chỗ này đi theo mọi cuộc chat.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Bây giờ là demo. Cùng một câu lệnh "Viết bài Facebook bán Elasten". Khi chưa có Instructions, ChatGPT có thể viết hai kiểu. Kiểu thứ nhất là vi phạm lộ liễu: "collagen số một, điều trị nếp nhăn, trẻ ra sau bảy ngày". Kiểu thứ hai, và đây là kết quả thật khi chạy thử ngày 08/10/2026, là bài "sạch mà rỗng": không có từ cấm, toàn "hỗ trợ", "góp phần", nhưng thiếu câu bắt buộc "Thực phẩm này không phải là thuốc và không có tác dụng thay thế thuốc chữa bệnh", tự thêm "đến từ Đức" và "báo giá ưu đãi" không có nguồn, không có một con số nào, tràn emoji, và thay tên Elasten bằng collagen bất kỳ thì bài vẫn đúng. Bài này nguy hiểm hơn kiểu thứ nhất vì người duyệt dễ cho qua. Sau khi tạo Project của phòng Marketing và dán Instructions có bộ từ cấm theo tầng pháp lý cùng hồ sơ sản phẩm, ChatGPT viết lại: nêu số liệu có nguồn, độ ẩm da tăng hai mươi tám phần trăm sau mười hai tuần theo nghiên cứu lâm sàng trong tài liệu Wir, kèm câu bắt buộc, tối đa hai emoji, và giá bán lẻ chưa có trong hồ sơ thì ghi CẦN ĐIỀN thay vì tự bịa. Không phải ChatGPT giỏi lên, mà lần này nó đã đọc hồ sơ nhập môn. Giảng viên chạy thử trước buổi học vì mỗi lần ChatGPT trả lời một khác, và chấm theo ba chữ: câu bắt buộc, số liệu có nguồn, emoji không quá hai.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Đến phần thực hành. Bài một, hai mươi phút, viết Project instructions cho phòng của anh chị; đạt khi đủ mục, tả giọng văn bằng hành vi và có ba luật chống bịa. Bài hai, năm phút, phép thử chống bịa: hỏi ba con số mà hồ sơ không có, ví dụ giá bán lẻ Elasten hay chương trình khuyến mãi đang chạy; đạt khi cả ba lần ChatGPT đều trả lời chưa đủ dữ liệu hoặc hỏi xin thêm. Bài ba, năm phút, mở chat mới trong cùng Project và giao một việc thật; đạt khi ChatGPT dùng đúng thuật ngữ mà không cần nhắc lại luật. Bài bốn, cài bảo mật, tắt Improve the model for everyone, giảng viên đi kiểm từng máy. Câu hỏi chốt: "cấm dùng emoji" đặt ở Instructions vì là luật chung; các bước viết lịch nội dung mười bốn ngày đặt ở Skill vì chỉ đúng cho một việc; và khi hỏi số không có, ChatGPT đạt khi trả lời chưa đủ dữ liệu hoặc hỏi xin thêm.</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hai, Prompt, là phiếu giao việc mỗi ngày. Prompt một dòng thường cho kết quả chung chung và anh chị phải hỏi lại bốn, năm lượt. Giao việc cho ChatGPT giống giao cho một nhân viên mới rất giỏi nhưng chưa biết gì về công ty: anh chị giao cho người mới thế nào thì giao cho ChatGPT y như vậy. Học xong tầng này, anh chị sẽ giao việc theo công thức bốn phần Bối cảnh, Yêu cầu, Tiêu chí, Định dạng; dùng được ba kỹ thuật đưa mẫu, cho AI hỏi lại và chia nhiều bước; phân tích file số liệu mà không để AI bịa; và kiểm chứng đầu ra trước khi dùng.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Công thức có bốn phần. Bối cảnh trả lời tôi là ai, tình huống gì, có dữ liệu gì, ví dụ "Tôi là nhân viên Sale Wir, Spa Ngọc Anh muốn nhập thử hai mươi hộp Elasten mỗi tháng". Yêu cầu nói rõ AI phải làm việc gì: soạn tin trả lời, báo chiết khấu theo bảng giá sỉ. Tiêu chí nói thế nào là đạt: dưới một trăm năm mươi chữ, không hứa ngoài bảng, không emoji. Định dạng nói trình bày ra sao: tin nhắn Zalo có lời chào, nội dung và chữ ký. Thiếu bối cảnh thì AI trả lời chung chung, thiếu tiêu chí thì AI viết lan man và có thể hứa bừa, thiếu định dạng thì phải sửa lại cách trình bày từ đầu. Phần nào đã có trong Instructions thì prompt không cần nhắc lại, prompt chỉ ghi phần riêng của việc này. Ví dụ Spa Ngọc Anh lấy từ danh sách lead demo của Wir.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So hai cách giao cùng một việc. Prompt tồi chỉ có một dòng "Trả lời spa hỏi giá sỉ Elasten", và kết quả thường tự bịa giá, hứa chiết khấu vượt bảng, thậm chí nói Elasten tốt cho bà bầu. Prompt tốt đủ bốn phần. Bối cảnh: tôi là Sale Wir, Spa Ngọc Anh có ba chi nhánh muốn nhập thử hai mươi hộp mỗi tháng và hỏi bà bầu dùng được không, kèm kết luận giám định chuyên gia rằng sản phẩm không gây rủi ro cho phụ nữ mang thai và cho con bú. Yêu cầu: soạn tin trả lời. Tiêu chí: chiết khấu đúng bảng sỉ, thiếu giá nền thì ghi CẦN ĐIỀN, nói "không gây rủi ro" chứ không nói "tốt cho thai kỳ", dưới một trăm năm mươi chữ. Định dạng: tin nhắn Zalo có lời chào, nội dung, chữ ký. Hỏi lớp: bản nào gửi khách được, chỗ nào nguy hiểm? Không phải ChatGPT giỏi lên, là mình giao việc rõ hơn.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Thêm ba kỹ thuật để nâng chất lượng. Một, đưa một mẫu tốt: một mẫu tốt đáng giá hơn mười dòng mô tả, dán một bài hoặc một tin chuẩn cũ của phòng và bảo AI học đúng bố cục và giọng văn của mẫu đó. Hai, cho AI hỏi lại: thêm câu "Nếu thiếu thông tin, hỏi lại tôi tối đa ba câu trước khi làm", khi đó AI sẽ hỏi thay vì tự bịa. Ba, chia việc nhiều bước: việc lớn tách thành chuỗi prompt, ví dụ phân tích số liệu, rồi viết Executive Summary, rồi dựng outline slide, và chỉ đi tiếp khi đã kiểm xong bước trước.</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Với số liệu, AI nguy hiểm nhất không phải lúc tính sai, mà là lúc nó tự bịa ra một chiều phân tích mà file không có, rồi trình bày rất đẹp. Có bốn quy tắc: đếm trước, phân tích sau, bắt AI báo số dòng và các cột trước; chỉ phân tích theo chiều file có; đối chiếu tổng với file gốc trước khi dùng; và nguyên nhân là suy đoán, viết dạng "nghi do, cần kiểm chứng bằng". Demo bẫy: tải file đơn hàng demo của Wir, file có sáu cột là ngày, kênh, sản phẩm, số lượng, đơn giá và thành tiền, không có cột nhân viên bán hàng. Gõ "Phân tích doanh số theo từng nhân viên bán hàng", nhiều khả năng ChatGPT vẫn lập ra bảng theo nhân viên, và bảng đó bịa hoàn toàn. Nếu ChatGPT từ chối, hãy khen nó và vẫn giải thích cái bẫy cho lớp. Sau đó chạy lại đúng cách và đối chiếu với đáp án: bốn mươi dòng, tổng một trăm bốn mươi bảy triệu ba trăm nghìn đồng, riêng Elasten tám mươi lăm triệu bảy trăm nghìn đồng. Đây là dữ liệu demo, không phải số liệu kinh doanh thật.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Kiểm chứng tốn vài phút, rẻ hơn rất nhiều so với hậu quả của một con số sai. Cách một, Ctrl F trích dẫn: copy câu AI nói là trích nguyên văn rồi tìm trong tài liệu gốc, mất khoảng năm giây mỗi câu. Cách hai, rà ngẫu nhiên số liệu: chọn hai, ba con số và tự đối chiếu với nguồn, mất khoảng một phút. Cách ba, phép thử đổi tên: thay tên mình bằng tên đối thủ, câu vẫn đúng tức là chưa đủ cụ thể, mất ba mươi giây. Cách bốn, bắt AI tự khai bằng câu hỏi "Chỗ nào bạn tự suy đoán mà tài liệu không nói?", chỉ mất một lượt chat.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hai, mỗi người chọn ít nhất ba việc trên bộ dữ liệu demo của Wir: viết biên bản họp và danh sách đầu việc từ transcript họp thô; làm báo cáo doanh thu từ file đơn hàng bốn mươi dòng; rút năm insight có mã bằng chứng từ ba mươi review và tin nhắn khách; hoặc chấm điểm mười hai lead và soạn tin tiếp cận. Đạt khi prompt đủ bốn phần, kết quả không có số bịa, và anh chị tự kiểm chứng được ít nhất hai con số hoặc hai trích dẫn. Câu hỏi chốt: file không có cột nhân viên bán hàng mà sếp muốn xem doanh số theo nhân viên, ta nói rõ file không có dữ liệu này, đề xuất lấy thêm nguồn và không ép AI. Một đề xuất trong báo cáo cần đủ bốn thứ: việc, người chịu trách nhiệm, hạn, nguồn lực hoặc chi phí. Và nên chuyển từ prompt sang skill khi một việc lặp lại hàng tuần và anh chị thấy mình đang gõ lại cùng một bộ chỉ dẫn.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ba là Skill. Hình dung skill như tờ quy trình chuẩn dán trên tường: ai vào làm việc đó cũng theo đúng tờ quy trình và ra kết quả giống nhau. Skill là tờ quy trình đó viết cho ChatGPT, viết một lần, dùng mãi, không sót bước. Học xong tầng này, anh chị sẽ phân biệt được Skill với Instructions và Prompt; hiểu vì sao dòng description quyết định skill có được gọi hay không; tự tạo được một skill theo cách làm tay nhiều lượt rồi đóng gói; và qua được phép thử phiên mới, không gọi tên skill.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So sánh ba thứ đã học. Instructions giống nội quy, áp dụng cho mọi việc, ngắn và chỉ ghi điều luôn đúng, tự động được áp dụng. Prompt giống phiếu giao việc hôm nay, dùng một lần, vừa đủ cho việc này, và do mình gõ. Skill là tờ quy trình chuẩn cho một việc, được dùng mỗi lần gặp đúng loại việc đó, viết chi tiết không sợ dài, và ChatGPT tự chọn khi gặp, hoặc mình gọi bằng dấu a còng.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Skill hoạt động qua bốn bước. Anh chị gõ yêu cầu. ChatGPT chỉ đọc tên và dòng description của mọi skill đang có. Thấy skill nào khớp, nó mới mở toàn bộ file SKILL.md của skill đó. Rồi nó làm đúng từng bước, kể cả bước hỏi lại khi thiếu thông tin. Bước hai là chỗ mấu chốt: ChatGPT không đọc hết mọi skill, nó chỉ đọc dòng mô tả, nên mô tả mơ hồ thì skill viết hay cỡ nào cũng không được gọi ra. Description tồi như "Viết nội dung cho công ty" quá chung, dẫn tới gọi nhầm hoặc không bao giờ được gọi. Description tốt nêu rõ phạm vi: viết bài mạng xã hội cho sản phẩm thực phẩm bảo vệ sức khỏe của Wir như Elasten, CH Alpha Plus, Lactobact Intima; dùng khi cần bài Facebook, Zalo OA, kịch bản video ngắn; không dùng cho Karima là thiết bị tiêm, và không dùng cho tin trả lời khách.</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Một skill là một thư mục chứa file SKILL.md. Đầu file bắt buộc có khối name và description nằm giữa hai dòng ba gạch, sau đó là các mục khi nào dùng, đầu vào, các bước và đầu ra. Cụ thể có sáu phần: tên viết thường, không dấu, nối gạch ngang; mô tả một câu; khi nào dùng với ít nhất ba tình huống và cả khi nào không dùng; đầu vào ghi rõ mục bắt buộc và mục có thì tốt; các bước, trong đó bước một luôn là kiểm tra đủ đầu vào và bước cuối luôn là tự rà lại; và đầu ra kèm một ví dụ mẫu đã điền số liệu.</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Đừng ngồi nghĩ ra skill từ tờ giấy trắng. Hãy làm việc đó bằng tay vài lượt, mỗi lần mình phải dặn thêm chính là một mục trong skill. Demo trên tài liệu CH Alpha Plus của Wir. Lượt một, "Tóm tắt giúp tôi tài liệu này", kết quả chung chung, đó là lý do cần skill. Lượt hai, "Liệt kê theo từng phần", thành mục ý chính chi tiết. Lượt ba, "Bóc mọi con số, mốc thời gian, cam kết", thành mục số liệu, ngày tháng, hạn chót. Lượt bốn, "Có câu nào vượt ranh giới pháp lý hay mâu thuẫn không", thành mục điểm cần lưu ý và rủi ro. Lượt năm, "Chỗ nào bạn tự đoán, rút ba đến năm ý gửi sếp", thành quy tắc chống bịa và tóm tắt nhanh. Ở lượt bốn, ChatGPT bắt được cụm "điều trị thoái hóa sụn khớp" có trong tài liệu gốc, trong khi thực phẩm bảo vệ sức khỏe không được nói điều trị. Sau đó gõ "Hãy đóng gói cách làm vừa rồi thành một skill tên tom-tat-tai-lieu" để ChatGPT tạo skill, rồi mở chat mới, tải một tài liệu khác và chỉ gõ "Tóm tắt tài liệu này" để thấy skill tự chạy.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Skill tốt lên nhờ vòng chạy, soi, sửa: chạy skill trên ba việc thật, ghi lại chỗ phải sửa tay, rồi sửa ngược vào skill và ghi một dòng "Sửa lần N". Sai thì sửa skill, đừng sửa tay kết quả, vì sửa tay thì lần sau lại sai y như cũ. Mỗi skill chỉ làm một việc và nối thành chuỗi, ví dụ skill customer-insight rút insight từ review khách, rồi đầu ra đó trở thành đầu vào cho skill content-engine viết nội dung; còn mục CẦN ĐIỀN thì không chạy sang skill sau. Phép thử cuối của một skill là mở phiên mới, không gọi tên skill, và giao một yêu cầu skill chưa từng làm; skill tự được gọi và làm đúng thì mới đạt.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ba. Bài một, mười lăm phút, tạo skill tom-tat-tai-lieu và chạy trên tài liệu Lactobact Intima của Wir; đạt khi bóc đúng các tỷ lệ chín mươi phần trăm, bảy mươi lăm phần trăm, bốn mươi đến bốn mươi lăm phần trăm và năm mươi phần trăm, đồng thời chỉ ra cụm "điều trị" vượt ranh giới thực phẩm bảo vệ sức khỏe. Bài hai, ba mươi phút, tạo skill cho việc lặp lại của chính anh chị bằng cách chat tay ba đến năm lượt rồi đóng gói. Bài về nhà, chạy thử ba lần trên ba việc khác nhau và sửa ngược vào skill. Cuối cùng, vẽ chuỗi skill của phòng, ghi rõ đầu ra của skill trước là đầu vào của skill sau. Câu hỏi chốt: ChatGPT đọc tên và dòng description để quyết định dùng skill; bước một của mọi skill là kiểm tra đủ đầu vào, thiếu thì hỏi lại; và khi skill ra kết quả sai thì sửa trong skill, không sửa tay kết quả.</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bốn là Plugin. Skill dạy ChatGPT làm đúng, còn plugin cho ChatGPT tay chân để với tới dữ liệu thật như hộp thư, file trên Drive, lịch. Giống cấp cho nhân viên mới thẻ ra vào và chìa khóa tủ hồ sơ, rồi đóng thùng đồ nghề bàn giao cho người kế nhiệm. Đến giờ ChatGPT mới chỉ làm việc trên những gì anh chị dán vào khung chat. Học xong tầng này, anh chị sẽ nối được Gmail và Google Drive, đọc hiểu màn hình cấp quyền và gỡ được quyền; phân biệt ba mức quyền đọc, ghi, gửi ra ngoài; thiết kế được luồng tự động có hai lớp phanh là người duyệt và hẹn giờ; và đóng gói skill, file, app thành plugin của phòng kèm Playbook.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Có hai loại plugin. Plugin có sẵn là kết nối do nhà cung cấp làm sẵn, bấm Connect là dùng, ví dụ Gmail, Google Drive, Calendar, Notion, Slack, SharePoint. Plugin tự tạo là gói gồm skill, file tham chiếu và app cho một quy trình trọn vẹn, ví dụ Plugin Marketing Wir hay Plugin Sale Wir. Cấp chìa nào thì mở được tủ đó, nên phải cấp đúng và cấp vừa đủ.</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Mở quyền dần từng nấc. Đọc là xem thư, xem file, rủi ro là lộ thông tin nếu nối nhầm tài khoản. Ghi là tạo thư nháp, tạo hoặc sửa file, rủi ro là ghi đè file gốc. Gửi ra ngoài là gửi email, đăng bài, và đây là nấc không rút lại được. Mỗi app trong ChatGPT có bốn mức quyền trong Settings, Plugins, Permissions: Always ask hỏi trước mọi hành động và là mặc định cho Gmail khi học; Allow read tự đọc, muốn ghi hoặc gửi thì hỏi; Allow low-risk tự làm việc rủi ro thấp, việc rủi ro cao thì hỏi; còn Allow all làm hết không hỏi, không dùng cho Gmail và các kênh gửi ra ngoài. ChatGPT có hỏi trước khi gửi hay không là do mình cài đặt. Khi ChatGPT hỏi duyệt, đừng bấm Always allow, vì bấm là bỏ luôn chốt người duyệt cho những lần sau.</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 toàn khi nối plugin nằm ở ba thời điểm. Trước khi nối: đăng xuất tài khoản Google công ty trên trình duyệt, tuyệt đối không nối hộp thư công ty khi đang học vì đây là quy định cứng, và nếu đã nối nhiều tài khoản thì kiểm tra kỹ. Khi cấp quyền: đọc hết danh sách quyền; quyền Gmail gộp cả đọc, soạn và gửi nên không tách riêng được, muốn chặn gửi thì đặt mức Always ask; thấy cảnh báo ứng dụng chưa được xác minh thì dừng lại và gọi giảng viên. Sau buổi học: vào myaccount.google.com/linkedapps, chọn ChatGPT hoặc OpenAI, bấm Remove access, rồi vào ChatGPT, Settings, Plugins để ngắt kết nối. Gỡ quyền ngay tối hôm đó.</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Tự động hóa là nhân bản quy trình: quy trình đang tốt thì nhân ra nhiều cái tốt, quy trình đang loạn thì nhân ra nhiều cái loạn và nhanh hơn. Chỉ tự động khi đủ ba điều kiện: việc lặp lại đều đặn, quy tắc rõ ràng, làm sai thì sửa được. Không tự động việc dính tới tiền, việc cam kết với khách, và quy trình còn loạn. Mỗi luồng có ba lớp kích hoạt, xử lý, đưa ra, và người duyệt đứng ở đầu lớp đưa ra. Ví dụ với Wir: bảy giờ sáng thứ Hai đọc file đơn hàng tuần trên Drive, lập bảng doanh thu theo sản phẩm và đánh dấu cảnh báo, trưởng phòng duyệt rồi mới gửi Ban giám đốc. Luồng nào cũng có hai lớp phanh là người duyệt và hẹn giờ để còn kịp hủy, và phải ghi log lúc chạy, kết quả, ai duyệt. Công cụ gồm Scheduled task chạy theo lịch, task theo sự kiện như có thư Gmail mới hay tin Slack, và ChatGPT Work để giao trọn một mục tiêu nhiều bước. Khi task gặp hành động cần duyệt, nó tạm dừng chờ người duyệt, đó chính là phanh thứ nhất.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Anh chị nghỉ phép hai tuần, đồng nghiệp có làm thay được không? Nếu toàn bộ cách làm nằm trong đầu anh chị thì không. Plugin tự tạo là đóng thùng đồ nghề bàn giao. Ví dụ Plugin Sale Wir gồm các skill cham-diem-lead, soan-tiep-can-sale, xu-ly-tu-choi-sale và tom-tat-tai-lieu lấy từ thư viện skill mẫu của Wir; file tham chiếu gồm dữ liệu sản phẩm Wir, chính sách giá sỉ và playbook; app là Google Drive và Gmail. Tạo không cần code: cài Plugin Creator từ danh mục plugin, rồi gõ a còng plugin-creator và mô tả plugin muốn tạo. Đi kèm là Playbook bảy mục: mục đích, ai dùng, quy trình từng bước, tiêu chuẩn đầu ra, ranh giới, chỉ số đo và cách xử lý khi ra sai. Skill là thứ ChatGPT đọc, Playbook là thứ con người đọc.</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bốn có hai phần. Phần bốn A, plugin có sẵn: phân loại hai mươi email gần nhất và soạn thư nháp, rồi đọc file đơn hàng demo trên Drive và ghi bản tóm tắt ngược lên Drive, đối chiếu tổng một trăm bốn mươi bảy triệu ba trăm nghìn đồng. Đạt khi nối đúng tài khoản cá nhân, thư nháp chưa gửi, file gốc còn nguyên và đã gỡ quyền. Phần bốn B, plugin tự tạo: gộp ít nhất hai skill với một file tham chiếu và một app, viết Playbook bảy mục, chạy hai phép thử ngoài bối cảnh gốc và demo năm phút trước lớp. Đạt khi người khác cầm plugin chạy được mà không phải hỏi lại. Câu hỏi chốt: ba mức quyền theo thứ tự là đọc, ghi, gửi, và gửi ra ngoài là mức không rút lại được; hai lớp phanh là người duyệt và hẹn giờ; Gmail đặt mức Always ask, và không bấm Always allow khi được hỏi duyệt.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Phần nâng cao này chỉ giới thiệu, không thực hành. Qua bốn tầng, ChatGPT làm việc trên chữ, trên file và trên dữ liệu mình đưa vào; bước tiếp theo là ChatGPT tự cầm chuột, và càng tự làm được nhiều thì phanh càng phải chắc. Browser extension thao tác trên trang web anh chị đang đăng nhập sẵn, giống nhờ đồng nghiệp lướt web giúp, rủi ro trung bình; chỉ chọn Allow once hoặc Allow for site, và nhớ rằng trang web có thể cài lệnh ẩn. Computer use nhìn màn hình, tự click và gõ trong phần mềm trên máy, giống giao chuột và bàn phím cho người khác, rủi ro cao; phải đóng phần mềm nhạy cảm trước khi dùng và không bấm Always allow. Dots là agent luôn bật trên máy tính đám mây riêng, theo dõi việc nhiều ngày, giống một trợ lý vẫn làm việc khi anh chị vắng mặt, rủi ro cao nhất; hãy đặt luật "cho tôi xem nháp trước khi gửi".</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Sáu nguyên tắc đi cùng mọi buổi, dù dùng công cụ nào. Chống bịa: chỉ dùng dữ liệu được cấp và gắn nhãn DATA THẬT, SUY LUẬN, CẦN ĐIỀN. Người duyệt cuối: AI làm nháp, người ký và người bấm gửi chịu trách nhiệm, không đổ cho AI. Bảo mật: không dán năm loại dữ liệu nhạy cảm và thay tên thật bằng tên chung. Kiểm chứng: đối chiếu số liệu, ngày tháng, tên riêng và trích dẫn với nguồn. Tiêu chuẩn viết bằng số hoặc hành vi, không bằng tính từ. Và lưu kết quả thành file, vì đầu ra buổi trước là đầu vào buổi sau.</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Chúng ta đã đi đủ bốn bậc: Instructions để ChatGPT biết mình là ai, Prompt để giao đúng việc, Skill để có quy trình chuẩn, và Plugin để với tới dữ liệu thật. Công cụ sẽ còn thay đổi nhiều, nhưng có ba điều không đổi: AI làm nháp, con người duyệt; quyền cấp từng nấc đọc, ghi, gửi; và "chưa đủ dữ liệu" tốt hơn một con số bịa. Nắm được những điều đó thì công cụ nào ra sau anh chị cũng dùng an toàn được. Việc tiếp theo: chọn một việc lặp lại của phòng mình và đi lại đủ bốn bậc với chính việc đó. Cảm ơn anh chị đã đồng hành, giờ mời mọi người đặt câu hỏi.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lo-trinh-chatgpt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o-trinh-chatgpt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6286500" y="1905000"/>
            <a:ext cx="9525000" cy="9525000"/>
          </a:xfrm>
          <a:prstGeom prst="ellipse">
            <a:avLst/>
          </a:prstGeom>
          <a:solidFill>
            <a:schemeClr val="lt2"/>
          </a:solidFill>
          <a:ln>
            <a:noFill/>
          </a:ln>
        </p:spPr>
      </p:sp>
      <p:grpSp>
        <p:nvGrpSpPr>
          <p:cNvPr id="5" name="Group 5"/>
          <p:cNvGrpSpPr/>
          <p:nvPr/>
        </p:nvGrpSpPr>
        <p:grpSpPr>
          <a:xfrm>
            <a:off x="603504" y="1028700"/>
            <a:ext cx="3718255" cy="467106"/>
            <a:chOff x="603504" y="1028700"/>
            <a:chExt cx="3718255" cy="467106"/>
          </a:xfrm>
        </p:grpSpPr>
        <p:sp>
          <p:nvSpPr>
            <p:cNvPr id="3" name="Rectangle 3"/>
            <p:cNvSpPr/>
            <p:nvPr/>
          </p:nvSpPr>
          <p:spPr>
            <a:xfrm>
              <a:off x="609600" y="1028700"/>
              <a:ext cx="533400" cy="57150"/>
            </a:xfrm>
            <a:prstGeom prst="roundRect">
              <a:avLst>
                <a:gd name="adj" fmla="val 50000"/>
              </a:avLst>
            </a:prstGeom>
            <a:solidFill>
              <a:schemeClr val="accent2"/>
            </a:solidFill>
            <a:ln>
              <a:noFill/>
            </a:ln>
          </p:spPr>
        </p:sp>
        <p:sp>
          <p:nvSpPr>
            <p:cNvPr id="4" name="TextBox 4"/>
            <p:cNvSpPr txBox="1"/>
            <p:nvPr/>
          </p:nvSpPr>
          <p:spPr>
            <a:xfrm>
              <a:off x="603504" y="1261110"/>
              <a:ext cx="3718255" cy="234696"/>
            </a:xfrm>
            <a:prstGeom prst="rect">
              <a:avLst/>
            </a:prstGeom>
            <a:noFill/>
            <a:ln>
              <a:noFill/>
            </a:ln>
          </p:spPr>
          <p:txBody>
            <a:bodyPr wrap="none" lIns="0" tIns="0" rIns="0" bIns="0" anchor="t" anchorCtr="0">
              <a:spAutoFit/>
            </a:bodyPr>
            <a:lstStyle/>
            <a:p>
              <a:pPr algn="l"/>
              <a:r>
                <a:rPr lang="vi-VN" sz="1200" b="1" spc="150" dirty="0">
                  <a:solidFill>
                    <a:schemeClr val="accent1"/>
                  </a:solidFill>
                  <a:latin typeface="+mn-lt"/>
                  <a:ea typeface="+mn-ea"/>
                  <a:cs typeface="+mn-cs"/>
                </a:rPr>
                <a:t>KHÓA ĐÀO TẠO AI NỘI BỘ · WIR GROUP</a:t>
              </a:r>
            </a:p>
          </p:txBody>
        </p:sp>
      </p:grpSp>
      <p:grpSp>
        <p:nvGrpSpPr>
          <p:cNvPr id="7" name="Group 7"/>
          <p:cNvGrpSpPr/>
          <p:nvPr/>
        </p:nvGrpSpPr>
        <p:grpSpPr>
          <a:xfrm>
            <a:off x="590550" y="1618298"/>
            <a:ext cx="6110859" cy="1704975"/>
            <a:chOff x="590550" y="1618298"/>
            <a:chExt cx="6110859" cy="1704975"/>
          </a:xfrm>
        </p:grpSpPr>
        <p:sp>
          <p:nvSpPr>
            <p:cNvPr id="6" name="TextBox 6"/>
            <p:cNvSpPr txBox="1"/>
            <p:nvPr/>
          </p:nvSpPr>
          <p:spPr>
            <a:xfrm>
              <a:off x="590550" y="1618298"/>
              <a:ext cx="6110859" cy="1704975"/>
            </a:xfrm>
            <a:prstGeom prst="rect">
              <a:avLst/>
            </a:prstGeom>
            <a:noFill/>
            <a:ln>
              <a:noFill/>
            </a:ln>
          </p:spPr>
          <p:txBody>
            <a:bodyPr wrap="none" lIns="0" tIns="0" rIns="0" bIns="0" anchor="t" anchorCtr="0">
              <a:spAutoFit/>
            </a:bodyPr>
            <a:lstStyle/>
            <a:p>
              <a:pPr algn="l">
                <a:lnSpc>
                  <a:spcPts val="5850"/>
                </a:lnSpc>
              </a:pPr>
              <a:r>
                <a:rPr lang="vi-VN" sz="4950" b="1" dirty="0">
                  <a:solidFill>
                    <a:schemeClr val="accent1"/>
                  </a:solidFill>
                  <a:latin typeface="+mn-lt"/>
                  <a:ea typeface="+mn-ea"/>
                  <a:cs typeface="+mn-cs"/>
                </a:rPr>
                <a:t>Lộ trình đào tạo AI</a:t>
              </a:r>
              <a:br/>
              <a:r>
                <a:rPr lang="vi-VN" sz="4950" b="1" dirty="0">
                  <a:solidFill>
                    <a:schemeClr val="accent1"/>
                  </a:solidFill>
                  <a:latin typeface="+mn-lt"/>
                  <a:ea typeface="+mn-ea"/>
                  <a:cs typeface="+mn-cs"/>
                </a:rPr>
                <a:t>trên ChatGPT</a:t>
              </a:r>
            </a:p>
          </p:txBody>
        </p:sp>
      </p:grpSp>
      <p:grpSp>
        <p:nvGrpSpPr>
          <p:cNvPr id="9" name="Group 9"/>
          <p:cNvGrpSpPr/>
          <p:nvPr/>
        </p:nvGrpSpPr>
        <p:grpSpPr>
          <a:xfrm>
            <a:off x="597408" y="3360420"/>
            <a:ext cx="6518148" cy="869442"/>
            <a:chOff x="597408" y="3360420"/>
            <a:chExt cx="6518148" cy="869442"/>
          </a:xfrm>
        </p:grpSpPr>
        <p:sp>
          <p:nvSpPr>
            <p:cNvPr id="8" name="TextBox 8"/>
            <p:cNvSpPr txBox="1"/>
            <p:nvPr/>
          </p:nvSpPr>
          <p:spPr>
            <a:xfrm>
              <a:off x="597408" y="3360420"/>
              <a:ext cx="6518148" cy="869442"/>
            </a:xfrm>
            <a:prstGeom prst="rect">
              <a:avLst/>
            </a:prstGeom>
            <a:noFill/>
            <a:ln>
              <a:noFill/>
            </a:ln>
          </p:spPr>
          <p:txBody>
            <a:bodyPr wrap="none" lIns="0" tIns="0" rIns="0" bIns="0" anchor="t" anchorCtr="0">
              <a:spAutoFit/>
            </a:bodyPr>
            <a:lstStyle/>
            <a:p>
              <a:pPr algn="l">
                <a:lnSpc>
                  <a:spcPts val="3150"/>
                </a:lnSpc>
              </a:pPr>
              <a:r>
                <a:rPr lang="vi-VN" sz="2400" dirty="0">
                  <a:solidFill>
                    <a:schemeClr val="dk1"/>
                  </a:solidFill>
                  <a:latin typeface="+mn-lt"/>
                  <a:ea typeface="+mn-ea"/>
                  <a:cs typeface="+mn-cs"/>
                </a:rPr>
                <a:t>Đào tạo ChatGPT như đào tạo</a:t>
              </a:r>
              <a:br>
                <a:rPr dirty="0"/>
              </a:br>
              <a:r>
                <a:rPr lang="vi-VN" sz="2400" dirty="0">
                  <a:solidFill>
                    <a:schemeClr val="dk1"/>
                  </a:solidFill>
                  <a:latin typeface="+mn-lt"/>
                  <a:ea typeface="+mn-ea"/>
                  <a:cs typeface="+mn-cs"/>
                </a:rPr>
                <a:t>một nhân viên mới — </a:t>
              </a:r>
              <a:r>
                <a:rPr lang="vi-VN" sz="2400" b="1" dirty="0">
                  <a:solidFill>
                    <a:schemeClr val="accent1"/>
                  </a:solidFill>
                  <a:latin typeface="+mn-lt"/>
                  <a:ea typeface="+mn-ea"/>
                  <a:cs typeface="+mn-cs"/>
                </a:rPr>
                <a:t>4 bước, không nhảy cóc</a:t>
              </a:r>
            </a:p>
          </p:txBody>
        </p:sp>
      </p:grpSp>
      <p:grpSp>
        <p:nvGrpSpPr>
          <p:cNvPr id="11" name="Group 11"/>
          <p:cNvGrpSpPr/>
          <p:nvPr/>
        </p:nvGrpSpPr>
        <p:grpSpPr>
          <a:xfrm>
            <a:off x="600456" y="5139690"/>
            <a:ext cx="3847207" cy="302583"/>
            <a:chOff x="600456" y="5139690"/>
            <a:chExt cx="3847207" cy="302583"/>
          </a:xfrm>
        </p:grpSpPr>
        <p:sp>
          <p:nvSpPr>
            <p:cNvPr id="10" name="TextBox 10"/>
            <p:cNvSpPr txBox="1"/>
            <p:nvPr/>
          </p:nvSpPr>
          <p:spPr>
            <a:xfrm>
              <a:off x="600456" y="5139690"/>
              <a:ext cx="3847207" cy="302583"/>
            </a:xfrm>
            <a:prstGeom prst="rect">
              <a:avLst/>
            </a:prstGeom>
            <a:noFill/>
            <a:ln>
              <a:noFill/>
            </a:ln>
          </p:spPr>
          <p:txBody>
            <a:bodyPr wrap="none" lIns="0" tIns="0" rIns="0" bIns="0" anchor="t" anchorCtr="0">
              <a:spAutoFit/>
            </a:bodyPr>
            <a:lstStyle/>
            <a:p>
              <a:pPr algn="l">
                <a:lnSpc>
                  <a:spcPts val="2550"/>
                </a:lnSpc>
              </a:pPr>
              <a:r>
                <a:rPr lang="vi-VN" sz="1800" dirty="0">
                  <a:solidFill>
                    <a:srgbClr val="5B6675"/>
                  </a:solidFill>
                  <a:latin typeface="+mn-lt"/>
                  <a:ea typeface="+mn-ea"/>
                  <a:cs typeface="+mn-cs"/>
                </a:rPr>
                <a:t>Dành cho toàn bộ nhân sự Wir Group</a:t>
              </a:r>
            </a:p>
          </p:txBody>
        </p:sp>
      </p:grpSp>
      <p:grpSp>
        <p:nvGrpSpPr>
          <p:cNvPr id="15" name="Group 15"/>
          <p:cNvGrpSpPr/>
          <p:nvPr/>
        </p:nvGrpSpPr>
        <p:grpSpPr>
          <a:xfrm>
            <a:off x="6432042" y="4762500"/>
            <a:ext cx="1245108" cy="1566101"/>
            <a:chOff x="6432042" y="4762500"/>
            <a:chExt cx="1245108" cy="1566101"/>
          </a:xfrm>
        </p:grpSpPr>
        <p:sp>
          <p:nvSpPr>
            <p:cNvPr id="12" name="Rectangle 12"/>
            <p:cNvSpPr/>
            <p:nvPr/>
          </p:nvSpPr>
          <p:spPr>
            <a:xfrm>
              <a:off x="6438900" y="4762500"/>
              <a:ext cx="1238250" cy="1143000"/>
            </a:xfrm>
            <a:prstGeom prst="roundRect">
              <a:avLst>
                <a:gd name="adj" fmla="val 11667"/>
              </a:avLst>
            </a:prstGeom>
            <a:solidFill>
              <a:schemeClr val="accent5"/>
            </a:solidFill>
            <a:ln>
              <a:noFill/>
            </a:ln>
          </p:spPr>
        </p:sp>
        <p:sp>
          <p:nvSpPr>
            <p:cNvPr id="13" name="TextBox 13"/>
            <p:cNvSpPr txBox="1"/>
            <p:nvPr/>
          </p:nvSpPr>
          <p:spPr>
            <a:xfrm>
              <a:off x="6610350" y="49510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1</a:t>
              </a:r>
            </a:p>
          </p:txBody>
        </p:sp>
        <p:sp>
          <p:nvSpPr>
            <p:cNvPr id="14" name="TextBox 14"/>
            <p:cNvSpPr txBox="1"/>
            <p:nvPr/>
          </p:nvSpPr>
          <p:spPr>
            <a:xfrm>
              <a:off x="6432042" y="60645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grpSp>
      <p:grpSp>
        <p:nvGrpSpPr>
          <p:cNvPr id="19" name="Group 19"/>
          <p:cNvGrpSpPr/>
          <p:nvPr/>
        </p:nvGrpSpPr>
        <p:grpSpPr>
          <a:xfrm>
            <a:off x="7746492" y="3905250"/>
            <a:ext cx="1245108" cy="2423351"/>
            <a:chOff x="7746492" y="3905250"/>
            <a:chExt cx="1245108" cy="2423351"/>
          </a:xfrm>
        </p:grpSpPr>
        <p:sp>
          <p:nvSpPr>
            <p:cNvPr id="16" name="Rectangle 16"/>
            <p:cNvSpPr/>
            <p:nvPr/>
          </p:nvSpPr>
          <p:spPr>
            <a:xfrm>
              <a:off x="7753350" y="3905250"/>
              <a:ext cx="1238250" cy="2000250"/>
            </a:xfrm>
            <a:prstGeom prst="roundRect">
              <a:avLst>
                <a:gd name="adj" fmla="val 10769"/>
              </a:avLst>
            </a:prstGeom>
            <a:solidFill>
              <a:schemeClr val="accent3"/>
            </a:solidFill>
            <a:ln>
              <a:noFill/>
            </a:ln>
          </p:spPr>
        </p:sp>
        <p:sp>
          <p:nvSpPr>
            <p:cNvPr id="17" name="TextBox 17"/>
            <p:cNvSpPr txBox="1"/>
            <p:nvPr/>
          </p:nvSpPr>
          <p:spPr>
            <a:xfrm>
              <a:off x="7924800" y="40938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2</a:t>
              </a:r>
            </a:p>
          </p:txBody>
        </p:sp>
        <p:sp>
          <p:nvSpPr>
            <p:cNvPr id="18" name="TextBox 18"/>
            <p:cNvSpPr txBox="1"/>
            <p:nvPr/>
          </p:nvSpPr>
          <p:spPr>
            <a:xfrm>
              <a:off x="7746492" y="60645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grpSp>
      <p:grpSp>
        <p:nvGrpSpPr>
          <p:cNvPr id="23" name="Group 23"/>
          <p:cNvGrpSpPr/>
          <p:nvPr/>
        </p:nvGrpSpPr>
        <p:grpSpPr>
          <a:xfrm>
            <a:off x="9060942" y="3048000"/>
            <a:ext cx="1245108" cy="3280601"/>
            <a:chOff x="9060942" y="3048000"/>
            <a:chExt cx="1245108" cy="3280601"/>
          </a:xfrm>
        </p:grpSpPr>
        <p:sp>
          <p:nvSpPr>
            <p:cNvPr id="20" name="Rectangle 20"/>
            <p:cNvSpPr/>
            <p:nvPr/>
          </p:nvSpPr>
          <p:spPr>
            <a:xfrm>
              <a:off x="9067800" y="3048000"/>
              <a:ext cx="1238250" cy="2857500"/>
            </a:xfrm>
            <a:prstGeom prst="roundRect">
              <a:avLst>
                <a:gd name="adj" fmla="val 10769"/>
              </a:avLst>
            </a:prstGeom>
            <a:solidFill>
              <a:srgbClr val="2E5E91"/>
            </a:solidFill>
            <a:ln>
              <a:noFill/>
            </a:ln>
          </p:spPr>
        </p:sp>
        <p:sp>
          <p:nvSpPr>
            <p:cNvPr id="21" name="TextBox 21"/>
            <p:cNvSpPr txBox="1"/>
            <p:nvPr/>
          </p:nvSpPr>
          <p:spPr>
            <a:xfrm>
              <a:off x="9239250" y="32365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3</a:t>
              </a:r>
            </a:p>
          </p:txBody>
        </p:sp>
        <p:sp>
          <p:nvSpPr>
            <p:cNvPr id="22" name="TextBox 22"/>
            <p:cNvSpPr txBox="1"/>
            <p:nvPr/>
          </p:nvSpPr>
          <p:spPr>
            <a:xfrm>
              <a:off x="9060942" y="60645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grpSp>
      <p:grpSp>
        <p:nvGrpSpPr>
          <p:cNvPr id="27" name="Group 27"/>
          <p:cNvGrpSpPr/>
          <p:nvPr/>
        </p:nvGrpSpPr>
        <p:grpSpPr>
          <a:xfrm>
            <a:off x="10375392" y="2190750"/>
            <a:ext cx="1245108" cy="4137851"/>
            <a:chOff x="10375392" y="2190750"/>
            <a:chExt cx="1245108" cy="4137851"/>
          </a:xfrm>
        </p:grpSpPr>
        <p:sp>
          <p:nvSpPr>
            <p:cNvPr id="24" name="Rectangle 24"/>
            <p:cNvSpPr/>
            <p:nvPr/>
          </p:nvSpPr>
          <p:spPr>
            <a:xfrm>
              <a:off x="10382250" y="2190750"/>
              <a:ext cx="1238250" cy="3714750"/>
            </a:xfrm>
            <a:prstGeom prst="roundRect">
              <a:avLst>
                <a:gd name="adj" fmla="val 10769"/>
              </a:avLst>
            </a:prstGeom>
            <a:solidFill>
              <a:schemeClr val="accent1"/>
            </a:solidFill>
            <a:ln>
              <a:noFill/>
            </a:ln>
          </p:spPr>
        </p:sp>
        <p:sp>
          <p:nvSpPr>
            <p:cNvPr id="25" name="TextBox 25"/>
            <p:cNvSpPr txBox="1"/>
            <p:nvPr/>
          </p:nvSpPr>
          <p:spPr>
            <a:xfrm>
              <a:off x="10553700" y="23793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4</a:t>
              </a:r>
            </a:p>
          </p:txBody>
        </p:sp>
        <p:sp>
          <p:nvSpPr>
            <p:cNvPr id="26" name="TextBox 26"/>
            <p:cNvSpPr txBox="1"/>
            <p:nvPr/>
          </p:nvSpPr>
          <p:spPr>
            <a:xfrm>
              <a:off x="10375392" y="60645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grpSp>
      <p:grpSp>
        <p:nvGrpSpPr>
          <p:cNvPr id="30" name="Group 30"/>
          <p:cNvGrpSpPr/>
          <p:nvPr/>
        </p:nvGrpSpPr>
        <p:grpSpPr>
          <a:xfrm>
            <a:off x="10382250" y="1638300"/>
            <a:ext cx="1238250" cy="381000"/>
            <a:chOff x="10382250" y="1638300"/>
            <a:chExt cx="1238250" cy="381000"/>
          </a:xfrm>
        </p:grpSpPr>
        <p:sp>
          <p:nvSpPr>
            <p:cNvPr id="28" name="Rectangle 28"/>
            <p:cNvSpPr/>
            <p:nvPr/>
          </p:nvSpPr>
          <p:spPr>
            <a:xfrm>
              <a:off x="10382250" y="1638300"/>
              <a:ext cx="1238250" cy="381000"/>
            </a:xfrm>
            <a:prstGeom prst="roundRect">
              <a:avLst>
                <a:gd name="adj" fmla="val 50000"/>
              </a:avLst>
            </a:prstGeom>
            <a:solidFill>
              <a:srgbClr val="64748B"/>
            </a:solidFill>
            <a:ln>
              <a:noFill/>
            </a:ln>
          </p:spPr>
        </p:sp>
        <p:sp>
          <p:nvSpPr>
            <p:cNvPr id="29" name="TextBox 29"/>
            <p:cNvSpPr txBox="1"/>
            <p:nvPr/>
          </p:nvSpPr>
          <p:spPr>
            <a:xfrm>
              <a:off x="10595356" y="1740218"/>
              <a:ext cx="812039" cy="264033"/>
            </a:xfrm>
            <a:prstGeom prst="rect">
              <a:avLst/>
            </a:prstGeom>
            <a:noFill/>
            <a:ln>
              <a:noFill/>
            </a:ln>
          </p:spPr>
          <p:txBody>
            <a:bodyPr wrap="none" lIns="0" tIns="0" rIns="0" bIns="0" anchor="t" anchorCtr="0">
              <a:spAutoFit/>
            </a:bodyPr>
            <a:lstStyle/>
            <a:p>
              <a:pPr algn="ctr"/>
              <a:r>
                <a:rPr lang="vi-VN" sz="1350" b="1" dirty="0">
                  <a:solidFill>
                    <a:srgbClr val="FFFFFF"/>
                  </a:solidFill>
                  <a:latin typeface="+mn-lt"/>
                  <a:ea typeface="+mn-ea"/>
                  <a:cs typeface="+mn-cs"/>
                </a:rPr>
                <a:t>Nâng cao</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up)">
                                      <p:cBhvr>
                                        <p:cTn id="7" dur="400"/>
                                        <p:tgtEl>
                                          <p:spTgt spid="15"/>
                                        </p:tgtEl>
                                      </p:cBhvr>
                                    </p:animEffect>
                                  </p:childTnLst>
                                </p:cTn>
                              </p:par>
                            </p:childTnLst>
                          </p:cTn>
                        </p:par>
                        <p:par>
                          <p:cTn id="8" fill="hold">
                            <p:stCondLst>
                              <p:cond delay="400"/>
                            </p:stCondLst>
                            <p:childTnLst>
                              <p:par>
                                <p:cTn id="9" presetID="22" presetClass="entr" presetSubtype="1" fill="hold" nodeType="afterEffect">
                                  <p:stCondLst>
                                    <p:cond delay="500"/>
                                  </p:stCondLst>
                                  <p:childTnLst>
                                    <p:set>
                                      <p:cBhvr>
                                        <p:cTn id="10" dur="1" fill="hold">
                                          <p:stCondLst>
                                            <p:cond delay="0"/>
                                          </p:stCondLst>
                                        </p:cTn>
                                        <p:tgtEl>
                                          <p:spTgt spid="19"/>
                                        </p:tgtEl>
                                        <p:attrNameLst>
                                          <p:attrName>style.visibility</p:attrName>
                                        </p:attrNameLst>
                                      </p:cBhvr>
                                      <p:to>
                                        <p:strVal val="visible"/>
                                      </p:to>
                                    </p:set>
                                    <p:animEffect transition="in" filter="wipe(up)">
                                      <p:cBhvr>
                                        <p:cTn id="11" dur="400"/>
                                        <p:tgtEl>
                                          <p:spTgt spid="19"/>
                                        </p:tgtEl>
                                      </p:cBhvr>
                                    </p:animEffect>
                                  </p:childTnLst>
                                </p:cTn>
                              </p:par>
                            </p:childTnLst>
                          </p:cTn>
                        </p:par>
                        <p:par>
                          <p:cTn id="12" fill="hold">
                            <p:stCondLst>
                              <p:cond delay="1300"/>
                            </p:stCondLst>
                            <p:childTnLst>
                              <p:par>
                                <p:cTn id="13" presetID="22" presetClass="entr" presetSubtype="1" fill="hold" nodeType="afterEffect">
                                  <p:stCondLst>
                                    <p:cond delay="500"/>
                                  </p:stCondLst>
                                  <p:childTnLst>
                                    <p:set>
                                      <p:cBhvr>
                                        <p:cTn id="14" dur="1" fill="hold">
                                          <p:stCondLst>
                                            <p:cond delay="0"/>
                                          </p:stCondLst>
                                        </p:cTn>
                                        <p:tgtEl>
                                          <p:spTgt spid="23"/>
                                        </p:tgtEl>
                                        <p:attrNameLst>
                                          <p:attrName>style.visibility</p:attrName>
                                        </p:attrNameLst>
                                      </p:cBhvr>
                                      <p:to>
                                        <p:strVal val="visible"/>
                                      </p:to>
                                    </p:set>
                                    <p:animEffect transition="in" filter="wipe(up)">
                                      <p:cBhvr>
                                        <p:cTn id="15" dur="400"/>
                                        <p:tgtEl>
                                          <p:spTgt spid="23"/>
                                        </p:tgtEl>
                                      </p:cBhvr>
                                    </p:animEffect>
                                  </p:childTnLst>
                                </p:cTn>
                              </p:par>
                            </p:childTnLst>
                          </p:cTn>
                        </p:par>
                        <p:par>
                          <p:cTn id="16" fill="hold">
                            <p:stCondLst>
                              <p:cond delay="2200"/>
                            </p:stCondLst>
                            <p:childTnLst>
                              <p:par>
                                <p:cTn id="17" presetID="22" presetClass="entr" presetSubtype="1" fill="hold" nodeType="afterEffect">
                                  <p:stCondLst>
                                    <p:cond delay="500"/>
                                  </p:stCondLst>
                                  <p:childTnLst>
                                    <p:set>
                                      <p:cBhvr>
                                        <p:cTn id="18" dur="1" fill="hold">
                                          <p:stCondLst>
                                            <p:cond delay="0"/>
                                          </p:stCondLst>
                                        </p:cTn>
                                        <p:tgtEl>
                                          <p:spTgt spid="27"/>
                                        </p:tgtEl>
                                        <p:attrNameLst>
                                          <p:attrName>style.visibility</p:attrName>
                                        </p:attrNameLst>
                                      </p:cBhvr>
                                      <p:to>
                                        <p:strVal val="visible"/>
                                      </p:to>
                                    </p:set>
                                    <p:animEffect transition="in" filter="wipe(up)">
                                      <p:cBhvr>
                                        <p:cTn id="19" dur="400"/>
                                        <p:tgtEl>
                                          <p:spTgt spid="27"/>
                                        </p:tgtEl>
                                      </p:cBhvr>
                                    </p:animEffect>
                                  </p:childTnLst>
                                </p:cTn>
                              </p:par>
                            </p:childTnLst>
                          </p:cTn>
                        </p:par>
                        <p:par>
                          <p:cTn id="20" fill="hold">
                            <p:stCondLst>
                              <p:cond delay="3100"/>
                            </p:stCondLst>
                            <p:childTnLst>
                              <p:par>
                                <p:cTn id="21" presetID="10" presetClass="entr" presetSubtype="0" fill="hold" nodeType="after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153239" cy="234696"/>
            <a:chOff x="381000" y="346710"/>
            <a:chExt cx="2153239"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94978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TOÀN CẢNH</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62207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4 tầng, 4 buổi: mỗi tầng thêm cho ChatGPT</a:t>
            </a:r>
            <a:br/>
            <a:r>
              <a:rPr lang="vi-VN" sz="3150" b="1" dirty="0">
                <a:solidFill>
                  <a:schemeClr val="accent1"/>
                </a:solidFill>
                <a:latin typeface="+mn-lt"/>
                <a:ea typeface="+mn-ea"/>
                <a:cs typeface="+mn-cs"/>
              </a:rPr>
              <a:t>một năng lực mới</a:t>
            </a:r>
          </a:p>
        </p:txBody>
      </p:sp>
      <p:grpSp>
        <p:nvGrpSpPr>
          <p:cNvPr id="21" name="Group 21"/>
          <p:cNvGrpSpPr/>
          <p:nvPr/>
        </p:nvGrpSpPr>
        <p:grpSpPr>
          <a:xfrm>
            <a:off x="372618" y="3219450"/>
            <a:ext cx="2694432" cy="2099501"/>
            <a:chOff x="372618" y="3219450"/>
            <a:chExt cx="2694432" cy="2099501"/>
          </a:xfrm>
        </p:grpSpPr>
        <p:sp>
          <p:nvSpPr>
            <p:cNvPr id="17" name="Rectangle 17"/>
            <p:cNvSpPr/>
            <p:nvPr/>
          </p:nvSpPr>
          <p:spPr>
            <a:xfrm>
              <a:off x="381000" y="3219450"/>
              <a:ext cx="2686050" cy="419100"/>
            </a:xfrm>
            <a:prstGeom prst="roundRect">
              <a:avLst>
                <a:gd name="adj" fmla="val 27273"/>
              </a:avLst>
            </a:prstGeom>
            <a:solidFill>
              <a:schemeClr val="accent5"/>
            </a:solidFill>
            <a:ln>
              <a:noFill/>
            </a:ln>
          </p:spPr>
        </p:sp>
        <p:sp>
          <p:nvSpPr>
            <p:cNvPr id="18" name="TextBox 18"/>
            <p:cNvSpPr txBox="1"/>
            <p:nvPr/>
          </p:nvSpPr>
          <p:spPr>
            <a:xfrm>
              <a:off x="562356" y="3310890"/>
              <a:ext cx="1794930"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1 Instructions</a:t>
              </a:r>
            </a:p>
          </p:txBody>
        </p:sp>
        <p:sp>
          <p:nvSpPr>
            <p:cNvPr id="19" name="TextBox 19"/>
            <p:cNvSpPr txBox="1"/>
            <p:nvPr/>
          </p:nvSpPr>
          <p:spPr>
            <a:xfrm>
              <a:off x="372618" y="3822382"/>
              <a:ext cx="2583752"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biết “mình là ai”</a:t>
              </a:r>
              <a:br/>
              <a:r>
                <a:rPr lang="vi-VN" sz="1650" dirty="0">
                  <a:solidFill>
                    <a:schemeClr val="dk1"/>
                  </a:solidFill>
                  <a:latin typeface="+mn-lt"/>
                  <a:ea typeface="+mn-ea"/>
                  <a:cs typeface="+mn-cs"/>
                </a:rPr>
                <a:t>và luật chung, không phải</a:t>
              </a:r>
              <a:br/>
              <a:r>
                <a:rPr lang="vi-VN" sz="1650" dirty="0">
                  <a:solidFill>
                    <a:schemeClr val="dk1"/>
                  </a:solidFill>
                  <a:latin typeface="+mn-lt"/>
                  <a:ea typeface="+mn-ea"/>
                  <a:cs typeface="+mn-cs"/>
                </a:rPr>
                <a:t>dặn lại</a:t>
              </a:r>
            </a:p>
          </p:txBody>
        </p:sp>
        <p:sp>
          <p:nvSpPr>
            <p:cNvPr id="20" name="TextBox 20"/>
            <p:cNvSpPr txBox="1"/>
            <p:nvPr/>
          </p:nvSpPr>
          <p:spPr>
            <a:xfrm>
              <a:off x="374142" y="4826318"/>
              <a:ext cx="1856804"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Custom Instructions ·</a:t>
              </a:r>
              <a:br>
                <a:rPr dirty="0"/>
              </a:br>
              <a:r>
                <a:rPr lang="vi-VN" sz="1350" dirty="0">
                  <a:solidFill>
                    <a:srgbClr val="5B6675"/>
                  </a:solidFill>
                  <a:latin typeface="+mn-lt"/>
                  <a:ea typeface="+mn-ea"/>
                  <a:cs typeface="+mn-cs"/>
                </a:rPr>
                <a:t>Project · Memory</a:t>
              </a:r>
            </a:p>
          </p:txBody>
        </p:sp>
      </p:grpSp>
      <p:grpSp>
        <p:nvGrpSpPr>
          <p:cNvPr id="26" name="Group 26"/>
          <p:cNvGrpSpPr/>
          <p:nvPr/>
        </p:nvGrpSpPr>
        <p:grpSpPr>
          <a:xfrm>
            <a:off x="3287268" y="2933700"/>
            <a:ext cx="2694432" cy="2385251"/>
            <a:chOff x="3287268" y="2933700"/>
            <a:chExt cx="2694432" cy="2385251"/>
          </a:xfrm>
        </p:grpSpPr>
        <p:sp>
          <p:nvSpPr>
            <p:cNvPr id="22" name="Rectangle 22"/>
            <p:cNvSpPr/>
            <p:nvPr/>
          </p:nvSpPr>
          <p:spPr>
            <a:xfrm>
              <a:off x="3295650" y="2933700"/>
              <a:ext cx="2686050" cy="704850"/>
            </a:xfrm>
            <a:prstGeom prst="roundRect">
              <a:avLst>
                <a:gd name="adj" fmla="val 16216"/>
              </a:avLst>
            </a:prstGeom>
            <a:solidFill>
              <a:schemeClr val="accent3"/>
            </a:solidFill>
            <a:ln>
              <a:noFill/>
            </a:ln>
          </p:spPr>
        </p:sp>
        <p:sp>
          <p:nvSpPr>
            <p:cNvPr id="23" name="TextBox 23"/>
            <p:cNvSpPr txBox="1"/>
            <p:nvPr/>
          </p:nvSpPr>
          <p:spPr>
            <a:xfrm>
              <a:off x="3477006" y="3025140"/>
              <a:ext cx="113550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2 Prompt</a:t>
              </a:r>
            </a:p>
          </p:txBody>
        </p:sp>
        <p:sp>
          <p:nvSpPr>
            <p:cNvPr id="24" name="TextBox 24"/>
            <p:cNvSpPr txBox="1"/>
            <p:nvPr/>
          </p:nvSpPr>
          <p:spPr>
            <a:xfrm>
              <a:off x="3287268" y="3822382"/>
              <a:ext cx="244754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Giao đúng từng việc và</a:t>
              </a:r>
              <a:br/>
              <a:r>
                <a:rPr lang="vi-VN" sz="1650" dirty="0">
                  <a:solidFill>
                    <a:schemeClr val="dk1"/>
                  </a:solidFill>
                  <a:latin typeface="+mn-lt"/>
                  <a:ea typeface="+mn-ea"/>
                  <a:cs typeface="+mn-cs"/>
                </a:rPr>
                <a:t>kiểm chứng được kết quả</a:t>
              </a:r>
            </a:p>
          </p:txBody>
        </p:sp>
        <p:sp>
          <p:nvSpPr>
            <p:cNvPr id="25" name="TextBox 25"/>
            <p:cNvSpPr txBox="1"/>
            <p:nvPr/>
          </p:nvSpPr>
          <p:spPr>
            <a:xfrm>
              <a:off x="3288792" y="4826318"/>
              <a:ext cx="140246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Chat · tải file ·</a:t>
              </a:r>
              <a:br>
                <a:rPr dirty="0"/>
              </a:br>
              <a:r>
                <a:rPr lang="vi-VN" sz="1350" dirty="0">
                  <a:solidFill>
                    <a:srgbClr val="5B6675"/>
                  </a:solidFill>
                  <a:latin typeface="+mn-lt"/>
                  <a:ea typeface="+mn-ea"/>
                  <a:cs typeface="+mn-cs"/>
                </a:rPr>
                <a:t>phân tích dữ liệu</a:t>
              </a:r>
            </a:p>
          </p:txBody>
        </p:sp>
      </p:grpSp>
      <p:grpSp>
        <p:nvGrpSpPr>
          <p:cNvPr id="31" name="Group 31"/>
          <p:cNvGrpSpPr/>
          <p:nvPr/>
        </p:nvGrpSpPr>
        <p:grpSpPr>
          <a:xfrm>
            <a:off x="6201918" y="2647950"/>
            <a:ext cx="2694432" cy="2442401"/>
            <a:chOff x="6201918" y="2647950"/>
            <a:chExt cx="2694432" cy="2442401"/>
          </a:xfrm>
        </p:grpSpPr>
        <p:sp>
          <p:nvSpPr>
            <p:cNvPr id="27" name="Rectangle 27"/>
            <p:cNvSpPr/>
            <p:nvPr/>
          </p:nvSpPr>
          <p:spPr>
            <a:xfrm>
              <a:off x="6210300" y="2647950"/>
              <a:ext cx="2686050" cy="990600"/>
            </a:xfrm>
            <a:prstGeom prst="roundRect">
              <a:avLst>
                <a:gd name="adj" fmla="val 11538"/>
              </a:avLst>
            </a:prstGeom>
            <a:solidFill>
              <a:srgbClr val="2E5E91"/>
            </a:solidFill>
            <a:ln>
              <a:noFill/>
            </a:ln>
          </p:spPr>
        </p:sp>
        <p:sp>
          <p:nvSpPr>
            <p:cNvPr id="28" name="TextBox 28"/>
            <p:cNvSpPr txBox="1"/>
            <p:nvPr/>
          </p:nvSpPr>
          <p:spPr>
            <a:xfrm>
              <a:off x="6391656" y="2739390"/>
              <a:ext cx="75162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3 Skill</a:t>
              </a:r>
            </a:p>
          </p:txBody>
        </p:sp>
        <p:sp>
          <p:nvSpPr>
            <p:cNvPr id="29" name="TextBox 29"/>
            <p:cNvSpPr txBox="1"/>
            <p:nvPr/>
          </p:nvSpPr>
          <p:spPr>
            <a:xfrm>
              <a:off x="6201918" y="3822382"/>
              <a:ext cx="2196084"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Biến việc lặp lại thành</a:t>
              </a:r>
              <a:br/>
              <a:r>
                <a:rPr lang="vi-VN" sz="1650" dirty="0">
                  <a:solidFill>
                    <a:schemeClr val="dk1"/>
                  </a:solidFill>
                  <a:latin typeface="+mn-lt"/>
                  <a:ea typeface="+mn-ea"/>
                  <a:cs typeface="+mn-cs"/>
                </a:rPr>
                <a:t>quy trình chuẩn,</a:t>
              </a:r>
              <a:br/>
              <a:r>
                <a:rPr lang="vi-VN" sz="1650" dirty="0">
                  <a:solidFill>
                    <a:schemeClr val="dk1"/>
                  </a:solidFill>
                  <a:latin typeface="+mn-lt"/>
                  <a:ea typeface="+mn-ea"/>
                  <a:cs typeface="+mn-cs"/>
                </a:rPr>
                <a:t>gọi lại được</a:t>
              </a:r>
            </a:p>
          </p:txBody>
        </p:sp>
        <p:sp>
          <p:nvSpPr>
            <p:cNvPr id="30" name="TextBox 30"/>
            <p:cNvSpPr txBox="1"/>
            <p:nvPr/>
          </p:nvSpPr>
          <p:spPr>
            <a:xfrm>
              <a:off x="6203442" y="4826318"/>
              <a:ext cx="481517"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Skills</a:t>
              </a:r>
            </a:p>
          </p:txBody>
        </p:sp>
      </p:grpSp>
      <p:grpSp>
        <p:nvGrpSpPr>
          <p:cNvPr id="36" name="Group 36"/>
          <p:cNvGrpSpPr/>
          <p:nvPr/>
        </p:nvGrpSpPr>
        <p:grpSpPr>
          <a:xfrm>
            <a:off x="9116568" y="2362200"/>
            <a:ext cx="2694432" cy="2956751"/>
            <a:chOff x="9116568" y="2362200"/>
            <a:chExt cx="2694432" cy="2956751"/>
          </a:xfrm>
        </p:grpSpPr>
        <p:sp>
          <p:nvSpPr>
            <p:cNvPr id="32" name="Rectangle 32"/>
            <p:cNvSpPr/>
            <p:nvPr/>
          </p:nvSpPr>
          <p:spPr>
            <a:xfrm>
              <a:off x="9124950" y="2362200"/>
              <a:ext cx="2686050" cy="1276350"/>
            </a:xfrm>
            <a:prstGeom prst="roundRect">
              <a:avLst>
                <a:gd name="adj" fmla="val 8955"/>
              </a:avLst>
            </a:prstGeom>
            <a:solidFill>
              <a:schemeClr val="accent1"/>
            </a:solidFill>
            <a:ln>
              <a:noFill/>
            </a:ln>
          </p:spPr>
        </p:sp>
        <p:sp>
          <p:nvSpPr>
            <p:cNvPr id="33" name="TextBox 33"/>
            <p:cNvSpPr txBox="1"/>
            <p:nvPr/>
          </p:nvSpPr>
          <p:spPr>
            <a:xfrm>
              <a:off x="9306306" y="2453640"/>
              <a:ext cx="955725"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4 Plugin</a:t>
              </a:r>
            </a:p>
          </p:txBody>
        </p:sp>
        <p:sp>
          <p:nvSpPr>
            <p:cNvPr id="34" name="TextBox 34"/>
            <p:cNvSpPr txBox="1"/>
            <p:nvPr/>
          </p:nvSpPr>
          <p:spPr>
            <a:xfrm>
              <a:off x="9116568" y="3822382"/>
              <a:ext cx="263613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ChatGPT vào ứng dụng,</a:t>
              </a:r>
              <a:br/>
              <a:r>
                <a:rPr lang="vi-VN" sz="1650" dirty="0">
                  <a:solidFill>
                    <a:schemeClr val="dk1"/>
                  </a:solidFill>
                  <a:latin typeface="+mn-lt"/>
                  <a:ea typeface="+mn-ea"/>
                  <a:cs typeface="+mn-cs"/>
                </a:rPr>
                <a:t>đóng gói bộ công cụ</a:t>
              </a:r>
              <a:br/>
              <a:r>
                <a:rPr lang="vi-VN" sz="1650" dirty="0">
                  <a:solidFill>
                    <a:schemeClr val="dk1"/>
                  </a:solidFill>
                  <a:latin typeface="+mn-lt"/>
                  <a:ea typeface="+mn-ea"/>
                  <a:cs typeface="+mn-cs"/>
                </a:rPr>
                <a:t>của phòng</a:t>
              </a:r>
            </a:p>
          </p:txBody>
        </p:sp>
        <p:sp>
          <p:nvSpPr>
            <p:cNvPr id="35" name="TextBox 35"/>
            <p:cNvSpPr txBox="1"/>
            <p:nvPr/>
          </p:nvSpPr>
          <p:spPr>
            <a:xfrm>
              <a:off x="9118092" y="4826318"/>
              <a:ext cx="205397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Plugins · ChatGPT Work ·</a:t>
              </a:r>
              <a:br>
                <a:rPr dirty="0"/>
              </a:br>
              <a:r>
                <a:rPr lang="vi-VN" sz="1350" dirty="0">
                  <a:solidFill>
                    <a:srgbClr val="5B6675"/>
                  </a:solidFill>
                  <a:latin typeface="+mn-lt"/>
                  <a:ea typeface="+mn-ea"/>
                  <a:cs typeface="+mn-cs"/>
                </a:rPr>
                <a:t>Scheduled tasks</a:t>
              </a:r>
            </a:p>
          </p:txBody>
        </p:sp>
      </p:grpSp>
      <p:grpSp>
        <p:nvGrpSpPr>
          <p:cNvPr id="39" name="Group 39"/>
          <p:cNvGrpSpPr/>
          <p:nvPr/>
        </p:nvGrpSpPr>
        <p:grpSpPr>
          <a:xfrm>
            <a:off x="10382250" y="1943100"/>
            <a:ext cx="1428750" cy="324231"/>
            <a:chOff x="10382250" y="1943100"/>
            <a:chExt cx="1428750" cy="324231"/>
          </a:xfrm>
        </p:grpSpPr>
        <p:sp>
          <p:nvSpPr>
            <p:cNvPr id="37" name="Rectangle 37"/>
            <p:cNvSpPr/>
            <p:nvPr/>
          </p:nvSpPr>
          <p:spPr>
            <a:xfrm>
              <a:off x="10382250" y="1943100"/>
              <a:ext cx="1428750" cy="323850"/>
            </a:xfrm>
            <a:prstGeom prst="roundRect">
              <a:avLst>
                <a:gd name="adj" fmla="val 50000"/>
              </a:avLst>
            </a:prstGeom>
            <a:solidFill>
              <a:srgbClr val="64748B"/>
            </a:solidFill>
            <a:ln>
              <a:noFill/>
            </a:ln>
          </p:spPr>
        </p:sp>
        <p:sp>
          <p:nvSpPr>
            <p:cNvPr id="38" name="TextBox 38"/>
            <p:cNvSpPr txBox="1"/>
            <p:nvPr/>
          </p:nvSpPr>
          <p:spPr>
            <a:xfrm>
              <a:off x="10663047" y="2032635"/>
              <a:ext cx="867156"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 Nâng cao</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401822" cy="234696"/>
            <a:chOff x="381000" y="346710"/>
            <a:chExt cx="340182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319836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CÂU CHUYỆN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0421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Coi ChatGPT là nhân viên mới rất giỏi:</a:t>
            </a:r>
            <a:br/>
            <a:r>
              <a:rPr lang="vi-VN" sz="3150" b="1" dirty="0">
                <a:solidFill>
                  <a:schemeClr val="accent1"/>
                </a:solidFill>
                <a:latin typeface="+mn-lt"/>
                <a:ea typeface="+mn-ea"/>
                <a:cs typeface="+mn-cs"/>
              </a:rPr>
              <a:t>dạy đúng 4 bước như khi nhận người vào phòng</a:t>
            </a:r>
          </a:p>
        </p:txBody>
      </p:sp>
      <p:grpSp>
        <p:nvGrpSpPr>
          <p:cNvPr id="19" name="Group 19"/>
          <p:cNvGrpSpPr/>
          <p:nvPr/>
        </p:nvGrpSpPr>
        <p:grpSpPr>
          <a:xfrm>
            <a:off x="870204" y="2156460"/>
            <a:ext cx="4771156" cy="234696"/>
            <a:chOff x="870204" y="2156460"/>
            <a:chExt cx="4771156" cy="234696"/>
          </a:xfrm>
        </p:grpSpPr>
        <p:sp>
          <p:nvSpPr>
            <p:cNvPr id="17" name="TextBox 17"/>
            <p:cNvSpPr txBox="1"/>
            <p:nvPr/>
          </p:nvSpPr>
          <p:spPr>
            <a:xfrm>
              <a:off x="870204" y="2156460"/>
              <a:ext cx="16256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NHÂN VIÊN MỚI</a:t>
              </a:r>
            </a:p>
          </p:txBody>
        </p:sp>
        <p:sp>
          <p:nvSpPr>
            <p:cNvPr id="18" name="TextBox 18"/>
            <p:cNvSpPr txBox="1"/>
            <p:nvPr/>
          </p:nvSpPr>
          <p:spPr>
            <a:xfrm>
              <a:off x="4527804" y="2156460"/>
              <a:ext cx="111355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CHATGPT</a:t>
              </a:r>
            </a:p>
          </p:txBody>
        </p:sp>
      </p:grpSp>
      <p:grpSp>
        <p:nvGrpSpPr>
          <p:cNvPr id="26" name="Group 26"/>
          <p:cNvGrpSpPr/>
          <p:nvPr/>
        </p:nvGrpSpPr>
        <p:grpSpPr>
          <a:xfrm>
            <a:off x="381000" y="2438400"/>
            <a:ext cx="7810500" cy="800100"/>
            <a:chOff x="381000" y="2438400"/>
            <a:chExt cx="7810500" cy="800100"/>
          </a:xfrm>
        </p:grpSpPr>
        <p:sp>
          <p:nvSpPr>
            <p:cNvPr id="20" name="Ellipse 20"/>
            <p:cNvSpPr/>
            <p:nvPr/>
          </p:nvSpPr>
          <p:spPr>
            <a:xfrm>
              <a:off x="381000" y="2647950"/>
              <a:ext cx="381000" cy="381000"/>
            </a:xfrm>
            <a:prstGeom prst="ellipse">
              <a:avLst/>
            </a:prstGeom>
            <a:solidFill>
              <a:schemeClr val="accent5"/>
            </a:solidFill>
            <a:ln>
              <a:noFill/>
            </a:ln>
          </p:spPr>
        </p:sp>
        <p:sp>
          <p:nvSpPr>
            <p:cNvPr id="21" name="TextBox 21"/>
            <p:cNvSpPr txBox="1"/>
            <p:nvPr/>
          </p:nvSpPr>
          <p:spPr>
            <a:xfrm>
              <a:off x="505573" y="27432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2" name="Rectangle 22"/>
            <p:cNvSpPr/>
            <p:nvPr/>
          </p:nvSpPr>
          <p:spPr>
            <a:xfrm>
              <a:off x="876300" y="2438400"/>
              <a:ext cx="3543300" cy="800100"/>
            </a:xfrm>
            <a:prstGeom prst="roundRect">
              <a:avLst>
                <a:gd name="adj" fmla="val 14286"/>
              </a:avLst>
            </a:prstGeom>
            <a:solidFill>
              <a:schemeClr val="lt2"/>
            </a:solidFill>
            <a:ln>
              <a:noFill/>
            </a:ln>
          </p:spPr>
        </p:sp>
        <p:sp>
          <p:nvSpPr>
            <p:cNvPr id="23" name="TextBox 23"/>
            <p:cNvSpPr txBox="1"/>
            <p:nvPr/>
          </p:nvSpPr>
          <p:spPr>
            <a:xfrm>
              <a:off x="1058418" y="2736532"/>
              <a:ext cx="310146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Phát hồ sơ nhập môn, nội quy</a:t>
              </a:r>
            </a:p>
          </p:txBody>
        </p:sp>
        <p:sp>
          <p:nvSpPr>
            <p:cNvPr id="24" name="Rectangle 24"/>
            <p:cNvSpPr/>
            <p:nvPr/>
          </p:nvSpPr>
          <p:spPr>
            <a:xfrm>
              <a:off x="4533900" y="2438400"/>
              <a:ext cx="3657600" cy="800100"/>
            </a:xfrm>
            <a:prstGeom prst="roundRect">
              <a:avLst>
                <a:gd name="adj" fmla="val 14286"/>
              </a:avLst>
            </a:prstGeom>
            <a:solidFill>
              <a:schemeClr val="lt1"/>
            </a:solidFill>
            <a:ln w="14288">
              <a:solidFill>
                <a:schemeClr val="accent4"/>
              </a:solidFill>
            </a:ln>
          </p:spPr>
        </p:sp>
        <p:sp>
          <p:nvSpPr>
            <p:cNvPr id="25" name="TextBox 25"/>
            <p:cNvSpPr txBox="1"/>
            <p:nvPr/>
          </p:nvSpPr>
          <p:spPr>
            <a:xfrm>
              <a:off x="4716018" y="2603182"/>
              <a:ext cx="201796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Khai báo một lần:</a:t>
              </a:r>
              <a:br/>
              <a:r>
                <a:rPr lang="vi-VN" sz="1650" dirty="0">
                  <a:solidFill>
                    <a:schemeClr val="dk1"/>
                  </a:solidFill>
                  <a:latin typeface="+mn-lt"/>
                  <a:ea typeface="+mn-ea"/>
                  <a:cs typeface="+mn-cs"/>
                </a:rPr>
                <a:t>tôi là ai, luật chung</a:t>
              </a:r>
            </a:p>
          </p:txBody>
        </p:sp>
      </p:grpSp>
      <p:grpSp>
        <p:nvGrpSpPr>
          <p:cNvPr id="33" name="Group 33"/>
          <p:cNvGrpSpPr/>
          <p:nvPr/>
        </p:nvGrpSpPr>
        <p:grpSpPr>
          <a:xfrm>
            <a:off x="381000" y="3333750"/>
            <a:ext cx="7810500" cy="800100"/>
            <a:chOff x="381000" y="3333750"/>
            <a:chExt cx="7810500" cy="800100"/>
          </a:xfrm>
        </p:grpSpPr>
        <p:sp>
          <p:nvSpPr>
            <p:cNvPr id="27" name="Ellipse 27"/>
            <p:cNvSpPr/>
            <p:nvPr/>
          </p:nvSpPr>
          <p:spPr>
            <a:xfrm>
              <a:off x="381000" y="3543300"/>
              <a:ext cx="381000" cy="381000"/>
            </a:xfrm>
            <a:prstGeom prst="ellipse">
              <a:avLst/>
            </a:prstGeom>
            <a:solidFill>
              <a:schemeClr val="accent3"/>
            </a:solidFill>
            <a:ln>
              <a:noFill/>
            </a:ln>
          </p:spPr>
        </p:sp>
        <p:sp>
          <p:nvSpPr>
            <p:cNvPr id="28" name="TextBox 28"/>
            <p:cNvSpPr txBox="1"/>
            <p:nvPr/>
          </p:nvSpPr>
          <p:spPr>
            <a:xfrm>
              <a:off x="505573" y="3638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Rectangle 29"/>
            <p:cNvSpPr/>
            <p:nvPr/>
          </p:nvSpPr>
          <p:spPr>
            <a:xfrm>
              <a:off x="876300" y="3333750"/>
              <a:ext cx="3543300" cy="800100"/>
            </a:xfrm>
            <a:prstGeom prst="roundRect">
              <a:avLst>
                <a:gd name="adj" fmla="val 14286"/>
              </a:avLst>
            </a:prstGeom>
            <a:solidFill>
              <a:schemeClr val="lt2"/>
            </a:solidFill>
            <a:ln>
              <a:noFill/>
            </a:ln>
          </p:spPr>
        </p:sp>
        <p:sp>
          <p:nvSpPr>
            <p:cNvPr id="30" name="TextBox 30"/>
            <p:cNvSpPr txBox="1"/>
            <p:nvPr/>
          </p:nvSpPr>
          <p:spPr>
            <a:xfrm>
              <a:off x="1058418" y="3631882"/>
              <a:ext cx="30005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bằng phiếu rõ ràng</a:t>
              </a:r>
            </a:p>
          </p:txBody>
        </p:sp>
        <p:sp>
          <p:nvSpPr>
            <p:cNvPr id="31" name="Rectangle 31"/>
            <p:cNvSpPr/>
            <p:nvPr/>
          </p:nvSpPr>
          <p:spPr>
            <a:xfrm>
              <a:off x="4533900" y="3333750"/>
              <a:ext cx="3657600" cy="800100"/>
            </a:xfrm>
            <a:prstGeom prst="roundRect">
              <a:avLst>
                <a:gd name="adj" fmla="val 14286"/>
              </a:avLst>
            </a:prstGeom>
            <a:solidFill>
              <a:schemeClr val="lt1"/>
            </a:solidFill>
            <a:ln w="14288">
              <a:solidFill>
                <a:schemeClr val="accent4"/>
              </a:solidFill>
            </a:ln>
          </p:spPr>
        </p:sp>
        <p:sp>
          <p:nvSpPr>
            <p:cNvPr id="32" name="TextBox 32"/>
            <p:cNvSpPr txBox="1"/>
            <p:nvPr/>
          </p:nvSpPr>
          <p:spPr>
            <a:xfrm>
              <a:off x="4716018" y="3631882"/>
              <a:ext cx="3367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theo công thức 4 phần</a:t>
              </a:r>
            </a:p>
          </p:txBody>
        </p:sp>
      </p:grpSp>
      <p:grpSp>
        <p:nvGrpSpPr>
          <p:cNvPr id="40" name="Group 40"/>
          <p:cNvGrpSpPr/>
          <p:nvPr/>
        </p:nvGrpSpPr>
        <p:grpSpPr>
          <a:xfrm>
            <a:off x="381000" y="4229100"/>
            <a:ext cx="7810500" cy="800100"/>
            <a:chOff x="381000" y="4229100"/>
            <a:chExt cx="7810500" cy="800100"/>
          </a:xfrm>
        </p:grpSpPr>
        <p:sp>
          <p:nvSpPr>
            <p:cNvPr id="34" name="Ellipse 34"/>
            <p:cNvSpPr/>
            <p:nvPr/>
          </p:nvSpPr>
          <p:spPr>
            <a:xfrm>
              <a:off x="381000" y="4438650"/>
              <a:ext cx="381000" cy="381000"/>
            </a:xfrm>
            <a:prstGeom prst="ellipse">
              <a:avLst/>
            </a:prstGeom>
            <a:solidFill>
              <a:srgbClr val="2E5E91"/>
            </a:solidFill>
            <a:ln>
              <a:noFill/>
            </a:ln>
          </p:spPr>
        </p:sp>
        <p:sp>
          <p:nvSpPr>
            <p:cNvPr id="35" name="TextBox 35"/>
            <p:cNvSpPr txBox="1"/>
            <p:nvPr/>
          </p:nvSpPr>
          <p:spPr>
            <a:xfrm>
              <a:off x="505573" y="45339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6" name="Rectangle 36"/>
            <p:cNvSpPr/>
            <p:nvPr/>
          </p:nvSpPr>
          <p:spPr>
            <a:xfrm>
              <a:off x="876300" y="4229100"/>
              <a:ext cx="3543300" cy="800100"/>
            </a:xfrm>
            <a:prstGeom prst="roundRect">
              <a:avLst>
                <a:gd name="adj" fmla="val 14286"/>
              </a:avLst>
            </a:prstGeom>
            <a:solidFill>
              <a:schemeClr val="lt2"/>
            </a:solidFill>
            <a:ln>
              <a:noFill/>
            </a:ln>
          </p:spPr>
        </p:sp>
        <p:sp>
          <p:nvSpPr>
            <p:cNvPr id="37" name="TextBox 37"/>
            <p:cNvSpPr txBox="1"/>
            <p:nvPr/>
          </p:nvSpPr>
          <p:spPr>
            <a:xfrm>
              <a:off x="1058418" y="4527232"/>
              <a:ext cx="32340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Dán quy trình chuẩn lên tường</a:t>
              </a:r>
            </a:p>
          </p:txBody>
        </p:sp>
        <p:sp>
          <p:nvSpPr>
            <p:cNvPr id="38" name="Rectangle 38"/>
            <p:cNvSpPr/>
            <p:nvPr/>
          </p:nvSpPr>
          <p:spPr>
            <a:xfrm>
              <a:off x="4533900" y="4229100"/>
              <a:ext cx="3657600" cy="800100"/>
            </a:xfrm>
            <a:prstGeom prst="roundRect">
              <a:avLst>
                <a:gd name="adj" fmla="val 14286"/>
              </a:avLst>
            </a:prstGeom>
            <a:solidFill>
              <a:schemeClr val="lt1"/>
            </a:solidFill>
            <a:ln w="14288">
              <a:solidFill>
                <a:schemeClr val="accent4"/>
              </a:solidFill>
            </a:ln>
          </p:spPr>
        </p:sp>
        <p:sp>
          <p:nvSpPr>
            <p:cNvPr id="39" name="TextBox 39"/>
            <p:cNvSpPr txBox="1"/>
            <p:nvPr/>
          </p:nvSpPr>
          <p:spPr>
            <a:xfrm>
              <a:off x="4716018" y="4527232"/>
              <a:ext cx="318918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quy trình thành skill</a:t>
              </a:r>
            </a:p>
          </p:txBody>
        </p:sp>
      </p:grpSp>
      <p:grpSp>
        <p:nvGrpSpPr>
          <p:cNvPr id="47" name="Group 47"/>
          <p:cNvGrpSpPr/>
          <p:nvPr/>
        </p:nvGrpSpPr>
        <p:grpSpPr>
          <a:xfrm>
            <a:off x="381000" y="5124450"/>
            <a:ext cx="7810500" cy="800100"/>
            <a:chOff x="381000" y="5124450"/>
            <a:chExt cx="7810500" cy="800100"/>
          </a:xfrm>
        </p:grpSpPr>
        <p:sp>
          <p:nvSpPr>
            <p:cNvPr id="41" name="Ellipse 41"/>
            <p:cNvSpPr/>
            <p:nvPr/>
          </p:nvSpPr>
          <p:spPr>
            <a:xfrm>
              <a:off x="381000" y="5334000"/>
              <a:ext cx="381000" cy="381000"/>
            </a:xfrm>
            <a:prstGeom prst="ellipse">
              <a:avLst/>
            </a:prstGeom>
            <a:solidFill>
              <a:schemeClr val="accent1"/>
            </a:solidFill>
            <a:ln>
              <a:noFill/>
            </a:ln>
          </p:spPr>
        </p:sp>
        <p:sp>
          <p:nvSpPr>
            <p:cNvPr id="42" name="TextBox 42"/>
            <p:cNvSpPr txBox="1"/>
            <p:nvPr/>
          </p:nvSpPr>
          <p:spPr>
            <a:xfrm>
              <a:off x="505573" y="5429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Rectangle 43"/>
            <p:cNvSpPr/>
            <p:nvPr/>
          </p:nvSpPr>
          <p:spPr>
            <a:xfrm>
              <a:off x="876300" y="5124450"/>
              <a:ext cx="3543300" cy="800100"/>
            </a:xfrm>
            <a:prstGeom prst="roundRect">
              <a:avLst>
                <a:gd name="adj" fmla="val 14286"/>
              </a:avLst>
            </a:prstGeom>
            <a:solidFill>
              <a:schemeClr val="lt2"/>
            </a:solidFill>
            <a:ln>
              <a:noFill/>
            </a:ln>
          </p:spPr>
        </p:sp>
        <p:sp>
          <p:nvSpPr>
            <p:cNvPr id="44" name="TextBox 44"/>
            <p:cNvSpPr txBox="1"/>
            <p:nvPr/>
          </p:nvSpPr>
          <p:spPr>
            <a:xfrm>
              <a:off x="1058418" y="5289232"/>
              <a:ext cx="24056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Cấp chìa khóa, bàn giao</a:t>
              </a:r>
              <a:br/>
              <a:r>
                <a:rPr lang="vi-VN" sz="1650" dirty="0">
                  <a:solidFill>
                    <a:schemeClr val="dk1"/>
                  </a:solidFill>
                  <a:latin typeface="+mn-lt"/>
                  <a:ea typeface="+mn-ea"/>
                  <a:cs typeface="+mn-cs"/>
                </a:rPr>
                <a:t>thùng đồ nghề</a:t>
              </a:r>
            </a:p>
          </p:txBody>
        </p:sp>
        <p:sp>
          <p:nvSpPr>
            <p:cNvPr id="45" name="Rectangle 45"/>
            <p:cNvSpPr/>
            <p:nvPr/>
          </p:nvSpPr>
          <p:spPr>
            <a:xfrm>
              <a:off x="4533900" y="5124450"/>
              <a:ext cx="3657600" cy="800100"/>
            </a:xfrm>
            <a:prstGeom prst="roundRect">
              <a:avLst>
                <a:gd name="adj" fmla="val 14286"/>
              </a:avLst>
            </a:prstGeom>
            <a:solidFill>
              <a:schemeClr val="lt1"/>
            </a:solidFill>
            <a:ln w="14288">
              <a:solidFill>
                <a:schemeClr val="accent4"/>
              </a:solidFill>
            </a:ln>
          </p:spPr>
        </p:sp>
        <p:sp>
          <p:nvSpPr>
            <p:cNvPr id="46" name="TextBox 46"/>
            <p:cNvSpPr txBox="1"/>
            <p:nvPr/>
          </p:nvSpPr>
          <p:spPr>
            <a:xfrm>
              <a:off x="4716018" y="5289232"/>
              <a:ext cx="212274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Gmail, Drive;</a:t>
              </a:r>
              <a:br/>
              <a:r>
                <a:rPr lang="vi-VN" sz="1650" dirty="0">
                  <a:solidFill>
                    <a:schemeClr val="dk1"/>
                  </a:solidFill>
                  <a:latin typeface="+mn-lt"/>
                  <a:ea typeface="+mn-ea"/>
                  <a:cs typeface="+mn-cs"/>
                </a:rPr>
                <a:t>đóng gói thành plugin</a:t>
              </a:r>
            </a:p>
          </p:txBody>
        </p:sp>
      </p:grpSp>
      <p:grpSp>
        <p:nvGrpSpPr>
          <p:cNvPr id="63" name="Group 63"/>
          <p:cNvGrpSpPr/>
          <p:nvPr/>
        </p:nvGrpSpPr>
        <p:grpSpPr>
          <a:xfrm>
            <a:off x="8420100" y="2152650"/>
            <a:ext cx="3390900" cy="3771900"/>
            <a:chOff x="8420100" y="2152650"/>
            <a:chExt cx="3390900" cy="3771900"/>
          </a:xfrm>
        </p:grpSpPr>
        <p:sp>
          <p:nvSpPr>
            <p:cNvPr id="48" name="Rectangle 48"/>
            <p:cNvSpPr/>
            <p:nvPr/>
          </p:nvSpPr>
          <p:spPr>
            <a:xfrm>
              <a:off x="8420100" y="2152650"/>
              <a:ext cx="3390900" cy="3771900"/>
            </a:xfrm>
            <a:prstGeom prst="roundRect">
              <a:avLst>
                <a:gd name="adj" fmla="val 4494"/>
              </a:avLst>
            </a:prstGeom>
            <a:solidFill>
              <a:srgbClr val="FCEBDD"/>
            </a:solidFill>
            <a:ln>
              <a:noFill/>
            </a:ln>
          </p:spPr>
        </p:sp>
        <p:grpSp>
          <p:nvGrpSpPr>
            <p:cNvPr id="53" name="Group 53"/>
            <p:cNvGrpSpPr/>
            <p:nvPr/>
          </p:nvGrpSpPr>
          <p:grpSpPr>
            <a:xfrm>
              <a:off x="8688178" y="2481262"/>
              <a:ext cx="198647" cy="238130"/>
              <a:chOff x="8688178" y="2481262"/>
              <a:chExt cx="198647" cy="238130"/>
            </a:xfrm>
          </p:grpSpPr>
          <p:sp>
            <p:nvSpPr>
              <p:cNvPr id="49" name="Freeform 49"/>
              <p:cNvSpPr/>
              <p:nvPr/>
            </p:nvSpPr>
            <p:spPr>
              <a:xfrm>
                <a:off x="8743950" y="250507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chemeClr val="accent1"/>
                </a:solidFill>
              </a:ln>
            </p:spPr>
          </p:sp>
          <p:sp>
            <p:nvSpPr>
              <p:cNvPr id="50" name="Freeform 50"/>
              <p:cNvSpPr/>
              <p:nvPr/>
            </p:nvSpPr>
            <p:spPr>
              <a:xfrm>
                <a:off x="8779669" y="248126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chemeClr val="accent1"/>
                </a:solidFill>
              </a:ln>
            </p:spPr>
          </p:sp>
          <p:sp>
            <p:nvSpPr>
              <p:cNvPr id="51" name="Freeform 51"/>
              <p:cNvSpPr/>
              <p:nvPr/>
            </p:nvSpPr>
            <p:spPr>
              <a:xfrm>
                <a:off x="8815388" y="250507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chemeClr val="accent1"/>
                </a:solidFill>
              </a:ln>
            </p:spPr>
          </p:sp>
          <p:sp>
            <p:nvSpPr>
              <p:cNvPr id="52" name="Freeform 52"/>
              <p:cNvSpPr/>
              <p:nvPr/>
            </p:nvSpPr>
            <p:spPr>
              <a:xfrm>
                <a:off x="8688178" y="252888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chemeClr val="accent1"/>
                </a:solidFill>
              </a:ln>
            </p:spPr>
          </p:sp>
        </p:grpSp>
        <p:sp>
          <p:nvSpPr>
            <p:cNvPr id="54" name="TextBox 54"/>
            <p:cNvSpPr txBox="1"/>
            <p:nvPr/>
          </p:nvSpPr>
          <p:spPr>
            <a:xfrm>
              <a:off x="9019032" y="2468880"/>
              <a:ext cx="2005460"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Đừng nhảy cóc</a:t>
              </a:r>
            </a:p>
          </p:txBody>
        </p:sp>
        <p:sp>
          <p:nvSpPr>
            <p:cNvPr id="55" name="TextBox 55"/>
            <p:cNvSpPr txBox="1"/>
            <p:nvPr/>
          </p:nvSpPr>
          <p:spPr>
            <a:xfrm>
              <a:off x="8641080" y="3076575"/>
              <a:ext cx="177105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Instructions kém</a:t>
              </a:r>
            </a:p>
          </p:txBody>
        </p:sp>
        <p:sp>
          <p:nvSpPr>
            <p:cNvPr id="56" name="TextBox 56"/>
            <p:cNvSpPr txBox="1"/>
            <p:nvPr/>
          </p:nvSpPr>
          <p:spPr>
            <a:xfrm>
              <a:off x="8641080" y="3343275"/>
              <a:ext cx="293312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 prompt nào cũng phải dặn lại</a:t>
              </a:r>
            </a:p>
          </p:txBody>
        </p:sp>
        <p:sp>
          <p:nvSpPr>
            <p:cNvPr id="57" name="Line 57"/>
            <p:cNvSpPr/>
            <p:nvPr/>
          </p:nvSpPr>
          <p:spPr>
            <a:xfrm>
              <a:off x="8648700" y="37528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sp>
        <p:sp>
          <p:nvSpPr>
            <p:cNvPr id="58" name="TextBox 58"/>
            <p:cNvSpPr txBox="1"/>
            <p:nvPr/>
          </p:nvSpPr>
          <p:spPr>
            <a:xfrm>
              <a:off x="8641080" y="3933825"/>
              <a:ext cx="182475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Prompt chưa vững</a:t>
              </a:r>
            </a:p>
          </p:txBody>
        </p:sp>
        <p:sp>
          <p:nvSpPr>
            <p:cNvPr id="59" name="TextBox 59"/>
            <p:cNvSpPr txBox="1"/>
            <p:nvPr/>
          </p:nvSpPr>
          <p:spPr>
            <a:xfrm>
              <a:off x="8641080" y="4200525"/>
              <a:ext cx="2196465"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không biết đóng gói gì</a:t>
              </a:r>
              <a:br/>
              <a:r>
                <a:rPr lang="vi-VN" sz="1500" dirty="0">
                  <a:solidFill>
                    <a:schemeClr val="dk1"/>
                  </a:solidFill>
                  <a:latin typeface="+mn-lt"/>
                  <a:ea typeface="+mn-ea"/>
                  <a:cs typeface="+mn-cs"/>
                </a:rPr>
                <a:t>vào skill</a:t>
              </a:r>
            </a:p>
          </p:txBody>
        </p:sp>
        <p:sp>
          <p:nvSpPr>
            <p:cNvPr id="60" name="Line 60"/>
            <p:cNvSpPr/>
            <p:nvPr/>
          </p:nvSpPr>
          <p:spPr>
            <a:xfrm>
              <a:off x="8648700" y="48577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sp>
        <p:sp>
          <p:nvSpPr>
            <p:cNvPr id="61" name="TextBox 61"/>
            <p:cNvSpPr txBox="1"/>
            <p:nvPr/>
          </p:nvSpPr>
          <p:spPr>
            <a:xfrm>
              <a:off x="8641080" y="5038725"/>
              <a:ext cx="16225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chưa chuẩn</a:t>
              </a:r>
            </a:p>
          </p:txBody>
        </p:sp>
        <p:sp>
          <p:nvSpPr>
            <p:cNvPr id="62" name="TextBox 62"/>
            <p:cNvSpPr txBox="1"/>
            <p:nvPr/>
          </p:nvSpPr>
          <p:spPr>
            <a:xfrm>
              <a:off x="8641080" y="5305425"/>
              <a:ext cx="2205990"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plugin nhân bản cái sai</a:t>
              </a:r>
              <a:br/>
              <a:r>
                <a:rPr lang="vi-VN" sz="1500" dirty="0">
                  <a:solidFill>
                    <a:schemeClr val="dk1"/>
                  </a:solidFill>
                  <a:latin typeface="+mn-lt"/>
                  <a:ea typeface="+mn-ea"/>
                  <a:cs typeface="+mn-cs"/>
                </a:rPr>
                <a:t>nhanh hơn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2" name="Group 12"/>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5"/>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1</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1</a:t>
              </a:r>
            </a:p>
          </p:txBody>
        </p:sp>
        <p:sp>
          <p:nvSpPr>
            <p:cNvPr id="5" name="TextBox 5"/>
            <p:cNvSpPr txBox="1"/>
            <p:nvPr/>
          </p:nvSpPr>
          <p:spPr>
            <a:xfrm>
              <a:off x="514350" y="4208145"/>
              <a:ext cx="3416702"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Instructions</a:t>
              </a:r>
            </a:p>
          </p:txBody>
        </p:sp>
        <p:grpSp>
          <p:nvGrpSpPr>
            <p:cNvPr id="11" name="Group 11"/>
            <p:cNvGrpSpPr/>
            <p:nvPr/>
          </p:nvGrpSpPr>
          <p:grpSpPr>
            <a:xfrm>
              <a:off x="609600" y="5410200"/>
              <a:ext cx="457201" cy="431800"/>
              <a:chOff x="609600" y="5410200"/>
              <a:chExt cx="457201" cy="431800"/>
            </a:xfrm>
          </p:grpSpPr>
          <p:sp>
            <p:nvSpPr>
              <p:cNvPr id="6" name="Freeform 6"/>
              <p:cNvSpPr/>
              <p:nvPr/>
            </p:nvSpPr>
            <p:spPr>
              <a:xfrm>
                <a:off x="711200" y="5638800"/>
                <a:ext cx="76200" cy="101600"/>
              </a:xfrm>
              <a:custGeom>
                <a:avLst/>
                <a:gdLst/>
                <a:ahLst/>
                <a:cxnLst/>
                <a:rect l="l" t="t" r="r" b="b"/>
                <a:pathLst>
                  <a:path w="76200" h="101600">
                    <a:moveTo>
                      <a:pt x="0" y="0"/>
                    </a:moveTo>
                    <a:lnTo>
                      <a:pt x="76200" y="0"/>
                    </a:lnTo>
                    <a:lnTo>
                      <a:pt x="76200" y="101600"/>
                    </a:lnTo>
                    <a:lnTo>
                      <a:pt x="0" y="101600"/>
                    </a:lnTo>
                    <a:lnTo>
                      <a:pt x="0" y="0"/>
                    </a:lnTo>
                  </a:path>
                </a:pathLst>
              </a:custGeom>
              <a:noFill/>
              <a:ln w="50800">
                <a:solidFill>
                  <a:srgbClr val="FFFFFF"/>
                </a:solidFill>
              </a:ln>
            </p:spPr>
          </p:sp>
          <p:sp>
            <p:nvSpPr>
              <p:cNvPr id="7" name="Freeform 7"/>
              <p:cNvSpPr/>
              <p:nvPr/>
            </p:nvSpPr>
            <p:spPr>
              <a:xfrm>
                <a:off x="609600" y="5486400"/>
                <a:ext cx="457201" cy="355600"/>
              </a:xfrm>
              <a:custGeom>
                <a:avLst/>
                <a:gdLst/>
                <a:ahLst/>
                <a:cxnLst/>
                <a:rect l="l" t="t" r="r" b="b"/>
                <a:pathLst>
                  <a:path w="457201" h="355600">
                    <a:moveTo>
                      <a:pt x="177800" y="0"/>
                    </a:moveTo>
                    <a:lnTo>
                      <a:pt x="25400" y="0"/>
                    </a:lnTo>
                    <a:cubicBezTo>
                      <a:pt x="11372" y="0"/>
                      <a:pt x="0" y="11372"/>
                      <a:pt x="0" y="25400"/>
                    </a:cubicBezTo>
                    <a:lnTo>
                      <a:pt x="0" y="330200"/>
                    </a:lnTo>
                    <a:cubicBezTo>
                      <a:pt x="0" y="344228"/>
                      <a:pt x="11372" y="355600"/>
                      <a:pt x="25400" y="355600"/>
                    </a:cubicBezTo>
                    <a:lnTo>
                      <a:pt x="431801" y="355600"/>
                    </a:lnTo>
                    <a:cubicBezTo>
                      <a:pt x="445829" y="355600"/>
                      <a:pt x="457201" y="344228"/>
                      <a:pt x="457201" y="330200"/>
                    </a:cubicBezTo>
                    <a:lnTo>
                      <a:pt x="457201" y="25400"/>
                    </a:lnTo>
                    <a:cubicBezTo>
                      <a:pt x="457201" y="11372"/>
                      <a:pt x="445829" y="0"/>
                      <a:pt x="431801" y="0"/>
                    </a:cubicBezTo>
                    <a:lnTo>
                      <a:pt x="279400" y="0"/>
                    </a:lnTo>
                  </a:path>
                </a:pathLst>
              </a:custGeom>
              <a:noFill/>
              <a:ln w="50800">
                <a:solidFill>
                  <a:srgbClr val="FFFFFF"/>
                </a:solidFill>
              </a:ln>
            </p:spPr>
          </p:sp>
          <p:sp>
            <p:nvSpPr>
              <p:cNvPr id="8" name="Freeform 8"/>
              <p:cNvSpPr/>
              <p:nvPr/>
            </p:nvSpPr>
            <p:spPr>
              <a:xfrm>
                <a:off x="787400" y="5410200"/>
                <a:ext cx="101600" cy="127000"/>
              </a:xfrm>
              <a:custGeom>
                <a:avLst/>
                <a:gdLst/>
                <a:ahLst/>
                <a:cxnLst/>
                <a:rect l="l" t="t" r="r" b="b"/>
                <a:pathLst>
                  <a:path w="101600" h="127000">
                    <a:moveTo>
                      <a:pt x="0" y="25400"/>
                    </a:moveTo>
                    <a:cubicBezTo>
                      <a:pt x="0" y="11372"/>
                      <a:pt x="11372" y="0"/>
                      <a:pt x="25400" y="0"/>
                    </a:cubicBezTo>
                    <a:lnTo>
                      <a:pt x="76200" y="0"/>
                    </a:lnTo>
                    <a:cubicBezTo>
                      <a:pt x="90228" y="0"/>
                      <a:pt x="101600" y="11372"/>
                      <a:pt x="101600" y="25400"/>
                    </a:cubicBezTo>
                    <a:lnTo>
                      <a:pt x="101600" y="101600"/>
                    </a:lnTo>
                    <a:cubicBezTo>
                      <a:pt x="101600" y="115628"/>
                      <a:pt x="90228" y="127000"/>
                      <a:pt x="76200" y="127000"/>
                    </a:cubicBezTo>
                    <a:lnTo>
                      <a:pt x="25400" y="127000"/>
                    </a:lnTo>
                    <a:cubicBezTo>
                      <a:pt x="11372" y="127000"/>
                      <a:pt x="0" y="115628"/>
                      <a:pt x="0" y="101600"/>
                    </a:cubicBezTo>
                    <a:lnTo>
                      <a:pt x="0" y="25400"/>
                    </a:lnTo>
                  </a:path>
                </a:pathLst>
              </a:custGeom>
              <a:noFill/>
              <a:ln w="50800">
                <a:solidFill>
                  <a:srgbClr val="FFFFFF"/>
                </a:solidFill>
              </a:ln>
            </p:spPr>
          </p:sp>
          <p:sp>
            <p:nvSpPr>
              <p:cNvPr id="9" name="Freeform 9"/>
              <p:cNvSpPr/>
              <p:nvPr/>
            </p:nvSpPr>
            <p:spPr>
              <a:xfrm>
                <a:off x="889000" y="5740401"/>
                <a:ext cx="50800" cy="9525"/>
              </a:xfrm>
              <a:custGeom>
                <a:avLst/>
                <a:gdLst/>
                <a:ahLst/>
                <a:cxnLst/>
                <a:rect l="l" t="t" r="r" b="b"/>
                <a:pathLst>
                  <a:path w="50800" h="9525">
                    <a:moveTo>
                      <a:pt x="0" y="0"/>
                    </a:moveTo>
                    <a:lnTo>
                      <a:pt x="50800" y="0"/>
                    </a:lnTo>
                  </a:path>
                </a:pathLst>
              </a:custGeom>
              <a:noFill/>
              <a:ln w="50800">
                <a:solidFill>
                  <a:srgbClr val="FFFFFF"/>
                </a:solidFill>
              </a:ln>
            </p:spPr>
          </p:sp>
          <p:sp>
            <p:nvSpPr>
              <p:cNvPr id="10" name="Freeform 10"/>
              <p:cNvSpPr/>
              <p:nvPr/>
            </p:nvSpPr>
            <p:spPr>
              <a:xfrm>
                <a:off x="889000" y="5638800"/>
                <a:ext cx="101600" cy="9525"/>
              </a:xfrm>
              <a:custGeom>
                <a:avLst/>
                <a:gdLst/>
                <a:ahLst/>
                <a:cxnLst/>
                <a:rect l="l" t="t" r="r" b="b"/>
                <a:pathLst>
                  <a:path w="101600" h="9525">
                    <a:moveTo>
                      <a:pt x="0" y="0"/>
                    </a:moveTo>
                    <a:lnTo>
                      <a:pt x="101600" y="0"/>
                    </a:lnTo>
                  </a:path>
                </a:pathLst>
              </a:custGeom>
              <a:noFill/>
              <a:ln w="50800">
                <a:solidFill>
                  <a:srgbClr val="FFFFFF"/>
                </a:solidFill>
              </a:ln>
            </p:spPr>
          </p:sp>
        </p:grpSp>
      </p:grpSp>
      <p:grpSp>
        <p:nvGrpSpPr>
          <p:cNvPr id="23" name="Group 23"/>
          <p:cNvGrpSpPr/>
          <p:nvPr/>
        </p:nvGrpSpPr>
        <p:grpSpPr>
          <a:xfrm>
            <a:off x="5785104" y="190500"/>
            <a:ext cx="6025896" cy="543306"/>
            <a:chOff x="5785104" y="190500"/>
            <a:chExt cx="6025896" cy="543306"/>
          </a:xfrm>
        </p:grpSpPr>
        <p:sp>
          <p:nvSpPr>
            <p:cNvPr id="13" name="Rectangle 13"/>
            <p:cNvSpPr/>
            <p:nvPr/>
          </p:nvSpPr>
          <p:spPr>
            <a:xfrm>
              <a:off x="5791200" y="342900"/>
              <a:ext cx="1143000" cy="76200"/>
            </a:xfrm>
            <a:prstGeom prst="roundRect">
              <a:avLst>
                <a:gd name="adj" fmla="val 37500"/>
              </a:avLst>
            </a:prstGeom>
            <a:solidFill>
              <a:schemeClr val="accent2"/>
            </a:solidFill>
            <a:ln>
              <a:noFill/>
            </a:ln>
          </p:spPr>
        </p:sp>
        <p:sp>
          <p:nvSpPr>
            <p:cNvPr id="14" name="Rectangle 14"/>
            <p:cNvSpPr/>
            <p:nvPr/>
          </p:nvSpPr>
          <p:spPr>
            <a:xfrm>
              <a:off x="7010400" y="304800"/>
              <a:ext cx="1143000" cy="114300"/>
            </a:xfrm>
            <a:prstGeom prst="roundRect">
              <a:avLst>
                <a:gd name="adj" fmla="val 25000"/>
              </a:avLst>
            </a:prstGeom>
            <a:solidFill>
              <a:srgbClr val="E3E9F1"/>
            </a:solidFill>
            <a:ln>
              <a:noFill/>
            </a:ln>
          </p:spPr>
        </p:sp>
        <p:sp>
          <p:nvSpPr>
            <p:cNvPr id="15" name="Rectangle 15"/>
            <p:cNvSpPr/>
            <p:nvPr/>
          </p:nvSpPr>
          <p:spPr>
            <a:xfrm>
              <a:off x="8229600" y="266700"/>
              <a:ext cx="1143000" cy="152400"/>
            </a:xfrm>
            <a:prstGeom prst="roundRect">
              <a:avLst>
                <a:gd name="adj" fmla="val 18750"/>
              </a:avLst>
            </a:prstGeom>
            <a:solidFill>
              <a:srgbClr val="E3E9F1"/>
            </a:solidFill>
            <a:ln>
              <a:noFill/>
            </a:ln>
          </p:spPr>
        </p:sp>
        <p:sp>
          <p:nvSpPr>
            <p:cNvPr id="16" name="Rectangle 16"/>
            <p:cNvSpPr/>
            <p:nvPr/>
          </p:nvSpPr>
          <p:spPr>
            <a:xfrm>
              <a:off x="9448800" y="228600"/>
              <a:ext cx="1143000" cy="190500"/>
            </a:xfrm>
            <a:prstGeom prst="roundRect">
              <a:avLst>
                <a:gd name="adj" fmla="val 15000"/>
              </a:avLst>
            </a:prstGeom>
            <a:solidFill>
              <a:srgbClr val="E3E9F1"/>
            </a:solidFill>
            <a:ln>
              <a:noFill/>
            </a:ln>
          </p:spPr>
        </p:sp>
        <p:sp>
          <p:nvSpPr>
            <p:cNvPr id="17" name="Rectangle 17"/>
            <p:cNvSpPr/>
            <p:nvPr/>
          </p:nvSpPr>
          <p:spPr>
            <a:xfrm>
              <a:off x="10668000" y="190500"/>
              <a:ext cx="1143000" cy="228600"/>
            </a:xfrm>
            <a:prstGeom prst="roundRect">
              <a:avLst>
                <a:gd name="adj" fmla="val 12500"/>
              </a:avLst>
            </a:prstGeom>
            <a:solidFill>
              <a:srgbClr val="E3E9F1"/>
            </a:solidFill>
            <a:ln>
              <a:noFill/>
            </a:ln>
          </p:spPr>
        </p:sp>
        <p:sp>
          <p:nvSpPr>
            <p:cNvPr id="18" name="TextBox 18"/>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9" name="TextBox 19"/>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0" name="TextBox 20"/>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1" name="TextBox 21"/>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2" name="TextBox 22"/>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4" name="TextBox 24"/>
          <p:cNvSpPr txBox="1"/>
          <p:nvPr/>
        </p:nvSpPr>
        <p:spPr>
          <a:xfrm>
            <a:off x="4936998" y="1260158"/>
            <a:ext cx="351844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Khai báo một lần,</a:t>
            </a:r>
            <a:br/>
            <a:r>
              <a:rPr lang="vi-VN" sz="3150" b="1" dirty="0">
                <a:solidFill>
                  <a:schemeClr val="accent1"/>
                </a:solidFill>
                <a:latin typeface="+mn-lt"/>
                <a:ea typeface="+mn-ea"/>
                <a:cs typeface="+mn-cs"/>
              </a:rPr>
              <a:t>ChatGPT nhớ mãi</a:t>
            </a:r>
          </a:p>
        </p:txBody>
      </p:sp>
      <p:grpSp>
        <p:nvGrpSpPr>
          <p:cNvPr id="33" name="Group 33"/>
          <p:cNvGrpSpPr/>
          <p:nvPr/>
        </p:nvGrpSpPr>
        <p:grpSpPr>
          <a:xfrm>
            <a:off x="4944618" y="2400300"/>
            <a:ext cx="6411294" cy="1020889"/>
            <a:chOff x="4944618" y="2400300"/>
            <a:chExt cx="6411294" cy="1020889"/>
          </a:xfrm>
        </p:grpSpPr>
        <p:sp>
          <p:nvSpPr>
            <p:cNvPr id="25" name="Rectangle 25"/>
            <p:cNvSpPr/>
            <p:nvPr/>
          </p:nvSpPr>
          <p:spPr>
            <a:xfrm>
              <a:off x="4953000" y="2400300"/>
              <a:ext cx="5619750" cy="457200"/>
            </a:xfrm>
            <a:prstGeom prst="roundRect">
              <a:avLst>
                <a:gd name="adj" fmla="val 50000"/>
              </a:avLst>
            </a:prstGeom>
            <a:solidFill>
              <a:schemeClr val="lt2"/>
            </a:solidFill>
            <a:ln>
              <a:noFill/>
            </a:ln>
          </p:spPr>
        </p:sp>
        <p:grpSp>
          <p:nvGrpSpPr>
            <p:cNvPr id="30" name="Group 30"/>
            <p:cNvGrpSpPr/>
            <p:nvPr/>
          </p:nvGrpSpPr>
          <p:grpSpPr>
            <a:xfrm>
              <a:off x="5172075" y="2543175"/>
              <a:ext cx="171450" cy="161925"/>
              <a:chOff x="5172075" y="2543175"/>
              <a:chExt cx="171450" cy="161925"/>
            </a:xfrm>
          </p:grpSpPr>
          <p:sp>
            <p:nvSpPr>
              <p:cNvPr id="26" name="Freeform 26"/>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5"/>
                </a:solidFill>
              </a:ln>
            </p:spPr>
          </p:sp>
          <p:sp>
            <p:nvSpPr>
              <p:cNvPr id="27" name="Freeform 27"/>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5"/>
                </a:solidFill>
              </a:ln>
            </p:spPr>
          </p:sp>
          <p:sp>
            <p:nvSpPr>
              <p:cNvPr id="28" name="Freeform 28"/>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5"/>
                </a:solidFill>
              </a:ln>
            </p:spPr>
          </p:sp>
          <p:sp>
            <p:nvSpPr>
              <p:cNvPr id="29" name="Freeform 29"/>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5"/>
                </a:solidFill>
              </a:ln>
            </p:spPr>
          </p:sp>
        </p:grpSp>
        <p:sp>
          <p:nvSpPr>
            <p:cNvPr id="31" name="TextBox 31"/>
            <p:cNvSpPr txBox="1"/>
            <p:nvPr/>
          </p:nvSpPr>
          <p:spPr>
            <a:xfrm>
              <a:off x="5478018" y="2526982"/>
              <a:ext cx="5144979"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Ngày đầu đi làm — phát hồ sơ nhập môn và nội quy</a:t>
              </a:r>
            </a:p>
          </p:txBody>
        </p:sp>
        <p:sp>
          <p:nvSpPr>
            <p:cNvPr id="32" name="TextBox 32"/>
            <p:cNvSpPr txBox="1"/>
            <p:nvPr/>
          </p:nvSpPr>
          <p:spPr>
            <a:xfrm>
              <a:off x="4944618" y="3098482"/>
              <a:ext cx="641129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Mỗi chat mới, ChatGPT lại quên bạn là ai, làm ở đâu, bán gì.</a:t>
              </a:r>
            </a:p>
          </p:txBody>
        </p:sp>
      </p:grpSp>
      <p:grpSp>
        <p:nvGrpSpPr>
          <p:cNvPr id="47" name="Group 47"/>
          <p:cNvGrpSpPr/>
          <p:nvPr/>
        </p:nvGrpSpPr>
        <p:grpSpPr>
          <a:xfrm>
            <a:off x="4946904" y="3718560"/>
            <a:ext cx="6777385" cy="2350579"/>
            <a:chOff x="4946904" y="3718560"/>
            <a:chExt cx="6777385" cy="2350579"/>
          </a:xfrm>
        </p:grpSpPr>
        <p:sp>
          <p:nvSpPr>
            <p:cNvPr id="34" name="TextBox 34"/>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5" name="Ellipse 35"/>
            <p:cNvSpPr/>
            <p:nvPr/>
          </p:nvSpPr>
          <p:spPr>
            <a:xfrm>
              <a:off x="4962525" y="4038600"/>
              <a:ext cx="285750" cy="285750"/>
            </a:xfrm>
            <a:prstGeom prst="ellipse">
              <a:avLst/>
            </a:prstGeom>
            <a:solidFill>
              <a:schemeClr val="accent5"/>
            </a:solidFill>
            <a:ln>
              <a:noFill/>
            </a:ln>
          </p:spPr>
        </p:sp>
        <p:sp>
          <p:nvSpPr>
            <p:cNvPr id="36" name="TextBox 36"/>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7" name="TextBox 37"/>
            <p:cNvSpPr txBox="1"/>
            <p:nvPr/>
          </p:nvSpPr>
          <p:spPr>
            <a:xfrm>
              <a:off x="5382768" y="4070032"/>
              <a:ext cx="526599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Phân biệt Custom Instructions, Project và Memory;</a:t>
              </a:r>
              <a:br/>
              <a:r>
                <a:rPr lang="vi-VN" sz="1650" dirty="0">
                  <a:solidFill>
                    <a:schemeClr val="dk1"/>
                  </a:solidFill>
                  <a:latin typeface="+mn-lt"/>
                  <a:ea typeface="+mn-ea"/>
                  <a:cs typeface="+mn-cs"/>
                </a:rPr>
                <a:t>biết thông tin nào đặt ở đâu</a:t>
              </a:r>
            </a:p>
          </p:txBody>
        </p:sp>
        <p:sp>
          <p:nvSpPr>
            <p:cNvPr id="38" name="Ellipse 38"/>
            <p:cNvSpPr/>
            <p:nvPr/>
          </p:nvSpPr>
          <p:spPr>
            <a:xfrm>
              <a:off x="4962525" y="4800600"/>
              <a:ext cx="285750" cy="285750"/>
            </a:xfrm>
            <a:prstGeom prst="ellipse">
              <a:avLst/>
            </a:prstGeom>
            <a:solidFill>
              <a:schemeClr val="accent5"/>
            </a:solidFill>
            <a:ln>
              <a:noFill/>
            </a:ln>
          </p:spPr>
        </p:sp>
        <p:sp>
          <p:nvSpPr>
            <p:cNvPr id="39" name="TextBox 39"/>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0" name="TextBox 40"/>
            <p:cNvSpPr txBox="1"/>
            <p:nvPr/>
          </p:nvSpPr>
          <p:spPr>
            <a:xfrm>
              <a:off x="5382768" y="4832032"/>
              <a:ext cx="501828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Viết được Instructions cho phòng ban của mình</a:t>
              </a:r>
            </a:p>
          </p:txBody>
        </p:sp>
        <p:sp>
          <p:nvSpPr>
            <p:cNvPr id="41" name="Ellipse 41"/>
            <p:cNvSpPr/>
            <p:nvPr/>
          </p:nvSpPr>
          <p:spPr>
            <a:xfrm>
              <a:off x="4962525" y="5257800"/>
              <a:ext cx="285750" cy="285750"/>
            </a:xfrm>
            <a:prstGeom prst="ellipse">
              <a:avLst/>
            </a:prstGeom>
            <a:solidFill>
              <a:schemeClr val="accent5"/>
            </a:solidFill>
            <a:ln>
              <a:noFill/>
            </a:ln>
          </p:spPr>
        </p:sp>
        <p:sp>
          <p:nvSpPr>
            <p:cNvPr id="42" name="TextBox 42"/>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3" name="TextBox 43"/>
            <p:cNvSpPr txBox="1"/>
            <p:nvPr/>
          </p:nvSpPr>
          <p:spPr>
            <a:xfrm>
              <a:off x="5382768" y="5289232"/>
              <a:ext cx="63415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tra ChatGPT có tuân thủ luật bằng phép thử chống bịa</a:t>
              </a:r>
            </a:p>
          </p:txBody>
        </p:sp>
        <p:sp>
          <p:nvSpPr>
            <p:cNvPr id="44" name="Ellipse 44"/>
            <p:cNvSpPr/>
            <p:nvPr/>
          </p:nvSpPr>
          <p:spPr>
            <a:xfrm>
              <a:off x="4962525" y="5715000"/>
              <a:ext cx="285750" cy="285750"/>
            </a:xfrm>
            <a:prstGeom prst="ellipse">
              <a:avLst/>
            </a:prstGeom>
            <a:solidFill>
              <a:schemeClr val="accent5"/>
            </a:solidFill>
            <a:ln>
              <a:noFill/>
            </a:ln>
          </p:spPr>
        </p:sp>
        <p:sp>
          <p:nvSpPr>
            <p:cNvPr id="45" name="TextBox 45"/>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6" name="TextBox 46"/>
            <p:cNvSpPr txBox="1"/>
            <p:nvPr/>
          </p:nvSpPr>
          <p:spPr>
            <a:xfrm>
              <a:off x="5382768" y="5746432"/>
              <a:ext cx="347859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cài đặt bảo mật cho tài khoản</a:t>
              </a:r>
            </a:p>
          </p:txBody>
        </p:sp>
      </p:grpSp>
      <p:sp>
        <p:nvSpPr>
          <p:cNvPr id="48" name="TextBox 48"/>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58707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nơi đặt Instructions,</a:t>
            </a:r>
            <a:br/>
            <a:r>
              <a:rPr lang="vi-VN" sz="3150" b="1" dirty="0">
                <a:solidFill>
                  <a:schemeClr val="accent1"/>
                </a:solidFill>
                <a:latin typeface="+mn-lt"/>
                <a:ea typeface="+mn-ea"/>
                <a:cs typeface="+mn-cs"/>
              </a:rPr>
              <a:t>mỗi nơi giữ một loại thông tin</a:t>
            </a:r>
          </a:p>
        </p:txBody>
      </p:sp>
      <p:grpSp>
        <p:nvGrpSpPr>
          <p:cNvPr id="34" name="Group 34"/>
          <p:cNvGrpSpPr/>
          <p:nvPr/>
        </p:nvGrpSpPr>
        <p:grpSpPr>
          <a:xfrm>
            <a:off x="381000" y="2114550"/>
            <a:ext cx="3657600" cy="3505200"/>
            <a:chOff x="381000" y="2114550"/>
            <a:chExt cx="3657600" cy="3505200"/>
          </a:xfrm>
        </p:grpSpPr>
        <p:sp>
          <p:nvSpPr>
            <p:cNvPr id="17" name="Rectangle 17"/>
            <p:cNvSpPr/>
            <p:nvPr/>
          </p:nvSpPr>
          <p:spPr>
            <a:xfrm>
              <a:off x="381000" y="2114550"/>
              <a:ext cx="3657600" cy="3505200"/>
            </a:xfrm>
            <a:prstGeom prst="roundRect">
              <a:avLst>
                <a:gd name="adj" fmla="val 4348"/>
              </a:avLst>
            </a:prstGeom>
            <a:solidFill>
              <a:schemeClr val="lt1"/>
            </a:solidFill>
            <a:ln w="14288">
              <a:solidFill>
                <a:schemeClr val="accent4"/>
              </a:solidFill>
            </a:ln>
          </p:spPr>
        </p:sp>
        <p:sp>
          <p:nvSpPr>
            <p:cNvPr id="18" name="Ellipse 18"/>
            <p:cNvSpPr/>
            <p:nvPr/>
          </p:nvSpPr>
          <p:spPr>
            <a:xfrm>
              <a:off x="609600" y="2324100"/>
              <a:ext cx="419100" cy="419100"/>
            </a:xfrm>
            <a:prstGeom prst="ellipse">
              <a:avLst/>
            </a:prstGeom>
            <a:solidFill>
              <a:schemeClr val="lt2"/>
            </a:solidFill>
            <a:ln>
              <a:noFill/>
            </a:ln>
          </p:spPr>
        </p:sp>
        <p:grpSp>
          <p:nvGrpSpPr>
            <p:cNvPr id="24" name="Group 24"/>
            <p:cNvGrpSpPr/>
            <p:nvPr/>
          </p:nvGrpSpPr>
          <p:grpSpPr>
            <a:xfrm>
              <a:off x="719138" y="2433638"/>
              <a:ext cx="200026" cy="188912"/>
              <a:chOff x="719138" y="2433638"/>
              <a:chExt cx="200026" cy="188912"/>
            </a:xfrm>
          </p:grpSpPr>
          <p:sp>
            <p:nvSpPr>
              <p:cNvPr id="19" name="Freeform 19"/>
              <p:cNvSpPr/>
              <p:nvPr/>
            </p:nvSpPr>
            <p:spPr>
              <a:xfrm>
                <a:off x="763588" y="2533650"/>
                <a:ext cx="33338" cy="44450"/>
              </a:xfrm>
              <a:custGeom>
                <a:avLst/>
                <a:gdLst/>
                <a:ahLst/>
                <a:cxnLst/>
                <a:rect l="l" t="t" r="r" b="b"/>
                <a:pathLst>
                  <a:path w="33338" h="44450">
                    <a:moveTo>
                      <a:pt x="0" y="0"/>
                    </a:moveTo>
                    <a:lnTo>
                      <a:pt x="33338" y="0"/>
                    </a:lnTo>
                    <a:lnTo>
                      <a:pt x="33338" y="44450"/>
                    </a:lnTo>
                    <a:lnTo>
                      <a:pt x="0" y="44450"/>
                    </a:lnTo>
                    <a:lnTo>
                      <a:pt x="0" y="0"/>
                    </a:lnTo>
                  </a:path>
                </a:pathLst>
              </a:custGeom>
              <a:noFill/>
              <a:ln w="22225">
                <a:solidFill>
                  <a:schemeClr val="accent5"/>
                </a:solidFill>
              </a:ln>
            </p:spPr>
          </p:sp>
          <p:sp>
            <p:nvSpPr>
              <p:cNvPr id="20" name="Freeform 20"/>
              <p:cNvSpPr/>
              <p:nvPr/>
            </p:nvSpPr>
            <p:spPr>
              <a:xfrm>
                <a:off x="719138" y="2466975"/>
                <a:ext cx="200026" cy="155575"/>
              </a:xfrm>
              <a:custGeom>
                <a:avLst/>
                <a:gdLst/>
                <a:ahLst/>
                <a:cxnLst/>
                <a:rect l="l" t="t" r="r" b="b"/>
                <a:pathLst>
                  <a:path w="200026" h="155575">
                    <a:moveTo>
                      <a:pt x="77788" y="0"/>
                    </a:moveTo>
                    <a:lnTo>
                      <a:pt x="11113" y="0"/>
                    </a:lnTo>
                    <a:cubicBezTo>
                      <a:pt x="4975" y="0"/>
                      <a:pt x="0" y="4975"/>
                      <a:pt x="0" y="11113"/>
                    </a:cubicBezTo>
                    <a:lnTo>
                      <a:pt x="0" y="144463"/>
                    </a:lnTo>
                    <a:cubicBezTo>
                      <a:pt x="0" y="150600"/>
                      <a:pt x="4975" y="155575"/>
                      <a:pt x="11113" y="155575"/>
                    </a:cubicBezTo>
                    <a:lnTo>
                      <a:pt x="188913" y="155575"/>
                    </a:lnTo>
                    <a:cubicBezTo>
                      <a:pt x="195050" y="155575"/>
                      <a:pt x="200026" y="150600"/>
                      <a:pt x="200026" y="144463"/>
                    </a:cubicBezTo>
                    <a:lnTo>
                      <a:pt x="200026" y="11113"/>
                    </a:lnTo>
                    <a:cubicBezTo>
                      <a:pt x="200026" y="4975"/>
                      <a:pt x="195050" y="0"/>
                      <a:pt x="188913" y="0"/>
                    </a:cubicBezTo>
                    <a:lnTo>
                      <a:pt x="122238" y="0"/>
                    </a:lnTo>
                  </a:path>
                </a:pathLst>
              </a:custGeom>
              <a:noFill/>
              <a:ln w="22225">
                <a:solidFill>
                  <a:schemeClr val="accent5"/>
                </a:solidFill>
              </a:ln>
            </p:spPr>
          </p:sp>
          <p:sp>
            <p:nvSpPr>
              <p:cNvPr id="21" name="Freeform 21"/>
              <p:cNvSpPr/>
              <p:nvPr/>
            </p:nvSpPr>
            <p:spPr>
              <a:xfrm>
                <a:off x="796925" y="2433638"/>
                <a:ext cx="44450" cy="55563"/>
              </a:xfrm>
              <a:custGeom>
                <a:avLst/>
                <a:gdLst/>
                <a:ahLst/>
                <a:cxnLst/>
                <a:rect l="l" t="t" r="r" b="b"/>
                <a:pathLst>
                  <a:path w="44450" h="55563">
                    <a:moveTo>
                      <a:pt x="0" y="11113"/>
                    </a:moveTo>
                    <a:cubicBezTo>
                      <a:pt x="0" y="4975"/>
                      <a:pt x="4975" y="0"/>
                      <a:pt x="11113" y="0"/>
                    </a:cubicBezTo>
                    <a:lnTo>
                      <a:pt x="33338" y="0"/>
                    </a:lnTo>
                    <a:cubicBezTo>
                      <a:pt x="39475" y="0"/>
                      <a:pt x="44450" y="4975"/>
                      <a:pt x="44450" y="11113"/>
                    </a:cubicBezTo>
                    <a:lnTo>
                      <a:pt x="44450" y="44450"/>
                    </a:lnTo>
                    <a:cubicBezTo>
                      <a:pt x="44450" y="50587"/>
                      <a:pt x="39475" y="55563"/>
                      <a:pt x="33338" y="55563"/>
                    </a:cubicBezTo>
                    <a:lnTo>
                      <a:pt x="11113" y="55563"/>
                    </a:lnTo>
                    <a:cubicBezTo>
                      <a:pt x="4975" y="55563"/>
                      <a:pt x="0" y="50587"/>
                      <a:pt x="0" y="44450"/>
                    </a:cubicBezTo>
                    <a:lnTo>
                      <a:pt x="0" y="11113"/>
                    </a:lnTo>
                  </a:path>
                </a:pathLst>
              </a:custGeom>
              <a:noFill/>
              <a:ln w="22225">
                <a:solidFill>
                  <a:schemeClr val="accent5"/>
                </a:solidFill>
              </a:ln>
            </p:spPr>
          </p:sp>
          <p:sp>
            <p:nvSpPr>
              <p:cNvPr id="22" name="Freeform 22"/>
              <p:cNvSpPr/>
              <p:nvPr/>
            </p:nvSpPr>
            <p:spPr>
              <a:xfrm>
                <a:off x="841375" y="2578101"/>
                <a:ext cx="22225" cy="9525"/>
              </a:xfrm>
              <a:custGeom>
                <a:avLst/>
                <a:gdLst/>
                <a:ahLst/>
                <a:cxnLst/>
                <a:rect l="l" t="t" r="r" b="b"/>
                <a:pathLst>
                  <a:path w="22225" h="9525">
                    <a:moveTo>
                      <a:pt x="0" y="0"/>
                    </a:moveTo>
                    <a:lnTo>
                      <a:pt x="22225" y="0"/>
                    </a:lnTo>
                  </a:path>
                </a:pathLst>
              </a:custGeom>
              <a:noFill/>
              <a:ln w="22225">
                <a:solidFill>
                  <a:schemeClr val="accent5"/>
                </a:solidFill>
              </a:ln>
            </p:spPr>
          </p:sp>
          <p:sp>
            <p:nvSpPr>
              <p:cNvPr id="23" name="Freeform 23"/>
              <p:cNvSpPr/>
              <p:nvPr/>
            </p:nvSpPr>
            <p:spPr>
              <a:xfrm>
                <a:off x="841375" y="2533650"/>
                <a:ext cx="44450" cy="9525"/>
              </a:xfrm>
              <a:custGeom>
                <a:avLst/>
                <a:gdLst/>
                <a:ahLst/>
                <a:cxnLst/>
                <a:rect l="l" t="t" r="r" b="b"/>
                <a:pathLst>
                  <a:path w="44450" h="9525">
                    <a:moveTo>
                      <a:pt x="0" y="0"/>
                    </a:moveTo>
                    <a:lnTo>
                      <a:pt x="44450" y="0"/>
                    </a:lnTo>
                  </a:path>
                </a:pathLst>
              </a:custGeom>
              <a:noFill/>
              <a:ln w="22225">
                <a:solidFill>
                  <a:schemeClr val="accent5"/>
                </a:solidFill>
              </a:ln>
            </p:spPr>
          </p:sp>
        </p:grpSp>
        <p:sp>
          <p:nvSpPr>
            <p:cNvPr id="25" name="TextBox 25"/>
            <p:cNvSpPr txBox="1"/>
            <p:nvPr/>
          </p:nvSpPr>
          <p:spPr>
            <a:xfrm>
              <a:off x="1133094" y="2408872"/>
              <a:ext cx="27657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Custom Instructions</a:t>
              </a:r>
            </a:p>
          </p:txBody>
        </p:sp>
        <p:sp>
          <p:nvSpPr>
            <p:cNvPr id="26" name="Rectangle 26"/>
            <p:cNvSpPr/>
            <p:nvPr/>
          </p:nvSpPr>
          <p:spPr>
            <a:xfrm>
              <a:off x="609600" y="2876550"/>
              <a:ext cx="2114550" cy="304800"/>
            </a:xfrm>
            <a:prstGeom prst="roundRect">
              <a:avLst>
                <a:gd name="adj" fmla="val 50000"/>
              </a:avLst>
            </a:prstGeom>
            <a:solidFill>
              <a:schemeClr val="lt2"/>
            </a:solidFill>
            <a:ln>
              <a:noFill/>
            </a:ln>
          </p:spPr>
        </p:sp>
        <p:sp>
          <p:nvSpPr>
            <p:cNvPr id="27" name="TextBox 27"/>
            <p:cNvSpPr txBox="1"/>
            <p:nvPr/>
          </p:nvSpPr>
          <p:spPr>
            <a:xfrm>
              <a:off x="717042" y="2940368"/>
              <a:ext cx="2028596"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mọi cuộc chat</a:t>
              </a:r>
            </a:p>
          </p:txBody>
        </p:sp>
        <p:sp>
          <p:nvSpPr>
            <p:cNvPr id="28" name="TextBox 28"/>
            <p:cNvSpPr txBox="1"/>
            <p:nvPr/>
          </p:nvSpPr>
          <p:spPr>
            <a:xfrm>
              <a:off x="6035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29" name="TextBox 29"/>
            <p:cNvSpPr txBox="1"/>
            <p:nvPr/>
          </p:nvSpPr>
          <p:spPr>
            <a:xfrm>
              <a:off x="601218" y="3631882"/>
              <a:ext cx="284533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Danh thiếp của chính mình</a:t>
              </a:r>
            </a:p>
          </p:txBody>
        </p:sp>
        <p:sp>
          <p:nvSpPr>
            <p:cNvPr id="30" name="TextBox 30"/>
            <p:cNvSpPr txBox="1"/>
            <p:nvPr/>
          </p:nvSpPr>
          <p:spPr>
            <a:xfrm>
              <a:off x="6035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31" name="TextBox 31"/>
            <p:cNvSpPr txBox="1"/>
            <p:nvPr/>
          </p:nvSpPr>
          <p:spPr>
            <a:xfrm>
              <a:off x="601218" y="4298632"/>
              <a:ext cx="257327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Chức danh, cách xưng hô,</a:t>
              </a:r>
              <a:br/>
              <a:r>
                <a:rPr lang="vi-VN" sz="1650" dirty="0">
                  <a:solidFill>
                    <a:schemeClr val="dk1"/>
                  </a:solidFill>
                  <a:latin typeface="+mn-lt"/>
                  <a:ea typeface="+mn-ea"/>
                  <a:cs typeface="+mn-cs"/>
                </a:rPr>
                <a:t>văn phong</a:t>
              </a:r>
            </a:p>
          </p:txBody>
        </p:sp>
        <p:sp>
          <p:nvSpPr>
            <p:cNvPr id="32" name="Line 32"/>
            <p:cNvSpPr/>
            <p:nvPr/>
          </p:nvSpPr>
          <p:spPr>
            <a:xfrm>
              <a:off x="6096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33" name="TextBox 33"/>
            <p:cNvSpPr txBox="1"/>
            <p:nvPr/>
          </p:nvSpPr>
          <p:spPr>
            <a:xfrm>
              <a:off x="6035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Custom instructions</a:t>
              </a:r>
            </a:p>
          </p:txBody>
        </p:sp>
      </p:grpSp>
      <p:grpSp>
        <p:nvGrpSpPr>
          <p:cNvPr id="47" name="Group 47"/>
          <p:cNvGrpSpPr/>
          <p:nvPr/>
        </p:nvGrpSpPr>
        <p:grpSpPr>
          <a:xfrm>
            <a:off x="4267200" y="2114550"/>
            <a:ext cx="3657600" cy="3505200"/>
            <a:chOff x="4267200" y="2114550"/>
            <a:chExt cx="3657600" cy="3505200"/>
          </a:xfrm>
        </p:grpSpPr>
        <p:sp>
          <p:nvSpPr>
            <p:cNvPr id="35" name="Rectangle 35"/>
            <p:cNvSpPr/>
            <p:nvPr/>
          </p:nvSpPr>
          <p:spPr>
            <a:xfrm>
              <a:off x="4267200" y="2114550"/>
              <a:ext cx="3657600" cy="3505200"/>
            </a:xfrm>
            <a:prstGeom prst="roundRect">
              <a:avLst>
                <a:gd name="adj" fmla="val 4348"/>
              </a:avLst>
            </a:prstGeom>
            <a:solidFill>
              <a:schemeClr val="lt1"/>
            </a:solidFill>
            <a:ln w="14288">
              <a:solidFill>
                <a:schemeClr val="accent4"/>
              </a:solidFill>
            </a:ln>
          </p:spPr>
        </p:sp>
        <p:sp>
          <p:nvSpPr>
            <p:cNvPr id="36" name="Ellipse 36"/>
            <p:cNvSpPr/>
            <p:nvPr/>
          </p:nvSpPr>
          <p:spPr>
            <a:xfrm>
              <a:off x="4495800" y="2324100"/>
              <a:ext cx="419100" cy="419100"/>
            </a:xfrm>
            <a:prstGeom prst="ellipse">
              <a:avLst/>
            </a:prstGeom>
            <a:solidFill>
              <a:schemeClr val="lt2"/>
            </a:solidFill>
            <a:ln>
              <a:noFill/>
            </a:ln>
          </p:spPr>
        </p:sp>
        <p:sp>
          <p:nvSpPr>
            <p:cNvPr id="37" name="Freeform 37"/>
            <p:cNvSpPr/>
            <p:nvPr/>
          </p:nvSpPr>
          <p:spPr>
            <a:xfrm>
              <a:off x="4605338" y="2444750"/>
              <a:ext cx="200026" cy="166688"/>
            </a:xfrm>
            <a:custGeom>
              <a:avLst/>
              <a:gdLst/>
              <a:ahLst/>
              <a:cxnLst/>
              <a:rect l="l" t="t" r="r" b="b"/>
              <a:pathLst>
                <a:path w="200026" h="166688">
                  <a:moveTo>
                    <a:pt x="22225" y="0"/>
                  </a:moveTo>
                  <a:lnTo>
                    <a:pt x="66675" y="0"/>
                  </a:lnTo>
                  <a:lnTo>
                    <a:pt x="100013" y="33338"/>
                  </a:lnTo>
                  <a:lnTo>
                    <a:pt x="177801" y="33338"/>
                  </a:lnTo>
                  <a:cubicBezTo>
                    <a:pt x="190075" y="33338"/>
                    <a:pt x="200026" y="43288"/>
                    <a:pt x="200026" y="55563"/>
                  </a:cubicBezTo>
                  <a:lnTo>
                    <a:pt x="200026" y="144463"/>
                  </a:lnTo>
                  <a:cubicBezTo>
                    <a:pt x="200026" y="156737"/>
                    <a:pt x="190075" y="166688"/>
                    <a:pt x="177801" y="166688"/>
                  </a:cubicBezTo>
                  <a:lnTo>
                    <a:pt x="22225" y="166688"/>
                  </a:lnTo>
                  <a:cubicBezTo>
                    <a:pt x="9950" y="166688"/>
                    <a:pt x="0" y="156737"/>
                    <a:pt x="0" y="144463"/>
                  </a:cubicBezTo>
                  <a:lnTo>
                    <a:pt x="0" y="22225"/>
                  </a:lnTo>
                  <a:cubicBezTo>
                    <a:pt x="0" y="9950"/>
                    <a:pt x="9950" y="0"/>
                    <a:pt x="22225" y="0"/>
                  </a:cubicBezTo>
                </a:path>
              </a:pathLst>
            </a:custGeom>
            <a:noFill/>
            <a:ln w="22225">
              <a:solidFill>
                <a:schemeClr val="accent5"/>
              </a:solidFill>
            </a:ln>
          </p:spPr>
        </p:sp>
        <p:sp>
          <p:nvSpPr>
            <p:cNvPr id="38" name="TextBox 38"/>
            <p:cNvSpPr txBox="1"/>
            <p:nvPr/>
          </p:nvSpPr>
          <p:spPr>
            <a:xfrm>
              <a:off x="5019294" y="2408872"/>
              <a:ext cx="278436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Project instructions</a:t>
              </a:r>
            </a:p>
          </p:txBody>
        </p:sp>
        <p:sp>
          <p:nvSpPr>
            <p:cNvPr id="39" name="Rectangle 39"/>
            <p:cNvSpPr/>
            <p:nvPr/>
          </p:nvSpPr>
          <p:spPr>
            <a:xfrm>
              <a:off x="4495800" y="2876550"/>
              <a:ext cx="2800350" cy="304800"/>
            </a:xfrm>
            <a:prstGeom prst="roundRect">
              <a:avLst>
                <a:gd name="adj" fmla="val 50000"/>
              </a:avLst>
            </a:prstGeom>
            <a:solidFill>
              <a:schemeClr val="lt2"/>
            </a:solidFill>
            <a:ln>
              <a:noFill/>
            </a:ln>
          </p:spPr>
        </p:sp>
        <p:sp>
          <p:nvSpPr>
            <p:cNvPr id="40" name="TextBox 40"/>
            <p:cNvSpPr txBox="1"/>
            <p:nvPr/>
          </p:nvSpPr>
          <p:spPr>
            <a:xfrm>
              <a:off x="4603242" y="2940368"/>
              <a:ext cx="275263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chat trong Project đó</a:t>
              </a:r>
            </a:p>
          </p:txBody>
        </p:sp>
        <p:sp>
          <p:nvSpPr>
            <p:cNvPr id="41" name="TextBox 41"/>
            <p:cNvSpPr txBox="1"/>
            <p:nvPr/>
          </p:nvSpPr>
          <p:spPr>
            <a:xfrm>
              <a:off x="44897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42" name="TextBox 42"/>
            <p:cNvSpPr txBox="1"/>
            <p:nvPr/>
          </p:nvSpPr>
          <p:spPr>
            <a:xfrm>
              <a:off x="4487418" y="3631882"/>
              <a:ext cx="2723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Hồ sơ nhập môn của phòng</a:t>
              </a:r>
            </a:p>
          </p:txBody>
        </p:sp>
        <p:sp>
          <p:nvSpPr>
            <p:cNvPr id="43" name="TextBox 43"/>
            <p:cNvSpPr txBox="1"/>
            <p:nvPr/>
          </p:nvSpPr>
          <p:spPr>
            <a:xfrm>
              <a:off x="44897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44" name="TextBox 44"/>
            <p:cNvSpPr txBox="1"/>
            <p:nvPr/>
          </p:nvSpPr>
          <p:spPr>
            <a:xfrm>
              <a:off x="4487418" y="4298632"/>
              <a:ext cx="3023807"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Đơn vị, sản phẩm, thuật ngữ,</a:t>
              </a:r>
              <a:br/>
              <a:r>
                <a:rPr lang="vi-VN" sz="1650" dirty="0">
                  <a:solidFill>
                    <a:schemeClr val="dk1"/>
                  </a:solidFill>
                  <a:latin typeface="+mn-lt"/>
                  <a:ea typeface="+mn-ea"/>
                  <a:cs typeface="+mn-cs"/>
                </a:rPr>
                <a:t>luật riêng + file tham chiếu</a:t>
              </a:r>
            </a:p>
          </p:txBody>
        </p:sp>
        <p:sp>
          <p:nvSpPr>
            <p:cNvPr id="45" name="Line 45"/>
            <p:cNvSpPr/>
            <p:nvPr/>
          </p:nvSpPr>
          <p:spPr>
            <a:xfrm>
              <a:off x="44958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46" name="TextBox 46"/>
            <p:cNvSpPr txBox="1"/>
            <p:nvPr/>
          </p:nvSpPr>
          <p:spPr>
            <a:xfrm>
              <a:off x="4489704" y="5109210"/>
              <a:ext cx="14447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New project → ••• →</a:t>
              </a:r>
              <a:br/>
              <a:r>
                <a:rPr lang="vi-VN" sz="1200" dirty="0">
                  <a:solidFill>
                    <a:srgbClr val="5B6675"/>
                  </a:solidFill>
                  <a:latin typeface="+mn-lt"/>
                  <a:ea typeface="+mn-ea"/>
                  <a:cs typeface="+mn-cs"/>
                </a:rPr>
                <a:t>Project settings</a:t>
              </a:r>
            </a:p>
          </p:txBody>
        </p:sp>
      </p:grpSp>
      <p:grpSp>
        <p:nvGrpSpPr>
          <p:cNvPr id="66" name="Group 66"/>
          <p:cNvGrpSpPr/>
          <p:nvPr/>
        </p:nvGrpSpPr>
        <p:grpSpPr>
          <a:xfrm>
            <a:off x="8153400" y="2114550"/>
            <a:ext cx="3657600" cy="3505200"/>
            <a:chOff x="8153400" y="2114550"/>
            <a:chExt cx="3657600" cy="3505200"/>
          </a:xfrm>
        </p:grpSpPr>
        <p:sp>
          <p:nvSpPr>
            <p:cNvPr id="48" name="Rectangle 48"/>
            <p:cNvSpPr/>
            <p:nvPr/>
          </p:nvSpPr>
          <p:spPr>
            <a:xfrm>
              <a:off x="8153400" y="2114550"/>
              <a:ext cx="3657600" cy="3505200"/>
            </a:xfrm>
            <a:prstGeom prst="roundRect">
              <a:avLst>
                <a:gd name="adj" fmla="val 4348"/>
              </a:avLst>
            </a:prstGeom>
            <a:solidFill>
              <a:schemeClr val="lt1"/>
            </a:solidFill>
            <a:ln w="14288">
              <a:solidFill>
                <a:schemeClr val="accent4"/>
              </a:solidFill>
            </a:ln>
          </p:spPr>
        </p:sp>
        <p:sp>
          <p:nvSpPr>
            <p:cNvPr id="49" name="Ellipse 49"/>
            <p:cNvSpPr/>
            <p:nvPr/>
          </p:nvSpPr>
          <p:spPr>
            <a:xfrm>
              <a:off x="8382000" y="2324100"/>
              <a:ext cx="419100" cy="419100"/>
            </a:xfrm>
            <a:prstGeom prst="ellipse">
              <a:avLst/>
            </a:prstGeom>
            <a:solidFill>
              <a:schemeClr val="lt2"/>
            </a:solidFill>
            <a:ln>
              <a:noFill/>
            </a:ln>
          </p:spPr>
        </p:sp>
        <p:grpSp>
          <p:nvGrpSpPr>
            <p:cNvPr id="56" name="Group 56"/>
            <p:cNvGrpSpPr/>
            <p:nvPr/>
          </p:nvGrpSpPr>
          <p:grpSpPr>
            <a:xfrm>
              <a:off x="8491538" y="2433638"/>
              <a:ext cx="200025" cy="200025"/>
              <a:chOff x="8491538" y="2433638"/>
              <a:chExt cx="200025" cy="200025"/>
            </a:xfrm>
          </p:grpSpPr>
          <p:sp>
            <p:nvSpPr>
              <p:cNvPr id="50" name="Freeform 50"/>
              <p:cNvSpPr/>
              <p:nvPr/>
            </p:nvSpPr>
            <p:spPr>
              <a:xfrm>
                <a:off x="8591550" y="2544763"/>
                <a:ext cx="77788" cy="88900"/>
              </a:xfrm>
              <a:custGeom>
                <a:avLst/>
                <a:gdLst/>
                <a:ahLst/>
                <a:cxnLst/>
                <a:rect l="l" t="t" r="r" b="b"/>
                <a:pathLst>
                  <a:path w="77788" h="88900">
                    <a:moveTo>
                      <a:pt x="38894" y="0"/>
                    </a:moveTo>
                    <a:cubicBezTo>
                      <a:pt x="17413" y="0"/>
                      <a:pt x="0" y="17413"/>
                      <a:pt x="0" y="38894"/>
                    </a:cubicBezTo>
                    <a:lnTo>
                      <a:pt x="0" y="50006"/>
                    </a:lnTo>
                    <a:cubicBezTo>
                      <a:pt x="0" y="71487"/>
                      <a:pt x="17413" y="88900"/>
                      <a:pt x="38894" y="88900"/>
                    </a:cubicBezTo>
                    <a:cubicBezTo>
                      <a:pt x="60374" y="88900"/>
                      <a:pt x="77788" y="71487"/>
                      <a:pt x="77788" y="50006"/>
                    </a:cubicBezTo>
                    <a:lnTo>
                      <a:pt x="77788" y="30004"/>
                    </a:lnTo>
                  </a:path>
                </a:pathLst>
              </a:custGeom>
              <a:noFill/>
              <a:ln w="22225">
                <a:solidFill>
                  <a:schemeClr val="accent5"/>
                </a:solidFill>
              </a:ln>
            </p:spPr>
          </p:sp>
          <p:sp>
            <p:nvSpPr>
              <p:cNvPr id="51" name="Freeform 51"/>
              <p:cNvSpPr/>
              <p:nvPr/>
            </p:nvSpPr>
            <p:spPr>
              <a:xfrm>
                <a:off x="8513763" y="2544763"/>
                <a:ext cx="77788" cy="88900"/>
              </a:xfrm>
              <a:custGeom>
                <a:avLst/>
                <a:gdLst/>
                <a:ahLst/>
                <a:cxnLst/>
                <a:rect l="l" t="t" r="r" b="b"/>
                <a:pathLst>
                  <a:path w="77788" h="88900">
                    <a:moveTo>
                      <a:pt x="38894" y="0"/>
                    </a:moveTo>
                    <a:cubicBezTo>
                      <a:pt x="60374" y="0"/>
                      <a:pt x="77788" y="17413"/>
                      <a:pt x="77788" y="38894"/>
                    </a:cubicBezTo>
                    <a:lnTo>
                      <a:pt x="77788" y="50006"/>
                    </a:lnTo>
                    <a:cubicBezTo>
                      <a:pt x="77788" y="71487"/>
                      <a:pt x="60374" y="88900"/>
                      <a:pt x="38894" y="88900"/>
                    </a:cubicBezTo>
                    <a:cubicBezTo>
                      <a:pt x="17413" y="88900"/>
                      <a:pt x="0" y="71487"/>
                      <a:pt x="0" y="50006"/>
                    </a:cubicBezTo>
                    <a:lnTo>
                      <a:pt x="0" y="30004"/>
                    </a:lnTo>
                  </a:path>
                </a:pathLst>
              </a:custGeom>
              <a:noFill/>
              <a:ln w="22225">
                <a:solidFill>
                  <a:schemeClr val="accent5"/>
                </a:solidFill>
              </a:ln>
            </p:spPr>
          </p:sp>
          <p:sp>
            <p:nvSpPr>
              <p:cNvPr id="52" name="Freeform 52"/>
              <p:cNvSpPr/>
              <p:nvPr/>
            </p:nvSpPr>
            <p:spPr>
              <a:xfrm>
                <a:off x="8647113" y="2500313"/>
                <a:ext cx="44450" cy="77788"/>
              </a:xfrm>
              <a:custGeom>
                <a:avLst/>
                <a:gdLst/>
                <a:ahLst/>
                <a:cxnLst/>
                <a:rect l="l" t="t" r="r" b="b"/>
                <a:pathLst>
                  <a:path w="44450" h="77788">
                    <a:moveTo>
                      <a:pt x="5556" y="77788"/>
                    </a:moveTo>
                    <a:cubicBezTo>
                      <a:pt x="27037" y="77788"/>
                      <a:pt x="44450" y="60374"/>
                      <a:pt x="44450" y="38894"/>
                    </a:cubicBezTo>
                    <a:cubicBezTo>
                      <a:pt x="44450" y="17413"/>
                      <a:pt x="27037" y="0"/>
                      <a:pt x="5556" y="0"/>
                    </a:cubicBezTo>
                    <a:lnTo>
                      <a:pt x="0" y="0"/>
                    </a:lnTo>
                  </a:path>
                </a:pathLst>
              </a:custGeom>
              <a:noFill/>
              <a:ln w="22225">
                <a:solidFill>
                  <a:schemeClr val="accent5"/>
                </a:solidFill>
              </a:ln>
            </p:spPr>
          </p:sp>
          <p:sp>
            <p:nvSpPr>
              <p:cNvPr id="53" name="Freeform 53"/>
              <p:cNvSpPr/>
              <p:nvPr/>
            </p:nvSpPr>
            <p:spPr>
              <a:xfrm>
                <a:off x="8591550" y="2433638"/>
                <a:ext cx="77788" cy="70009"/>
              </a:xfrm>
              <a:custGeom>
                <a:avLst/>
                <a:gdLst/>
                <a:ahLst/>
                <a:cxnLst/>
                <a:rect l="l" t="t" r="r" b="b"/>
                <a:pathLst>
                  <a:path w="77788" h="70009">
                    <a:moveTo>
                      <a:pt x="77788" y="70009"/>
                    </a:moveTo>
                    <a:lnTo>
                      <a:pt x="77788" y="38894"/>
                    </a:lnTo>
                    <a:cubicBezTo>
                      <a:pt x="77788" y="17413"/>
                      <a:pt x="60374" y="0"/>
                      <a:pt x="38894" y="0"/>
                    </a:cubicBezTo>
                    <a:cubicBezTo>
                      <a:pt x="17413" y="0"/>
                      <a:pt x="0" y="17413"/>
                      <a:pt x="0" y="38894"/>
                    </a:cubicBezTo>
                  </a:path>
                </a:pathLst>
              </a:custGeom>
              <a:noFill/>
              <a:ln w="22225">
                <a:solidFill>
                  <a:schemeClr val="accent5"/>
                </a:solidFill>
              </a:ln>
            </p:spPr>
          </p:sp>
          <p:sp>
            <p:nvSpPr>
              <p:cNvPr id="54" name="Freeform 54"/>
              <p:cNvSpPr/>
              <p:nvPr/>
            </p:nvSpPr>
            <p:spPr>
              <a:xfrm>
                <a:off x="8491538" y="2500313"/>
                <a:ext cx="44450" cy="77788"/>
              </a:xfrm>
              <a:custGeom>
                <a:avLst/>
                <a:gdLst/>
                <a:ahLst/>
                <a:cxnLst/>
                <a:rect l="l" t="t" r="r" b="b"/>
                <a:pathLst>
                  <a:path w="44450" h="77788">
                    <a:moveTo>
                      <a:pt x="38894" y="77788"/>
                    </a:moveTo>
                    <a:cubicBezTo>
                      <a:pt x="17413" y="77788"/>
                      <a:pt x="0" y="60374"/>
                      <a:pt x="0" y="38894"/>
                    </a:cubicBezTo>
                    <a:cubicBezTo>
                      <a:pt x="0" y="17413"/>
                      <a:pt x="17413" y="0"/>
                      <a:pt x="38894" y="0"/>
                    </a:cubicBezTo>
                    <a:lnTo>
                      <a:pt x="44450" y="0"/>
                    </a:lnTo>
                  </a:path>
                </a:pathLst>
              </a:custGeom>
              <a:noFill/>
              <a:ln w="22225">
                <a:solidFill>
                  <a:schemeClr val="accent5"/>
                </a:solidFill>
              </a:ln>
            </p:spPr>
          </p:sp>
          <p:sp>
            <p:nvSpPr>
              <p:cNvPr id="55" name="Freeform 55"/>
              <p:cNvSpPr/>
              <p:nvPr/>
            </p:nvSpPr>
            <p:spPr>
              <a:xfrm>
                <a:off x="8513763" y="2433638"/>
                <a:ext cx="77788" cy="150019"/>
              </a:xfrm>
              <a:custGeom>
                <a:avLst/>
                <a:gdLst/>
                <a:ahLst/>
                <a:cxnLst/>
                <a:rect l="l" t="t" r="r" b="b"/>
                <a:pathLst>
                  <a:path w="77788" h="150019">
                    <a:moveTo>
                      <a:pt x="0" y="70009"/>
                    </a:moveTo>
                    <a:lnTo>
                      <a:pt x="0" y="38894"/>
                    </a:lnTo>
                    <a:cubicBezTo>
                      <a:pt x="0" y="17413"/>
                      <a:pt x="17413" y="0"/>
                      <a:pt x="38894" y="0"/>
                    </a:cubicBezTo>
                    <a:cubicBezTo>
                      <a:pt x="60374" y="0"/>
                      <a:pt x="77788" y="17413"/>
                      <a:pt x="77788" y="38894"/>
                    </a:cubicBezTo>
                    <a:lnTo>
                      <a:pt x="77788" y="150019"/>
                    </a:lnTo>
                  </a:path>
                </a:pathLst>
              </a:custGeom>
              <a:noFill/>
              <a:ln w="22225">
                <a:solidFill>
                  <a:schemeClr val="accent5"/>
                </a:solidFill>
              </a:ln>
            </p:spPr>
          </p:sp>
        </p:grpSp>
        <p:sp>
          <p:nvSpPr>
            <p:cNvPr id="57" name="TextBox 57"/>
            <p:cNvSpPr txBox="1"/>
            <p:nvPr/>
          </p:nvSpPr>
          <p:spPr>
            <a:xfrm>
              <a:off x="8905494" y="2408872"/>
              <a:ext cx="104928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Memory</a:t>
              </a:r>
            </a:p>
          </p:txBody>
        </p:sp>
        <p:sp>
          <p:nvSpPr>
            <p:cNvPr id="58" name="Rectangle 58"/>
            <p:cNvSpPr/>
            <p:nvPr/>
          </p:nvSpPr>
          <p:spPr>
            <a:xfrm>
              <a:off x="8382000" y="2876550"/>
              <a:ext cx="2628900" cy="304800"/>
            </a:xfrm>
            <a:prstGeom prst="roundRect">
              <a:avLst>
                <a:gd name="adj" fmla="val 50000"/>
              </a:avLst>
            </a:prstGeom>
            <a:solidFill>
              <a:schemeClr val="lt2"/>
            </a:solidFill>
            <a:ln>
              <a:noFill/>
            </a:ln>
          </p:spPr>
        </p:sp>
        <p:sp>
          <p:nvSpPr>
            <p:cNvPr id="59" name="TextBox 59"/>
            <p:cNvSpPr txBox="1"/>
            <p:nvPr/>
          </p:nvSpPr>
          <p:spPr>
            <a:xfrm>
              <a:off x="8489442" y="2940368"/>
              <a:ext cx="2501113"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tự ghi qua các chat</a:t>
              </a:r>
            </a:p>
          </p:txBody>
        </p:sp>
        <p:sp>
          <p:nvSpPr>
            <p:cNvPr id="60" name="TextBox 60"/>
            <p:cNvSpPr txBox="1"/>
            <p:nvPr/>
          </p:nvSpPr>
          <p:spPr>
            <a:xfrm>
              <a:off x="83759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61" name="TextBox 61"/>
            <p:cNvSpPr txBox="1"/>
            <p:nvPr/>
          </p:nvSpPr>
          <p:spPr>
            <a:xfrm>
              <a:off x="8373618" y="3631882"/>
              <a:ext cx="107931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Sổ giao ca</a:t>
              </a:r>
            </a:p>
          </p:txBody>
        </p:sp>
        <p:sp>
          <p:nvSpPr>
            <p:cNvPr id="62" name="TextBox 62"/>
            <p:cNvSpPr txBox="1"/>
            <p:nvPr/>
          </p:nvSpPr>
          <p:spPr>
            <a:xfrm>
              <a:off x="83759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63" name="TextBox 63"/>
            <p:cNvSpPr txBox="1"/>
            <p:nvPr/>
          </p:nvSpPr>
          <p:spPr>
            <a:xfrm>
              <a:off x="8373618" y="4298632"/>
              <a:ext cx="26361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Thói quen nhỏ, như “thích</a:t>
              </a:r>
              <a:br/>
              <a:r>
                <a:rPr lang="vi-VN" sz="1650" dirty="0">
                  <a:solidFill>
                    <a:schemeClr val="dk1"/>
                  </a:solidFill>
                  <a:latin typeface="+mn-lt"/>
                  <a:ea typeface="+mn-ea"/>
                  <a:cs typeface="+mn-cs"/>
                </a:rPr>
                <a:t>báo cáo dạng bảng”</a:t>
              </a:r>
            </a:p>
          </p:txBody>
        </p:sp>
        <p:sp>
          <p:nvSpPr>
            <p:cNvPr id="64" name="Line 64"/>
            <p:cNvSpPr/>
            <p:nvPr/>
          </p:nvSpPr>
          <p:spPr>
            <a:xfrm>
              <a:off x="83820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65" name="TextBox 65"/>
            <p:cNvSpPr txBox="1"/>
            <p:nvPr/>
          </p:nvSpPr>
          <p:spPr>
            <a:xfrm>
              <a:off x="83759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Memory</a:t>
              </a:r>
            </a:p>
          </p:txBody>
        </p:sp>
      </p:grpSp>
      <p:grpSp>
        <p:nvGrpSpPr>
          <p:cNvPr id="73" name="Group 73"/>
          <p:cNvGrpSpPr/>
          <p:nvPr/>
        </p:nvGrpSpPr>
        <p:grpSpPr>
          <a:xfrm>
            <a:off x="381000" y="5772150"/>
            <a:ext cx="11491249" cy="552450"/>
            <a:chOff x="381000" y="5772150"/>
            <a:chExt cx="11491249" cy="552450"/>
          </a:xfrm>
        </p:grpSpPr>
        <p:sp>
          <p:nvSpPr>
            <p:cNvPr id="67" name="Rectangle 67"/>
            <p:cNvSpPr/>
            <p:nvPr/>
          </p:nvSpPr>
          <p:spPr>
            <a:xfrm>
              <a:off x="381000" y="5772150"/>
              <a:ext cx="11430000" cy="552450"/>
            </a:xfrm>
            <a:prstGeom prst="roundRect">
              <a:avLst>
                <a:gd name="adj" fmla="val 24138"/>
              </a:avLst>
            </a:prstGeom>
            <a:solidFill>
              <a:srgbClr val="FCEBDD"/>
            </a:solidFill>
            <a:ln>
              <a:noFill/>
            </a:ln>
          </p:spPr>
        </p:sp>
        <p:grpSp>
          <p:nvGrpSpPr>
            <p:cNvPr id="71" name="Group 71"/>
            <p:cNvGrpSpPr/>
            <p:nvPr/>
          </p:nvGrpSpPr>
          <p:grpSpPr>
            <a:xfrm>
              <a:off x="569119" y="5941219"/>
              <a:ext cx="214312" cy="214312"/>
              <a:chOff x="569119" y="5941219"/>
              <a:chExt cx="214312" cy="214312"/>
            </a:xfrm>
          </p:grpSpPr>
          <p:sp>
            <p:nvSpPr>
              <p:cNvPr id="68" name="Freeform 68"/>
              <p:cNvSpPr/>
              <p:nvPr/>
            </p:nvSpPr>
            <p:spPr>
              <a:xfrm>
                <a:off x="569119" y="59412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sp>
          <p:sp>
            <p:nvSpPr>
              <p:cNvPr id="69" name="Freeform 69"/>
              <p:cNvSpPr/>
              <p:nvPr/>
            </p:nvSpPr>
            <p:spPr>
              <a:xfrm>
                <a:off x="676275" y="6012656"/>
                <a:ext cx="9525" cy="9525"/>
              </a:xfrm>
              <a:custGeom>
                <a:avLst/>
                <a:gdLst/>
                <a:ahLst/>
                <a:cxnLst/>
                <a:rect l="l" t="t" r="r" b="b"/>
                <a:pathLst>
                  <a:path w="9525" h="9525">
                    <a:moveTo>
                      <a:pt x="0" y="0"/>
                    </a:moveTo>
                    <a:lnTo>
                      <a:pt x="119" y="0"/>
                    </a:lnTo>
                  </a:path>
                </a:pathLst>
              </a:custGeom>
              <a:noFill/>
              <a:ln w="23812">
                <a:solidFill>
                  <a:schemeClr val="accent1"/>
                </a:solidFill>
              </a:ln>
            </p:spPr>
          </p:sp>
          <p:sp>
            <p:nvSpPr>
              <p:cNvPr id="70" name="Freeform 70"/>
              <p:cNvSpPr/>
              <p:nvPr/>
            </p:nvSpPr>
            <p:spPr>
              <a:xfrm>
                <a:off x="664369" y="60483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sp>
        </p:grpSp>
        <p:sp>
          <p:nvSpPr>
            <p:cNvPr id="72" name="TextBox 72"/>
            <p:cNvSpPr txBox="1"/>
            <p:nvPr/>
          </p:nvSpPr>
          <p:spPr>
            <a:xfrm>
              <a:off x="906018" y="5946458"/>
              <a:ext cx="1096623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Trong Project, Project instructions ghi đè Custom Instructions</a:t>
              </a:r>
              <a:r>
                <a:rPr lang="vi-VN" sz="1650" dirty="0">
                  <a:solidFill>
                    <a:schemeClr val="dk1"/>
                  </a:solidFill>
                  <a:latin typeface="+mn-lt"/>
                  <a:ea typeface="+mn-ea"/>
                  <a:cs typeface="+mn-cs"/>
                </a:rPr>
                <a:t> → luật nghiệp vụ đặt trong Project</a:t>
              </a:r>
            </a:p>
          </p:txBody>
        </p:sp>
      </p:grpSp>
      <p:sp>
        <p:nvSpPr>
          <p:cNvPr id="74" name="TextBox 7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5" name="TextBox 7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81922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điều đúng cho mọi việc mới vào Instructions,</a:t>
            </a:r>
            <a:br/>
            <a:r>
              <a:rPr lang="vi-VN" sz="3150" b="1" dirty="0">
                <a:solidFill>
                  <a:schemeClr val="accent1"/>
                </a:solidFill>
                <a:latin typeface="+mn-lt"/>
                <a:ea typeface="+mn-ea"/>
                <a:cs typeface="+mn-cs"/>
              </a:rPr>
              <a:t>phần còn lại thuộc tầng khác</a:t>
            </a:r>
          </a:p>
        </p:txBody>
      </p:sp>
      <p:grpSp>
        <p:nvGrpSpPr>
          <p:cNvPr id="21" name="Group 21"/>
          <p:cNvGrpSpPr/>
          <p:nvPr/>
        </p:nvGrpSpPr>
        <p:grpSpPr>
          <a:xfrm>
            <a:off x="381000" y="2137410"/>
            <a:ext cx="8001000" cy="253365"/>
            <a:chOff x="381000" y="2137410"/>
            <a:chExt cx="8001000" cy="253365"/>
          </a:xfrm>
        </p:grpSpPr>
        <p:sp>
          <p:nvSpPr>
            <p:cNvPr id="17" name="TextBox 17"/>
            <p:cNvSpPr txBox="1"/>
            <p:nvPr/>
          </p:nvSpPr>
          <p:spPr>
            <a:xfrm>
              <a:off x="527304" y="2137410"/>
              <a:ext cx="89507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THÔNG TIN</a:t>
              </a:r>
            </a:p>
          </p:txBody>
        </p:sp>
        <p:sp>
          <p:nvSpPr>
            <p:cNvPr id="18" name="TextBox 18"/>
            <p:cNvSpPr txBox="1"/>
            <p:nvPr/>
          </p:nvSpPr>
          <p:spPr>
            <a:xfrm>
              <a:off x="4261104" y="2137410"/>
              <a:ext cx="5029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Ở</a:t>
              </a:r>
            </a:p>
          </p:txBody>
        </p:sp>
        <p:sp>
          <p:nvSpPr>
            <p:cNvPr id="19" name="TextBox 19"/>
            <p:cNvSpPr txBox="1"/>
            <p:nvPr/>
          </p:nvSpPr>
          <p:spPr>
            <a:xfrm>
              <a:off x="6089904" y="2137410"/>
              <a:ext cx="64800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VÌ SAO</a:t>
              </a:r>
            </a:p>
          </p:txBody>
        </p:sp>
        <p:sp>
          <p:nvSpPr>
            <p:cNvPr id="20" name="Line 20"/>
            <p:cNvSpPr/>
            <p:nvPr/>
          </p:nvSpPr>
          <p:spPr>
            <a:xfrm>
              <a:off x="381000" y="2381250"/>
              <a:ext cx="8001000" cy="9525"/>
            </a:xfrm>
            <a:custGeom>
              <a:avLst/>
              <a:gdLst/>
              <a:ahLst/>
              <a:cxnLst/>
              <a:rect l="l" t="t" r="r" b="b"/>
              <a:pathLst>
                <a:path w="8001000" h="9525">
                  <a:moveTo>
                    <a:pt x="0" y="0"/>
                  </a:moveTo>
                  <a:lnTo>
                    <a:pt x="8001000" y="0"/>
                  </a:lnTo>
                </a:path>
              </a:pathLst>
            </a:custGeom>
            <a:noFill/>
            <a:ln w="14288">
              <a:solidFill>
                <a:schemeClr val="accent1"/>
              </a:solidFill>
            </a:ln>
          </p:spPr>
        </p:sp>
      </p:grpSp>
      <p:grpSp>
        <p:nvGrpSpPr>
          <p:cNvPr id="27" name="Group 27"/>
          <p:cNvGrpSpPr/>
          <p:nvPr/>
        </p:nvGrpSpPr>
        <p:grpSpPr>
          <a:xfrm>
            <a:off x="381000" y="2488882"/>
            <a:ext cx="8001000" cy="579882"/>
            <a:chOff x="381000" y="2488882"/>
            <a:chExt cx="8001000" cy="579882"/>
          </a:xfrm>
        </p:grpSpPr>
        <p:sp>
          <p:nvSpPr>
            <p:cNvPr id="22" name="TextBox 22"/>
            <p:cNvSpPr txBox="1"/>
            <p:nvPr/>
          </p:nvSpPr>
          <p:spPr>
            <a:xfrm>
              <a:off x="525018" y="2488882"/>
              <a:ext cx="36943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“Tôi là nhân viên Sale của Wir Group,</a:t>
              </a:r>
              <a:br/>
              <a:r>
                <a:rPr lang="vi-VN" sz="1650" dirty="0">
                  <a:solidFill>
                    <a:schemeClr val="dk1"/>
                  </a:solidFill>
                  <a:latin typeface="+mn-lt"/>
                  <a:ea typeface="+mn-ea"/>
                  <a:cs typeface="+mn-cs"/>
                </a:rPr>
                <a:t>phụ trách khách sỉ”</a:t>
              </a:r>
            </a:p>
          </p:txBody>
        </p:sp>
        <p:sp>
          <p:nvSpPr>
            <p:cNvPr id="23" name="Rectangle 23"/>
            <p:cNvSpPr/>
            <p:nvPr/>
          </p:nvSpPr>
          <p:spPr>
            <a:xfrm>
              <a:off x="4267200" y="2543175"/>
              <a:ext cx="1676400" cy="323850"/>
            </a:xfrm>
            <a:prstGeom prst="roundRect">
              <a:avLst>
                <a:gd name="adj" fmla="val 50000"/>
              </a:avLst>
            </a:prstGeom>
            <a:solidFill>
              <a:schemeClr val="accent5"/>
            </a:solidFill>
            <a:ln>
              <a:noFill/>
            </a:ln>
          </p:spPr>
        </p:sp>
        <p:sp>
          <p:nvSpPr>
            <p:cNvPr id="24" name="TextBox 24"/>
            <p:cNvSpPr txBox="1"/>
            <p:nvPr/>
          </p:nvSpPr>
          <p:spPr>
            <a:xfrm>
              <a:off x="4448049" y="26098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5" name="TextBox 25"/>
            <p:cNvSpPr txBox="1"/>
            <p:nvPr/>
          </p:nvSpPr>
          <p:spPr>
            <a:xfrm>
              <a:off x="6087618" y="2603182"/>
              <a:ext cx="186038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đúng cho mọi việc</a:t>
              </a:r>
            </a:p>
          </p:txBody>
        </p:sp>
        <p:sp>
          <p:nvSpPr>
            <p:cNvPr id="26" name="Line 26"/>
            <p:cNvSpPr/>
            <p:nvPr/>
          </p:nvSpPr>
          <p:spPr>
            <a:xfrm>
              <a:off x="381000" y="30289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33" name="Group 33"/>
          <p:cNvGrpSpPr/>
          <p:nvPr/>
        </p:nvGrpSpPr>
        <p:grpSpPr>
          <a:xfrm>
            <a:off x="381000" y="3117532"/>
            <a:ext cx="8001000" cy="579882"/>
            <a:chOff x="381000" y="3117532"/>
            <a:chExt cx="8001000" cy="579882"/>
          </a:xfrm>
        </p:grpSpPr>
        <p:sp>
          <p:nvSpPr>
            <p:cNvPr id="28" name="TextBox 28"/>
            <p:cNvSpPr txBox="1"/>
            <p:nvPr/>
          </p:nvSpPr>
          <p:spPr>
            <a:xfrm>
              <a:off x="525018" y="3117532"/>
              <a:ext cx="32752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“TPCN không dùng từ ‘điều trị’;</a:t>
              </a:r>
              <a:br/>
              <a:r>
                <a:rPr lang="vi-VN" sz="1650" dirty="0">
                  <a:solidFill>
                    <a:schemeClr val="dk1"/>
                  </a:solidFill>
                  <a:latin typeface="+mn-lt"/>
                  <a:ea typeface="+mn-ea"/>
                  <a:cs typeface="+mn-cs"/>
                </a:rPr>
                <a:t>không bịa số”</a:t>
              </a:r>
            </a:p>
          </p:txBody>
        </p:sp>
        <p:sp>
          <p:nvSpPr>
            <p:cNvPr id="29" name="Rectangle 29"/>
            <p:cNvSpPr/>
            <p:nvPr/>
          </p:nvSpPr>
          <p:spPr>
            <a:xfrm>
              <a:off x="4267200" y="3171825"/>
              <a:ext cx="1676400" cy="323850"/>
            </a:xfrm>
            <a:prstGeom prst="roundRect">
              <a:avLst>
                <a:gd name="adj" fmla="val 50000"/>
              </a:avLst>
            </a:prstGeom>
            <a:solidFill>
              <a:schemeClr val="accent5"/>
            </a:solidFill>
            <a:ln>
              <a:noFill/>
            </a:ln>
          </p:spPr>
        </p:sp>
        <p:sp>
          <p:nvSpPr>
            <p:cNvPr id="30" name="TextBox 30"/>
            <p:cNvSpPr txBox="1"/>
            <p:nvPr/>
          </p:nvSpPr>
          <p:spPr>
            <a:xfrm>
              <a:off x="4448049" y="323850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31" name="TextBox 31"/>
            <p:cNvSpPr txBox="1"/>
            <p:nvPr/>
          </p:nvSpPr>
          <p:spPr>
            <a:xfrm>
              <a:off x="6087618" y="3231832"/>
              <a:ext cx="22379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luật chung của phòng</a:t>
              </a:r>
            </a:p>
          </p:txBody>
        </p:sp>
        <p:sp>
          <p:nvSpPr>
            <p:cNvPr id="32" name="Line 32"/>
            <p:cNvSpPr/>
            <p:nvPr/>
          </p:nvSpPr>
          <p:spPr>
            <a:xfrm>
              <a:off x="381000" y="365760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39" name="Group 39"/>
          <p:cNvGrpSpPr/>
          <p:nvPr/>
        </p:nvGrpSpPr>
        <p:grpSpPr>
          <a:xfrm>
            <a:off x="381000" y="3800475"/>
            <a:ext cx="8001000" cy="495300"/>
            <a:chOff x="381000" y="3800475"/>
            <a:chExt cx="8001000" cy="495300"/>
          </a:xfrm>
        </p:grpSpPr>
        <p:sp>
          <p:nvSpPr>
            <p:cNvPr id="34" name="TextBox 34"/>
            <p:cNvSpPr txBox="1"/>
            <p:nvPr/>
          </p:nvSpPr>
          <p:spPr>
            <a:xfrm>
              <a:off x="525018" y="3860482"/>
              <a:ext cx="374542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Các bước viết lịch nội dung 14 ngày</a:t>
              </a:r>
            </a:p>
          </p:txBody>
        </p:sp>
        <p:sp>
          <p:nvSpPr>
            <p:cNvPr id="35" name="Rectangle 35"/>
            <p:cNvSpPr/>
            <p:nvPr/>
          </p:nvSpPr>
          <p:spPr>
            <a:xfrm>
              <a:off x="4267200" y="3800475"/>
              <a:ext cx="1676400" cy="323850"/>
            </a:xfrm>
            <a:prstGeom prst="roundRect">
              <a:avLst>
                <a:gd name="adj" fmla="val 50000"/>
              </a:avLst>
            </a:prstGeom>
            <a:solidFill>
              <a:srgbClr val="2E5E91"/>
            </a:solidFill>
            <a:ln>
              <a:noFill/>
            </a:ln>
          </p:spPr>
        </p:sp>
        <p:sp>
          <p:nvSpPr>
            <p:cNvPr id="36" name="TextBox 36"/>
            <p:cNvSpPr txBox="1"/>
            <p:nvPr/>
          </p:nvSpPr>
          <p:spPr>
            <a:xfrm>
              <a:off x="4436364" y="3867150"/>
              <a:ext cx="133807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 · tầng 3</a:t>
              </a:r>
            </a:p>
          </p:txBody>
        </p:sp>
        <p:sp>
          <p:nvSpPr>
            <p:cNvPr id="37" name="TextBox 37"/>
            <p:cNvSpPr txBox="1"/>
            <p:nvPr/>
          </p:nvSpPr>
          <p:spPr>
            <a:xfrm>
              <a:off x="6087618" y="3860482"/>
              <a:ext cx="20602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đúng cho 1 việc</a:t>
              </a:r>
            </a:p>
          </p:txBody>
        </p:sp>
        <p:sp>
          <p:nvSpPr>
            <p:cNvPr id="38" name="Line 38"/>
            <p:cNvSpPr/>
            <p:nvPr/>
          </p:nvSpPr>
          <p:spPr>
            <a:xfrm>
              <a:off x="381000" y="42862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45" name="Group 45"/>
          <p:cNvGrpSpPr/>
          <p:nvPr/>
        </p:nvGrpSpPr>
        <p:grpSpPr>
          <a:xfrm>
            <a:off x="381000" y="4429125"/>
            <a:ext cx="8001000" cy="495300"/>
            <a:chOff x="381000" y="4429125"/>
            <a:chExt cx="8001000" cy="495300"/>
          </a:xfrm>
        </p:grpSpPr>
        <p:sp>
          <p:nvSpPr>
            <p:cNvPr id="40" name="TextBox 40"/>
            <p:cNvSpPr txBox="1"/>
            <p:nvPr/>
          </p:nvSpPr>
          <p:spPr>
            <a:xfrm>
              <a:off x="525018" y="4489132"/>
              <a:ext cx="28119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Số liệu đơn hàng tháng này</a:t>
              </a:r>
            </a:p>
          </p:txBody>
        </p:sp>
        <p:sp>
          <p:nvSpPr>
            <p:cNvPr id="41" name="Rectangle 41"/>
            <p:cNvSpPr/>
            <p:nvPr/>
          </p:nvSpPr>
          <p:spPr>
            <a:xfrm>
              <a:off x="4267200" y="4429125"/>
              <a:ext cx="1676400" cy="323850"/>
            </a:xfrm>
            <a:prstGeom prst="roundRect">
              <a:avLst>
                <a:gd name="adj" fmla="val 50000"/>
              </a:avLst>
            </a:prstGeom>
            <a:solidFill>
              <a:schemeClr val="accent3"/>
            </a:solidFill>
            <a:ln>
              <a:noFill/>
            </a:ln>
          </p:spPr>
        </p:sp>
        <p:sp>
          <p:nvSpPr>
            <p:cNvPr id="42" name="TextBox 42"/>
            <p:cNvSpPr txBox="1"/>
            <p:nvPr/>
          </p:nvSpPr>
          <p:spPr>
            <a:xfrm>
              <a:off x="4276857" y="4495800"/>
              <a:ext cx="16570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 · tầng 2</a:t>
              </a:r>
            </a:p>
          </p:txBody>
        </p:sp>
        <p:sp>
          <p:nvSpPr>
            <p:cNvPr id="43" name="TextBox 43"/>
            <p:cNvSpPr txBox="1"/>
            <p:nvPr/>
          </p:nvSpPr>
          <p:spPr>
            <a:xfrm>
              <a:off x="6087618" y="4489132"/>
              <a:ext cx="150498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dùng 1 lần</a:t>
              </a:r>
            </a:p>
          </p:txBody>
        </p:sp>
        <p:sp>
          <p:nvSpPr>
            <p:cNvPr id="44" name="Line 44"/>
            <p:cNvSpPr/>
            <p:nvPr/>
          </p:nvSpPr>
          <p:spPr>
            <a:xfrm>
              <a:off x="381000" y="491490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51" name="Group 51"/>
          <p:cNvGrpSpPr/>
          <p:nvPr/>
        </p:nvGrpSpPr>
        <p:grpSpPr>
          <a:xfrm>
            <a:off x="381000" y="5003482"/>
            <a:ext cx="8001000" cy="579882"/>
            <a:chOff x="381000" y="5003482"/>
            <a:chExt cx="8001000" cy="579882"/>
          </a:xfrm>
        </p:grpSpPr>
        <p:sp>
          <p:nvSpPr>
            <p:cNvPr id="46" name="TextBox 46"/>
            <p:cNvSpPr txBox="1"/>
            <p:nvPr/>
          </p:nvSpPr>
          <p:spPr>
            <a:xfrm>
              <a:off x="525018" y="5117782"/>
              <a:ext cx="25752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Hộp thư, file trên Drive</a:t>
              </a:r>
            </a:p>
          </p:txBody>
        </p:sp>
        <p:sp>
          <p:nvSpPr>
            <p:cNvPr id="47" name="Rectangle 47"/>
            <p:cNvSpPr/>
            <p:nvPr/>
          </p:nvSpPr>
          <p:spPr>
            <a:xfrm>
              <a:off x="4267200" y="5057775"/>
              <a:ext cx="1676400" cy="323850"/>
            </a:xfrm>
            <a:prstGeom prst="roundRect">
              <a:avLst>
                <a:gd name="adj" fmla="val 50000"/>
              </a:avLst>
            </a:prstGeom>
            <a:solidFill>
              <a:schemeClr val="accent1"/>
            </a:solidFill>
            <a:ln>
              <a:noFill/>
            </a:ln>
          </p:spPr>
        </p:sp>
        <p:sp>
          <p:nvSpPr>
            <p:cNvPr id="48" name="TextBox 48"/>
            <p:cNvSpPr txBox="1"/>
            <p:nvPr/>
          </p:nvSpPr>
          <p:spPr>
            <a:xfrm>
              <a:off x="4351487" y="5124450"/>
              <a:ext cx="1507827"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Plugin · tầng 4</a:t>
              </a:r>
            </a:p>
          </p:txBody>
        </p:sp>
        <p:sp>
          <p:nvSpPr>
            <p:cNvPr id="49" name="TextBox 49"/>
            <p:cNvSpPr txBox="1"/>
            <p:nvPr/>
          </p:nvSpPr>
          <p:spPr>
            <a:xfrm>
              <a:off x="6087618" y="5003482"/>
              <a:ext cx="1703642"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dữ liệu nằm ngoài</a:t>
              </a:r>
              <a:br/>
              <a:r>
                <a:rPr lang="vi-VN" sz="1650" dirty="0">
                  <a:solidFill>
                    <a:schemeClr val="dk1"/>
                  </a:solidFill>
                  <a:latin typeface="+mn-lt"/>
                  <a:ea typeface="+mn-ea"/>
                  <a:cs typeface="+mn-cs"/>
                </a:rPr>
                <a:t>ChatGPT</a:t>
              </a:r>
            </a:p>
          </p:txBody>
        </p:sp>
        <p:sp>
          <p:nvSpPr>
            <p:cNvPr id="50" name="Line 50"/>
            <p:cNvSpPr/>
            <p:nvPr/>
          </p:nvSpPr>
          <p:spPr>
            <a:xfrm>
              <a:off x="381000" y="55435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56" name="Group 56"/>
          <p:cNvGrpSpPr/>
          <p:nvPr/>
        </p:nvGrpSpPr>
        <p:grpSpPr>
          <a:xfrm>
            <a:off x="525018" y="5632132"/>
            <a:ext cx="7088124" cy="579882"/>
            <a:chOff x="525018" y="5632132"/>
            <a:chExt cx="7088124" cy="579882"/>
          </a:xfrm>
        </p:grpSpPr>
        <p:sp>
          <p:nvSpPr>
            <p:cNvPr id="52" name="TextBox 52"/>
            <p:cNvSpPr txBox="1"/>
            <p:nvPr/>
          </p:nvSpPr>
          <p:spPr>
            <a:xfrm>
              <a:off x="525018" y="5746432"/>
              <a:ext cx="323470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“Tôi thích bảng hơn đoạn văn”</a:t>
              </a:r>
            </a:p>
          </p:txBody>
        </p:sp>
        <p:sp>
          <p:nvSpPr>
            <p:cNvPr id="53" name="Rectangle 53"/>
            <p:cNvSpPr/>
            <p:nvPr/>
          </p:nvSpPr>
          <p:spPr>
            <a:xfrm>
              <a:off x="4267200" y="5686425"/>
              <a:ext cx="1676400" cy="323850"/>
            </a:xfrm>
            <a:prstGeom prst="roundRect">
              <a:avLst>
                <a:gd name="adj" fmla="val 50000"/>
              </a:avLst>
            </a:prstGeom>
            <a:solidFill>
              <a:srgbClr val="5B6675"/>
            </a:solidFill>
            <a:ln>
              <a:noFill/>
            </a:ln>
          </p:spPr>
        </p:sp>
        <p:sp>
          <p:nvSpPr>
            <p:cNvPr id="54" name="TextBox 54"/>
            <p:cNvSpPr txBox="1"/>
            <p:nvPr/>
          </p:nvSpPr>
          <p:spPr>
            <a:xfrm>
              <a:off x="4701831" y="5753100"/>
              <a:ext cx="80713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Memory</a:t>
              </a:r>
            </a:p>
          </p:txBody>
        </p:sp>
        <p:sp>
          <p:nvSpPr>
            <p:cNvPr id="55" name="TextBox 55"/>
            <p:cNvSpPr txBox="1"/>
            <p:nvPr/>
          </p:nvSpPr>
          <p:spPr>
            <a:xfrm>
              <a:off x="6087618" y="5632132"/>
              <a:ext cx="1525524"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thói quen nhỏ,</a:t>
              </a:r>
              <a:br/>
              <a:r>
                <a:rPr lang="vi-VN" sz="1650" dirty="0">
                  <a:solidFill>
                    <a:schemeClr val="dk1"/>
                  </a:solidFill>
                  <a:latin typeface="+mn-lt"/>
                  <a:ea typeface="+mn-ea"/>
                  <a:cs typeface="+mn-cs"/>
                </a:rPr>
                <a:t>ChatGPT tự nhớ</a:t>
              </a:r>
            </a:p>
          </p:txBody>
        </p:sp>
      </p:grpSp>
      <p:grpSp>
        <p:nvGrpSpPr>
          <p:cNvPr id="60" name="Group 60"/>
          <p:cNvGrpSpPr/>
          <p:nvPr/>
        </p:nvGrpSpPr>
        <p:grpSpPr>
          <a:xfrm>
            <a:off x="8610600" y="2400300"/>
            <a:ext cx="3007614" cy="1905000"/>
            <a:chOff x="8610600" y="2400300"/>
            <a:chExt cx="3007614" cy="1905000"/>
          </a:xfrm>
        </p:grpSpPr>
        <p:sp>
          <p:nvSpPr>
            <p:cNvPr id="57" name="Rectangle 57"/>
            <p:cNvSpPr/>
            <p:nvPr/>
          </p:nvSpPr>
          <p:spPr>
            <a:xfrm>
              <a:off x="8610600" y="2400300"/>
              <a:ext cx="47625" cy="1905000"/>
            </a:xfrm>
            <a:prstGeom prst="roundRect">
              <a:avLst>
                <a:gd name="adj" fmla="val 40000"/>
              </a:avLst>
            </a:prstGeom>
            <a:solidFill>
              <a:schemeClr val="accent5"/>
            </a:solidFill>
            <a:ln>
              <a:noFill/>
            </a:ln>
          </p:spPr>
        </p:sp>
        <p:sp>
          <p:nvSpPr>
            <p:cNvPr id="58" name="TextBox 58"/>
            <p:cNvSpPr txBox="1"/>
            <p:nvPr/>
          </p:nvSpPr>
          <p:spPr>
            <a:xfrm>
              <a:off x="8868156" y="2567940"/>
              <a:ext cx="2750058" cy="1323594"/>
            </a:xfrm>
            <a:prstGeom prst="rect">
              <a:avLst/>
            </a:prstGeom>
            <a:noFill/>
            <a:ln>
              <a:noFill/>
            </a:ln>
          </p:spPr>
          <p:txBody>
            <a:bodyPr wrap="none" lIns="0" tIns="0" rIns="0" bIns="0" anchor="t" anchorCtr="0">
              <a:spAutoFit/>
            </a:bodyPr>
            <a:lstStyle/>
            <a:p>
              <a:pPr algn="l">
                <a:lnSpc>
                  <a:spcPts val="2550"/>
                </a:lnSpc>
              </a:pPr>
              <a:r>
                <a:rPr lang="vi-VN" sz="1800" i="1" dirty="0">
                  <a:solidFill>
                    <a:schemeClr val="accent1"/>
                  </a:solidFill>
                  <a:latin typeface="+mn-lt"/>
                  <a:ea typeface="+mn-ea"/>
                  <a:cs typeface="+mn-cs"/>
                </a:rPr>
                <a:t>“Instructions giống bảng</a:t>
              </a:r>
              <a:br/>
              <a:r>
                <a:rPr lang="vi-VN" sz="1800" i="1" dirty="0">
                  <a:solidFill>
                    <a:schemeClr val="accent1"/>
                  </a:solidFill>
                  <a:latin typeface="+mn-lt"/>
                  <a:ea typeface="+mn-ea"/>
                  <a:cs typeface="+mn-cs"/>
                </a:rPr>
                <a:t>nội quy dán ở cửa phòng:</a:t>
              </a:r>
              <a:br/>
              <a:r>
                <a:rPr lang="vi-VN" sz="1800" i="1" dirty="0">
                  <a:solidFill>
                    <a:schemeClr val="accent1"/>
                  </a:solidFill>
                  <a:latin typeface="+mn-lt"/>
                  <a:ea typeface="+mn-ea"/>
                  <a:cs typeface="+mn-cs"/>
                </a:rPr>
                <a:t>chỉ ghi điều đúng</a:t>
              </a:r>
              <a:br/>
              <a:r>
                <a:rPr lang="vi-VN" sz="1800" i="1" dirty="0">
                  <a:solidFill>
                    <a:schemeClr val="accent1"/>
                  </a:solidFill>
                  <a:latin typeface="+mn-lt"/>
                  <a:ea typeface="+mn-ea"/>
                  <a:cs typeface="+mn-cs"/>
                </a:rPr>
                <a:t>cho mọi việc.”</a:t>
              </a:r>
            </a:p>
          </p:txBody>
        </p:sp>
      </p:grpSp>
      <p:sp>
        <p:nvSpPr>
          <p:cNvPr id="61" name="TextBox 61"/>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2" name="TextBox 6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4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5"/>
                                        </p:tgtEl>
                                        <p:attrNameLst>
                                          <p:attrName>style.visibility</p:attrName>
                                        </p:attrNameLst>
                                      </p:cBhvr>
                                      <p:to>
                                        <p:strVal val="visible"/>
                                      </p:to>
                                    </p:set>
                                    <p:animEffect transition="in" filter="fade">
                                      <p:cBhvr>
                                        <p:cTn id="22" dur="400"/>
                                        <p:tgtEl>
                                          <p:spTgt spid="4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fade">
                                      <p:cBhvr>
                                        <p:cTn id="27" dur="400"/>
                                        <p:tgtEl>
                                          <p:spTgt spid="5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fade">
                                      <p:cBhvr>
                                        <p:cTn id="3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25690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Tả giọng văn bằng hành vi đếm được,</a:t>
            </a:r>
            <a:br/>
            <a:r>
              <a:rPr lang="vi-VN" sz="3150" b="1" dirty="0">
                <a:solidFill>
                  <a:schemeClr val="accent1"/>
                </a:solidFill>
                <a:latin typeface="+mn-lt"/>
                <a:ea typeface="+mn-ea"/>
                <a:cs typeface="+mn-cs"/>
              </a:rPr>
              <a:t>không bằng tính từ</a:t>
            </a:r>
          </a:p>
        </p:txBody>
      </p:sp>
      <p:grpSp>
        <p:nvGrpSpPr>
          <p:cNvPr id="25" name="Group 25"/>
          <p:cNvGrpSpPr/>
          <p:nvPr/>
        </p:nvGrpSpPr>
        <p:grpSpPr>
          <a:xfrm>
            <a:off x="381000" y="2114550"/>
            <a:ext cx="11430000" cy="781050"/>
            <a:chOff x="381000" y="2114550"/>
            <a:chExt cx="11430000" cy="781050"/>
          </a:xfrm>
        </p:grpSpPr>
        <p:sp>
          <p:nvSpPr>
            <p:cNvPr id="17" name="Rectangle 17"/>
            <p:cNvSpPr/>
            <p:nvPr/>
          </p:nvSpPr>
          <p:spPr>
            <a:xfrm>
              <a:off x="381000" y="2114550"/>
              <a:ext cx="3048000" cy="781050"/>
            </a:xfrm>
            <a:prstGeom prst="roundRect">
              <a:avLst>
                <a:gd name="adj" fmla="val 17073"/>
              </a:avLst>
            </a:prstGeom>
            <a:solidFill>
              <a:schemeClr val="lt2"/>
            </a:solidFill>
            <a:ln>
              <a:noFill/>
            </a:ln>
          </p:spPr>
        </p:sp>
        <p:grpSp>
          <p:nvGrpSpPr>
            <p:cNvPr id="20" name="Group 20"/>
            <p:cNvGrpSpPr/>
            <p:nvPr/>
          </p:nvGrpSpPr>
          <p:grpSpPr>
            <a:xfrm>
              <a:off x="581025" y="2419350"/>
              <a:ext cx="171450" cy="171450"/>
              <a:chOff x="581025" y="2419350"/>
              <a:chExt cx="171450" cy="171450"/>
            </a:xfrm>
          </p:grpSpPr>
          <p:sp>
            <p:nvSpPr>
              <p:cNvPr id="18" name="Freeform 18"/>
              <p:cNvSpPr/>
              <p:nvPr/>
            </p:nvSpPr>
            <p:spPr>
              <a:xfrm>
                <a:off x="581025" y="241935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19" name="Freeform 19"/>
              <p:cNvSpPr/>
              <p:nvPr/>
            </p:nvSpPr>
            <p:spPr>
              <a:xfrm>
                <a:off x="647700" y="248602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21" name="TextBox 21"/>
            <p:cNvSpPr txBox="1"/>
            <p:nvPr/>
          </p:nvSpPr>
          <p:spPr>
            <a:xfrm>
              <a:off x="886206" y="2386965"/>
              <a:ext cx="218253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Viết chuyên nghiệp</a:t>
              </a:r>
            </a:p>
          </p:txBody>
        </p:sp>
        <p:sp>
          <p:nvSpPr>
            <p:cNvPr id="22" name="Line 22"/>
            <p:cNvSpPr/>
            <p:nvPr/>
          </p:nvSpPr>
          <p:spPr>
            <a:xfrm>
              <a:off x="3524250" y="2505075"/>
              <a:ext cx="361950" cy="1"/>
            </a:xfrm>
            <a:prstGeom prst="line">
              <a:avLst/>
            </a:prstGeom>
            <a:noFill/>
            <a:ln w="19050">
              <a:solidFill>
                <a:srgbClr val="5B6675"/>
              </a:solidFill>
              <a:tailEnd type="triangle" w="lg" len="lg"/>
            </a:ln>
          </p:spPr>
        </p:sp>
        <p:sp>
          <p:nvSpPr>
            <p:cNvPr id="23" name="Rectangle 23"/>
            <p:cNvSpPr/>
            <p:nvPr/>
          </p:nvSpPr>
          <p:spPr>
            <a:xfrm>
              <a:off x="4000500" y="2114550"/>
              <a:ext cx="7810500" cy="781050"/>
            </a:xfrm>
            <a:prstGeom prst="roundRect">
              <a:avLst>
                <a:gd name="adj" fmla="val 17073"/>
              </a:avLst>
            </a:prstGeom>
            <a:solidFill>
              <a:schemeClr val="lt1"/>
            </a:solidFill>
            <a:ln w="14288">
              <a:solidFill>
                <a:schemeClr val="accent5"/>
              </a:solidFill>
            </a:ln>
          </p:spPr>
        </p:sp>
        <p:sp>
          <p:nvSpPr>
            <p:cNvPr id="24" name="TextBox 24"/>
            <p:cNvSpPr txBox="1"/>
            <p:nvPr/>
          </p:nvSpPr>
          <p:spPr>
            <a:xfrm>
              <a:off x="4220718" y="2260282"/>
              <a:ext cx="478402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Câu dưới 20 chữ. Không emoji.</a:t>
              </a:r>
              <a:br/>
              <a:r>
                <a:rPr lang="vi-VN" sz="1650" dirty="0">
                  <a:solidFill>
                    <a:schemeClr val="dk1"/>
                  </a:solidFill>
                  <a:latin typeface="+mn-lt"/>
                  <a:ea typeface="+mn-ea"/>
                  <a:cs typeface="+mn-cs"/>
                </a:rPr>
                <a:t>Xưng “Wir Group”, gọi đối tác là “Quý đối tác”.</a:t>
              </a:r>
            </a:p>
          </p:txBody>
        </p:sp>
      </p:grpSp>
      <p:grpSp>
        <p:nvGrpSpPr>
          <p:cNvPr id="34" name="Group 34"/>
          <p:cNvGrpSpPr/>
          <p:nvPr/>
        </p:nvGrpSpPr>
        <p:grpSpPr>
          <a:xfrm>
            <a:off x="381000" y="3009900"/>
            <a:ext cx="11430000" cy="781050"/>
            <a:chOff x="381000" y="3009900"/>
            <a:chExt cx="11430000" cy="781050"/>
          </a:xfrm>
        </p:grpSpPr>
        <p:sp>
          <p:nvSpPr>
            <p:cNvPr id="26" name="Rectangle 26"/>
            <p:cNvSpPr/>
            <p:nvPr/>
          </p:nvSpPr>
          <p:spPr>
            <a:xfrm>
              <a:off x="381000" y="3009900"/>
              <a:ext cx="3048000" cy="781050"/>
            </a:xfrm>
            <a:prstGeom prst="roundRect">
              <a:avLst>
                <a:gd name="adj" fmla="val 17073"/>
              </a:avLst>
            </a:prstGeom>
            <a:solidFill>
              <a:schemeClr val="lt2"/>
            </a:solidFill>
            <a:ln>
              <a:noFill/>
            </a:ln>
          </p:spPr>
        </p:sp>
        <p:grpSp>
          <p:nvGrpSpPr>
            <p:cNvPr id="29" name="Group 29"/>
            <p:cNvGrpSpPr/>
            <p:nvPr/>
          </p:nvGrpSpPr>
          <p:grpSpPr>
            <a:xfrm>
              <a:off x="581025" y="3314700"/>
              <a:ext cx="171450" cy="171450"/>
              <a:chOff x="581025" y="3314700"/>
              <a:chExt cx="171450" cy="171450"/>
            </a:xfrm>
          </p:grpSpPr>
          <p:sp>
            <p:nvSpPr>
              <p:cNvPr id="27" name="Freeform 27"/>
              <p:cNvSpPr/>
              <p:nvPr/>
            </p:nvSpPr>
            <p:spPr>
              <a:xfrm>
                <a:off x="581025" y="33147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28" name="Freeform 28"/>
              <p:cNvSpPr/>
              <p:nvPr/>
            </p:nvSpPr>
            <p:spPr>
              <a:xfrm>
                <a:off x="647700" y="338137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30" name="TextBox 30"/>
            <p:cNvSpPr txBox="1"/>
            <p:nvPr/>
          </p:nvSpPr>
          <p:spPr>
            <a:xfrm>
              <a:off x="886206" y="3282315"/>
              <a:ext cx="2256008"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Thân thiện, gần gũi</a:t>
              </a:r>
            </a:p>
          </p:txBody>
        </p:sp>
        <p:sp>
          <p:nvSpPr>
            <p:cNvPr id="31" name="Line 31"/>
            <p:cNvSpPr/>
            <p:nvPr/>
          </p:nvSpPr>
          <p:spPr>
            <a:xfrm>
              <a:off x="3524250" y="3400425"/>
              <a:ext cx="361950" cy="1"/>
            </a:xfrm>
            <a:prstGeom prst="line">
              <a:avLst/>
            </a:prstGeom>
            <a:noFill/>
            <a:ln w="19050">
              <a:solidFill>
                <a:srgbClr val="5B6675"/>
              </a:solidFill>
              <a:tailEnd type="triangle" w="lg" len="lg"/>
            </a:ln>
          </p:spPr>
        </p:sp>
        <p:sp>
          <p:nvSpPr>
            <p:cNvPr id="32" name="Rectangle 32"/>
            <p:cNvSpPr/>
            <p:nvPr/>
          </p:nvSpPr>
          <p:spPr>
            <a:xfrm>
              <a:off x="4000500" y="3009900"/>
              <a:ext cx="7810500" cy="781050"/>
            </a:xfrm>
            <a:prstGeom prst="roundRect">
              <a:avLst>
                <a:gd name="adj" fmla="val 17073"/>
              </a:avLst>
            </a:prstGeom>
            <a:solidFill>
              <a:schemeClr val="lt1"/>
            </a:solidFill>
            <a:ln w="14288">
              <a:solidFill>
                <a:schemeClr val="accent5"/>
              </a:solidFill>
            </a:ln>
          </p:spPr>
        </p:sp>
        <p:sp>
          <p:nvSpPr>
            <p:cNvPr id="33" name="TextBox 33"/>
            <p:cNvSpPr txBox="1"/>
            <p:nvPr/>
          </p:nvSpPr>
          <p:spPr>
            <a:xfrm>
              <a:off x="4220718" y="3155632"/>
              <a:ext cx="38934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Gọi khách là “anh/chị”, xưng “em”.</a:t>
              </a:r>
              <a:br/>
              <a:r>
                <a:rPr lang="vi-VN" sz="1650" dirty="0">
                  <a:solidFill>
                    <a:schemeClr val="dk1"/>
                  </a:solidFill>
                  <a:latin typeface="+mn-lt"/>
                  <a:ea typeface="+mn-ea"/>
                  <a:cs typeface="+mn-cs"/>
                </a:rPr>
                <a:t>Mở bài bằng một tình huống da cụ thể.</a:t>
              </a:r>
            </a:p>
          </p:txBody>
        </p:sp>
      </p:grpSp>
      <p:grpSp>
        <p:nvGrpSpPr>
          <p:cNvPr id="43" name="Group 43"/>
          <p:cNvGrpSpPr/>
          <p:nvPr/>
        </p:nvGrpSpPr>
        <p:grpSpPr>
          <a:xfrm>
            <a:off x="381000" y="3905250"/>
            <a:ext cx="11430000" cy="609600"/>
            <a:chOff x="381000" y="3905250"/>
            <a:chExt cx="11430000" cy="609600"/>
          </a:xfrm>
        </p:grpSpPr>
        <p:sp>
          <p:nvSpPr>
            <p:cNvPr id="35" name="Rectangle 35"/>
            <p:cNvSpPr/>
            <p:nvPr/>
          </p:nvSpPr>
          <p:spPr>
            <a:xfrm>
              <a:off x="381000" y="3905250"/>
              <a:ext cx="3048000" cy="609600"/>
            </a:xfrm>
            <a:prstGeom prst="roundRect">
              <a:avLst>
                <a:gd name="adj" fmla="val 21875"/>
              </a:avLst>
            </a:prstGeom>
            <a:solidFill>
              <a:schemeClr val="lt2"/>
            </a:solidFill>
            <a:ln>
              <a:noFill/>
            </a:ln>
          </p:spPr>
        </p:sp>
        <p:grpSp>
          <p:nvGrpSpPr>
            <p:cNvPr id="38" name="Group 38"/>
            <p:cNvGrpSpPr/>
            <p:nvPr/>
          </p:nvGrpSpPr>
          <p:grpSpPr>
            <a:xfrm>
              <a:off x="581025" y="4124325"/>
              <a:ext cx="171450" cy="171450"/>
              <a:chOff x="581025" y="4124325"/>
              <a:chExt cx="171450" cy="171450"/>
            </a:xfrm>
          </p:grpSpPr>
          <p:sp>
            <p:nvSpPr>
              <p:cNvPr id="36" name="Freeform 36"/>
              <p:cNvSpPr/>
              <p:nvPr/>
            </p:nvSpPr>
            <p:spPr>
              <a:xfrm>
                <a:off x="581025" y="41243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37" name="Freeform 37"/>
              <p:cNvSpPr/>
              <p:nvPr/>
            </p:nvSpPr>
            <p:spPr>
              <a:xfrm>
                <a:off x="647700" y="41910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39" name="TextBox 39"/>
            <p:cNvSpPr txBox="1"/>
            <p:nvPr/>
          </p:nvSpPr>
          <p:spPr>
            <a:xfrm>
              <a:off x="886206" y="4091940"/>
              <a:ext cx="1032031"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Ngắn gọn</a:t>
              </a:r>
            </a:p>
          </p:txBody>
        </p:sp>
        <p:sp>
          <p:nvSpPr>
            <p:cNvPr id="40" name="Line 40"/>
            <p:cNvSpPr/>
            <p:nvPr/>
          </p:nvSpPr>
          <p:spPr>
            <a:xfrm>
              <a:off x="3524250" y="4210050"/>
              <a:ext cx="361950" cy="1"/>
            </a:xfrm>
            <a:prstGeom prst="line">
              <a:avLst/>
            </a:prstGeom>
            <a:noFill/>
            <a:ln w="19050">
              <a:solidFill>
                <a:srgbClr val="5B6675"/>
              </a:solidFill>
              <a:tailEnd type="triangle" w="lg" len="lg"/>
            </a:ln>
          </p:spPr>
        </p:sp>
        <p:sp>
          <p:nvSpPr>
            <p:cNvPr id="41" name="Rectangle 41"/>
            <p:cNvSpPr/>
            <p:nvPr/>
          </p:nvSpPr>
          <p:spPr>
            <a:xfrm>
              <a:off x="4000500" y="3905250"/>
              <a:ext cx="7810500" cy="609600"/>
            </a:xfrm>
            <a:prstGeom prst="roundRect">
              <a:avLst>
                <a:gd name="adj" fmla="val 21875"/>
              </a:avLst>
            </a:prstGeom>
            <a:solidFill>
              <a:schemeClr val="lt1"/>
            </a:solidFill>
            <a:ln w="14288">
              <a:solidFill>
                <a:schemeClr val="accent5"/>
              </a:solidFill>
            </a:ln>
          </p:spPr>
        </p:sp>
        <p:sp>
          <p:nvSpPr>
            <p:cNvPr id="42" name="TextBox 42"/>
            <p:cNvSpPr txBox="1"/>
            <p:nvPr/>
          </p:nvSpPr>
          <p:spPr>
            <a:xfrm>
              <a:off x="4220718" y="4108132"/>
              <a:ext cx="493305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Tin nhắn dưới 150 chữ. Tối đa 5 gạch đầu dòng.</a:t>
              </a:r>
            </a:p>
          </p:txBody>
        </p:sp>
      </p:grpSp>
      <p:grpSp>
        <p:nvGrpSpPr>
          <p:cNvPr id="52" name="Group 52"/>
          <p:cNvGrpSpPr/>
          <p:nvPr/>
        </p:nvGrpSpPr>
        <p:grpSpPr>
          <a:xfrm>
            <a:off x="381000" y="4629150"/>
            <a:ext cx="11430000" cy="609600"/>
            <a:chOff x="381000" y="4629150"/>
            <a:chExt cx="11430000" cy="609600"/>
          </a:xfrm>
        </p:grpSpPr>
        <p:sp>
          <p:nvSpPr>
            <p:cNvPr id="44" name="Rectangle 44"/>
            <p:cNvSpPr/>
            <p:nvPr/>
          </p:nvSpPr>
          <p:spPr>
            <a:xfrm>
              <a:off x="381000" y="4629150"/>
              <a:ext cx="3048000" cy="609600"/>
            </a:xfrm>
            <a:prstGeom prst="roundRect">
              <a:avLst>
                <a:gd name="adj" fmla="val 21875"/>
              </a:avLst>
            </a:prstGeom>
            <a:solidFill>
              <a:schemeClr val="lt2"/>
            </a:solidFill>
            <a:ln>
              <a:noFill/>
            </a:ln>
          </p:spPr>
        </p:sp>
        <p:grpSp>
          <p:nvGrpSpPr>
            <p:cNvPr id="47" name="Group 47"/>
            <p:cNvGrpSpPr/>
            <p:nvPr/>
          </p:nvGrpSpPr>
          <p:grpSpPr>
            <a:xfrm>
              <a:off x="581025" y="4848225"/>
              <a:ext cx="171450" cy="171450"/>
              <a:chOff x="581025" y="4848225"/>
              <a:chExt cx="171450" cy="171450"/>
            </a:xfrm>
          </p:grpSpPr>
          <p:sp>
            <p:nvSpPr>
              <p:cNvPr id="45" name="Freeform 45"/>
              <p:cNvSpPr/>
              <p:nvPr/>
            </p:nvSpPr>
            <p:spPr>
              <a:xfrm>
                <a:off x="581025" y="48482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46" name="Freeform 46"/>
              <p:cNvSpPr/>
              <p:nvPr/>
            </p:nvSpPr>
            <p:spPr>
              <a:xfrm>
                <a:off x="647700" y="49149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48" name="TextBox 48"/>
            <p:cNvSpPr txBox="1"/>
            <p:nvPr/>
          </p:nvSpPr>
          <p:spPr>
            <a:xfrm>
              <a:off x="886206" y="4815840"/>
              <a:ext cx="185574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Cẩn thận số liệu</a:t>
              </a:r>
            </a:p>
          </p:txBody>
        </p:sp>
        <p:sp>
          <p:nvSpPr>
            <p:cNvPr id="49" name="Line 49"/>
            <p:cNvSpPr/>
            <p:nvPr/>
          </p:nvSpPr>
          <p:spPr>
            <a:xfrm>
              <a:off x="3524250" y="4933950"/>
              <a:ext cx="361950" cy="1"/>
            </a:xfrm>
            <a:prstGeom prst="line">
              <a:avLst/>
            </a:prstGeom>
            <a:noFill/>
            <a:ln w="19050">
              <a:solidFill>
                <a:srgbClr val="5B6675"/>
              </a:solidFill>
              <a:tailEnd type="triangle" w="lg" len="lg"/>
            </a:ln>
          </p:spPr>
        </p:sp>
        <p:sp>
          <p:nvSpPr>
            <p:cNvPr id="50" name="Rectangle 50"/>
            <p:cNvSpPr/>
            <p:nvPr/>
          </p:nvSpPr>
          <p:spPr>
            <a:xfrm>
              <a:off x="4000500" y="4629150"/>
              <a:ext cx="7810500" cy="609600"/>
            </a:xfrm>
            <a:prstGeom prst="roundRect">
              <a:avLst>
                <a:gd name="adj" fmla="val 21875"/>
              </a:avLst>
            </a:prstGeom>
            <a:solidFill>
              <a:schemeClr val="lt1"/>
            </a:solidFill>
            <a:ln w="14288">
              <a:solidFill>
                <a:schemeClr val="accent5"/>
              </a:solidFill>
            </a:ln>
          </p:spPr>
        </p:sp>
        <p:sp>
          <p:nvSpPr>
            <p:cNvPr id="51" name="TextBox 51"/>
            <p:cNvSpPr txBox="1"/>
            <p:nvPr/>
          </p:nvSpPr>
          <p:spPr>
            <a:xfrm>
              <a:off x="4220718" y="4832032"/>
              <a:ext cx="467468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Không tự bịa số. Thiếu thì ghi </a:t>
              </a:r>
              <a:r>
                <a:rPr lang="vi-VN" sz="1650" b="1" dirty="0">
                  <a:solidFill>
                    <a:schemeClr val="accent1"/>
                  </a:solidFill>
                  <a:latin typeface="Consolas"/>
                  <a:ea typeface="Consolas"/>
                  <a:cs typeface="Consolas"/>
                </a:rPr>
                <a:t>[CẦN ĐIỀN]</a:t>
              </a:r>
              <a:r>
                <a:rPr lang="vi-VN" sz="1650" dirty="0">
                  <a:solidFill>
                    <a:schemeClr val="dk1"/>
                  </a:solidFill>
                  <a:latin typeface="+mn-lt"/>
                  <a:ea typeface="+mn-ea"/>
                  <a:cs typeface="+mn-cs"/>
                </a:rPr>
                <a:t>.</a:t>
              </a:r>
            </a:p>
          </p:txBody>
        </p:sp>
      </p:grpSp>
      <p:grpSp>
        <p:nvGrpSpPr>
          <p:cNvPr id="58" name="Group 58"/>
          <p:cNvGrpSpPr/>
          <p:nvPr/>
        </p:nvGrpSpPr>
        <p:grpSpPr>
          <a:xfrm>
            <a:off x="381000" y="5448300"/>
            <a:ext cx="11430000" cy="742950"/>
            <a:chOff x="381000" y="5448300"/>
            <a:chExt cx="11430000" cy="742950"/>
          </a:xfrm>
        </p:grpSpPr>
        <p:sp>
          <p:nvSpPr>
            <p:cNvPr id="53" name="Rectangle 53"/>
            <p:cNvSpPr/>
            <p:nvPr/>
          </p:nvSpPr>
          <p:spPr>
            <a:xfrm>
              <a:off x="381000" y="5448300"/>
              <a:ext cx="11430000" cy="742950"/>
            </a:xfrm>
            <a:prstGeom prst="roundRect">
              <a:avLst>
                <a:gd name="adj" fmla="val 17949"/>
              </a:avLst>
            </a:prstGeom>
            <a:solidFill>
              <a:srgbClr val="FCEBDD"/>
            </a:solidFill>
            <a:ln>
              <a:noFill/>
            </a:ln>
          </p:spPr>
        </p:sp>
        <p:grpSp>
          <p:nvGrpSpPr>
            <p:cNvPr id="56" name="Group 56"/>
            <p:cNvGrpSpPr/>
            <p:nvPr/>
          </p:nvGrpSpPr>
          <p:grpSpPr>
            <a:xfrm>
              <a:off x="619125" y="5719931"/>
              <a:ext cx="190500" cy="199688"/>
              <a:chOff x="619125" y="5719931"/>
              <a:chExt cx="190500" cy="199688"/>
            </a:xfrm>
          </p:grpSpPr>
          <p:sp>
            <p:nvSpPr>
              <p:cNvPr id="54" name="Freeform 54"/>
              <p:cNvSpPr/>
              <p:nvPr/>
            </p:nvSpPr>
            <p:spPr>
              <a:xfrm>
                <a:off x="619125" y="5719931"/>
                <a:ext cx="190500" cy="87938"/>
              </a:xfrm>
              <a:custGeom>
                <a:avLst/>
                <a:gdLst/>
                <a:ahLst/>
                <a:cxnLst/>
                <a:rect l="l" t="t" r="r" b="b"/>
                <a:pathLst>
                  <a:path w="190500" h="87938">
                    <a:moveTo>
                      <a:pt x="190500" y="87938"/>
                    </a:moveTo>
                    <a:cubicBezTo>
                      <a:pt x="184514" y="44867"/>
                      <a:pt x="150446" y="11129"/>
                      <a:pt x="107319" y="5565"/>
                    </a:cubicBezTo>
                    <a:cubicBezTo>
                      <a:pt x="64192" y="0"/>
                      <a:pt x="22676" y="23985"/>
                      <a:pt x="5953" y="64125"/>
                    </a:cubicBezTo>
                    <a:moveTo>
                      <a:pt x="0" y="16500"/>
                    </a:moveTo>
                    <a:lnTo>
                      <a:pt x="0" y="64125"/>
                    </a:lnTo>
                    <a:lnTo>
                      <a:pt x="47625" y="64125"/>
                    </a:lnTo>
                  </a:path>
                </a:pathLst>
              </a:custGeom>
              <a:noFill/>
              <a:ln w="23812">
                <a:solidFill>
                  <a:schemeClr val="accent1"/>
                </a:solidFill>
              </a:ln>
            </p:spPr>
          </p:sp>
          <p:sp>
            <p:nvSpPr>
              <p:cNvPr id="55" name="Freeform 55"/>
              <p:cNvSpPr/>
              <p:nvPr/>
            </p:nvSpPr>
            <p:spPr>
              <a:xfrm>
                <a:off x="619125" y="5831681"/>
                <a:ext cx="190500" cy="87938"/>
              </a:xfrm>
              <a:custGeom>
                <a:avLst/>
                <a:gdLst/>
                <a:ahLst/>
                <a:cxnLst/>
                <a:rect l="l" t="t" r="r" b="b"/>
                <a:pathLst>
                  <a:path w="190500" h="87938">
                    <a:moveTo>
                      <a:pt x="0" y="0"/>
                    </a:moveTo>
                    <a:cubicBezTo>
                      <a:pt x="5986" y="43070"/>
                      <a:pt x="40054" y="76808"/>
                      <a:pt x="83181" y="82373"/>
                    </a:cubicBezTo>
                    <a:cubicBezTo>
                      <a:pt x="126308" y="87938"/>
                      <a:pt x="167824" y="63953"/>
                      <a:pt x="184547" y="23812"/>
                    </a:cubicBezTo>
                    <a:moveTo>
                      <a:pt x="190500" y="71438"/>
                    </a:moveTo>
                    <a:lnTo>
                      <a:pt x="190500" y="23812"/>
                    </a:lnTo>
                    <a:lnTo>
                      <a:pt x="142875" y="23812"/>
                    </a:lnTo>
                  </a:path>
                </a:pathLst>
              </a:custGeom>
              <a:noFill/>
              <a:ln w="23812">
                <a:solidFill>
                  <a:schemeClr val="accent1"/>
                </a:solidFill>
              </a:ln>
            </p:spPr>
          </p:sp>
        </p:grpSp>
        <p:sp>
          <p:nvSpPr>
            <p:cNvPr id="57" name="TextBox 57"/>
            <p:cNvSpPr txBox="1"/>
            <p:nvPr/>
          </p:nvSpPr>
          <p:spPr>
            <a:xfrm>
              <a:off x="982218" y="5565458"/>
              <a:ext cx="5458254" cy="608457"/>
            </a:xfrm>
            <a:prstGeom prst="rect">
              <a:avLst/>
            </a:prstGeom>
            <a:noFill/>
            <a:ln>
              <a:noFill/>
            </a:ln>
          </p:spPr>
          <p:txBody>
            <a:bodyPr wrap="none" lIns="0" tIns="0" rIns="0" bIns="0" anchor="t" anchorCtr="0">
              <a:spAutoFit/>
            </a:bodyPr>
            <a:lstStyle/>
            <a:p>
              <a:pPr algn="l">
                <a:lnSpc>
                  <a:spcPts val="2250"/>
                </a:lnSpc>
              </a:pPr>
              <a:r>
                <a:rPr lang="vi-VN" sz="1650" b="1" dirty="0">
                  <a:solidFill>
                    <a:schemeClr val="accent1"/>
                  </a:solidFill>
                  <a:latin typeface="+mn-lt"/>
                  <a:ea typeface="+mn-ea"/>
                  <a:cs typeface="+mn-cs"/>
                </a:rPr>
                <a:t>Phép thử đổi tên:</a:t>
              </a:r>
              <a:r>
                <a:rPr lang="vi-VN" sz="1650" dirty="0">
                  <a:solidFill>
                    <a:schemeClr val="dk1"/>
                  </a:solidFill>
                  <a:latin typeface="+mn-lt"/>
                  <a:ea typeface="+mn-ea"/>
                  <a:cs typeface="+mn-cs"/>
                </a:rPr>
                <a:t> thay “Wir Group” bằng tên đối thủ.</a:t>
              </a:r>
              <a:br/>
              <a:r>
                <a:rPr lang="vi-VN" sz="1650" dirty="0">
                  <a:solidFill>
                    <a:schemeClr val="dk1"/>
                  </a:solidFill>
                  <a:latin typeface="+mn-lt"/>
                  <a:ea typeface="+mn-ea"/>
                  <a:cs typeface="+mn-cs"/>
                </a:rPr>
                <a:t>Câu vẫn đúng tức là quá chung chung — phải viết lại.</a:t>
              </a:r>
            </a:p>
          </p:txBody>
        </p:sp>
      </p:grpSp>
      <p:sp>
        <p:nvSpPr>
          <p:cNvPr id="59" name="TextBox 5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9161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ba nguyên tắc chống bịa ngay từ tầng 1:</a:t>
            </a:r>
            <a:br/>
            <a:r>
              <a:rPr lang="vi-VN" sz="3150" b="1" dirty="0">
                <a:solidFill>
                  <a:schemeClr val="accent1"/>
                </a:solidFill>
                <a:latin typeface="+mn-lt"/>
                <a:ea typeface="+mn-ea"/>
                <a:cs typeface="+mn-cs"/>
              </a:rPr>
              <a:t>“chưa đủ dữ liệu” tốt hơn một con số bịa</a:t>
            </a:r>
          </a:p>
        </p:txBody>
      </p:sp>
      <p:grpSp>
        <p:nvGrpSpPr>
          <p:cNvPr id="21" name="Group 21"/>
          <p:cNvGrpSpPr/>
          <p:nvPr/>
        </p:nvGrpSpPr>
        <p:grpSpPr>
          <a:xfrm>
            <a:off x="370332" y="2266950"/>
            <a:ext cx="3593462" cy="1744789"/>
            <a:chOff x="370332" y="2266950"/>
            <a:chExt cx="3593462" cy="1744789"/>
          </a:xfrm>
        </p:grpSpPr>
        <p:sp>
          <p:nvSpPr>
            <p:cNvPr id="17" name="Ellipse 17"/>
            <p:cNvSpPr/>
            <p:nvPr/>
          </p:nvSpPr>
          <p:spPr>
            <a:xfrm>
              <a:off x="381000" y="2266950"/>
              <a:ext cx="533400" cy="533400"/>
            </a:xfrm>
            <a:prstGeom prst="ellipse">
              <a:avLst/>
            </a:prstGeom>
            <a:solidFill>
              <a:schemeClr val="accent5"/>
            </a:solidFill>
            <a:ln>
              <a:noFill/>
            </a:ln>
          </p:spPr>
        </p:sp>
        <p:sp>
          <p:nvSpPr>
            <p:cNvPr id="18" name="TextBox 18"/>
            <p:cNvSpPr txBox="1"/>
            <p:nvPr/>
          </p:nvSpPr>
          <p:spPr>
            <a:xfrm>
              <a:off x="5554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1</a:t>
              </a:r>
            </a:p>
          </p:txBody>
        </p:sp>
        <p:sp>
          <p:nvSpPr>
            <p:cNvPr id="19" name="TextBox 19"/>
            <p:cNvSpPr txBox="1"/>
            <p:nvPr/>
          </p:nvSpPr>
          <p:spPr>
            <a:xfrm>
              <a:off x="370332" y="2973705"/>
              <a:ext cx="3593462"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Chỉ dùng dữ liệu được cấp</a:t>
              </a:r>
            </a:p>
          </p:txBody>
        </p:sp>
        <p:sp>
          <p:nvSpPr>
            <p:cNvPr id="20" name="TextBox 20"/>
            <p:cNvSpPr txBox="1"/>
            <p:nvPr/>
          </p:nvSpPr>
          <p:spPr>
            <a:xfrm>
              <a:off x="372618" y="3403282"/>
              <a:ext cx="323335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Không tự chế số liệu, tên người,</a:t>
              </a:r>
              <a:br/>
              <a:r>
                <a:rPr lang="vi-VN" sz="1650" dirty="0">
                  <a:solidFill>
                    <a:schemeClr val="dk1"/>
                  </a:solidFill>
                  <a:latin typeface="+mn-lt"/>
                  <a:ea typeface="+mn-ea"/>
                  <a:cs typeface="+mn-cs"/>
                </a:rPr>
                <a:t>ngày tháng, điều khoản.</a:t>
              </a:r>
            </a:p>
          </p:txBody>
        </p:sp>
      </p:grpSp>
      <p:sp>
        <p:nvSpPr>
          <p:cNvPr id="22" name="Line 22"/>
          <p:cNvSpPr/>
          <p:nvPr/>
        </p:nvSpPr>
        <p:spPr>
          <a:xfrm>
            <a:off x="4114800" y="2286000"/>
            <a:ext cx="9525" cy="2286000"/>
          </a:xfrm>
          <a:custGeom>
            <a:avLst/>
            <a:gdLst/>
            <a:ahLst/>
            <a:cxnLst/>
            <a:rect l="l" t="t" r="r" b="b"/>
            <a:pathLst>
              <a:path w="9525" h="2286000">
                <a:moveTo>
                  <a:pt x="0" y="0"/>
                </a:moveTo>
                <a:lnTo>
                  <a:pt x="0" y="2286000"/>
                </a:lnTo>
              </a:path>
            </a:pathLst>
          </a:custGeom>
          <a:noFill/>
          <a:ln w="9525">
            <a:solidFill>
              <a:schemeClr val="accent4"/>
            </a:solidFill>
          </a:ln>
        </p:spPr>
      </p:sp>
      <p:grpSp>
        <p:nvGrpSpPr>
          <p:cNvPr id="35" name="Group 35"/>
          <p:cNvGrpSpPr/>
          <p:nvPr/>
        </p:nvGrpSpPr>
        <p:grpSpPr>
          <a:xfrm>
            <a:off x="4332732" y="2266950"/>
            <a:ext cx="3136011" cy="2297239"/>
            <a:chOff x="4332732" y="2266950"/>
            <a:chExt cx="3136011" cy="2297239"/>
          </a:xfrm>
        </p:grpSpPr>
        <p:sp>
          <p:nvSpPr>
            <p:cNvPr id="23" name="Ellipse 23"/>
            <p:cNvSpPr/>
            <p:nvPr/>
          </p:nvSpPr>
          <p:spPr>
            <a:xfrm>
              <a:off x="4343400" y="2266950"/>
              <a:ext cx="533400" cy="533400"/>
            </a:xfrm>
            <a:prstGeom prst="ellipse">
              <a:avLst/>
            </a:prstGeom>
            <a:solidFill>
              <a:schemeClr val="accent5"/>
            </a:solidFill>
            <a:ln>
              <a:noFill/>
            </a:ln>
          </p:spPr>
        </p:sp>
        <p:sp>
          <p:nvSpPr>
            <p:cNvPr id="24" name="TextBox 24"/>
            <p:cNvSpPr txBox="1"/>
            <p:nvPr/>
          </p:nvSpPr>
          <p:spPr>
            <a:xfrm>
              <a:off x="45178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2</a:t>
              </a:r>
            </a:p>
          </p:txBody>
        </p:sp>
        <p:sp>
          <p:nvSpPr>
            <p:cNvPr id="25" name="TextBox 25"/>
            <p:cNvSpPr txBox="1"/>
            <p:nvPr/>
          </p:nvSpPr>
          <p:spPr>
            <a:xfrm>
              <a:off x="4332732" y="2973705"/>
              <a:ext cx="2168644"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Gắn nhãn nguồn</a:t>
              </a:r>
            </a:p>
          </p:txBody>
        </p:sp>
        <p:sp>
          <p:nvSpPr>
            <p:cNvPr id="26" name="Rectangle 26"/>
            <p:cNvSpPr/>
            <p:nvPr/>
          </p:nvSpPr>
          <p:spPr>
            <a:xfrm>
              <a:off x="4343400" y="3390900"/>
              <a:ext cx="1409700" cy="304800"/>
            </a:xfrm>
            <a:prstGeom prst="roundRect">
              <a:avLst>
                <a:gd name="adj" fmla="val 25000"/>
              </a:avLst>
            </a:prstGeom>
            <a:solidFill>
              <a:schemeClr val="lt2"/>
            </a:solidFill>
            <a:ln>
              <a:noFill/>
            </a:ln>
          </p:spPr>
        </p:sp>
        <p:sp>
          <p:nvSpPr>
            <p:cNvPr id="27" name="TextBox 27"/>
            <p:cNvSpPr txBox="1"/>
            <p:nvPr/>
          </p:nvSpPr>
          <p:spPr>
            <a:xfrm>
              <a:off x="4450080" y="3448050"/>
              <a:ext cx="131460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Consolas"/>
                  <a:ea typeface="Consolas"/>
                  <a:cs typeface="Consolas"/>
                </a:rPr>
                <a:t>[DATA THẬT]</a:t>
              </a:r>
            </a:p>
          </p:txBody>
        </p:sp>
        <p:sp>
          <p:nvSpPr>
            <p:cNvPr id="28" name="TextBox 28"/>
            <p:cNvSpPr txBox="1"/>
            <p:nvPr/>
          </p:nvSpPr>
          <p:spPr>
            <a:xfrm>
              <a:off x="5897118" y="3441382"/>
              <a:ext cx="146056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lấy từ tài liệu</a:t>
              </a:r>
            </a:p>
          </p:txBody>
        </p:sp>
        <p:sp>
          <p:nvSpPr>
            <p:cNvPr id="29" name="Rectangle 29"/>
            <p:cNvSpPr/>
            <p:nvPr/>
          </p:nvSpPr>
          <p:spPr>
            <a:xfrm>
              <a:off x="4343400" y="3790950"/>
              <a:ext cx="1409700" cy="304800"/>
            </a:xfrm>
            <a:prstGeom prst="roundRect">
              <a:avLst>
                <a:gd name="adj" fmla="val 25000"/>
              </a:avLst>
            </a:prstGeom>
            <a:solidFill>
              <a:schemeClr val="lt2"/>
            </a:solidFill>
            <a:ln>
              <a:noFill/>
            </a:ln>
          </p:spPr>
        </p:sp>
        <p:sp>
          <p:nvSpPr>
            <p:cNvPr id="30" name="TextBox 30"/>
            <p:cNvSpPr txBox="1"/>
            <p:nvPr/>
          </p:nvSpPr>
          <p:spPr>
            <a:xfrm>
              <a:off x="4450080" y="3848100"/>
              <a:ext cx="1191387" cy="293370"/>
            </a:xfrm>
            <a:prstGeom prst="rect">
              <a:avLst/>
            </a:prstGeom>
            <a:noFill/>
            <a:ln>
              <a:noFill/>
            </a:ln>
          </p:spPr>
          <p:txBody>
            <a:bodyPr wrap="none" lIns="0" tIns="0" rIns="0" bIns="0" anchor="t" anchorCtr="0">
              <a:spAutoFit/>
            </a:bodyPr>
            <a:lstStyle/>
            <a:p>
              <a:pPr algn="l"/>
              <a:r>
                <a:rPr lang="vi-VN" sz="1500" b="1" dirty="0">
                  <a:solidFill>
                    <a:srgbClr val="2E5E91"/>
                  </a:solidFill>
                  <a:latin typeface="Consolas"/>
                  <a:ea typeface="Consolas"/>
                  <a:cs typeface="Consolas"/>
                </a:rPr>
                <a:t>[SUY LUẬN]</a:t>
              </a:r>
            </a:p>
          </p:txBody>
        </p:sp>
        <p:sp>
          <p:nvSpPr>
            <p:cNvPr id="31" name="TextBox 31"/>
            <p:cNvSpPr txBox="1"/>
            <p:nvPr/>
          </p:nvSpPr>
          <p:spPr>
            <a:xfrm>
              <a:off x="5897118" y="3841432"/>
              <a:ext cx="10052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suy ra</a:t>
              </a:r>
            </a:p>
          </p:txBody>
        </p:sp>
        <p:sp>
          <p:nvSpPr>
            <p:cNvPr id="32" name="Rectangle 32"/>
            <p:cNvSpPr/>
            <p:nvPr/>
          </p:nvSpPr>
          <p:spPr>
            <a:xfrm>
              <a:off x="4343400" y="4191000"/>
              <a:ext cx="1409700" cy="304800"/>
            </a:xfrm>
            <a:prstGeom prst="roundRect">
              <a:avLst>
                <a:gd name="adj" fmla="val 25000"/>
              </a:avLst>
            </a:prstGeom>
            <a:solidFill>
              <a:schemeClr val="lt2"/>
            </a:solidFill>
            <a:ln>
              <a:noFill/>
            </a:ln>
          </p:spPr>
        </p:sp>
        <p:sp>
          <p:nvSpPr>
            <p:cNvPr id="33" name="TextBox 33"/>
            <p:cNvSpPr txBox="1"/>
            <p:nvPr/>
          </p:nvSpPr>
          <p:spPr>
            <a:xfrm>
              <a:off x="4450080" y="4248150"/>
              <a:ext cx="1135380" cy="293370"/>
            </a:xfrm>
            <a:prstGeom prst="rect">
              <a:avLst/>
            </a:prstGeom>
            <a:noFill/>
            <a:ln>
              <a:noFill/>
            </a:ln>
          </p:spPr>
          <p:txBody>
            <a:bodyPr wrap="none" lIns="0" tIns="0" rIns="0" bIns="0" anchor="t" anchorCtr="0">
              <a:spAutoFit/>
            </a:bodyPr>
            <a:lstStyle/>
            <a:p>
              <a:pPr algn="l"/>
              <a:r>
                <a:rPr lang="vi-VN" sz="1500" b="1" dirty="0">
                  <a:solidFill>
                    <a:srgbClr val="C0392B"/>
                  </a:solidFill>
                  <a:latin typeface="Consolas"/>
                  <a:ea typeface="Consolas"/>
                  <a:cs typeface="Consolas"/>
                </a:rPr>
                <a:t>[CẦN ĐIỀN]</a:t>
              </a:r>
            </a:p>
          </p:txBody>
        </p:sp>
        <p:sp>
          <p:nvSpPr>
            <p:cNvPr id="34" name="TextBox 34"/>
            <p:cNvSpPr txBox="1"/>
            <p:nvPr/>
          </p:nvSpPr>
          <p:spPr>
            <a:xfrm>
              <a:off x="5897118" y="4241482"/>
              <a:ext cx="157162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chưa có dữ liệu</a:t>
              </a:r>
            </a:p>
          </p:txBody>
        </p:sp>
      </p:grpSp>
      <p:sp>
        <p:nvSpPr>
          <p:cNvPr id="36" name="Line 36"/>
          <p:cNvSpPr/>
          <p:nvPr/>
        </p:nvSpPr>
        <p:spPr>
          <a:xfrm>
            <a:off x="8001000" y="2286000"/>
            <a:ext cx="9525" cy="2286000"/>
          </a:xfrm>
          <a:custGeom>
            <a:avLst/>
            <a:gdLst/>
            <a:ahLst/>
            <a:cxnLst/>
            <a:rect l="l" t="t" r="r" b="b"/>
            <a:pathLst>
              <a:path w="9525" h="2286000">
                <a:moveTo>
                  <a:pt x="0" y="0"/>
                </a:moveTo>
                <a:lnTo>
                  <a:pt x="0" y="2286000"/>
                </a:lnTo>
              </a:path>
            </a:pathLst>
          </a:custGeom>
          <a:noFill/>
          <a:ln w="9525">
            <a:solidFill>
              <a:schemeClr val="accent4"/>
            </a:solidFill>
          </a:ln>
        </p:spPr>
      </p:sp>
      <p:grpSp>
        <p:nvGrpSpPr>
          <p:cNvPr id="41" name="Group 41"/>
          <p:cNvGrpSpPr/>
          <p:nvPr/>
        </p:nvGrpSpPr>
        <p:grpSpPr>
          <a:xfrm>
            <a:off x="8218932" y="2266950"/>
            <a:ext cx="3392805" cy="2030539"/>
            <a:chOff x="8218932" y="2266950"/>
            <a:chExt cx="3392805" cy="2030539"/>
          </a:xfrm>
        </p:grpSpPr>
        <p:sp>
          <p:nvSpPr>
            <p:cNvPr id="37" name="Ellipse 37"/>
            <p:cNvSpPr/>
            <p:nvPr/>
          </p:nvSpPr>
          <p:spPr>
            <a:xfrm>
              <a:off x="8229600" y="2266950"/>
              <a:ext cx="533400" cy="533400"/>
            </a:xfrm>
            <a:prstGeom prst="ellipse">
              <a:avLst/>
            </a:prstGeom>
            <a:solidFill>
              <a:schemeClr val="accent5"/>
            </a:solidFill>
            <a:ln>
              <a:noFill/>
            </a:ln>
          </p:spPr>
        </p:sp>
        <p:sp>
          <p:nvSpPr>
            <p:cNvPr id="38" name="TextBox 38"/>
            <p:cNvSpPr txBox="1"/>
            <p:nvPr/>
          </p:nvSpPr>
          <p:spPr>
            <a:xfrm>
              <a:off x="84040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3</a:t>
              </a:r>
            </a:p>
          </p:txBody>
        </p:sp>
        <p:sp>
          <p:nvSpPr>
            <p:cNvPr id="39" name="TextBox 39"/>
            <p:cNvSpPr txBox="1"/>
            <p:nvPr/>
          </p:nvSpPr>
          <p:spPr>
            <a:xfrm>
              <a:off x="8218932" y="2973705"/>
              <a:ext cx="2346027"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Người duyệt cuối</a:t>
              </a:r>
            </a:p>
          </p:txBody>
        </p:sp>
        <p:sp>
          <p:nvSpPr>
            <p:cNvPr id="40" name="TextBox 40"/>
            <p:cNvSpPr txBox="1"/>
            <p:nvPr/>
          </p:nvSpPr>
          <p:spPr>
            <a:xfrm>
              <a:off x="8221218" y="3403282"/>
              <a:ext cx="339051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Mọi thứ ChatGPT viết là bản nháp.</a:t>
              </a:r>
              <a:br/>
              <a:r>
                <a:rPr lang="vi-VN" sz="1650" dirty="0">
                  <a:solidFill>
                    <a:schemeClr val="dk1"/>
                  </a:solidFill>
                  <a:latin typeface="+mn-lt"/>
                  <a:ea typeface="+mn-ea"/>
                  <a:cs typeface="+mn-cs"/>
                </a:rPr>
                <a:t>Người ký, người bấm gửi</a:t>
              </a:r>
              <a:br/>
              <a:r>
                <a:rPr lang="vi-VN" sz="1650" dirty="0">
                  <a:solidFill>
                    <a:schemeClr val="dk1"/>
                  </a:solidFill>
                  <a:latin typeface="+mn-lt"/>
                  <a:ea typeface="+mn-ea"/>
                  <a:cs typeface="+mn-cs"/>
                </a:rPr>
                <a:t>chịu trách nhiệm.</a:t>
              </a:r>
            </a:p>
          </p:txBody>
        </p:sp>
      </p:grpSp>
      <p:grpSp>
        <p:nvGrpSpPr>
          <p:cNvPr id="45" name="Group 45"/>
          <p:cNvGrpSpPr/>
          <p:nvPr/>
        </p:nvGrpSpPr>
        <p:grpSpPr>
          <a:xfrm>
            <a:off x="381000" y="5067300"/>
            <a:ext cx="6876288" cy="926973"/>
            <a:chOff x="381000" y="5067300"/>
            <a:chExt cx="6876288" cy="926973"/>
          </a:xfrm>
        </p:grpSpPr>
        <p:sp>
          <p:nvSpPr>
            <p:cNvPr id="42" name="Rectangle 42"/>
            <p:cNvSpPr/>
            <p:nvPr/>
          </p:nvSpPr>
          <p:spPr>
            <a:xfrm>
              <a:off x="381000" y="5067300"/>
              <a:ext cx="57150" cy="914400"/>
            </a:xfrm>
            <a:prstGeom prst="roundRect">
              <a:avLst>
                <a:gd name="adj" fmla="val 50000"/>
              </a:avLst>
            </a:prstGeom>
            <a:solidFill>
              <a:schemeClr val="accent2"/>
            </a:solidFill>
            <a:ln>
              <a:noFill/>
            </a:ln>
          </p:spPr>
        </p:sp>
        <p:sp>
          <p:nvSpPr>
            <p:cNvPr id="43" name="TextBox 43"/>
            <p:cNvSpPr txBox="1"/>
            <p:nvPr/>
          </p:nvSpPr>
          <p:spPr>
            <a:xfrm>
              <a:off x="675132" y="5221605"/>
              <a:ext cx="6582156" cy="772668"/>
            </a:xfrm>
            <a:prstGeom prst="rect">
              <a:avLst/>
            </a:prstGeom>
            <a:noFill/>
            <a:ln>
              <a:noFill/>
            </a:ln>
          </p:spPr>
          <p:txBody>
            <a:bodyPr wrap="none" lIns="0" tIns="0" rIns="0" bIns="0" anchor="t" anchorCtr="0">
              <a:spAutoFit/>
            </a:bodyPr>
            <a:lstStyle/>
            <a:p>
              <a:pPr algn="l">
                <a:lnSpc>
                  <a:spcPts val="2850"/>
                </a:lnSpc>
              </a:pPr>
              <a:r>
                <a:rPr lang="vi-VN" sz="2100" i="1" dirty="0">
                  <a:solidFill>
                    <a:schemeClr val="accent1"/>
                  </a:solidFill>
                  <a:latin typeface="+mn-lt"/>
                  <a:ea typeface="+mn-ea"/>
                  <a:cs typeface="+mn-cs"/>
                </a:rPr>
                <a:t>“Con số bịa mà trơn tru mới là thứ nguy hiểm nhất,</a:t>
              </a:r>
              <a:br/>
              <a:r>
                <a:rPr lang="vi-VN" sz="2100" i="1" dirty="0">
                  <a:solidFill>
                    <a:schemeClr val="accent1"/>
                  </a:solidFill>
                  <a:latin typeface="+mn-lt"/>
                  <a:ea typeface="+mn-ea"/>
                  <a:cs typeface="+mn-cs"/>
                </a:rPr>
                <a:t>vì không ai nghi ngờ nó.”</a:t>
              </a:r>
            </a:p>
          </p:txBody>
        </p:sp>
      </p:grpSp>
      <p:sp>
        <p:nvSpPr>
          <p:cNvPr id="46" name="TextBox 4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86598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bảo mật một lần: tắt huấn luyện,</a:t>
            </a:r>
            <a:br/>
            <a:r>
              <a:rPr lang="vi-VN" sz="3150" b="1" dirty="0">
                <a:solidFill>
                  <a:schemeClr val="accent1"/>
                </a:solidFill>
                <a:latin typeface="+mn-lt"/>
                <a:ea typeface="+mn-ea"/>
                <a:cs typeface="+mn-cs"/>
              </a:rPr>
              <a:t>dùng chat tạm, không dán 5 loại dữ liệu</a:t>
            </a:r>
          </a:p>
        </p:txBody>
      </p:sp>
      <p:grpSp>
        <p:nvGrpSpPr>
          <p:cNvPr id="25" name="Group 25"/>
          <p:cNvGrpSpPr/>
          <p:nvPr/>
        </p:nvGrpSpPr>
        <p:grpSpPr>
          <a:xfrm>
            <a:off x="381000" y="2114550"/>
            <a:ext cx="5524500" cy="1238250"/>
            <a:chOff x="381000" y="2114550"/>
            <a:chExt cx="5524500" cy="1238250"/>
          </a:xfrm>
        </p:grpSpPr>
        <p:sp>
          <p:nvSpPr>
            <p:cNvPr id="17" name="Rectangle 17"/>
            <p:cNvSpPr/>
            <p:nvPr/>
          </p:nvSpPr>
          <p:spPr>
            <a:xfrm>
              <a:off x="381000" y="2114550"/>
              <a:ext cx="5524500" cy="1238250"/>
            </a:xfrm>
            <a:prstGeom prst="roundRect">
              <a:avLst>
                <a:gd name="adj" fmla="val 12308"/>
              </a:avLst>
            </a:prstGeom>
            <a:solidFill>
              <a:schemeClr val="lt2"/>
            </a:solidFill>
            <a:ln>
              <a:noFill/>
            </a:ln>
          </p:spPr>
        </p:sp>
        <p:sp>
          <p:nvSpPr>
            <p:cNvPr id="18" name="Ellipse 18"/>
            <p:cNvSpPr/>
            <p:nvPr/>
          </p:nvSpPr>
          <p:spPr>
            <a:xfrm>
              <a:off x="590550" y="2305050"/>
              <a:ext cx="457200" cy="457200"/>
            </a:xfrm>
            <a:prstGeom prst="ellipse">
              <a:avLst/>
            </a:prstGeom>
            <a:solidFill>
              <a:schemeClr val="lt1"/>
            </a:solidFill>
            <a:ln>
              <a:noFill/>
            </a:ln>
          </p:spPr>
        </p:sp>
        <p:grpSp>
          <p:nvGrpSpPr>
            <p:cNvPr id="22" name="Group 22"/>
            <p:cNvGrpSpPr/>
            <p:nvPr/>
          </p:nvGrpSpPr>
          <p:grpSpPr>
            <a:xfrm>
              <a:off x="699561" y="2419350"/>
              <a:ext cx="239177" cy="228599"/>
              <a:chOff x="699561" y="2419350"/>
              <a:chExt cx="239177" cy="228599"/>
            </a:xfrm>
          </p:grpSpPr>
          <p:sp>
            <p:nvSpPr>
              <p:cNvPr id="19" name="Freeform 19"/>
              <p:cNvSpPr/>
              <p:nvPr/>
            </p:nvSpPr>
            <p:spPr>
              <a:xfrm>
                <a:off x="699561" y="2419350"/>
                <a:ext cx="239177" cy="228599"/>
              </a:xfrm>
              <a:custGeom>
                <a:avLst/>
                <a:gdLst/>
                <a:ahLst/>
                <a:cxnLst/>
                <a:rect l="l" t="t" r="r" b="b"/>
                <a:pathLst>
                  <a:path w="239177" h="228599">
                    <a:moveTo>
                      <a:pt x="119589" y="0"/>
                    </a:moveTo>
                    <a:cubicBezTo>
                      <a:pt x="149254" y="26245"/>
                      <a:pt x="187971" y="39910"/>
                      <a:pt x="227538" y="38100"/>
                    </a:cubicBezTo>
                    <a:cubicBezTo>
                      <a:pt x="239177" y="77692"/>
                      <a:pt x="234262" y="120312"/>
                      <a:pt x="213916" y="156216"/>
                    </a:cubicBezTo>
                    <a:cubicBezTo>
                      <a:pt x="193571" y="192120"/>
                      <a:pt x="159534" y="218238"/>
                      <a:pt x="119589" y="228599"/>
                    </a:cubicBezTo>
                    <a:cubicBezTo>
                      <a:pt x="79643" y="218238"/>
                      <a:pt x="45606" y="192120"/>
                      <a:pt x="25261" y="156216"/>
                    </a:cubicBezTo>
                    <a:cubicBezTo>
                      <a:pt x="4915" y="120312"/>
                      <a:pt x="0" y="77692"/>
                      <a:pt x="11639" y="38100"/>
                    </a:cubicBezTo>
                    <a:cubicBezTo>
                      <a:pt x="51206" y="39910"/>
                      <a:pt x="89924" y="26245"/>
                      <a:pt x="119589" y="0"/>
                    </a:cubicBezTo>
                  </a:path>
                </a:pathLst>
              </a:custGeom>
              <a:noFill/>
              <a:ln w="25400">
                <a:solidFill>
                  <a:schemeClr val="accent5"/>
                </a:solidFill>
              </a:ln>
            </p:spPr>
          </p:sp>
          <p:sp>
            <p:nvSpPr>
              <p:cNvPr id="20" name="Freeform 20"/>
              <p:cNvSpPr/>
              <p:nvPr/>
            </p:nvSpPr>
            <p:spPr>
              <a:xfrm>
                <a:off x="806450" y="2508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sp>
          <p:sp>
            <p:nvSpPr>
              <p:cNvPr id="21" name="Freeform 21"/>
              <p:cNvSpPr/>
              <p:nvPr/>
            </p:nvSpPr>
            <p:spPr>
              <a:xfrm>
                <a:off x="819150" y="2533650"/>
                <a:ext cx="9525" cy="31750"/>
              </a:xfrm>
              <a:custGeom>
                <a:avLst/>
                <a:gdLst/>
                <a:ahLst/>
                <a:cxnLst/>
                <a:rect l="l" t="t" r="r" b="b"/>
                <a:pathLst>
                  <a:path w="9525" h="31750">
                    <a:moveTo>
                      <a:pt x="0" y="0"/>
                    </a:moveTo>
                    <a:lnTo>
                      <a:pt x="0" y="31750"/>
                    </a:lnTo>
                  </a:path>
                </a:pathLst>
              </a:custGeom>
              <a:noFill/>
              <a:ln w="25400">
                <a:solidFill>
                  <a:schemeClr val="accent5"/>
                </a:solidFill>
              </a:ln>
            </p:spPr>
          </p:sp>
        </p:grpSp>
        <p:sp>
          <p:nvSpPr>
            <p:cNvPr id="23" name="TextBox 23"/>
            <p:cNvSpPr txBox="1"/>
            <p:nvPr/>
          </p:nvSpPr>
          <p:spPr>
            <a:xfrm>
              <a:off x="1210056" y="2425065"/>
              <a:ext cx="1794930"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Tắt huấn luyện</a:t>
              </a:r>
            </a:p>
          </p:txBody>
        </p:sp>
        <p:sp>
          <p:nvSpPr>
            <p:cNvPr id="24" name="TextBox 24"/>
            <p:cNvSpPr txBox="1"/>
            <p:nvPr/>
          </p:nvSpPr>
          <p:spPr>
            <a:xfrm>
              <a:off x="1212342" y="2807018"/>
              <a:ext cx="265404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Settings → Data controls → tắt</a:t>
              </a:r>
              <a:br/>
              <a:r>
                <a:rPr lang="vi-VN" sz="1350" dirty="0">
                  <a:solidFill>
                    <a:srgbClr val="5B6675"/>
                  </a:solidFill>
                  <a:latin typeface="+mn-lt"/>
                  <a:ea typeface="+mn-ea"/>
                  <a:cs typeface="+mn-cs"/>
                </a:rPr>
                <a:t>Improve the model for everyone</a:t>
              </a:r>
            </a:p>
          </p:txBody>
        </p:sp>
      </p:grpSp>
      <p:grpSp>
        <p:nvGrpSpPr>
          <p:cNvPr id="34" name="Group 34"/>
          <p:cNvGrpSpPr/>
          <p:nvPr/>
        </p:nvGrpSpPr>
        <p:grpSpPr>
          <a:xfrm>
            <a:off x="381000" y="3505200"/>
            <a:ext cx="5524500" cy="1238250"/>
            <a:chOff x="381000" y="3505200"/>
            <a:chExt cx="5524500" cy="1238250"/>
          </a:xfrm>
        </p:grpSpPr>
        <p:sp>
          <p:nvSpPr>
            <p:cNvPr id="26" name="Rectangle 26"/>
            <p:cNvSpPr/>
            <p:nvPr/>
          </p:nvSpPr>
          <p:spPr>
            <a:xfrm>
              <a:off x="381000" y="3505200"/>
              <a:ext cx="5524500" cy="1238250"/>
            </a:xfrm>
            <a:prstGeom prst="roundRect">
              <a:avLst>
                <a:gd name="adj" fmla="val 12308"/>
              </a:avLst>
            </a:prstGeom>
            <a:solidFill>
              <a:schemeClr val="lt2"/>
            </a:solidFill>
            <a:ln>
              <a:noFill/>
            </a:ln>
          </p:spPr>
        </p:sp>
        <p:sp>
          <p:nvSpPr>
            <p:cNvPr id="27" name="Ellipse 27"/>
            <p:cNvSpPr/>
            <p:nvPr/>
          </p:nvSpPr>
          <p:spPr>
            <a:xfrm>
              <a:off x="590550" y="3695700"/>
              <a:ext cx="457200" cy="457200"/>
            </a:xfrm>
            <a:prstGeom prst="ellipse">
              <a:avLst/>
            </a:prstGeom>
            <a:solidFill>
              <a:schemeClr val="lt1"/>
            </a:solidFill>
            <a:ln>
              <a:noFill/>
            </a:ln>
          </p:spPr>
        </p:sp>
        <p:grpSp>
          <p:nvGrpSpPr>
            <p:cNvPr id="31" name="Group 31"/>
            <p:cNvGrpSpPr/>
            <p:nvPr/>
          </p:nvGrpSpPr>
          <p:grpSpPr>
            <a:xfrm>
              <a:off x="730250" y="3810000"/>
              <a:ext cx="177800" cy="228600"/>
              <a:chOff x="730250" y="3810000"/>
              <a:chExt cx="177800" cy="228600"/>
            </a:xfrm>
          </p:grpSpPr>
          <p:sp>
            <p:nvSpPr>
              <p:cNvPr id="28" name="Freeform 28"/>
              <p:cNvSpPr/>
              <p:nvPr/>
            </p:nvSpPr>
            <p:spPr>
              <a:xfrm>
                <a:off x="730250" y="3911600"/>
                <a:ext cx="177800" cy="127000"/>
              </a:xfrm>
              <a:custGeom>
                <a:avLst/>
                <a:gdLst/>
                <a:ahLst/>
                <a:cxnLst/>
                <a:rect l="l" t="t" r="r" b="b"/>
                <a:pathLst>
                  <a:path w="177800" h="127000">
                    <a:moveTo>
                      <a:pt x="0" y="25400"/>
                    </a:moveTo>
                    <a:cubicBezTo>
                      <a:pt x="0" y="11372"/>
                      <a:pt x="11372" y="0"/>
                      <a:pt x="25400" y="0"/>
                    </a:cubicBezTo>
                    <a:lnTo>
                      <a:pt x="152400" y="0"/>
                    </a:lnTo>
                    <a:cubicBezTo>
                      <a:pt x="166428" y="0"/>
                      <a:pt x="177800" y="11372"/>
                      <a:pt x="177800" y="25400"/>
                    </a:cubicBezTo>
                    <a:lnTo>
                      <a:pt x="177800" y="101600"/>
                    </a:lnTo>
                    <a:cubicBezTo>
                      <a:pt x="177800" y="115628"/>
                      <a:pt x="166428" y="127000"/>
                      <a:pt x="152400" y="127000"/>
                    </a:cubicBezTo>
                    <a:lnTo>
                      <a:pt x="25400" y="127000"/>
                    </a:lnTo>
                    <a:cubicBezTo>
                      <a:pt x="11372" y="127000"/>
                      <a:pt x="0" y="115628"/>
                      <a:pt x="0" y="101600"/>
                    </a:cubicBezTo>
                    <a:lnTo>
                      <a:pt x="0" y="25400"/>
                    </a:lnTo>
                  </a:path>
                </a:pathLst>
              </a:custGeom>
              <a:noFill/>
              <a:ln w="25400">
                <a:solidFill>
                  <a:schemeClr val="accent5"/>
                </a:solidFill>
              </a:ln>
            </p:spPr>
          </p:sp>
          <p:sp>
            <p:nvSpPr>
              <p:cNvPr id="29" name="Freeform 29"/>
              <p:cNvSpPr/>
              <p:nvPr/>
            </p:nvSpPr>
            <p:spPr>
              <a:xfrm>
                <a:off x="806450" y="39624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sp>
          <p:sp>
            <p:nvSpPr>
              <p:cNvPr id="30" name="Freeform 30"/>
              <p:cNvSpPr/>
              <p:nvPr/>
            </p:nvSpPr>
            <p:spPr>
              <a:xfrm>
                <a:off x="768350" y="3810000"/>
                <a:ext cx="101600" cy="101600"/>
              </a:xfrm>
              <a:custGeom>
                <a:avLst/>
                <a:gdLst/>
                <a:ahLst/>
                <a:cxnLst/>
                <a:rect l="l" t="t" r="r" b="b"/>
                <a:pathLst>
                  <a:path w="101600" h="101600">
                    <a:moveTo>
                      <a:pt x="0" y="101600"/>
                    </a:moveTo>
                    <a:lnTo>
                      <a:pt x="0" y="50800"/>
                    </a:lnTo>
                    <a:cubicBezTo>
                      <a:pt x="0" y="22744"/>
                      <a:pt x="22744" y="0"/>
                      <a:pt x="50800" y="0"/>
                    </a:cubicBezTo>
                    <a:cubicBezTo>
                      <a:pt x="78856" y="0"/>
                      <a:pt x="101600" y="22744"/>
                      <a:pt x="101600" y="50800"/>
                    </a:cubicBezTo>
                    <a:lnTo>
                      <a:pt x="101600" y="101600"/>
                    </a:lnTo>
                  </a:path>
                </a:pathLst>
              </a:custGeom>
              <a:noFill/>
              <a:ln w="25400">
                <a:solidFill>
                  <a:schemeClr val="accent5"/>
                </a:solidFill>
              </a:ln>
            </p:spPr>
          </p:sp>
        </p:grpSp>
        <p:sp>
          <p:nvSpPr>
            <p:cNvPr id="32" name="TextBox 32"/>
            <p:cNvSpPr txBox="1"/>
            <p:nvPr/>
          </p:nvSpPr>
          <p:spPr>
            <a:xfrm>
              <a:off x="1210056" y="3815715"/>
              <a:ext cx="4383634"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Nội dung nhạy cảm: Temporary Chat</a:t>
              </a:r>
            </a:p>
          </p:txBody>
        </p:sp>
        <p:sp>
          <p:nvSpPr>
            <p:cNvPr id="33" name="TextBox 33"/>
            <p:cNvSpPr txBox="1"/>
            <p:nvPr/>
          </p:nvSpPr>
          <p:spPr>
            <a:xfrm>
              <a:off x="1211580" y="4200525"/>
              <a:ext cx="402805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vào lịch sử, không tạo Memory mới</a:t>
              </a:r>
            </a:p>
          </p:txBody>
        </p:sp>
      </p:grpSp>
      <p:grpSp>
        <p:nvGrpSpPr>
          <p:cNvPr id="50" name="Group 50"/>
          <p:cNvGrpSpPr/>
          <p:nvPr/>
        </p:nvGrpSpPr>
        <p:grpSpPr>
          <a:xfrm>
            <a:off x="6248400" y="2114550"/>
            <a:ext cx="5562600" cy="2628900"/>
            <a:chOff x="6248400" y="2114550"/>
            <a:chExt cx="5562600" cy="2628900"/>
          </a:xfrm>
        </p:grpSpPr>
        <p:sp>
          <p:nvSpPr>
            <p:cNvPr id="35" name="Rectangle 35"/>
            <p:cNvSpPr/>
            <p:nvPr/>
          </p:nvSpPr>
          <p:spPr>
            <a:xfrm>
              <a:off x="6248400" y="2114550"/>
              <a:ext cx="5562600" cy="2628900"/>
            </a:xfrm>
            <a:prstGeom prst="roundRect">
              <a:avLst>
                <a:gd name="adj" fmla="val 5797"/>
              </a:avLst>
            </a:prstGeom>
            <a:solidFill>
              <a:schemeClr val="lt1"/>
            </a:solidFill>
            <a:ln w="19050">
              <a:solidFill>
                <a:srgbClr val="C0392B"/>
              </a:solidFill>
            </a:ln>
          </p:spPr>
        </p:sp>
        <p:grpSp>
          <p:nvGrpSpPr>
            <p:cNvPr id="38" name="Group 38"/>
            <p:cNvGrpSpPr/>
            <p:nvPr/>
          </p:nvGrpSpPr>
          <p:grpSpPr>
            <a:xfrm>
              <a:off x="6510338" y="2338388"/>
              <a:ext cx="200026" cy="200026"/>
              <a:chOff x="6510338" y="2338388"/>
              <a:chExt cx="200026" cy="200026"/>
            </a:xfrm>
          </p:grpSpPr>
          <p:sp>
            <p:nvSpPr>
              <p:cNvPr id="36" name="Freeform 36"/>
              <p:cNvSpPr/>
              <p:nvPr/>
            </p:nvSpPr>
            <p:spPr>
              <a:xfrm>
                <a:off x="6510338" y="23383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C0392B"/>
                </a:solidFill>
              </a:ln>
            </p:spPr>
          </p:sp>
          <p:sp>
            <p:nvSpPr>
              <p:cNvPr id="37" name="Freeform 37"/>
              <p:cNvSpPr/>
              <p:nvPr/>
            </p:nvSpPr>
            <p:spPr>
              <a:xfrm>
                <a:off x="6540341" y="2368391"/>
                <a:ext cx="140018" cy="140018"/>
              </a:xfrm>
              <a:custGeom>
                <a:avLst/>
                <a:gdLst/>
                <a:ahLst/>
                <a:cxnLst/>
                <a:rect l="l" t="t" r="r" b="b"/>
                <a:pathLst>
                  <a:path w="140018" h="140018">
                    <a:moveTo>
                      <a:pt x="0" y="0"/>
                    </a:moveTo>
                    <a:lnTo>
                      <a:pt x="140018" y="140018"/>
                    </a:lnTo>
                  </a:path>
                </a:pathLst>
              </a:custGeom>
              <a:noFill/>
              <a:ln w="22225">
                <a:solidFill>
                  <a:srgbClr val="C0392B"/>
                </a:solidFill>
              </a:ln>
            </p:spPr>
          </p:sp>
        </p:grpSp>
        <p:sp>
          <p:nvSpPr>
            <p:cNvPr id="39" name="TextBox 39"/>
            <p:cNvSpPr txBox="1"/>
            <p:nvPr/>
          </p:nvSpPr>
          <p:spPr>
            <a:xfrm>
              <a:off x="6832092" y="2359342"/>
              <a:ext cx="2851137"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5 LOẠI TUYỆT ĐỐI KHÔNG DÁN</a:t>
              </a:r>
            </a:p>
          </p:txBody>
        </p:sp>
        <p:sp>
          <p:nvSpPr>
            <p:cNvPr id="40" name="Ellipse 40"/>
            <p:cNvSpPr/>
            <p:nvPr/>
          </p:nvSpPr>
          <p:spPr>
            <a:xfrm>
              <a:off x="6524625" y="2847975"/>
              <a:ext cx="95250" cy="95250"/>
            </a:xfrm>
            <a:prstGeom prst="ellipse">
              <a:avLst/>
            </a:prstGeom>
            <a:solidFill>
              <a:srgbClr val="C0392B"/>
            </a:solidFill>
            <a:ln>
              <a:noFill/>
            </a:ln>
          </p:spPr>
        </p:sp>
        <p:sp>
          <p:nvSpPr>
            <p:cNvPr id="41" name="TextBox 41"/>
            <p:cNvSpPr txBox="1"/>
            <p:nvPr/>
          </p:nvSpPr>
          <p:spPr>
            <a:xfrm>
              <a:off x="6735318" y="2793682"/>
              <a:ext cx="31790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Giá vốn, giá thành, công thức</a:t>
              </a:r>
            </a:p>
          </p:txBody>
        </p:sp>
        <p:sp>
          <p:nvSpPr>
            <p:cNvPr id="42" name="Ellipse 42"/>
            <p:cNvSpPr/>
            <p:nvPr/>
          </p:nvSpPr>
          <p:spPr>
            <a:xfrm>
              <a:off x="6524625" y="3248025"/>
              <a:ext cx="95250" cy="95250"/>
            </a:xfrm>
            <a:prstGeom prst="ellipse">
              <a:avLst/>
            </a:prstGeom>
            <a:solidFill>
              <a:srgbClr val="C0392B"/>
            </a:solidFill>
            <a:ln>
              <a:noFill/>
            </a:ln>
          </p:spPr>
        </p:sp>
        <p:sp>
          <p:nvSpPr>
            <p:cNvPr id="43" name="TextBox 43"/>
            <p:cNvSpPr txBox="1"/>
            <p:nvPr/>
          </p:nvSpPr>
          <p:spPr>
            <a:xfrm>
              <a:off x="6735318" y="3193732"/>
              <a:ext cx="334533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Hợp đồng có điều khoản bảo mật</a:t>
              </a:r>
            </a:p>
          </p:txBody>
        </p:sp>
        <p:sp>
          <p:nvSpPr>
            <p:cNvPr id="44" name="Ellipse 44"/>
            <p:cNvSpPr/>
            <p:nvPr/>
          </p:nvSpPr>
          <p:spPr>
            <a:xfrm>
              <a:off x="6524625" y="3648075"/>
              <a:ext cx="95250" cy="95250"/>
            </a:xfrm>
            <a:prstGeom prst="ellipse">
              <a:avLst/>
            </a:prstGeom>
            <a:solidFill>
              <a:srgbClr val="C0392B"/>
            </a:solidFill>
            <a:ln>
              <a:noFill/>
            </a:ln>
          </p:spPr>
        </p:sp>
        <p:sp>
          <p:nvSpPr>
            <p:cNvPr id="45" name="TextBox 45"/>
            <p:cNvSpPr txBox="1"/>
            <p:nvPr/>
          </p:nvSpPr>
          <p:spPr>
            <a:xfrm>
              <a:off x="6735318" y="3593782"/>
              <a:ext cx="23991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Lương, CCCD nhân viên</a:t>
              </a:r>
            </a:p>
          </p:txBody>
        </p:sp>
        <p:sp>
          <p:nvSpPr>
            <p:cNvPr id="46" name="Ellipse 46"/>
            <p:cNvSpPr/>
            <p:nvPr/>
          </p:nvSpPr>
          <p:spPr>
            <a:xfrm>
              <a:off x="6524625" y="4048125"/>
              <a:ext cx="95250" cy="95250"/>
            </a:xfrm>
            <a:prstGeom prst="ellipse">
              <a:avLst/>
            </a:prstGeom>
            <a:solidFill>
              <a:srgbClr val="C0392B"/>
            </a:solidFill>
            <a:ln>
              <a:noFill/>
            </a:ln>
          </p:spPr>
        </p:sp>
        <p:sp>
          <p:nvSpPr>
            <p:cNvPr id="47" name="TextBox 47"/>
            <p:cNvSpPr txBox="1"/>
            <p:nvPr/>
          </p:nvSpPr>
          <p:spPr>
            <a:xfrm>
              <a:off x="6735318" y="3993832"/>
              <a:ext cx="216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Mật khẩu, tài khoản</a:t>
              </a:r>
            </a:p>
          </p:txBody>
        </p:sp>
        <p:sp>
          <p:nvSpPr>
            <p:cNvPr id="48" name="Ellipse 48"/>
            <p:cNvSpPr/>
            <p:nvPr/>
          </p:nvSpPr>
          <p:spPr>
            <a:xfrm>
              <a:off x="6524625" y="4448175"/>
              <a:ext cx="95250" cy="95250"/>
            </a:xfrm>
            <a:prstGeom prst="ellipse">
              <a:avLst/>
            </a:prstGeom>
            <a:solidFill>
              <a:srgbClr val="C0392B"/>
            </a:solidFill>
            <a:ln>
              <a:noFill/>
            </a:ln>
          </p:spPr>
        </p:sp>
        <p:sp>
          <p:nvSpPr>
            <p:cNvPr id="49" name="TextBox 49"/>
            <p:cNvSpPr txBox="1"/>
            <p:nvPr/>
          </p:nvSpPr>
          <p:spPr>
            <a:xfrm>
              <a:off x="6735318" y="4393882"/>
              <a:ext cx="226757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Tài liệu đóng dấu MẬT</a:t>
              </a:r>
            </a:p>
          </p:txBody>
        </p:sp>
      </p:grpSp>
      <p:grpSp>
        <p:nvGrpSpPr>
          <p:cNvPr id="57" name="Group 57"/>
          <p:cNvGrpSpPr/>
          <p:nvPr/>
        </p:nvGrpSpPr>
        <p:grpSpPr>
          <a:xfrm>
            <a:off x="381000" y="4972050"/>
            <a:ext cx="11430000" cy="876300"/>
            <a:chOff x="381000" y="4972050"/>
            <a:chExt cx="11430000" cy="876300"/>
          </a:xfrm>
        </p:grpSpPr>
        <p:sp>
          <p:nvSpPr>
            <p:cNvPr id="51" name="Rectangle 51"/>
            <p:cNvSpPr/>
            <p:nvPr/>
          </p:nvSpPr>
          <p:spPr>
            <a:xfrm>
              <a:off x="381000" y="4972050"/>
              <a:ext cx="11430000" cy="876300"/>
            </a:xfrm>
            <a:prstGeom prst="roundRect">
              <a:avLst>
                <a:gd name="adj" fmla="val 17391"/>
              </a:avLst>
            </a:prstGeom>
            <a:solidFill>
              <a:srgbClr val="FCEBDD"/>
            </a:solidFill>
            <a:ln>
              <a:noFill/>
            </a:ln>
          </p:spPr>
        </p:sp>
        <p:grpSp>
          <p:nvGrpSpPr>
            <p:cNvPr id="55" name="Group 55"/>
            <p:cNvGrpSpPr/>
            <p:nvPr/>
          </p:nvGrpSpPr>
          <p:grpSpPr>
            <a:xfrm>
              <a:off x="607219" y="5293519"/>
              <a:ext cx="214312" cy="214312"/>
              <a:chOff x="607219" y="5293519"/>
              <a:chExt cx="214312" cy="214312"/>
            </a:xfrm>
          </p:grpSpPr>
          <p:sp>
            <p:nvSpPr>
              <p:cNvPr id="52" name="Freeform 52"/>
              <p:cNvSpPr/>
              <p:nvPr/>
            </p:nvSpPr>
            <p:spPr>
              <a:xfrm>
                <a:off x="607219" y="52935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sp>
          <p:sp>
            <p:nvSpPr>
              <p:cNvPr id="53" name="Freeform 53"/>
              <p:cNvSpPr/>
              <p:nvPr/>
            </p:nvSpPr>
            <p:spPr>
              <a:xfrm>
                <a:off x="714375" y="5364956"/>
                <a:ext cx="9525" cy="9525"/>
              </a:xfrm>
              <a:custGeom>
                <a:avLst/>
                <a:gdLst/>
                <a:ahLst/>
                <a:cxnLst/>
                <a:rect l="l" t="t" r="r" b="b"/>
                <a:pathLst>
                  <a:path w="9525" h="9525">
                    <a:moveTo>
                      <a:pt x="0" y="0"/>
                    </a:moveTo>
                    <a:lnTo>
                      <a:pt x="119" y="0"/>
                    </a:lnTo>
                  </a:path>
                </a:pathLst>
              </a:custGeom>
              <a:noFill/>
              <a:ln w="23812">
                <a:solidFill>
                  <a:schemeClr val="accent1"/>
                </a:solidFill>
              </a:ln>
            </p:spPr>
          </p:sp>
          <p:sp>
            <p:nvSpPr>
              <p:cNvPr id="54" name="Freeform 54"/>
              <p:cNvSpPr/>
              <p:nvPr/>
            </p:nvSpPr>
            <p:spPr>
              <a:xfrm>
                <a:off x="702469" y="54006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sp>
        </p:grpSp>
        <p:sp>
          <p:nvSpPr>
            <p:cNvPr id="56" name="TextBox 56"/>
            <p:cNvSpPr txBox="1"/>
            <p:nvPr/>
          </p:nvSpPr>
          <p:spPr>
            <a:xfrm>
              <a:off x="982218" y="5155882"/>
              <a:ext cx="7346823" cy="627507"/>
            </a:xfrm>
            <a:prstGeom prst="rect">
              <a:avLst/>
            </a:prstGeom>
            <a:noFill/>
            <a:ln>
              <a:noFill/>
            </a:ln>
          </p:spPr>
          <p:txBody>
            <a:bodyPr wrap="none" lIns="0" tIns="0" rIns="0" bIns="0" anchor="t" anchorCtr="0">
              <a:spAutoFit/>
            </a:bodyPr>
            <a:lstStyle/>
            <a:p>
              <a:pPr algn="l">
                <a:lnSpc>
                  <a:spcPts val="2400"/>
                </a:lnSpc>
              </a:pPr>
              <a:r>
                <a:rPr lang="vi-VN" sz="1650" b="1" dirty="0">
                  <a:solidFill>
                    <a:schemeClr val="accent1"/>
                  </a:solidFill>
                  <a:latin typeface="+mn-lt"/>
                  <a:ea typeface="+mn-ea"/>
                  <a:cs typeface="+mn-cs"/>
                </a:rPr>
                <a:t>Làm sạch trước khi dán:</a:t>
              </a:r>
              <a:r>
                <a:rPr lang="vi-VN" sz="1650" dirty="0">
                  <a:solidFill>
                    <a:schemeClr val="dk1"/>
                  </a:solidFill>
                  <a:latin typeface="+mn-lt"/>
                  <a:ea typeface="+mn-ea"/>
                  <a:cs typeface="+mn-cs"/>
                </a:rPr>
                <a:t> thay tên thật bằng “khách hàng A”, “HĐ số X”.</a:t>
              </a:r>
              <a:br/>
              <a:r>
                <a:rPr lang="vi-VN" sz="1650" dirty="0">
                  <a:solidFill>
                    <a:schemeClr val="dk1"/>
                  </a:solidFill>
                  <a:latin typeface="+mn-lt"/>
                  <a:ea typeface="+mn-ea"/>
                  <a:cs typeface="+mn-cs"/>
                </a:rPr>
                <a:t>Không ghi thông tin nhạy cảm vào Instructions hay Memory.</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932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Cùng một câu lệnh, có Instructions thì ChatGPT</a:t>
            </a:r>
            <a:br/>
            <a:r>
              <a:rPr lang="vi-VN" sz="3150" b="1" dirty="0">
                <a:solidFill>
                  <a:schemeClr val="accent1"/>
                </a:solidFill>
                <a:latin typeface="+mn-lt"/>
                <a:ea typeface="+mn-ea"/>
                <a:cs typeface="+mn-cs"/>
              </a:rPr>
              <a:t>viết đúng số liệu, đúng luật, đúng giọng</a:t>
            </a:r>
          </a:p>
        </p:txBody>
      </p:sp>
      <p:grpSp>
        <p:nvGrpSpPr>
          <p:cNvPr id="24" name="Group 24"/>
          <p:cNvGrpSpPr/>
          <p:nvPr/>
        </p:nvGrpSpPr>
        <p:grpSpPr>
          <a:xfrm>
            <a:off x="381000" y="2076450"/>
            <a:ext cx="11430000" cy="495300"/>
            <a:chOff x="381000" y="2076450"/>
            <a:chExt cx="11430000" cy="495300"/>
          </a:xfrm>
        </p:grpSpPr>
        <p:sp>
          <p:nvSpPr>
            <p:cNvPr id="17" name="Rectangle 17"/>
            <p:cNvSpPr/>
            <p:nvPr/>
          </p:nvSpPr>
          <p:spPr>
            <a:xfrm>
              <a:off x="381000" y="2076450"/>
              <a:ext cx="11430000" cy="495300"/>
            </a:xfrm>
            <a:prstGeom prst="roundRect">
              <a:avLst>
                <a:gd name="adj" fmla="val 50000"/>
              </a:avLst>
            </a:prstGeom>
            <a:solidFill>
              <a:schemeClr val="lt2"/>
            </a:solidFill>
            <a:ln>
              <a:noFill/>
            </a:ln>
          </p:spPr>
          <p:txBody>
            <a:bodyPr/>
            <a:p/>
          </p:txBody>
        </p:sp>
        <p:grpSp>
          <p:nvGrpSpPr>
            <p:cNvPr id="21" name="Group 21"/>
            <p:cNvGrpSpPr/>
            <p:nvPr/>
          </p:nvGrpSpPr>
          <p:grpSpPr>
            <a:xfrm>
              <a:off x="619125" y="2247900"/>
              <a:ext cx="171450" cy="161925"/>
              <a:chOff x="619125" y="2247900"/>
              <a:chExt cx="171450" cy="161925"/>
            </a:xfrm>
          </p:grpSpPr>
          <p:sp>
            <p:nvSpPr>
              <p:cNvPr id="18" name="Freeform 18"/>
              <p:cNvSpPr/>
              <p:nvPr/>
            </p:nvSpPr>
            <p:spPr>
              <a:xfrm>
                <a:off x="666750" y="2295525"/>
                <a:ext cx="76200" cy="9525"/>
              </a:xfrm>
              <a:custGeom>
                <a:avLst/>
                <a:gdLst/>
                <a:ahLst/>
                <a:cxnLst/>
                <a:rect l="l" t="t" r="r" b="b"/>
                <a:pathLst>
                  <a:path w="76200" h="9525">
                    <a:moveTo>
                      <a:pt x="0" y="0"/>
                    </a:moveTo>
                    <a:lnTo>
                      <a:pt x="76200" y="0"/>
                    </a:lnTo>
                  </a:path>
                </a:pathLst>
              </a:custGeom>
              <a:noFill/>
              <a:ln w="19050">
                <a:solidFill>
                  <a:schemeClr val="accent3"/>
                </a:solidFill>
              </a:ln>
            </p:spPr>
            <p:txBody>
              <a:bodyPr/>
              <a:p/>
            </p:txBody>
          </p:sp>
          <p:sp>
            <p:nvSpPr>
              <p:cNvPr id="19" name="Freeform 19"/>
              <p:cNvSpPr/>
              <p:nvPr/>
            </p:nvSpPr>
            <p:spPr>
              <a:xfrm>
                <a:off x="666750" y="2333625"/>
                <a:ext cx="57150" cy="9525"/>
              </a:xfrm>
              <a:custGeom>
                <a:avLst/>
                <a:gdLst/>
                <a:ahLst/>
                <a:cxnLst/>
                <a:rect l="l" t="t" r="r" b="b"/>
                <a:pathLst>
                  <a:path w="57150" h="9525">
                    <a:moveTo>
                      <a:pt x="0" y="0"/>
                    </a:moveTo>
                    <a:lnTo>
                      <a:pt x="57150" y="0"/>
                    </a:lnTo>
                  </a:path>
                </a:pathLst>
              </a:custGeom>
              <a:noFill/>
              <a:ln w="19050">
                <a:solidFill>
                  <a:schemeClr val="accent3"/>
                </a:solidFill>
              </a:ln>
            </p:spPr>
            <p:txBody>
              <a:bodyPr/>
              <a:p/>
            </p:txBody>
          </p:sp>
          <p:sp>
            <p:nvSpPr>
              <p:cNvPr id="20" name="Freeform 20"/>
              <p:cNvSpPr/>
              <p:nvPr/>
            </p:nvSpPr>
            <p:spPr>
              <a:xfrm>
                <a:off x="619125" y="2247900"/>
                <a:ext cx="171450" cy="161925"/>
              </a:xfrm>
              <a:custGeom>
                <a:avLst/>
                <a:gdLst/>
                <a:ahLst/>
                <a:cxnLst/>
                <a:rect l="l" t="t" r="r" b="b"/>
                <a:pathLst>
                  <a:path w="171450" h="161925">
                    <a:moveTo>
                      <a:pt x="57150" y="133350"/>
                    </a:moveTo>
                    <a:lnTo>
                      <a:pt x="28575" y="133350"/>
                    </a:lnTo>
                    <a:cubicBezTo>
                      <a:pt x="12793" y="133350"/>
                      <a:pt x="0" y="120557"/>
                      <a:pt x="0" y="104775"/>
                    </a:cubicBezTo>
                    <a:lnTo>
                      <a:pt x="0" y="28575"/>
                    </a:ln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114300" y="133350"/>
                    </a:lnTo>
                    <a:lnTo>
                      <a:pt x="85725" y="161925"/>
                    </a:lnTo>
                    <a:lnTo>
                      <a:pt x="57150" y="133350"/>
                    </a:lnTo>
                  </a:path>
                </a:pathLst>
              </a:custGeom>
              <a:noFill/>
              <a:ln w="19050">
                <a:solidFill>
                  <a:schemeClr val="accent3"/>
                </a:solidFill>
              </a:ln>
            </p:spPr>
            <p:txBody>
              <a:bodyPr/>
              <a:p/>
            </p:txBody>
          </p:sp>
        </p:grpSp>
        <p:sp>
          <p:nvSpPr>
            <p:cNvPr id="22" name="TextBox 22"/>
            <p:cNvSpPr txBox="1"/>
            <p:nvPr/>
          </p:nvSpPr>
          <p:spPr>
            <a:xfrm>
              <a:off x="927354" y="2251710"/>
              <a:ext cx="83064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LỆNH</a:t>
              </a:r>
            </a:p>
          </p:txBody>
        </p:sp>
        <p:sp>
          <p:nvSpPr>
            <p:cNvPr id="23" name="TextBox 23"/>
            <p:cNvSpPr txBox="1"/>
            <p:nvPr/>
          </p:nvSpPr>
          <p:spPr>
            <a:xfrm>
              <a:off x="1896618" y="2222182"/>
              <a:ext cx="3315332"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Viết bài Facebook bán Elasten.</a:t>
              </a:r>
            </a:p>
          </p:txBody>
        </p:sp>
      </p:grpSp>
      <p:grpSp>
        <p:nvGrpSpPr>
          <p:cNvPr id="38" name="Group 38"/>
          <p:cNvGrpSpPr/>
          <p:nvPr/>
        </p:nvGrpSpPr>
        <p:grpSpPr>
          <a:xfrm>
            <a:off x="381000" y="2781300"/>
            <a:ext cx="5524500" cy="3028950"/>
            <a:chOff x="381000" y="2781300"/>
            <a:chExt cx="5524500" cy="3028950"/>
          </a:xfrm>
        </p:grpSpPr>
        <p:sp>
          <p:nvSpPr>
            <p:cNvPr id="25" name="Rectangle 25"/>
            <p:cNvSpPr/>
            <p:nvPr/>
          </p:nvSpPr>
          <p:spPr>
            <a:xfrm>
              <a:off x="381000" y="2781300"/>
              <a:ext cx="5524500" cy="3028950"/>
            </a:xfrm>
            <a:prstGeom prst="roundRect">
              <a:avLst>
                <a:gd name="adj" fmla="val 5031"/>
              </a:avLst>
            </a:prstGeom>
            <a:solidFill>
              <a:schemeClr val="lt1"/>
            </a:solidFill>
            <a:ln w="19050">
              <a:solidFill>
                <a:srgbClr val="C0392B"/>
              </a:solidFill>
            </a:ln>
          </p:spPr>
          <p:txBody>
            <a:bodyPr/>
            <a:p/>
          </p:txBody>
        </p:sp>
        <p:grpSp>
          <p:nvGrpSpPr>
            <p:cNvPr id="28" name="Group 28"/>
            <p:cNvGrpSpPr/>
            <p:nvPr/>
          </p:nvGrpSpPr>
          <p:grpSpPr>
            <a:xfrm>
              <a:off x="640556" y="2993231"/>
              <a:ext cx="185737" cy="185737"/>
              <a:chOff x="640556" y="2993231"/>
              <a:chExt cx="185737" cy="185737"/>
            </a:xfrm>
          </p:grpSpPr>
          <p:sp>
            <p:nvSpPr>
              <p:cNvPr id="26" name="Freeform 26"/>
              <p:cNvSpPr/>
              <p:nvPr/>
            </p:nvSpPr>
            <p:spPr>
              <a:xfrm>
                <a:off x="6405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txBody>
              <a:bodyPr/>
              <a:p/>
            </p:txBody>
          </p:sp>
          <p:sp>
            <p:nvSpPr>
              <p:cNvPr id="27" name="Freeform 27"/>
              <p:cNvSpPr/>
              <p:nvPr/>
            </p:nvSpPr>
            <p:spPr>
              <a:xfrm>
                <a:off x="712787" y="3065462"/>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txBody>
              <a:bodyPr/>
              <a:p/>
            </p:txBody>
          </p:sp>
        </p:grpSp>
        <p:sp>
          <p:nvSpPr>
            <p:cNvPr id="29" name="TextBox 29"/>
            <p:cNvSpPr txBox="1"/>
            <p:nvPr/>
          </p:nvSpPr>
          <p:spPr>
            <a:xfrm>
              <a:off x="944118" y="2974658"/>
              <a:ext cx="4700000" cy="322707"/>
            </a:xfrm>
            <a:prstGeom prst="rect">
              <a:avLst/>
            </a:prstGeom>
            <a:noFill/>
            <a:ln>
              <a:noFill/>
            </a:ln>
          </p:spPr>
          <p:txBody>
            <a:bodyPr wrap="none" lIns="0" tIns="0" rIns="0" bIns="0" anchor="t" anchorCtr="0">
              <a:spAutoFit/>
            </a:bodyPr>
            <a:lstStyle/>
            <a:p>
              <a:pPr algn="l"/>
              <a:r>
                <a:rPr lang="vi-VN" sz="1650" b="1" dirty="0">
                  <a:solidFill>
                    <a:srgbClr val="C0392B"/>
                  </a:solidFill>
                  <a:latin typeface="+mn-lt"/>
                  <a:ea typeface="+mn-ea"/>
                  <a:cs typeface="+mn-cs"/>
                </a:rPr>
                <a:t>Không có Instructions: sạch mà rỗng</a:t>
              </a:r>
            </a:p>
          </p:txBody>
        </p:sp>
        <p:sp>
          <p:nvSpPr>
            <p:cNvPr id="30" name="TextBox 30"/>
            <p:cNvSpPr txBox="1"/>
            <p:nvPr/>
          </p:nvSpPr>
          <p:spPr>
            <a:xfrm>
              <a:off x="601218" y="3422332"/>
              <a:ext cx="4900000" cy="6084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 Bí quyết chăm sóc da tươi trẻ từ bên trong…</a:t>
              </a:r>
              <a:br/>
              <a:r>
                <a:rPr lang="vi-VN" sz="1650" i="1" dirty="0">
                  <a:solidFill>
                    <a:schemeClr val="dk1"/>
                  </a:solidFill>
                  <a:latin typeface="+mn-lt"/>
                  <a:ea typeface="+mn-ea"/>
                  <a:cs typeface="+mn-cs"/>
                </a:rPr>
                <a:t>💌 Inbox ngay để nhận báo giá ưu đãi nhé!”</a:t>
              </a:r>
            </a:p>
          </p:txBody>
        </p:sp>
        <p:sp>
          <p:nvSpPr>
            <p:cNvPr id="31" name="Line 31"/>
            <p:cNvSpPr/>
            <p:nvPr/>
          </p:nvSpPr>
          <p:spPr>
            <a:xfrm>
              <a:off x="6096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32" name="Ellipse 32"/>
            <p:cNvSpPr/>
            <p:nvPr/>
          </p:nvSpPr>
          <p:spPr>
            <a:xfrm>
              <a:off x="647700" y="4905375"/>
              <a:ext cx="76200" cy="76200"/>
            </a:xfrm>
            <a:prstGeom prst="ellipse">
              <a:avLst/>
            </a:prstGeom>
            <a:solidFill>
              <a:srgbClr val="C0392B"/>
            </a:solidFill>
            <a:ln>
              <a:noFill/>
            </a:ln>
          </p:spPr>
          <p:txBody>
            <a:bodyPr/>
            <a:p/>
          </p:txBody>
        </p:sp>
        <p:sp>
          <p:nvSpPr>
            <p:cNvPr id="33" name="TextBox 33"/>
            <p:cNvSpPr txBox="1"/>
            <p:nvPr/>
          </p:nvSpPr>
          <p:spPr>
            <a:xfrm>
              <a:off x="830580" y="48482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Thiếu câu bắt buộc của TPCN</a:t>
              </a:r>
            </a:p>
          </p:txBody>
        </p:sp>
        <p:sp>
          <p:nvSpPr>
            <p:cNvPr id="34" name="Ellipse 34"/>
            <p:cNvSpPr/>
            <p:nvPr/>
          </p:nvSpPr>
          <p:spPr>
            <a:xfrm>
              <a:off x="647700" y="5191125"/>
              <a:ext cx="76200" cy="76200"/>
            </a:xfrm>
            <a:prstGeom prst="ellipse">
              <a:avLst/>
            </a:prstGeom>
            <a:solidFill>
              <a:srgbClr val="C0392B"/>
            </a:solidFill>
            <a:ln>
              <a:noFill/>
            </a:ln>
          </p:spPr>
          <p:txBody>
            <a:bodyPr/>
            <a:p/>
          </p:txBody>
        </p:sp>
        <p:sp>
          <p:nvSpPr>
            <p:cNvPr id="35" name="TextBox 35"/>
            <p:cNvSpPr txBox="1"/>
            <p:nvPr/>
          </p:nvSpPr>
          <p:spPr>
            <a:xfrm>
              <a:off x="830580" y="513397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“Đến từ Đức”, “ưu đãi”: không có nguồn</a:t>
              </a:r>
            </a:p>
          </p:txBody>
        </p:sp>
        <p:sp>
          <p:nvSpPr>
            <p:cNvPr id="36" name="Ellipse 36"/>
            <p:cNvSpPr/>
            <p:nvPr/>
          </p:nvSpPr>
          <p:spPr>
            <a:xfrm>
              <a:off x="647700" y="5476875"/>
              <a:ext cx="76200" cy="76200"/>
            </a:xfrm>
            <a:prstGeom prst="ellipse">
              <a:avLst/>
            </a:prstGeom>
            <a:solidFill>
              <a:srgbClr val="C0392B"/>
            </a:solidFill>
            <a:ln>
              <a:noFill/>
            </a:ln>
          </p:spPr>
          <p:txBody>
            <a:bodyPr/>
            <a:p/>
          </p:txBody>
        </p:sp>
        <p:sp>
          <p:nvSpPr>
            <p:cNvPr id="37" name="TextBox 37"/>
            <p:cNvSpPr txBox="1"/>
            <p:nvPr/>
          </p:nvSpPr>
          <p:spPr>
            <a:xfrm>
              <a:off x="830580" y="54197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số liệu, tràn emoji, bài quá chung</a:t>
              </a:r>
            </a:p>
          </p:txBody>
        </p:sp>
      </p:grpSp>
      <p:grpSp>
        <p:nvGrpSpPr>
          <p:cNvPr id="52" name="Group 52"/>
          <p:cNvGrpSpPr/>
          <p:nvPr/>
        </p:nvGrpSpPr>
        <p:grpSpPr>
          <a:xfrm>
            <a:off x="6286500" y="2781300"/>
            <a:ext cx="5524500" cy="3028950"/>
            <a:chOff x="6286500" y="2781300"/>
            <a:chExt cx="5524500" cy="3028950"/>
          </a:xfrm>
        </p:grpSpPr>
        <p:sp>
          <p:nvSpPr>
            <p:cNvPr id="39" name="Rectangle 39"/>
            <p:cNvSpPr/>
            <p:nvPr/>
          </p:nvSpPr>
          <p:spPr>
            <a:xfrm>
              <a:off x="6286500" y="2781300"/>
              <a:ext cx="5524500" cy="3028950"/>
            </a:xfrm>
            <a:prstGeom prst="roundRect">
              <a:avLst>
                <a:gd name="adj" fmla="val 5031"/>
              </a:avLst>
            </a:prstGeom>
            <a:solidFill>
              <a:schemeClr val="lt1"/>
            </a:solidFill>
            <a:ln w="19050">
              <a:solidFill>
                <a:srgbClr val="2E8B57"/>
              </a:solidFill>
            </a:ln>
          </p:spPr>
          <p:txBody>
            <a:bodyPr/>
            <a:p/>
          </p:txBody>
        </p:sp>
        <p:grpSp>
          <p:nvGrpSpPr>
            <p:cNvPr id="42" name="Group 42"/>
            <p:cNvGrpSpPr/>
            <p:nvPr/>
          </p:nvGrpSpPr>
          <p:grpSpPr>
            <a:xfrm>
              <a:off x="6546056" y="2993231"/>
              <a:ext cx="185737" cy="185737"/>
              <a:chOff x="6546056" y="2993231"/>
              <a:chExt cx="185737" cy="185737"/>
            </a:xfrm>
          </p:grpSpPr>
          <p:sp>
            <p:nvSpPr>
              <p:cNvPr id="40" name="Freeform 40"/>
              <p:cNvSpPr/>
              <p:nvPr/>
            </p:nvSpPr>
            <p:spPr>
              <a:xfrm>
                <a:off x="65460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41" name="Freeform 41"/>
              <p:cNvSpPr/>
              <p:nvPr/>
            </p:nvSpPr>
            <p:spPr>
              <a:xfrm>
                <a:off x="6607968" y="3065462"/>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43" name="TextBox 43"/>
            <p:cNvSpPr txBox="1"/>
            <p:nvPr/>
          </p:nvSpPr>
          <p:spPr>
            <a:xfrm>
              <a:off x="6849618" y="2974658"/>
              <a:ext cx="4621952" cy="322707"/>
            </a:xfrm>
            <a:prstGeom prst="rect">
              <a:avLst/>
            </a:prstGeom>
            <a:noFill/>
            <a:ln>
              <a:noFill/>
            </a:ln>
          </p:spPr>
          <p:txBody>
            <a:bodyPr wrap="none" lIns="0" tIns="0" rIns="0" bIns="0" anchor="t" anchorCtr="0">
              <a:spAutoFit/>
            </a:bodyPr>
            <a:lstStyle/>
            <a:p>
              <a:pPr algn="l"/>
              <a:r>
                <a:rPr lang="vi-VN" sz="1650" b="1" dirty="0">
                  <a:solidFill>
                    <a:srgbClr val="2E8B57"/>
                  </a:solidFill>
                  <a:latin typeface="+mn-lt"/>
                  <a:ea typeface="+mn-ea"/>
                  <a:cs typeface="+mn-cs"/>
                </a:rPr>
                <a:t>Có Project instructions phòng Marketing</a:t>
              </a:r>
            </a:p>
          </p:txBody>
        </p:sp>
        <p:sp>
          <p:nvSpPr>
            <p:cNvPr id="44" name="TextBox 44"/>
            <p:cNvSpPr txBox="1"/>
            <p:nvPr/>
          </p:nvSpPr>
          <p:spPr>
            <a:xfrm>
              <a:off x="6506718" y="3422332"/>
              <a:ext cx="4962144" cy="11799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“Da bạn khô và kém đàn hồi? Sau 12 tuần,</a:t>
              </a:r>
              <a:br/>
              <a:r>
                <a:rPr lang="vi-VN" sz="1650" i="1" dirty="0">
                  <a:solidFill>
                    <a:schemeClr val="dk1"/>
                  </a:solidFill>
                  <a:latin typeface="+mn-lt"/>
                  <a:ea typeface="+mn-ea"/>
                  <a:cs typeface="+mn-cs"/>
                </a:rPr>
                <a:t>nghiên cứu lâm sàng ghi nhận độ ẩm da</a:t>
              </a:r>
              <a:br/>
              <a:r>
                <a:rPr lang="vi-VN" sz="1650" i="1" dirty="0">
                  <a:solidFill>
                    <a:schemeClr val="dk1"/>
                  </a:solidFill>
                  <a:latin typeface="+mn-lt"/>
                  <a:ea typeface="+mn-ea"/>
                  <a:cs typeface="+mn-cs"/>
                </a:rPr>
                <a:t>tăng 28%… Thực phẩm này không phải là thuốc</a:t>
              </a:r>
              <a:br/>
              <a:r>
                <a:rPr lang="vi-VN" sz="1650" i="1" dirty="0">
                  <a:solidFill>
                    <a:schemeClr val="dk1"/>
                  </a:solidFill>
                  <a:latin typeface="+mn-lt"/>
                  <a:ea typeface="+mn-ea"/>
                  <a:cs typeface="+mn-cs"/>
                </a:rPr>
                <a:t>và không có tác dụng thay thế thuốc chữa bệnh.”</a:t>
              </a:r>
            </a:p>
          </p:txBody>
        </p:sp>
        <p:sp>
          <p:nvSpPr>
            <p:cNvPr id="45" name="Line 45"/>
            <p:cNvSpPr/>
            <p:nvPr/>
          </p:nvSpPr>
          <p:spPr>
            <a:xfrm>
              <a:off x="65151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46" name="Ellipse 46"/>
            <p:cNvSpPr/>
            <p:nvPr/>
          </p:nvSpPr>
          <p:spPr>
            <a:xfrm>
              <a:off x="6553200" y="4905375"/>
              <a:ext cx="76200" cy="76200"/>
            </a:xfrm>
            <a:prstGeom prst="ellipse">
              <a:avLst/>
            </a:prstGeom>
            <a:solidFill>
              <a:srgbClr val="2E8B57"/>
            </a:solidFill>
            <a:ln>
              <a:noFill/>
            </a:ln>
          </p:spPr>
          <p:txBody>
            <a:bodyPr/>
            <a:p/>
          </p:txBody>
        </p:sp>
        <p:sp>
          <p:nvSpPr>
            <p:cNvPr id="47" name="TextBox 47"/>
            <p:cNvSpPr txBox="1"/>
            <p:nvPr/>
          </p:nvSpPr>
          <p:spPr>
            <a:xfrm>
              <a:off x="6736080" y="4848225"/>
              <a:ext cx="399252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Số liệu có nguồn: +28% độ ẩm sau 12 tuần</a:t>
              </a:r>
            </a:p>
          </p:txBody>
        </p:sp>
        <p:sp>
          <p:nvSpPr>
            <p:cNvPr id="48" name="Ellipse 48"/>
            <p:cNvSpPr/>
            <p:nvPr/>
          </p:nvSpPr>
          <p:spPr>
            <a:xfrm>
              <a:off x="6553200" y="5191125"/>
              <a:ext cx="76200" cy="76200"/>
            </a:xfrm>
            <a:prstGeom prst="ellipse">
              <a:avLst/>
            </a:prstGeom>
            <a:solidFill>
              <a:srgbClr val="2E8B57"/>
            </a:solidFill>
            <a:ln>
              <a:noFill/>
            </a:ln>
          </p:spPr>
          <p:txBody>
            <a:bodyPr/>
            <a:p/>
          </p:txBody>
        </p:sp>
        <p:sp>
          <p:nvSpPr>
            <p:cNvPr id="49" name="TextBox 49"/>
            <p:cNvSpPr txBox="1"/>
            <p:nvPr/>
          </p:nvSpPr>
          <p:spPr>
            <a:xfrm>
              <a:off x="6736080" y="5133975"/>
              <a:ext cx="246424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câu bắt buộc của TPCN</a:t>
              </a:r>
            </a:p>
          </p:txBody>
        </p:sp>
        <p:sp>
          <p:nvSpPr>
            <p:cNvPr id="50" name="Ellipse 50"/>
            <p:cNvSpPr/>
            <p:nvPr/>
          </p:nvSpPr>
          <p:spPr>
            <a:xfrm>
              <a:off x="6553200" y="5476875"/>
              <a:ext cx="76200" cy="76200"/>
            </a:xfrm>
            <a:prstGeom prst="ellipse">
              <a:avLst/>
            </a:prstGeom>
            <a:solidFill>
              <a:srgbClr val="2E8B57"/>
            </a:solidFill>
            <a:ln>
              <a:noFill/>
            </a:ln>
          </p:spPr>
          <p:txBody>
            <a:bodyPr/>
            <a:p/>
          </p:txBody>
        </p:sp>
        <p:sp>
          <p:nvSpPr>
            <p:cNvPr id="51" name="TextBox 51"/>
            <p:cNvSpPr txBox="1"/>
            <p:nvPr/>
          </p:nvSpPr>
          <p:spPr>
            <a:xfrm>
              <a:off x="6736080" y="5419725"/>
              <a:ext cx="3010281"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Giá chưa có thì ghi </a:t>
              </a:r>
              <a:r>
                <a:rPr lang="vi-VN" sz="1500" b="1" dirty="0">
                  <a:solidFill>
                    <a:schemeClr val="accent1"/>
                  </a:solidFill>
                  <a:latin typeface="Consolas"/>
                  <a:ea typeface="Consolas"/>
                  <a:cs typeface="Consolas"/>
                </a:rPr>
                <a:t>[CẦN ĐIỀN]</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4949584" y="6554152"/>
            <a:ext cx="62000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Bên trái: kết quả thật chạy 08/10/2026 · số liệu +28% trích từ tài liệu sản phẩm Wir</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400"/>
                                        <p:tgtEl>
                                          <p:spTgt spid="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p:cTn id="12"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5123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1: viết Instructions của phòng mình</a:t>
            </a:r>
            <a:br/>
            <a:r>
              <a:rPr lang="vi-VN" sz="3150" b="1" dirty="0">
                <a:solidFill>
                  <a:schemeClr val="accent1"/>
                </a:solidFill>
                <a:latin typeface="+mn-lt"/>
                <a:ea typeface="+mn-ea"/>
                <a:cs typeface="+mn-cs"/>
              </a:rPr>
              <a:t>và qua được phép thử chống bịa</a:t>
            </a:r>
          </a:p>
        </p:txBody>
      </p:sp>
      <p:grpSp>
        <p:nvGrpSpPr>
          <p:cNvPr id="24" name="Group 24"/>
          <p:cNvGrpSpPr/>
          <p:nvPr/>
        </p:nvGrpSpPr>
        <p:grpSpPr>
          <a:xfrm>
            <a:off x="381000" y="2095500"/>
            <a:ext cx="6572250" cy="781050"/>
            <a:chOff x="381000" y="2095500"/>
            <a:chExt cx="6572250" cy="781050"/>
          </a:xfrm>
        </p:grpSpPr>
        <p:sp>
          <p:nvSpPr>
            <p:cNvPr id="17" name="Rectangle 17"/>
            <p:cNvSpPr/>
            <p:nvPr/>
          </p:nvSpPr>
          <p:spPr>
            <a:xfrm>
              <a:off x="381000" y="2095500"/>
              <a:ext cx="6572250" cy="781050"/>
            </a:xfrm>
            <a:prstGeom prst="roundRect">
              <a:avLst>
                <a:gd name="adj" fmla="val 17073"/>
              </a:avLst>
            </a:prstGeom>
            <a:solidFill>
              <a:schemeClr val="lt1"/>
            </a:solidFill>
            <a:ln w="14288">
              <a:solidFill>
                <a:schemeClr val="accent4"/>
              </a:solidFill>
            </a:ln>
          </p:spPr>
        </p:sp>
        <p:sp>
          <p:nvSpPr>
            <p:cNvPr id="18" name="Ellipse 18"/>
            <p:cNvSpPr/>
            <p:nvPr/>
          </p:nvSpPr>
          <p:spPr>
            <a:xfrm>
              <a:off x="523875" y="2219325"/>
              <a:ext cx="285750" cy="285750"/>
            </a:xfrm>
            <a:prstGeom prst="ellipse">
              <a:avLst/>
            </a:prstGeom>
            <a:solidFill>
              <a:schemeClr val="accent5"/>
            </a:solidFill>
            <a:ln>
              <a:noFill/>
            </a:ln>
          </p:spPr>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49646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Viết Project instructions cho phòng của bạn</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20'</a:t>
              </a:r>
            </a:p>
          </p:txBody>
        </p:sp>
        <p:sp>
          <p:nvSpPr>
            <p:cNvPr id="23" name="TextBox 23"/>
            <p:cNvSpPr txBox="1"/>
            <p:nvPr/>
          </p:nvSpPr>
          <p:spPr>
            <a:xfrm>
              <a:off x="926592" y="2578418"/>
              <a:ext cx="5571894"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đủ mục, tả giọng văn bằng hành vi, có 3 luật chống bịa</a:t>
              </a:r>
            </a:p>
          </p:txBody>
        </p:sp>
      </p:grpSp>
      <p:grpSp>
        <p:nvGrpSpPr>
          <p:cNvPr id="33" name="Group 33"/>
          <p:cNvGrpSpPr/>
          <p:nvPr/>
        </p:nvGrpSpPr>
        <p:grpSpPr>
          <a:xfrm>
            <a:off x="381000" y="2971800"/>
            <a:ext cx="6572250" cy="1009650"/>
            <a:chOff x="381000" y="2971800"/>
            <a:chExt cx="6572250" cy="1009650"/>
          </a:xfrm>
        </p:grpSpPr>
        <p:sp>
          <p:nvSpPr>
            <p:cNvPr id="25" name="Rectangle 25"/>
            <p:cNvSpPr/>
            <p:nvPr/>
          </p:nvSpPr>
          <p:spPr>
            <a:xfrm>
              <a:off x="381000" y="2971800"/>
              <a:ext cx="6572250" cy="1009650"/>
            </a:xfrm>
            <a:prstGeom prst="roundRect">
              <a:avLst>
                <a:gd name="adj" fmla="val 13208"/>
              </a:avLst>
            </a:prstGeom>
            <a:solidFill>
              <a:schemeClr val="lt1"/>
            </a:solidFill>
            <a:ln w="14288">
              <a:solidFill>
                <a:schemeClr val="accent4"/>
              </a:solidFill>
            </a:ln>
          </p:spPr>
        </p:sp>
        <p:sp>
          <p:nvSpPr>
            <p:cNvPr id="26" name="Ellipse 26"/>
            <p:cNvSpPr/>
            <p:nvPr/>
          </p:nvSpPr>
          <p:spPr>
            <a:xfrm>
              <a:off x="523875" y="3095625"/>
              <a:ext cx="285750" cy="285750"/>
            </a:xfrm>
            <a:prstGeom prst="ellipse">
              <a:avLst/>
            </a:prstGeom>
            <a:solidFill>
              <a:schemeClr val="accent5"/>
            </a:solidFill>
            <a:ln>
              <a:noFill/>
            </a:ln>
          </p:spPr>
        </p:sp>
        <p:sp>
          <p:nvSpPr>
            <p:cNvPr id="27" name="TextBox 27"/>
            <p:cNvSpPr txBox="1"/>
            <p:nvPr/>
          </p:nvSpPr>
          <p:spPr>
            <a:xfrm>
              <a:off x="600823" y="3143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8" name="TextBox 28"/>
            <p:cNvSpPr txBox="1"/>
            <p:nvPr/>
          </p:nvSpPr>
          <p:spPr>
            <a:xfrm>
              <a:off x="925068" y="3136582"/>
              <a:ext cx="215886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Phép thử chống bịa</a:t>
              </a:r>
            </a:p>
          </p:txBody>
        </p:sp>
        <p:sp>
          <p:nvSpPr>
            <p:cNvPr id="29" name="Rectangle 29"/>
            <p:cNvSpPr/>
            <p:nvPr/>
          </p:nvSpPr>
          <p:spPr>
            <a:xfrm>
              <a:off x="6210300" y="3124200"/>
              <a:ext cx="552450" cy="266700"/>
            </a:xfrm>
            <a:prstGeom prst="roundRect">
              <a:avLst>
                <a:gd name="adj" fmla="val 50000"/>
              </a:avLst>
            </a:prstGeom>
            <a:solidFill>
              <a:srgbClr val="FCEBDD"/>
            </a:solidFill>
            <a:ln>
              <a:noFill/>
            </a:ln>
          </p:spPr>
        </p:sp>
        <p:sp>
          <p:nvSpPr>
            <p:cNvPr id="30" name="TextBox 30"/>
            <p:cNvSpPr txBox="1"/>
            <p:nvPr/>
          </p:nvSpPr>
          <p:spPr>
            <a:xfrm>
              <a:off x="6387137" y="31851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31" name="TextBox 31"/>
            <p:cNvSpPr txBox="1"/>
            <p:nvPr/>
          </p:nvSpPr>
          <p:spPr>
            <a:xfrm>
              <a:off x="926592" y="3454718"/>
              <a:ext cx="4498505"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Hỏi 3 con số hồ sơ không có (vd: giá bán lẻ Elasten)</a:t>
              </a:r>
            </a:p>
          </p:txBody>
        </p:sp>
        <p:sp>
          <p:nvSpPr>
            <p:cNvPr id="32" name="TextBox 32"/>
            <p:cNvSpPr txBox="1"/>
            <p:nvPr/>
          </p:nvSpPr>
          <p:spPr>
            <a:xfrm>
              <a:off x="926592" y="3683318"/>
              <a:ext cx="398169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cả 3 lần đều trả lời “chưa đủ dữ liệu”</a:t>
              </a:r>
            </a:p>
          </p:txBody>
        </p:sp>
      </p:grpSp>
      <p:grpSp>
        <p:nvGrpSpPr>
          <p:cNvPr id="41" name="Group 41"/>
          <p:cNvGrpSpPr/>
          <p:nvPr/>
        </p:nvGrpSpPr>
        <p:grpSpPr>
          <a:xfrm>
            <a:off x="381000" y="4076700"/>
            <a:ext cx="6572250" cy="781050"/>
            <a:chOff x="381000" y="4076700"/>
            <a:chExt cx="6572250" cy="781050"/>
          </a:xfrm>
        </p:grpSpPr>
        <p:sp>
          <p:nvSpPr>
            <p:cNvPr id="34" name="Rectangle 34"/>
            <p:cNvSpPr/>
            <p:nvPr/>
          </p:nvSpPr>
          <p:spPr>
            <a:xfrm>
              <a:off x="381000" y="4076700"/>
              <a:ext cx="6572250" cy="781050"/>
            </a:xfrm>
            <a:prstGeom prst="roundRect">
              <a:avLst>
                <a:gd name="adj" fmla="val 17073"/>
              </a:avLst>
            </a:prstGeom>
            <a:solidFill>
              <a:schemeClr val="lt1"/>
            </a:solidFill>
            <a:ln w="14288">
              <a:solidFill>
                <a:schemeClr val="accent4"/>
              </a:solidFill>
            </a:ln>
          </p:spPr>
        </p:sp>
        <p:sp>
          <p:nvSpPr>
            <p:cNvPr id="35" name="Ellipse 35"/>
            <p:cNvSpPr/>
            <p:nvPr/>
          </p:nvSpPr>
          <p:spPr>
            <a:xfrm>
              <a:off x="523875" y="4200525"/>
              <a:ext cx="285750" cy="285750"/>
            </a:xfrm>
            <a:prstGeom prst="ellipse">
              <a:avLst/>
            </a:prstGeom>
            <a:solidFill>
              <a:schemeClr val="accent5"/>
            </a:solidFill>
            <a:ln>
              <a:noFill/>
            </a:ln>
          </p:spPr>
        </p:sp>
        <p:sp>
          <p:nvSpPr>
            <p:cNvPr id="36" name="TextBox 36"/>
            <p:cNvSpPr txBox="1"/>
            <p:nvPr/>
          </p:nvSpPr>
          <p:spPr>
            <a:xfrm>
              <a:off x="600823" y="42481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41482"/>
              <a:ext cx="271858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Kiểm tra trong chat mới</a:t>
              </a:r>
            </a:p>
          </p:txBody>
        </p:sp>
        <p:sp>
          <p:nvSpPr>
            <p:cNvPr id="38" name="Rectangle 38"/>
            <p:cNvSpPr/>
            <p:nvPr/>
          </p:nvSpPr>
          <p:spPr>
            <a:xfrm>
              <a:off x="6210300" y="4229100"/>
              <a:ext cx="552450" cy="266700"/>
            </a:xfrm>
            <a:prstGeom prst="roundRect">
              <a:avLst>
                <a:gd name="adj" fmla="val 50000"/>
              </a:avLst>
            </a:prstGeom>
            <a:solidFill>
              <a:srgbClr val="FCEBDD"/>
            </a:solidFill>
            <a:ln>
              <a:noFill/>
            </a:ln>
          </p:spPr>
        </p:sp>
        <p:sp>
          <p:nvSpPr>
            <p:cNvPr id="39" name="TextBox 39"/>
            <p:cNvSpPr txBox="1"/>
            <p:nvPr/>
          </p:nvSpPr>
          <p:spPr>
            <a:xfrm>
              <a:off x="6387137" y="42900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40" name="TextBox 40"/>
            <p:cNvSpPr txBox="1"/>
            <p:nvPr/>
          </p:nvSpPr>
          <p:spPr>
            <a:xfrm>
              <a:off x="926592" y="4559618"/>
              <a:ext cx="4717730"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dùng đúng thuật ngữ, không cần nhắc lại luật</a:t>
              </a:r>
            </a:p>
          </p:txBody>
        </p:sp>
      </p:grpSp>
      <p:grpSp>
        <p:nvGrpSpPr>
          <p:cNvPr id="47" name="Group 47"/>
          <p:cNvGrpSpPr/>
          <p:nvPr/>
        </p:nvGrpSpPr>
        <p:grpSpPr>
          <a:xfrm>
            <a:off x="381000" y="4953000"/>
            <a:ext cx="6572250" cy="781050"/>
            <a:chOff x="381000" y="4953000"/>
            <a:chExt cx="6572250" cy="781050"/>
          </a:xfrm>
        </p:grpSpPr>
        <p:sp>
          <p:nvSpPr>
            <p:cNvPr id="42" name="Rectangle 42"/>
            <p:cNvSpPr/>
            <p:nvPr/>
          </p:nvSpPr>
          <p:spPr>
            <a:xfrm>
              <a:off x="381000" y="4953000"/>
              <a:ext cx="6572250" cy="781050"/>
            </a:xfrm>
            <a:prstGeom prst="roundRect">
              <a:avLst>
                <a:gd name="adj" fmla="val 17073"/>
              </a:avLst>
            </a:prstGeom>
            <a:solidFill>
              <a:schemeClr val="lt1"/>
            </a:solidFill>
            <a:ln w="14288">
              <a:solidFill>
                <a:schemeClr val="accent4"/>
              </a:solidFill>
            </a:ln>
          </p:spPr>
        </p:sp>
        <p:sp>
          <p:nvSpPr>
            <p:cNvPr id="43" name="Ellipse 43"/>
            <p:cNvSpPr/>
            <p:nvPr/>
          </p:nvSpPr>
          <p:spPr>
            <a:xfrm>
              <a:off x="523875" y="5076825"/>
              <a:ext cx="285750" cy="285750"/>
            </a:xfrm>
            <a:prstGeom prst="ellipse">
              <a:avLst/>
            </a:prstGeom>
            <a:solidFill>
              <a:schemeClr val="accent5"/>
            </a:solidFill>
            <a:ln>
              <a:noFill/>
            </a:ln>
          </p:spPr>
        </p:sp>
        <p:sp>
          <p:nvSpPr>
            <p:cNvPr id="44" name="TextBox 44"/>
            <p:cNvSpPr txBox="1"/>
            <p:nvPr/>
          </p:nvSpPr>
          <p:spPr>
            <a:xfrm>
              <a:off x="600823" y="51244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925068" y="5117782"/>
              <a:ext cx="13075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Cài bảo mật</a:t>
              </a:r>
            </a:p>
          </p:txBody>
        </p:sp>
        <p:sp>
          <p:nvSpPr>
            <p:cNvPr id="46" name="TextBox 46"/>
            <p:cNvSpPr txBox="1"/>
            <p:nvPr/>
          </p:nvSpPr>
          <p:spPr>
            <a:xfrm>
              <a:off x="926592" y="5435918"/>
              <a:ext cx="5542177"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Tắt Improve the model for everyone — giảng viên kiểm từng máy</a:t>
              </a:r>
            </a:p>
          </p:txBody>
        </p:sp>
      </p:grpSp>
      <p:grpSp>
        <p:nvGrpSpPr>
          <p:cNvPr id="59" name="Group 59"/>
          <p:cNvGrpSpPr/>
          <p:nvPr/>
        </p:nvGrpSpPr>
        <p:grpSpPr>
          <a:xfrm>
            <a:off x="7181850" y="2095500"/>
            <a:ext cx="4629150" cy="3638550"/>
            <a:chOff x="7181850" y="2095500"/>
            <a:chExt cx="4629150" cy="3638550"/>
          </a:xfrm>
        </p:grpSpPr>
        <p:sp>
          <p:nvSpPr>
            <p:cNvPr id="48" name="Rectangle 48"/>
            <p:cNvSpPr/>
            <p:nvPr/>
          </p:nvSpPr>
          <p:spPr>
            <a:xfrm>
              <a:off x="7181850" y="2095500"/>
              <a:ext cx="4629150" cy="3638550"/>
            </a:xfrm>
            <a:prstGeom prst="roundRect">
              <a:avLst>
                <a:gd name="adj" fmla="val 4188"/>
              </a:avLst>
            </a:prstGeom>
            <a:solidFill>
              <a:schemeClr val="lt2"/>
            </a:solidFill>
            <a:ln>
              <a:noFill/>
            </a:ln>
          </p:spPr>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52725"/>
              <a:ext cx="288612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“Cấm dùng emoji” đặt ở đâu?</a:t>
              </a:r>
            </a:p>
          </p:txBody>
        </p:sp>
        <p:sp>
          <p:nvSpPr>
            <p:cNvPr id="55" name="Line 55"/>
            <p:cNvSpPr/>
            <p:nvPr/>
          </p:nvSpPr>
          <p:spPr>
            <a:xfrm>
              <a:off x="7410450" y="33909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3533775"/>
              <a:ext cx="336565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Các bước viết lịch nội dung 14 ngày</a:t>
              </a:r>
              <a:br/>
              <a:r>
                <a:rPr lang="vi-VN" sz="1500" b="1" dirty="0">
                  <a:solidFill>
                    <a:schemeClr val="accent1"/>
                  </a:solidFill>
                  <a:latin typeface="+mn-lt"/>
                  <a:ea typeface="+mn-ea"/>
                  <a:cs typeface="+mn-cs"/>
                </a:rPr>
                <a:t>đặt ở đâu?</a:t>
              </a:r>
            </a:p>
          </p:txBody>
        </p:sp>
        <p:sp>
          <p:nvSpPr>
            <p:cNvPr id="57" name="Line 57"/>
            <p:cNvSpPr/>
            <p:nvPr/>
          </p:nvSpPr>
          <p:spPr>
            <a:xfrm>
              <a:off x="7410450" y="44386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8" name="TextBox 58"/>
            <p:cNvSpPr txBox="1"/>
            <p:nvPr/>
          </p:nvSpPr>
          <p:spPr>
            <a:xfrm>
              <a:off x="7402830" y="4581525"/>
              <a:ext cx="3085624"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Hỏi số không có, ChatGPT trả lời</a:t>
              </a:r>
              <a:br/>
              <a:r>
                <a:rPr lang="vi-VN" sz="1500" b="1" dirty="0">
                  <a:solidFill>
                    <a:schemeClr val="accent1"/>
                  </a:solidFill>
                  <a:latin typeface="+mn-lt"/>
                  <a:ea typeface="+mn-ea"/>
                  <a:cs typeface="+mn-cs"/>
                </a:rPr>
                <a:t>thế nào là đạt?</a:t>
              </a:r>
            </a:p>
          </p:txBody>
        </p:sp>
      </p:grpSp>
      <p:grpSp>
        <p:nvGrpSpPr>
          <p:cNvPr id="61" name="Group 61"/>
          <p:cNvGrpSpPr/>
          <p:nvPr/>
        </p:nvGrpSpPr>
        <p:grpSpPr>
          <a:xfrm>
            <a:off x="7402830" y="3038475"/>
            <a:ext cx="3844036" cy="293370"/>
            <a:chOff x="7402830" y="3038475"/>
            <a:chExt cx="3844036" cy="293370"/>
          </a:xfrm>
        </p:grpSpPr>
        <p:sp>
          <p:nvSpPr>
            <p:cNvPr id="60" name="TextBox 60"/>
            <p:cNvSpPr txBox="1"/>
            <p:nvPr/>
          </p:nvSpPr>
          <p:spPr>
            <a:xfrm>
              <a:off x="7402830" y="3038475"/>
              <a:ext cx="3844036"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Instructions: luật chung cho mọi việc</a:t>
              </a:r>
            </a:p>
          </p:txBody>
        </p:sp>
      </p:grpSp>
      <p:grpSp>
        <p:nvGrpSpPr>
          <p:cNvPr id="63" name="Group 63"/>
          <p:cNvGrpSpPr/>
          <p:nvPr/>
        </p:nvGrpSpPr>
        <p:grpSpPr>
          <a:xfrm>
            <a:off x="7402830" y="4086225"/>
            <a:ext cx="2633120" cy="293370"/>
            <a:chOff x="7402830" y="4086225"/>
            <a:chExt cx="2633120" cy="293370"/>
          </a:xfrm>
        </p:grpSpPr>
        <p:sp>
          <p:nvSpPr>
            <p:cNvPr id="62" name="TextBox 62"/>
            <p:cNvSpPr txBox="1"/>
            <p:nvPr/>
          </p:nvSpPr>
          <p:spPr>
            <a:xfrm>
              <a:off x="7402830" y="4086225"/>
              <a:ext cx="263312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Skill: chỉ đúng cho 1 việc</a:t>
              </a:r>
            </a:p>
          </p:txBody>
        </p:sp>
      </p:grpSp>
      <p:grpSp>
        <p:nvGrpSpPr>
          <p:cNvPr id="65" name="Group 65"/>
          <p:cNvGrpSpPr/>
          <p:nvPr/>
        </p:nvGrpSpPr>
        <p:grpSpPr>
          <a:xfrm>
            <a:off x="7402830" y="5133975"/>
            <a:ext cx="3572138" cy="293370"/>
            <a:chOff x="7402830" y="5133975"/>
            <a:chExt cx="3572138" cy="293370"/>
          </a:xfrm>
        </p:grpSpPr>
        <p:sp>
          <p:nvSpPr>
            <p:cNvPr id="64" name="TextBox 64"/>
            <p:cNvSpPr txBox="1"/>
            <p:nvPr/>
          </p:nvSpPr>
          <p:spPr>
            <a:xfrm>
              <a:off x="7402830" y="5133975"/>
              <a:ext cx="35721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“Chưa đủ dữ liệu” hoặc hỏi xin thêm</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11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0" name="Group 10"/>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3"/>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2</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2</a:t>
              </a:r>
            </a:p>
          </p:txBody>
        </p:sp>
        <p:sp>
          <p:nvSpPr>
            <p:cNvPr id="5" name="TextBox 5"/>
            <p:cNvSpPr txBox="1"/>
            <p:nvPr/>
          </p:nvSpPr>
          <p:spPr>
            <a:xfrm>
              <a:off x="514350" y="4208145"/>
              <a:ext cx="1985743"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Prompt</a:t>
              </a:r>
            </a:p>
          </p:txBody>
        </p:sp>
        <p:grpSp>
          <p:nvGrpSpPr>
            <p:cNvPr id="9" name="Group 9"/>
            <p:cNvGrpSpPr/>
            <p:nvPr/>
          </p:nvGrpSpPr>
          <p:grpSpPr>
            <a:xfrm>
              <a:off x="609600" y="5435600"/>
              <a:ext cx="457201" cy="431801"/>
              <a:chOff x="609600" y="5435600"/>
              <a:chExt cx="457201" cy="431801"/>
            </a:xfrm>
          </p:grpSpPr>
          <p:sp>
            <p:nvSpPr>
              <p:cNvPr id="6" name="Freeform 6"/>
              <p:cNvSpPr/>
              <p:nvPr/>
            </p:nvSpPr>
            <p:spPr>
              <a:xfrm>
                <a:off x="736600" y="5562600"/>
                <a:ext cx="203200" cy="9525"/>
              </a:xfrm>
              <a:custGeom>
                <a:avLst/>
                <a:gdLst/>
                <a:ahLst/>
                <a:cxnLst/>
                <a:rect l="l" t="t" r="r" b="b"/>
                <a:pathLst>
                  <a:path w="203200" h="9525">
                    <a:moveTo>
                      <a:pt x="0" y="0"/>
                    </a:moveTo>
                    <a:lnTo>
                      <a:pt x="203200" y="0"/>
                    </a:lnTo>
                  </a:path>
                </a:pathLst>
              </a:custGeom>
              <a:noFill/>
              <a:ln w="50800">
                <a:solidFill>
                  <a:srgbClr val="FFFFFF"/>
                </a:solidFill>
              </a:ln>
            </p:spPr>
          </p:sp>
          <p:sp>
            <p:nvSpPr>
              <p:cNvPr id="7" name="Freeform 7"/>
              <p:cNvSpPr/>
              <p:nvPr/>
            </p:nvSpPr>
            <p:spPr>
              <a:xfrm>
                <a:off x="736600" y="5664200"/>
                <a:ext cx="152400" cy="9525"/>
              </a:xfrm>
              <a:custGeom>
                <a:avLst/>
                <a:gdLst/>
                <a:ahLst/>
                <a:cxnLst/>
                <a:rect l="l" t="t" r="r" b="b"/>
                <a:pathLst>
                  <a:path w="152400" h="9525">
                    <a:moveTo>
                      <a:pt x="0" y="0"/>
                    </a:moveTo>
                    <a:lnTo>
                      <a:pt x="152400" y="0"/>
                    </a:lnTo>
                  </a:path>
                </a:pathLst>
              </a:custGeom>
              <a:noFill/>
              <a:ln w="50800">
                <a:solidFill>
                  <a:srgbClr val="FFFFFF"/>
                </a:solidFill>
              </a:ln>
            </p:spPr>
          </p:sp>
          <p:sp>
            <p:nvSpPr>
              <p:cNvPr id="8" name="Freeform 8"/>
              <p:cNvSpPr/>
              <p:nvPr/>
            </p:nvSpPr>
            <p:spPr>
              <a:xfrm>
                <a:off x="609600" y="5435600"/>
                <a:ext cx="457201" cy="431801"/>
              </a:xfrm>
              <a:custGeom>
                <a:avLst/>
                <a:gdLst/>
                <a:ahLst/>
                <a:cxnLst/>
                <a:rect l="l" t="t" r="r" b="b"/>
                <a:pathLst>
                  <a:path w="457201" h="431801">
                    <a:moveTo>
                      <a:pt x="152400" y="355600"/>
                    </a:moveTo>
                    <a:lnTo>
                      <a:pt x="76200" y="355600"/>
                    </a:lnTo>
                    <a:cubicBezTo>
                      <a:pt x="34116" y="355600"/>
                      <a:pt x="0" y="321484"/>
                      <a:pt x="0" y="279400"/>
                    </a:cubicBezTo>
                    <a:lnTo>
                      <a:pt x="0" y="76200"/>
                    </a:lnTo>
                    <a:cubicBezTo>
                      <a:pt x="0" y="34116"/>
                      <a:pt x="34116" y="0"/>
                      <a:pt x="76200" y="0"/>
                    </a:cubicBezTo>
                    <a:lnTo>
                      <a:pt x="381000" y="0"/>
                    </a:lnTo>
                    <a:cubicBezTo>
                      <a:pt x="423085" y="0"/>
                      <a:pt x="457201" y="34116"/>
                      <a:pt x="457201" y="76200"/>
                    </a:cubicBezTo>
                    <a:lnTo>
                      <a:pt x="457201" y="279400"/>
                    </a:lnTo>
                    <a:cubicBezTo>
                      <a:pt x="457201" y="321484"/>
                      <a:pt x="423085" y="355600"/>
                      <a:pt x="381000" y="355600"/>
                    </a:cubicBezTo>
                    <a:lnTo>
                      <a:pt x="304800" y="355600"/>
                    </a:lnTo>
                    <a:lnTo>
                      <a:pt x="228600" y="431801"/>
                    </a:lnTo>
                    <a:lnTo>
                      <a:pt x="152400" y="355600"/>
                    </a:lnTo>
                  </a:path>
                </a:pathLst>
              </a:custGeom>
              <a:noFill/>
              <a:ln w="50800">
                <a:solidFill>
                  <a:srgbClr val="FFFFFF"/>
                </a:solidFill>
              </a:ln>
            </p:spPr>
          </p:sp>
        </p:grpSp>
      </p:grpSp>
      <p:grpSp>
        <p:nvGrpSpPr>
          <p:cNvPr id="21" name="Group 21"/>
          <p:cNvGrpSpPr/>
          <p:nvPr/>
        </p:nvGrpSpPr>
        <p:grpSpPr>
          <a:xfrm>
            <a:off x="5785104" y="190500"/>
            <a:ext cx="6025896" cy="543306"/>
            <a:chOff x="5785104" y="190500"/>
            <a:chExt cx="6025896" cy="543306"/>
          </a:xfrm>
        </p:grpSpPr>
        <p:sp>
          <p:nvSpPr>
            <p:cNvPr id="11" name="Rectangle 11"/>
            <p:cNvSpPr/>
            <p:nvPr/>
          </p:nvSpPr>
          <p:spPr>
            <a:xfrm>
              <a:off x="5791200" y="342900"/>
              <a:ext cx="1143000" cy="76200"/>
            </a:xfrm>
            <a:prstGeom prst="roundRect">
              <a:avLst>
                <a:gd name="adj" fmla="val 37500"/>
              </a:avLst>
            </a:prstGeom>
            <a:solidFill>
              <a:srgbClr val="E3E9F1"/>
            </a:solidFill>
            <a:ln>
              <a:noFill/>
            </a:ln>
          </p:spPr>
        </p:sp>
        <p:sp>
          <p:nvSpPr>
            <p:cNvPr id="12" name="Rectangle 12"/>
            <p:cNvSpPr/>
            <p:nvPr/>
          </p:nvSpPr>
          <p:spPr>
            <a:xfrm>
              <a:off x="7010400" y="304800"/>
              <a:ext cx="1143000" cy="114300"/>
            </a:xfrm>
            <a:prstGeom prst="roundRect">
              <a:avLst>
                <a:gd name="adj" fmla="val 25000"/>
              </a:avLst>
            </a:prstGeom>
            <a:solidFill>
              <a:schemeClr val="accent2"/>
            </a:solidFill>
            <a:ln>
              <a:noFill/>
            </a:ln>
          </p:spPr>
        </p:sp>
        <p:sp>
          <p:nvSpPr>
            <p:cNvPr id="13" name="Rectangle 13"/>
            <p:cNvSpPr/>
            <p:nvPr/>
          </p:nvSpPr>
          <p:spPr>
            <a:xfrm>
              <a:off x="8229600" y="266700"/>
              <a:ext cx="1143000" cy="152400"/>
            </a:xfrm>
            <a:prstGeom prst="roundRect">
              <a:avLst>
                <a:gd name="adj" fmla="val 18750"/>
              </a:avLst>
            </a:prstGeom>
            <a:solidFill>
              <a:srgbClr val="E3E9F1"/>
            </a:solidFill>
            <a:ln>
              <a:noFill/>
            </a:ln>
          </p:spPr>
        </p:sp>
        <p:sp>
          <p:nvSpPr>
            <p:cNvPr id="14" name="Rectangle 14"/>
            <p:cNvSpPr/>
            <p:nvPr/>
          </p:nvSpPr>
          <p:spPr>
            <a:xfrm>
              <a:off x="9448800" y="228600"/>
              <a:ext cx="1143000" cy="190500"/>
            </a:xfrm>
            <a:prstGeom prst="roundRect">
              <a:avLst>
                <a:gd name="adj" fmla="val 15000"/>
              </a:avLst>
            </a:prstGeom>
            <a:solidFill>
              <a:srgbClr val="E3E9F1"/>
            </a:solidFill>
            <a:ln>
              <a:noFill/>
            </a:ln>
          </p:spPr>
        </p:sp>
        <p:sp>
          <p:nvSpPr>
            <p:cNvPr id="15" name="Rectangle 15"/>
            <p:cNvSpPr/>
            <p:nvPr/>
          </p:nvSpPr>
          <p:spPr>
            <a:xfrm>
              <a:off x="10668000" y="190500"/>
              <a:ext cx="1143000" cy="228600"/>
            </a:xfrm>
            <a:prstGeom prst="roundRect">
              <a:avLst>
                <a:gd name="adj" fmla="val 12500"/>
              </a:avLst>
            </a:prstGeom>
            <a:solidFill>
              <a:srgbClr val="E3E9F1"/>
            </a:solidFill>
            <a:ln>
              <a:noFill/>
            </a:ln>
          </p:spPr>
        </p:sp>
        <p:sp>
          <p:nvSpPr>
            <p:cNvPr id="16" name="TextBox 16"/>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7" name="TextBox 17"/>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8" name="TextBox 18"/>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9" name="TextBox 19"/>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0" name="TextBox 20"/>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2" name="TextBox 22"/>
          <p:cNvSpPr txBox="1"/>
          <p:nvPr/>
        </p:nvSpPr>
        <p:spPr>
          <a:xfrm>
            <a:off x="4936998" y="1260158"/>
            <a:ext cx="490461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đúng việc,</a:t>
            </a:r>
            <a:br/>
            <a:r>
              <a:rPr lang="vi-VN" sz="3150" b="1" dirty="0">
                <a:solidFill>
                  <a:schemeClr val="accent1"/>
                </a:solidFill>
                <a:latin typeface="+mn-lt"/>
                <a:ea typeface="+mn-ea"/>
                <a:cs typeface="+mn-cs"/>
              </a:rPr>
              <a:t>kiểm chứng được kết quả</a:t>
            </a:r>
          </a:p>
        </p:txBody>
      </p:sp>
      <p:grpSp>
        <p:nvGrpSpPr>
          <p:cNvPr id="31" name="Group 31"/>
          <p:cNvGrpSpPr/>
          <p:nvPr/>
        </p:nvGrpSpPr>
        <p:grpSpPr>
          <a:xfrm>
            <a:off x="4944618" y="2400300"/>
            <a:ext cx="6866571" cy="1020889"/>
            <a:chOff x="4944618" y="2400300"/>
            <a:chExt cx="6866571" cy="1020889"/>
          </a:xfrm>
        </p:grpSpPr>
        <p:sp>
          <p:nvSpPr>
            <p:cNvPr id="23" name="Rectangle 23"/>
            <p:cNvSpPr/>
            <p:nvPr/>
          </p:nvSpPr>
          <p:spPr>
            <a:xfrm>
              <a:off x="4953000" y="2400300"/>
              <a:ext cx="5619750" cy="457200"/>
            </a:xfrm>
            <a:prstGeom prst="roundRect">
              <a:avLst>
                <a:gd name="adj" fmla="val 50000"/>
              </a:avLst>
            </a:prstGeom>
            <a:solidFill>
              <a:schemeClr val="lt2"/>
            </a:solidFill>
            <a:ln>
              <a:noFill/>
            </a:ln>
          </p:spPr>
        </p:sp>
        <p:grpSp>
          <p:nvGrpSpPr>
            <p:cNvPr id="28" name="Group 28"/>
            <p:cNvGrpSpPr/>
            <p:nvPr/>
          </p:nvGrpSpPr>
          <p:grpSpPr>
            <a:xfrm>
              <a:off x="5172075" y="2543175"/>
              <a:ext cx="171450" cy="161925"/>
              <a:chOff x="5172075" y="2543175"/>
              <a:chExt cx="171450" cy="161925"/>
            </a:xfrm>
          </p:grpSpPr>
          <p:sp>
            <p:nvSpPr>
              <p:cNvPr id="24" name="Freeform 24"/>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3"/>
                </a:solidFill>
              </a:ln>
            </p:spPr>
          </p:sp>
          <p:sp>
            <p:nvSpPr>
              <p:cNvPr id="25" name="Freeform 25"/>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3"/>
                </a:solidFill>
              </a:ln>
            </p:spPr>
          </p:sp>
          <p:sp>
            <p:nvSpPr>
              <p:cNvPr id="26" name="Freeform 26"/>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3"/>
                </a:solidFill>
              </a:ln>
            </p:spPr>
          </p:sp>
          <p:sp>
            <p:nvSpPr>
              <p:cNvPr id="27" name="Freeform 27"/>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3"/>
                </a:solidFill>
              </a:ln>
            </p:spPr>
          </p:sp>
        </p:grpSp>
        <p:sp>
          <p:nvSpPr>
            <p:cNvPr id="29" name="TextBox 29"/>
            <p:cNvSpPr txBox="1"/>
            <p:nvPr/>
          </p:nvSpPr>
          <p:spPr>
            <a:xfrm>
              <a:off x="5478018" y="2526982"/>
              <a:ext cx="516657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Mỗi ngày — giao việc bằng phiếu giao việc rõ ràng</a:t>
              </a:r>
            </a:p>
          </p:txBody>
        </p:sp>
        <p:sp>
          <p:nvSpPr>
            <p:cNvPr id="30" name="TextBox 30"/>
            <p:cNvSpPr txBox="1"/>
            <p:nvPr/>
          </p:nvSpPr>
          <p:spPr>
            <a:xfrm>
              <a:off x="4944618" y="3098482"/>
              <a:ext cx="6866571"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Prompt một dòng cho kết quả chung chung, phải hỏi lại 4–5 lượt.</a:t>
              </a:r>
            </a:p>
          </p:txBody>
        </p:sp>
      </p:grpSp>
      <p:grpSp>
        <p:nvGrpSpPr>
          <p:cNvPr id="45" name="Group 45"/>
          <p:cNvGrpSpPr/>
          <p:nvPr/>
        </p:nvGrpSpPr>
        <p:grpSpPr>
          <a:xfrm>
            <a:off x="4946904" y="3718560"/>
            <a:ext cx="6485940" cy="2350579"/>
            <a:chOff x="4946904" y="3718560"/>
            <a:chExt cx="6485940" cy="2350579"/>
          </a:xfrm>
        </p:grpSpPr>
        <p:sp>
          <p:nvSpPr>
            <p:cNvPr id="32" name="TextBox 32"/>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3" name="Ellipse 33"/>
            <p:cNvSpPr/>
            <p:nvPr/>
          </p:nvSpPr>
          <p:spPr>
            <a:xfrm>
              <a:off x="4962525" y="4038600"/>
              <a:ext cx="285750" cy="285750"/>
            </a:xfrm>
            <a:prstGeom prst="ellipse">
              <a:avLst/>
            </a:prstGeom>
            <a:solidFill>
              <a:schemeClr val="accent3"/>
            </a:solidFill>
            <a:ln>
              <a:noFill/>
            </a:ln>
          </p:spPr>
        </p:sp>
        <p:sp>
          <p:nvSpPr>
            <p:cNvPr id="34" name="TextBox 34"/>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5" name="TextBox 35"/>
            <p:cNvSpPr txBox="1"/>
            <p:nvPr/>
          </p:nvSpPr>
          <p:spPr>
            <a:xfrm>
              <a:off x="5382768" y="4070032"/>
              <a:ext cx="521360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Giao việc theo công thức 4 phần: Bối cảnh, Yêu cầu,</a:t>
              </a:r>
              <a:br/>
              <a:r>
                <a:rPr lang="vi-VN" sz="1650" dirty="0">
                  <a:solidFill>
                    <a:schemeClr val="dk1"/>
                  </a:solidFill>
                  <a:latin typeface="+mn-lt"/>
                  <a:ea typeface="+mn-ea"/>
                  <a:cs typeface="+mn-cs"/>
                </a:rPr>
                <a:t>Tiêu chí, Định dạng</a:t>
              </a:r>
            </a:p>
          </p:txBody>
        </p:sp>
        <p:sp>
          <p:nvSpPr>
            <p:cNvPr id="36" name="Ellipse 36"/>
            <p:cNvSpPr/>
            <p:nvPr/>
          </p:nvSpPr>
          <p:spPr>
            <a:xfrm>
              <a:off x="4962525" y="4800600"/>
              <a:ext cx="285750" cy="285750"/>
            </a:xfrm>
            <a:prstGeom prst="ellipse">
              <a:avLst/>
            </a:prstGeom>
            <a:solidFill>
              <a:schemeClr val="accent3"/>
            </a:solidFill>
            <a:ln>
              <a:noFill/>
            </a:ln>
          </p:spPr>
        </p:sp>
        <p:sp>
          <p:nvSpPr>
            <p:cNvPr id="37" name="TextBox 37"/>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8" name="TextBox 38"/>
            <p:cNvSpPr txBox="1"/>
            <p:nvPr/>
          </p:nvSpPr>
          <p:spPr>
            <a:xfrm>
              <a:off x="5382768" y="4832032"/>
              <a:ext cx="605007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Dùng 3 kỹ thuật: đưa mẫu, cho AI hỏi lại, chia nhiều bước</a:t>
              </a:r>
            </a:p>
          </p:txBody>
        </p:sp>
        <p:sp>
          <p:nvSpPr>
            <p:cNvPr id="39" name="Ellipse 39"/>
            <p:cNvSpPr/>
            <p:nvPr/>
          </p:nvSpPr>
          <p:spPr>
            <a:xfrm>
              <a:off x="4962525" y="5257800"/>
              <a:ext cx="285750" cy="285750"/>
            </a:xfrm>
            <a:prstGeom prst="ellipse">
              <a:avLst/>
            </a:prstGeom>
            <a:solidFill>
              <a:schemeClr val="accent3"/>
            </a:solidFill>
            <a:ln>
              <a:noFill/>
            </a:ln>
          </p:spPr>
        </p:sp>
        <p:sp>
          <p:nvSpPr>
            <p:cNvPr id="40" name="TextBox 40"/>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1" name="TextBox 41"/>
            <p:cNvSpPr txBox="1"/>
            <p:nvPr/>
          </p:nvSpPr>
          <p:spPr>
            <a:xfrm>
              <a:off x="5382768" y="5289232"/>
              <a:ext cx="43153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tích file số liệu mà không để AI bịa</a:t>
              </a:r>
            </a:p>
          </p:txBody>
        </p:sp>
        <p:sp>
          <p:nvSpPr>
            <p:cNvPr id="42" name="Ellipse 42"/>
            <p:cNvSpPr/>
            <p:nvPr/>
          </p:nvSpPr>
          <p:spPr>
            <a:xfrm>
              <a:off x="4962525" y="5715000"/>
              <a:ext cx="285750" cy="285750"/>
            </a:xfrm>
            <a:prstGeom prst="ellipse">
              <a:avLst/>
            </a:prstGeom>
            <a:solidFill>
              <a:schemeClr val="accent3"/>
            </a:solidFill>
            <a:ln>
              <a:noFill/>
            </a:ln>
          </p:spPr>
        </p:sp>
        <p:sp>
          <p:nvSpPr>
            <p:cNvPr id="43" name="TextBox 43"/>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4" name="TextBox 44"/>
            <p:cNvSpPr txBox="1"/>
            <p:nvPr/>
          </p:nvSpPr>
          <p:spPr>
            <a:xfrm>
              <a:off x="5382768" y="5746432"/>
              <a:ext cx="353394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chứng đầu ra trước khi dùng</a:t>
              </a:r>
            </a:p>
          </p:txBody>
        </p:sp>
      </p:grpSp>
      <p:sp>
        <p:nvSpPr>
          <p:cNvPr id="46" name="TextBox 46"/>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2440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việc bằng công thức 4 phần:</a:t>
            </a:r>
            <a:br/>
            <a:r>
              <a:rPr lang="vi-VN" sz="3150" b="1" dirty="0">
                <a:solidFill>
                  <a:schemeClr val="accent1"/>
                </a:solidFill>
                <a:latin typeface="+mn-lt"/>
                <a:ea typeface="+mn-ea"/>
                <a:cs typeface="+mn-cs"/>
              </a:rPr>
              <a:t>Bối cảnh – Yêu cầu – Tiêu chí – Định dạng</a:t>
            </a:r>
          </a:p>
        </p:txBody>
      </p:sp>
      <p:grpSp>
        <p:nvGrpSpPr>
          <p:cNvPr id="22" name="Group 22"/>
          <p:cNvGrpSpPr/>
          <p:nvPr/>
        </p:nvGrpSpPr>
        <p:grpSpPr>
          <a:xfrm>
            <a:off x="374142" y="2114550"/>
            <a:ext cx="2692908" cy="2762250"/>
            <a:chOff x="374142" y="2114550"/>
            <a:chExt cx="2692908" cy="2762250"/>
          </a:xfrm>
        </p:grpSpPr>
        <p:sp>
          <p:nvSpPr>
            <p:cNvPr id="17" name="Freeform 17"/>
            <p:cNvSpPr/>
            <p:nvPr/>
          </p:nvSpPr>
          <p:spPr>
            <a:xfrm>
              <a:off x="381000" y="2114550"/>
              <a:ext cx="2686050" cy="571500"/>
            </a:xfrm>
            <a:prstGeom prst="homePlate">
              <a:avLst/>
            </a:prstGeom>
            <a:solidFill>
              <a:schemeClr val="accent3"/>
            </a:solidFill>
            <a:ln>
              <a:noFill/>
            </a:ln>
          </p:spPr>
        </p:sp>
        <p:sp>
          <p:nvSpPr>
            <p:cNvPr id="18" name="TextBox 18"/>
            <p:cNvSpPr txBox="1"/>
            <p:nvPr/>
          </p:nvSpPr>
          <p:spPr>
            <a:xfrm>
              <a:off x="56235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Bối cảnh</a:t>
              </a:r>
            </a:p>
          </p:txBody>
        </p:sp>
        <p:sp>
          <p:nvSpPr>
            <p:cNvPr id="19" name="TextBox 19"/>
            <p:cNvSpPr txBox="1"/>
            <p:nvPr/>
          </p:nvSpPr>
          <p:spPr>
            <a:xfrm>
              <a:off x="374142" y="2845118"/>
              <a:ext cx="2128980" cy="473583"/>
            </a:xfrm>
            <a:prstGeom prst="rect">
              <a:avLst/>
            </a:prstGeom>
            <a:noFill/>
            <a:ln>
              <a:noFill/>
            </a:ln>
          </p:spPr>
          <p:txBody>
            <a:bodyPr wrap="none" lIns="0" tIns="0" rIns="0" bIns="0" anchor="t" anchorCtr="0">
              <a:spAutoFit/>
            </a:bodyPr>
            <a:lstStyle/>
            <a:p>
              <a:pPr algn="l">
                <a:lnSpc>
                  <a:spcPts val="1650"/>
                </a:lnSpc>
              </a:pPr>
              <a:r>
                <a:rPr lang="vi-VN" sz="1350" b="1" dirty="0">
                  <a:solidFill>
                    <a:srgbClr val="5B6675"/>
                  </a:solidFill>
                  <a:latin typeface="+mn-lt"/>
                  <a:ea typeface="+mn-ea"/>
                  <a:cs typeface="+mn-cs"/>
                </a:rPr>
                <a:t>Tôi là ai, tình huống gì,</a:t>
              </a:r>
              <a:br/>
              <a:r>
                <a:rPr lang="vi-VN" sz="1350" b="1" dirty="0">
                  <a:solidFill>
                    <a:srgbClr val="5B6675"/>
                  </a:solidFill>
                  <a:latin typeface="+mn-lt"/>
                  <a:ea typeface="+mn-ea"/>
                  <a:cs typeface="+mn-cs"/>
                </a:rPr>
                <a:t>có dữ liệu gì</a:t>
              </a:r>
            </a:p>
          </p:txBody>
        </p:sp>
        <p:sp>
          <p:nvSpPr>
            <p:cNvPr id="20" name="Rectangle 20"/>
            <p:cNvSpPr/>
            <p:nvPr/>
          </p:nvSpPr>
          <p:spPr>
            <a:xfrm>
              <a:off x="381000" y="3390900"/>
              <a:ext cx="2686050" cy="1485900"/>
            </a:xfrm>
            <a:prstGeom prst="roundRect">
              <a:avLst>
                <a:gd name="adj" fmla="val 8974"/>
              </a:avLst>
            </a:prstGeom>
            <a:solidFill>
              <a:schemeClr val="lt2"/>
            </a:solidFill>
            <a:ln>
              <a:noFill/>
            </a:ln>
          </p:spPr>
        </p:sp>
        <p:sp>
          <p:nvSpPr>
            <p:cNvPr id="21" name="TextBox 21"/>
            <p:cNvSpPr txBox="1"/>
            <p:nvPr/>
          </p:nvSpPr>
          <p:spPr>
            <a:xfrm>
              <a:off x="506730" y="3533775"/>
              <a:ext cx="2158365" cy="10934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“Tôi là nhân viên Sale</a:t>
              </a:r>
              <a:br/>
              <a:r>
                <a:rPr lang="vi-VN" sz="1500" i="1" dirty="0">
                  <a:solidFill>
                    <a:schemeClr val="dk1"/>
                  </a:solidFill>
                  <a:latin typeface="+mn-lt"/>
                  <a:ea typeface="+mn-ea"/>
                  <a:cs typeface="+mn-cs"/>
                </a:rPr>
                <a:t>Wir. Spa Ngọc Anh muốn</a:t>
              </a:r>
              <a:br/>
              <a:r>
                <a:rPr lang="vi-VN" sz="1500" i="1" dirty="0">
                  <a:solidFill>
                    <a:schemeClr val="dk1"/>
                  </a:solidFill>
                  <a:latin typeface="+mn-lt"/>
                  <a:ea typeface="+mn-ea"/>
                  <a:cs typeface="+mn-cs"/>
                </a:rPr>
                <a:t>nhập thử 20 hộp</a:t>
              </a:r>
              <a:br/>
              <a:r>
                <a:rPr lang="vi-VN" sz="1500" i="1" dirty="0">
                  <a:solidFill>
                    <a:schemeClr val="dk1"/>
                  </a:solidFill>
                  <a:latin typeface="+mn-lt"/>
                  <a:ea typeface="+mn-ea"/>
                  <a:cs typeface="+mn-cs"/>
                </a:rPr>
                <a:t>Elasten/tháng.”</a:t>
              </a:r>
            </a:p>
          </p:txBody>
        </p:sp>
      </p:grpSp>
      <p:grpSp>
        <p:nvGrpSpPr>
          <p:cNvPr id="28" name="Group 28"/>
          <p:cNvGrpSpPr/>
          <p:nvPr/>
        </p:nvGrpSpPr>
        <p:grpSpPr>
          <a:xfrm>
            <a:off x="3288792" y="2114550"/>
            <a:ext cx="2692908" cy="2762250"/>
            <a:chOff x="3288792" y="2114550"/>
            <a:chExt cx="2692908" cy="2762250"/>
          </a:xfrm>
        </p:grpSpPr>
        <p:sp>
          <p:nvSpPr>
            <p:cNvPr id="23" name="Freeform 23"/>
            <p:cNvSpPr/>
            <p:nvPr/>
          </p:nvSpPr>
          <p:spPr>
            <a:xfrm>
              <a:off x="3295650" y="2114550"/>
              <a:ext cx="2686050" cy="571500"/>
            </a:xfrm>
            <a:prstGeom prst="chevron">
              <a:avLst/>
            </a:prstGeom>
            <a:solidFill>
              <a:schemeClr val="accent3"/>
            </a:solidFill>
            <a:ln>
              <a:noFill/>
            </a:ln>
          </p:spPr>
        </p:sp>
        <p:sp>
          <p:nvSpPr>
            <p:cNvPr id="24" name="TextBox 24"/>
            <p:cNvSpPr txBox="1"/>
            <p:nvPr/>
          </p:nvSpPr>
          <p:spPr>
            <a:xfrm>
              <a:off x="3686556" y="2291715"/>
              <a:ext cx="942884"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Yêu cầu</a:t>
              </a:r>
            </a:p>
          </p:txBody>
        </p:sp>
        <p:sp>
          <p:nvSpPr>
            <p:cNvPr id="25" name="TextBox 25"/>
            <p:cNvSpPr txBox="1"/>
            <p:nvPr/>
          </p:nvSpPr>
          <p:spPr>
            <a:xfrm>
              <a:off x="3288792" y="2845118"/>
              <a:ext cx="1676800"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AI phải làm việc gì</a:t>
              </a:r>
            </a:p>
          </p:txBody>
        </p:sp>
        <p:sp>
          <p:nvSpPr>
            <p:cNvPr id="26" name="Rectangle 26"/>
            <p:cNvSpPr/>
            <p:nvPr/>
          </p:nvSpPr>
          <p:spPr>
            <a:xfrm>
              <a:off x="3295650" y="3390900"/>
              <a:ext cx="2686050" cy="1485900"/>
            </a:xfrm>
            <a:prstGeom prst="roundRect">
              <a:avLst>
                <a:gd name="adj" fmla="val 8974"/>
              </a:avLst>
            </a:prstGeom>
            <a:solidFill>
              <a:schemeClr val="lt2"/>
            </a:solidFill>
            <a:ln>
              <a:noFill/>
            </a:ln>
          </p:spPr>
        </p:sp>
        <p:sp>
          <p:nvSpPr>
            <p:cNvPr id="27" name="TextBox 27"/>
            <p:cNvSpPr txBox="1"/>
            <p:nvPr/>
          </p:nvSpPr>
          <p:spPr>
            <a:xfrm>
              <a:off x="3421380" y="3533775"/>
              <a:ext cx="1986915"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“Soạn tin trả lời, báo</a:t>
              </a:r>
              <a:br/>
              <a:r>
                <a:rPr lang="vi-VN" sz="1500" i="1" dirty="0">
                  <a:solidFill>
                    <a:schemeClr val="dk1"/>
                  </a:solidFill>
                  <a:latin typeface="+mn-lt"/>
                  <a:ea typeface="+mn-ea"/>
                  <a:cs typeface="+mn-cs"/>
                </a:rPr>
                <a:t>chiết khấu theo bảng</a:t>
              </a:r>
              <a:br/>
              <a:r>
                <a:rPr lang="vi-VN" sz="1500" i="1" dirty="0">
                  <a:solidFill>
                    <a:schemeClr val="dk1"/>
                  </a:solidFill>
                  <a:latin typeface="+mn-lt"/>
                  <a:ea typeface="+mn-ea"/>
                  <a:cs typeface="+mn-cs"/>
                </a:rPr>
                <a:t>giá sỉ.”</a:t>
              </a:r>
            </a:p>
          </p:txBody>
        </p:sp>
      </p:grpSp>
      <p:grpSp>
        <p:nvGrpSpPr>
          <p:cNvPr id="34" name="Group 34"/>
          <p:cNvGrpSpPr/>
          <p:nvPr/>
        </p:nvGrpSpPr>
        <p:grpSpPr>
          <a:xfrm>
            <a:off x="6203442" y="2114550"/>
            <a:ext cx="2692908" cy="2762250"/>
            <a:chOff x="6203442" y="2114550"/>
            <a:chExt cx="2692908" cy="2762250"/>
          </a:xfrm>
        </p:grpSpPr>
        <p:sp>
          <p:nvSpPr>
            <p:cNvPr id="29" name="Freeform 29"/>
            <p:cNvSpPr/>
            <p:nvPr/>
          </p:nvSpPr>
          <p:spPr>
            <a:xfrm>
              <a:off x="6210300" y="2114550"/>
              <a:ext cx="2686050" cy="571500"/>
            </a:xfrm>
            <a:prstGeom prst="chevron">
              <a:avLst/>
            </a:prstGeom>
            <a:solidFill>
              <a:schemeClr val="accent3"/>
            </a:solidFill>
            <a:ln>
              <a:noFill/>
            </a:ln>
          </p:spPr>
        </p:sp>
        <p:sp>
          <p:nvSpPr>
            <p:cNvPr id="30" name="TextBox 30"/>
            <p:cNvSpPr txBox="1"/>
            <p:nvPr/>
          </p:nvSpPr>
          <p:spPr>
            <a:xfrm>
              <a:off x="660120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Tiêu chí</a:t>
              </a:r>
            </a:p>
          </p:txBody>
        </p:sp>
        <p:sp>
          <p:nvSpPr>
            <p:cNvPr id="31" name="TextBox 31"/>
            <p:cNvSpPr txBox="1"/>
            <p:nvPr/>
          </p:nvSpPr>
          <p:spPr>
            <a:xfrm>
              <a:off x="6203442" y="2845118"/>
              <a:ext cx="1298815"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Thế nào là đạt</a:t>
              </a:r>
            </a:p>
          </p:txBody>
        </p:sp>
        <p:sp>
          <p:nvSpPr>
            <p:cNvPr id="32" name="Rectangle 32"/>
            <p:cNvSpPr/>
            <p:nvPr/>
          </p:nvSpPr>
          <p:spPr>
            <a:xfrm>
              <a:off x="6210300" y="3390900"/>
              <a:ext cx="2686050" cy="1485900"/>
            </a:xfrm>
            <a:prstGeom prst="roundRect">
              <a:avLst>
                <a:gd name="adj" fmla="val 8974"/>
              </a:avLst>
            </a:prstGeom>
            <a:solidFill>
              <a:schemeClr val="lt2"/>
            </a:solidFill>
            <a:ln>
              <a:noFill/>
            </a:ln>
          </p:spPr>
        </p:sp>
        <p:sp>
          <p:nvSpPr>
            <p:cNvPr id="33" name="TextBox 33"/>
            <p:cNvSpPr txBox="1"/>
            <p:nvPr/>
          </p:nvSpPr>
          <p:spPr>
            <a:xfrm>
              <a:off x="6336030" y="3533775"/>
              <a:ext cx="1920240"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“Dưới 150 chữ. Không</a:t>
              </a:r>
              <a:br/>
              <a:r>
                <a:rPr lang="vi-VN" sz="1500" i="1" dirty="0">
                  <a:solidFill>
                    <a:schemeClr val="dk1"/>
                  </a:solidFill>
                  <a:latin typeface="+mn-lt"/>
                  <a:ea typeface="+mn-ea"/>
                  <a:cs typeface="+mn-cs"/>
                </a:rPr>
                <a:t>hứa ngoài bảng.</a:t>
              </a:r>
              <a:br/>
              <a:r>
                <a:rPr lang="vi-VN" sz="1500" i="1" dirty="0">
                  <a:solidFill>
                    <a:schemeClr val="dk1"/>
                  </a:solidFill>
                  <a:latin typeface="+mn-lt"/>
                  <a:ea typeface="+mn-ea"/>
                  <a:cs typeface="+mn-cs"/>
                </a:rPr>
                <a:t>Không emoji.”</a:t>
              </a:r>
            </a:p>
          </p:txBody>
        </p:sp>
      </p:grpSp>
      <p:grpSp>
        <p:nvGrpSpPr>
          <p:cNvPr id="40" name="Group 40"/>
          <p:cNvGrpSpPr/>
          <p:nvPr/>
        </p:nvGrpSpPr>
        <p:grpSpPr>
          <a:xfrm>
            <a:off x="9118092" y="2114550"/>
            <a:ext cx="2692908" cy="2762250"/>
            <a:chOff x="9118092" y="2114550"/>
            <a:chExt cx="2692908" cy="2762250"/>
          </a:xfrm>
        </p:grpSpPr>
        <p:sp>
          <p:nvSpPr>
            <p:cNvPr id="35" name="Freeform 35"/>
            <p:cNvSpPr/>
            <p:nvPr/>
          </p:nvSpPr>
          <p:spPr>
            <a:xfrm>
              <a:off x="9124950" y="2114550"/>
              <a:ext cx="2686050" cy="571500"/>
            </a:xfrm>
            <a:prstGeom prst="chevron">
              <a:avLst/>
            </a:prstGeom>
            <a:solidFill>
              <a:schemeClr val="accent3"/>
            </a:solidFill>
            <a:ln>
              <a:noFill/>
            </a:ln>
          </p:spPr>
        </p:sp>
        <p:sp>
          <p:nvSpPr>
            <p:cNvPr id="36" name="TextBox 36"/>
            <p:cNvSpPr txBox="1"/>
            <p:nvPr/>
          </p:nvSpPr>
          <p:spPr>
            <a:xfrm>
              <a:off x="9515856" y="2291715"/>
              <a:ext cx="122257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Định dạng</a:t>
              </a:r>
            </a:p>
          </p:txBody>
        </p:sp>
        <p:sp>
          <p:nvSpPr>
            <p:cNvPr id="37" name="TextBox 37"/>
            <p:cNvSpPr txBox="1"/>
            <p:nvPr/>
          </p:nvSpPr>
          <p:spPr>
            <a:xfrm>
              <a:off x="9118092" y="2845118"/>
              <a:ext cx="1556537"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Trình bày ra sao</a:t>
              </a:r>
            </a:p>
          </p:txBody>
        </p:sp>
        <p:sp>
          <p:nvSpPr>
            <p:cNvPr id="38" name="Rectangle 38"/>
            <p:cNvSpPr/>
            <p:nvPr/>
          </p:nvSpPr>
          <p:spPr>
            <a:xfrm>
              <a:off x="9124950" y="3390900"/>
              <a:ext cx="2686050" cy="1485900"/>
            </a:xfrm>
            <a:prstGeom prst="roundRect">
              <a:avLst>
                <a:gd name="adj" fmla="val 8974"/>
              </a:avLst>
            </a:prstGeom>
            <a:solidFill>
              <a:schemeClr val="lt2"/>
            </a:solidFill>
            <a:ln>
              <a:noFill/>
            </a:ln>
          </p:spPr>
        </p:sp>
        <p:sp>
          <p:nvSpPr>
            <p:cNvPr id="39" name="TextBox 39"/>
            <p:cNvSpPr txBox="1"/>
            <p:nvPr/>
          </p:nvSpPr>
          <p:spPr>
            <a:xfrm>
              <a:off x="9250680" y="3533775"/>
              <a:ext cx="2253615" cy="5600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“Tin nhắn Zalo: lời chào,</a:t>
              </a:r>
              <a:br/>
              <a:r>
                <a:rPr lang="vi-VN" sz="1500" i="1" dirty="0">
                  <a:solidFill>
                    <a:schemeClr val="dk1"/>
                  </a:solidFill>
                  <a:latin typeface="+mn-lt"/>
                  <a:ea typeface="+mn-ea"/>
                  <a:cs typeface="+mn-cs"/>
                </a:rPr>
                <a:t>nội dung, chữ ký.”</a:t>
              </a:r>
            </a:p>
          </p:txBody>
        </p:sp>
      </p:grpSp>
      <p:grpSp>
        <p:nvGrpSpPr>
          <p:cNvPr id="57" name="Group 57"/>
          <p:cNvGrpSpPr/>
          <p:nvPr/>
        </p:nvGrpSpPr>
        <p:grpSpPr>
          <a:xfrm>
            <a:off x="381000" y="5143500"/>
            <a:ext cx="11430000" cy="609600"/>
            <a:chOff x="381000" y="5143500"/>
            <a:chExt cx="11430000" cy="609600"/>
          </a:xfrm>
        </p:grpSpPr>
        <p:sp>
          <p:nvSpPr>
            <p:cNvPr id="41" name="Rectangle 41"/>
            <p:cNvSpPr/>
            <p:nvPr/>
          </p:nvSpPr>
          <p:spPr>
            <a:xfrm>
              <a:off x="381000" y="5143500"/>
              <a:ext cx="11430000" cy="609600"/>
            </a:xfrm>
            <a:prstGeom prst="roundRect">
              <a:avLst>
                <a:gd name="adj" fmla="val 21875"/>
              </a:avLst>
            </a:prstGeom>
            <a:solidFill>
              <a:srgbClr val="FCEBDD"/>
            </a:solidFill>
            <a:ln>
              <a:noFill/>
            </a:ln>
          </p:spPr>
        </p:sp>
        <p:grpSp>
          <p:nvGrpSpPr>
            <p:cNvPr id="45" name="Group 45"/>
            <p:cNvGrpSpPr/>
            <p:nvPr/>
          </p:nvGrpSpPr>
          <p:grpSpPr>
            <a:xfrm>
              <a:off x="589739" y="5359411"/>
              <a:ext cx="192114" cy="165051"/>
              <a:chOff x="589739" y="5359411"/>
              <a:chExt cx="192114" cy="165051"/>
            </a:xfrm>
          </p:grpSpPr>
          <p:sp>
            <p:nvSpPr>
              <p:cNvPr id="42" name="Freeform 42"/>
              <p:cNvSpPr/>
              <p:nvPr/>
            </p:nvSpPr>
            <p:spPr>
              <a:xfrm>
                <a:off x="68580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43" name="Freeform 43"/>
              <p:cNvSpPr/>
              <p:nvPr/>
            </p:nvSpPr>
            <p:spPr>
              <a:xfrm>
                <a:off x="5897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44" name="Freeform 44"/>
              <p:cNvSpPr/>
              <p:nvPr/>
            </p:nvSpPr>
            <p:spPr>
              <a:xfrm>
                <a:off x="68580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46" name="TextBox 46"/>
            <p:cNvSpPr txBox="1"/>
            <p:nvPr/>
          </p:nvSpPr>
          <p:spPr>
            <a:xfrm>
              <a:off x="887730" y="5353050"/>
              <a:ext cx="353919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Bối cảnh</a:t>
              </a:r>
              <a:r>
                <a:rPr lang="vi-VN" sz="1500" dirty="0">
                  <a:solidFill>
                    <a:schemeClr val="dk1"/>
                  </a:solidFill>
                  <a:latin typeface="+mn-lt"/>
                  <a:ea typeface="+mn-ea"/>
                  <a:cs typeface="+mn-cs"/>
                </a:rPr>
                <a:t> → trả lời chung chung</a:t>
              </a:r>
            </a:p>
          </p:txBody>
        </p:sp>
        <p:grpSp>
          <p:nvGrpSpPr>
            <p:cNvPr id="50" name="Group 50"/>
            <p:cNvGrpSpPr/>
            <p:nvPr/>
          </p:nvGrpSpPr>
          <p:grpSpPr>
            <a:xfrm>
              <a:off x="4323539" y="5359411"/>
              <a:ext cx="192114" cy="165051"/>
              <a:chOff x="4323539" y="5359411"/>
              <a:chExt cx="192114" cy="165051"/>
            </a:xfrm>
          </p:grpSpPr>
          <p:sp>
            <p:nvSpPr>
              <p:cNvPr id="47" name="Freeform 47"/>
              <p:cNvSpPr/>
              <p:nvPr/>
            </p:nvSpPr>
            <p:spPr>
              <a:xfrm>
                <a:off x="441960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48" name="Freeform 48"/>
              <p:cNvSpPr/>
              <p:nvPr/>
            </p:nvSpPr>
            <p:spPr>
              <a:xfrm>
                <a:off x="43235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49" name="Freeform 49"/>
              <p:cNvSpPr/>
              <p:nvPr/>
            </p:nvSpPr>
            <p:spPr>
              <a:xfrm>
                <a:off x="441960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51" name="TextBox 51"/>
            <p:cNvSpPr txBox="1"/>
            <p:nvPr/>
          </p:nvSpPr>
          <p:spPr>
            <a:xfrm>
              <a:off x="4621530" y="5353050"/>
              <a:ext cx="329687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Tiêu chí</a:t>
              </a:r>
              <a:r>
                <a:rPr lang="vi-VN" sz="1500" dirty="0">
                  <a:solidFill>
                    <a:schemeClr val="dk1"/>
                  </a:solidFill>
                  <a:latin typeface="+mn-lt"/>
                  <a:ea typeface="+mn-ea"/>
                  <a:cs typeface="+mn-cs"/>
                </a:rPr>
                <a:t> → lan man, hứa bừa</a:t>
              </a:r>
            </a:p>
          </p:txBody>
        </p:sp>
        <p:grpSp>
          <p:nvGrpSpPr>
            <p:cNvPr id="55" name="Group 55"/>
            <p:cNvGrpSpPr/>
            <p:nvPr/>
          </p:nvGrpSpPr>
          <p:grpSpPr>
            <a:xfrm>
              <a:off x="8038289" y="5359411"/>
              <a:ext cx="192114" cy="165051"/>
              <a:chOff x="8038289" y="5359411"/>
              <a:chExt cx="192114" cy="165051"/>
            </a:xfrm>
          </p:grpSpPr>
          <p:sp>
            <p:nvSpPr>
              <p:cNvPr id="52" name="Freeform 52"/>
              <p:cNvSpPr/>
              <p:nvPr/>
            </p:nvSpPr>
            <p:spPr>
              <a:xfrm>
                <a:off x="813435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53" name="Freeform 53"/>
              <p:cNvSpPr/>
              <p:nvPr/>
            </p:nvSpPr>
            <p:spPr>
              <a:xfrm>
                <a:off x="803828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54" name="Freeform 54"/>
              <p:cNvSpPr/>
              <p:nvPr/>
            </p:nvSpPr>
            <p:spPr>
              <a:xfrm>
                <a:off x="813435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56" name="TextBox 56"/>
            <p:cNvSpPr txBox="1"/>
            <p:nvPr/>
          </p:nvSpPr>
          <p:spPr>
            <a:xfrm>
              <a:off x="8336280" y="5353050"/>
              <a:ext cx="31539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Định dạng</a:t>
              </a:r>
              <a:r>
                <a:rPr lang="vi-VN" sz="1500" dirty="0">
                  <a:solidFill>
                    <a:schemeClr val="dk1"/>
                  </a:solidFill>
                  <a:latin typeface="+mn-lt"/>
                  <a:ea typeface="+mn-ea"/>
                  <a:cs typeface="+mn-cs"/>
                </a:rPr>
                <a:t> → sửa lại từ đầu</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7523727" y="6554152"/>
            <a:ext cx="362585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từ dữ liệu demo Wir (danh sách lead) · minh hoạ</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fade">
                                      <p:cBhvr>
                                        <p:cTn id="2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8951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Prompt một dòng cho tin nhắn chung chung;</a:t>
            </a:r>
            <a:br/>
            <a:r>
              <a:rPr lang="vi-VN" sz="3150" b="1" dirty="0">
                <a:solidFill>
                  <a:schemeClr val="accent1"/>
                </a:solidFill>
                <a:latin typeface="+mn-lt"/>
                <a:ea typeface="+mn-ea"/>
                <a:cs typeface="+mn-cs"/>
              </a:rPr>
              <a:t>prompt đủ 4 phần cho tin nhắn gửi được ngay</a:t>
            </a:r>
          </a:p>
        </p:txBody>
      </p:sp>
      <p:grpSp>
        <p:nvGrpSpPr>
          <p:cNvPr id="40" name="Group 40"/>
          <p:cNvGrpSpPr/>
          <p:nvPr/>
        </p:nvGrpSpPr>
        <p:grpSpPr>
          <a:xfrm>
            <a:off x="381000" y="2114550"/>
            <a:ext cx="4648200" cy="3562350"/>
            <a:chOff x="381000" y="2114550"/>
            <a:chExt cx="4648200" cy="3562350"/>
          </a:xfrm>
        </p:grpSpPr>
        <p:sp>
          <p:nvSpPr>
            <p:cNvPr id="17" name="Rectangle 17"/>
            <p:cNvSpPr/>
            <p:nvPr/>
          </p:nvSpPr>
          <p:spPr>
            <a:xfrm>
              <a:off x="381000" y="2114550"/>
              <a:ext cx="4648200" cy="3562350"/>
            </a:xfrm>
            <a:prstGeom prst="roundRect">
              <a:avLst>
                <a:gd name="adj" fmla="val 4278"/>
              </a:avLst>
            </a:prstGeom>
            <a:solidFill>
              <a:schemeClr val="lt1"/>
            </a:solidFill>
            <a:ln w="19050">
              <a:solidFill>
                <a:srgbClr val="C0392B"/>
              </a:solidFill>
            </a:ln>
          </p:spPr>
        </p:sp>
        <p:grpSp>
          <p:nvGrpSpPr>
            <p:cNvPr id="20" name="Group 20"/>
            <p:cNvGrpSpPr/>
            <p:nvPr/>
          </p:nvGrpSpPr>
          <p:grpSpPr>
            <a:xfrm>
              <a:off x="640556" y="2316956"/>
              <a:ext cx="185737" cy="185737"/>
              <a:chOff x="640556" y="2316956"/>
              <a:chExt cx="185737" cy="185737"/>
            </a:xfrm>
          </p:grpSpPr>
          <p:sp>
            <p:nvSpPr>
              <p:cNvPr id="18" name="Freeform 18"/>
              <p:cNvSpPr/>
              <p:nvPr/>
            </p:nvSpPr>
            <p:spPr>
              <a:xfrm>
                <a:off x="6405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sp>
          <p:sp>
            <p:nvSpPr>
              <p:cNvPr id="19" name="Freeform 19"/>
              <p:cNvSpPr/>
              <p:nvPr/>
            </p:nvSpPr>
            <p:spPr>
              <a:xfrm>
                <a:off x="712787" y="2389187"/>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sp>
        </p:grpSp>
        <p:sp>
          <p:nvSpPr>
            <p:cNvPr id="21" name="TextBox 21"/>
            <p:cNvSpPr txBox="1"/>
            <p:nvPr/>
          </p:nvSpPr>
          <p:spPr>
            <a:xfrm>
              <a:off x="945642" y="2330768"/>
              <a:ext cx="1198504"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PROMPT TỒI</a:t>
              </a:r>
            </a:p>
          </p:txBody>
        </p:sp>
        <p:sp>
          <p:nvSpPr>
            <p:cNvPr id="22" name="Rectangle 22"/>
            <p:cNvSpPr/>
            <p:nvPr/>
          </p:nvSpPr>
          <p:spPr>
            <a:xfrm>
              <a:off x="609600" y="2686050"/>
              <a:ext cx="4191000" cy="609600"/>
            </a:xfrm>
            <a:prstGeom prst="roundRect">
              <a:avLst>
                <a:gd name="adj" fmla="val 15625"/>
              </a:avLst>
            </a:prstGeom>
            <a:solidFill>
              <a:schemeClr val="lt2"/>
            </a:solidFill>
            <a:ln>
              <a:noFill/>
            </a:ln>
          </p:spPr>
        </p:sp>
        <p:sp>
          <p:nvSpPr>
            <p:cNvPr id="23" name="TextBox 23"/>
            <p:cNvSpPr txBox="1"/>
            <p:nvPr/>
          </p:nvSpPr>
          <p:spPr>
            <a:xfrm>
              <a:off x="791718" y="2888932"/>
              <a:ext cx="320810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Trả lời spa hỏi giá sỉ Elasten.</a:t>
              </a:r>
            </a:p>
          </p:txBody>
        </p:sp>
        <p:sp>
          <p:nvSpPr>
            <p:cNvPr id="24" name="TextBox 24"/>
            <p:cNvSpPr txBox="1"/>
            <p:nvPr/>
          </p:nvSpPr>
          <p:spPr>
            <a:xfrm>
              <a:off x="603504" y="3604260"/>
              <a:ext cx="75724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a:t>
              </a:r>
            </a:p>
          </p:txBody>
        </p:sp>
        <p:grpSp>
          <p:nvGrpSpPr>
            <p:cNvPr id="28" name="Group 28"/>
            <p:cNvGrpSpPr/>
            <p:nvPr/>
          </p:nvGrpSpPr>
          <p:grpSpPr>
            <a:xfrm>
              <a:off x="626319" y="3966643"/>
              <a:ext cx="176105" cy="151297"/>
              <a:chOff x="626319" y="3966643"/>
              <a:chExt cx="176105" cy="151297"/>
            </a:xfrm>
          </p:grpSpPr>
          <p:sp>
            <p:nvSpPr>
              <p:cNvPr id="25" name="Freeform 25"/>
              <p:cNvSpPr/>
              <p:nvPr/>
            </p:nvSpPr>
            <p:spPr>
              <a:xfrm>
                <a:off x="714375" y="4021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26" name="Freeform 26"/>
              <p:cNvSpPr/>
              <p:nvPr/>
            </p:nvSpPr>
            <p:spPr>
              <a:xfrm>
                <a:off x="626319" y="3966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27" name="Freeform 27"/>
              <p:cNvSpPr/>
              <p:nvPr/>
            </p:nvSpPr>
            <p:spPr>
              <a:xfrm>
                <a:off x="714375" y="4083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29" name="TextBox 29"/>
            <p:cNvSpPr txBox="1"/>
            <p:nvPr/>
          </p:nvSpPr>
          <p:spPr>
            <a:xfrm>
              <a:off x="925830" y="3952875"/>
              <a:ext cx="98119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Tự bịa giá</a:t>
              </a:r>
            </a:p>
          </p:txBody>
        </p:sp>
        <p:grpSp>
          <p:nvGrpSpPr>
            <p:cNvPr id="33" name="Group 33"/>
            <p:cNvGrpSpPr/>
            <p:nvPr/>
          </p:nvGrpSpPr>
          <p:grpSpPr>
            <a:xfrm>
              <a:off x="626319" y="4347643"/>
              <a:ext cx="176105" cy="151297"/>
              <a:chOff x="626319" y="4347643"/>
              <a:chExt cx="176105" cy="151297"/>
            </a:xfrm>
          </p:grpSpPr>
          <p:sp>
            <p:nvSpPr>
              <p:cNvPr id="30" name="Freeform 30"/>
              <p:cNvSpPr/>
              <p:nvPr/>
            </p:nvSpPr>
            <p:spPr>
              <a:xfrm>
                <a:off x="714375" y="4402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1" name="Freeform 31"/>
              <p:cNvSpPr/>
              <p:nvPr/>
            </p:nvSpPr>
            <p:spPr>
              <a:xfrm>
                <a:off x="626319" y="4347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2" name="Freeform 32"/>
              <p:cNvSpPr/>
              <p:nvPr/>
            </p:nvSpPr>
            <p:spPr>
              <a:xfrm>
                <a:off x="714375" y="4464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34" name="TextBox 34"/>
            <p:cNvSpPr txBox="1"/>
            <p:nvPr/>
          </p:nvSpPr>
          <p:spPr>
            <a:xfrm>
              <a:off x="925830" y="4333875"/>
              <a:ext cx="24351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Hứa chiết khấu vượt bảng</a:t>
              </a:r>
            </a:p>
          </p:txBody>
        </p:sp>
        <p:grpSp>
          <p:nvGrpSpPr>
            <p:cNvPr id="38" name="Group 38"/>
            <p:cNvGrpSpPr/>
            <p:nvPr/>
          </p:nvGrpSpPr>
          <p:grpSpPr>
            <a:xfrm>
              <a:off x="626319" y="4728643"/>
              <a:ext cx="176105" cy="151297"/>
              <a:chOff x="626319" y="4728643"/>
              <a:chExt cx="176105" cy="151297"/>
            </a:xfrm>
          </p:grpSpPr>
          <p:sp>
            <p:nvSpPr>
              <p:cNvPr id="35" name="Freeform 35"/>
              <p:cNvSpPr/>
              <p:nvPr/>
            </p:nvSpPr>
            <p:spPr>
              <a:xfrm>
                <a:off x="714375" y="4783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6" name="Freeform 36"/>
              <p:cNvSpPr/>
              <p:nvPr/>
            </p:nvSpPr>
            <p:spPr>
              <a:xfrm>
                <a:off x="626319" y="4728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7" name="Freeform 37"/>
              <p:cNvSpPr/>
              <p:nvPr/>
            </p:nvSpPr>
            <p:spPr>
              <a:xfrm>
                <a:off x="714375" y="4845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39" name="TextBox 39"/>
            <p:cNvSpPr txBox="1"/>
            <p:nvPr/>
          </p:nvSpPr>
          <p:spPr>
            <a:xfrm>
              <a:off x="925830" y="4714875"/>
              <a:ext cx="19920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Nói “tốt cho bà bầu”</a:t>
              </a:r>
            </a:p>
          </p:txBody>
        </p:sp>
      </p:grpSp>
      <p:grpSp>
        <p:nvGrpSpPr>
          <p:cNvPr id="62" name="Group 62"/>
          <p:cNvGrpSpPr/>
          <p:nvPr/>
        </p:nvGrpSpPr>
        <p:grpSpPr>
          <a:xfrm>
            <a:off x="5257800" y="2114550"/>
            <a:ext cx="6553200" cy="3562350"/>
            <a:chOff x="5257800" y="2114550"/>
            <a:chExt cx="6553200" cy="3562350"/>
          </a:xfrm>
        </p:grpSpPr>
        <p:sp>
          <p:nvSpPr>
            <p:cNvPr id="41" name="Rectangle 41"/>
            <p:cNvSpPr/>
            <p:nvPr/>
          </p:nvSpPr>
          <p:spPr>
            <a:xfrm>
              <a:off x="5257800" y="2114550"/>
              <a:ext cx="6553200" cy="3562350"/>
            </a:xfrm>
            <a:prstGeom prst="roundRect">
              <a:avLst>
                <a:gd name="adj" fmla="val 4278"/>
              </a:avLst>
            </a:prstGeom>
            <a:solidFill>
              <a:schemeClr val="lt1"/>
            </a:solidFill>
            <a:ln w="19050">
              <a:solidFill>
                <a:srgbClr val="2E8B57"/>
              </a:solidFill>
            </a:ln>
          </p:spPr>
        </p:sp>
        <p:grpSp>
          <p:nvGrpSpPr>
            <p:cNvPr id="44" name="Group 44"/>
            <p:cNvGrpSpPr/>
            <p:nvPr/>
          </p:nvGrpSpPr>
          <p:grpSpPr>
            <a:xfrm>
              <a:off x="5517356" y="2316956"/>
              <a:ext cx="185737" cy="185737"/>
              <a:chOff x="5517356" y="2316956"/>
              <a:chExt cx="185737" cy="185737"/>
            </a:xfrm>
          </p:grpSpPr>
          <p:sp>
            <p:nvSpPr>
              <p:cNvPr id="42" name="Freeform 42"/>
              <p:cNvSpPr/>
              <p:nvPr/>
            </p:nvSpPr>
            <p:spPr>
              <a:xfrm>
                <a:off x="55173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43" name="Freeform 43"/>
              <p:cNvSpPr/>
              <p:nvPr/>
            </p:nvSpPr>
            <p:spPr>
              <a:xfrm>
                <a:off x="5579268" y="238918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45" name="TextBox 45"/>
            <p:cNvSpPr txBox="1"/>
            <p:nvPr/>
          </p:nvSpPr>
          <p:spPr>
            <a:xfrm>
              <a:off x="5822442" y="2330768"/>
              <a:ext cx="1248910" cy="264033"/>
            </a:xfrm>
            <a:prstGeom prst="rect">
              <a:avLst/>
            </a:prstGeom>
            <a:noFill/>
            <a:ln>
              <a:noFill/>
            </a:ln>
          </p:spPr>
          <p:txBody>
            <a:bodyPr wrap="none" lIns="0" tIns="0" rIns="0" bIns="0" anchor="t" anchorCtr="0">
              <a:spAutoFit/>
            </a:bodyPr>
            <a:lstStyle/>
            <a:p>
              <a:pPr algn="l"/>
              <a:r>
                <a:rPr lang="vi-VN" sz="1350" b="1" spc="75" dirty="0">
                  <a:solidFill>
                    <a:srgbClr val="2E8B57"/>
                  </a:solidFill>
                  <a:latin typeface="+mn-lt"/>
                  <a:ea typeface="+mn-ea"/>
                  <a:cs typeface="+mn-cs"/>
                </a:rPr>
                <a:t>PROMPT TỐT</a:t>
              </a:r>
            </a:p>
          </p:txBody>
        </p:sp>
        <p:grpSp>
          <p:nvGrpSpPr>
            <p:cNvPr id="49" name="Group 49"/>
            <p:cNvGrpSpPr/>
            <p:nvPr/>
          </p:nvGrpSpPr>
          <p:grpSpPr>
            <a:xfrm>
              <a:off x="5486400" y="2686050"/>
              <a:ext cx="5684520" cy="1083945"/>
              <a:chOff x="5486400" y="2686050"/>
              <a:chExt cx="5684520" cy="1083945"/>
            </a:xfrm>
          </p:grpSpPr>
          <p:sp>
            <p:nvSpPr>
              <p:cNvPr id="46" name="Rectangle 46"/>
              <p:cNvSpPr/>
              <p:nvPr/>
            </p:nvSpPr>
            <p:spPr>
              <a:xfrm>
                <a:off x="5486400" y="2686050"/>
                <a:ext cx="1181100" cy="304800"/>
              </a:xfrm>
              <a:prstGeom prst="roundRect">
                <a:avLst>
                  <a:gd name="adj" fmla="val 50000"/>
                </a:avLst>
              </a:prstGeom>
              <a:solidFill>
                <a:schemeClr val="accent3"/>
              </a:solidFill>
              <a:ln>
                <a:noFill/>
              </a:ln>
            </p:spPr>
          </p:sp>
          <p:sp>
            <p:nvSpPr>
              <p:cNvPr id="47" name="TextBox 47"/>
              <p:cNvSpPr txBox="1"/>
              <p:nvPr/>
            </p:nvSpPr>
            <p:spPr>
              <a:xfrm>
                <a:off x="5652535" y="274320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Bối cảnh</a:t>
                </a:r>
              </a:p>
            </p:txBody>
          </p:sp>
          <p:sp>
            <p:nvSpPr>
              <p:cNvPr id="48" name="TextBox 48"/>
              <p:cNvSpPr txBox="1"/>
              <p:nvPr/>
            </p:nvSpPr>
            <p:spPr>
              <a:xfrm>
                <a:off x="6812280" y="2733675"/>
                <a:ext cx="4358640"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Sale Wir; Spa Ngọc Anh (3 chi nhánh) muốn nhập</a:t>
                </a:r>
                <a:br/>
                <a:r>
                  <a:rPr lang="vi-VN" sz="1500" dirty="0">
                    <a:solidFill>
                      <a:schemeClr val="dk1"/>
                    </a:solidFill>
                    <a:latin typeface="+mn-lt"/>
                    <a:ea typeface="+mn-ea"/>
                    <a:cs typeface="+mn-cs"/>
                  </a:rPr>
                  <a:t>thử 20 hộp Elasten/tháng, hỏi bà bầu dùng được</a:t>
                </a:r>
                <a:br/>
                <a:r>
                  <a:rPr lang="vi-VN" sz="1500" dirty="0">
                    <a:solidFill>
                      <a:schemeClr val="dk1"/>
                    </a:solidFill>
                    <a:latin typeface="+mn-lt"/>
                    <a:ea typeface="+mn-ea"/>
                    <a:cs typeface="+mn-cs"/>
                  </a:rPr>
                  <a:t>không; giám định: không gây rủi ro cho phụ nữ</a:t>
                </a:r>
                <a:br/>
                <a:r>
                  <a:rPr lang="vi-VN" sz="1500" dirty="0">
                    <a:solidFill>
                      <a:schemeClr val="dk1"/>
                    </a:solidFill>
                    <a:latin typeface="+mn-lt"/>
                    <a:ea typeface="+mn-ea"/>
                    <a:cs typeface="+mn-cs"/>
                  </a:rPr>
                  <a:t>mang thai, cho con bú</a:t>
                </a:r>
              </a:p>
            </p:txBody>
          </p:sp>
        </p:grpSp>
        <p:grpSp>
          <p:nvGrpSpPr>
            <p:cNvPr id="53" name="Group 53"/>
            <p:cNvGrpSpPr/>
            <p:nvPr/>
          </p:nvGrpSpPr>
          <p:grpSpPr>
            <a:xfrm>
              <a:off x="5486400" y="3829050"/>
              <a:ext cx="2821627" cy="350520"/>
              <a:chOff x="5486400" y="3829050"/>
              <a:chExt cx="2821627" cy="350520"/>
            </a:xfrm>
          </p:grpSpPr>
          <p:sp>
            <p:nvSpPr>
              <p:cNvPr id="50" name="Rectangle 50"/>
              <p:cNvSpPr/>
              <p:nvPr/>
            </p:nvSpPr>
            <p:spPr>
              <a:xfrm>
                <a:off x="5486400" y="3829050"/>
                <a:ext cx="1181100" cy="304800"/>
              </a:xfrm>
              <a:prstGeom prst="roundRect">
                <a:avLst>
                  <a:gd name="adj" fmla="val 50000"/>
                </a:avLst>
              </a:prstGeom>
              <a:solidFill>
                <a:schemeClr val="accent3"/>
              </a:solidFill>
              <a:ln>
                <a:noFill/>
              </a:ln>
            </p:spPr>
          </p:sp>
          <p:sp>
            <p:nvSpPr>
              <p:cNvPr id="51" name="TextBox 51"/>
              <p:cNvSpPr txBox="1"/>
              <p:nvPr/>
            </p:nvSpPr>
            <p:spPr>
              <a:xfrm>
                <a:off x="5684082" y="3886200"/>
                <a:ext cx="785736"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Yêu cầu</a:t>
                </a:r>
              </a:p>
            </p:txBody>
          </p:sp>
          <p:sp>
            <p:nvSpPr>
              <p:cNvPr id="52" name="TextBox 52"/>
              <p:cNvSpPr txBox="1"/>
              <p:nvPr/>
            </p:nvSpPr>
            <p:spPr>
              <a:xfrm>
                <a:off x="6812280" y="3876675"/>
                <a:ext cx="149574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Soạn tin trả lời</a:t>
                </a:r>
              </a:p>
            </p:txBody>
          </p:sp>
        </p:grpSp>
        <p:grpSp>
          <p:nvGrpSpPr>
            <p:cNvPr id="57" name="Group 57"/>
            <p:cNvGrpSpPr/>
            <p:nvPr/>
          </p:nvGrpSpPr>
          <p:grpSpPr>
            <a:xfrm>
              <a:off x="5486400" y="4305300"/>
              <a:ext cx="5484495" cy="836295"/>
              <a:chOff x="5486400" y="4305300"/>
              <a:chExt cx="5484495" cy="836295"/>
            </a:xfrm>
          </p:grpSpPr>
          <p:sp>
            <p:nvSpPr>
              <p:cNvPr id="54" name="Rectangle 54"/>
              <p:cNvSpPr/>
              <p:nvPr/>
            </p:nvSpPr>
            <p:spPr>
              <a:xfrm>
                <a:off x="5486400" y="4305300"/>
                <a:ext cx="1181100" cy="304800"/>
              </a:xfrm>
              <a:prstGeom prst="roundRect">
                <a:avLst>
                  <a:gd name="adj" fmla="val 50000"/>
                </a:avLst>
              </a:prstGeom>
              <a:solidFill>
                <a:schemeClr val="accent3"/>
              </a:solidFill>
              <a:ln>
                <a:noFill/>
              </a:ln>
            </p:spPr>
          </p:sp>
          <p:sp>
            <p:nvSpPr>
              <p:cNvPr id="55" name="TextBox 55"/>
              <p:cNvSpPr txBox="1"/>
              <p:nvPr/>
            </p:nvSpPr>
            <p:spPr>
              <a:xfrm>
                <a:off x="5652535" y="436245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Tiêu chí</a:t>
                </a:r>
              </a:p>
            </p:txBody>
          </p:sp>
          <p:sp>
            <p:nvSpPr>
              <p:cNvPr id="56" name="TextBox 56"/>
              <p:cNvSpPr txBox="1"/>
              <p:nvPr/>
            </p:nvSpPr>
            <p:spPr>
              <a:xfrm>
                <a:off x="6812280" y="4352925"/>
                <a:ext cx="415861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Chiết khấu đúng bảng sỉ, thiếu giá nền ghi</a:t>
                </a:r>
                <a:br/>
                <a:r>
                  <a:rPr lang="vi-VN" sz="1500" dirty="0">
                    <a:solidFill>
                      <a:schemeClr val="dk1"/>
                    </a:solidFill>
                    <a:latin typeface="+mn-lt"/>
                    <a:ea typeface="+mn-ea"/>
                    <a:cs typeface="+mn-cs"/>
                  </a:rPr>
                  <a:t>[CẦN ĐIỀN]; nói “không gây rủi ro”, KHÔNG nói</a:t>
                </a:r>
                <a:br/>
                <a:r>
                  <a:rPr lang="vi-VN" sz="1500" dirty="0">
                    <a:solidFill>
                      <a:schemeClr val="dk1"/>
                    </a:solidFill>
                    <a:latin typeface="+mn-lt"/>
                    <a:ea typeface="+mn-ea"/>
                    <a:cs typeface="+mn-cs"/>
                  </a:rPr>
                  <a:t>“tốt cho thai kỳ”; dưới 150 chữ</a:t>
                </a:r>
              </a:p>
            </p:txBody>
          </p:sp>
        </p:grpSp>
        <p:grpSp>
          <p:nvGrpSpPr>
            <p:cNvPr id="61" name="Group 61"/>
            <p:cNvGrpSpPr/>
            <p:nvPr/>
          </p:nvGrpSpPr>
          <p:grpSpPr>
            <a:xfrm>
              <a:off x="5486400" y="5219700"/>
              <a:ext cx="5424404" cy="350520"/>
              <a:chOff x="5486400" y="5219700"/>
              <a:chExt cx="5424404" cy="350520"/>
            </a:xfrm>
          </p:grpSpPr>
          <p:sp>
            <p:nvSpPr>
              <p:cNvPr id="58" name="Rectangle 58"/>
              <p:cNvSpPr/>
              <p:nvPr/>
            </p:nvSpPr>
            <p:spPr>
              <a:xfrm>
                <a:off x="5486400" y="5219700"/>
                <a:ext cx="1181100" cy="304800"/>
              </a:xfrm>
              <a:prstGeom prst="roundRect">
                <a:avLst>
                  <a:gd name="adj" fmla="val 50000"/>
                </a:avLst>
              </a:prstGeom>
              <a:solidFill>
                <a:schemeClr val="accent3"/>
              </a:solidFill>
              <a:ln>
                <a:noFill/>
              </a:ln>
            </p:spPr>
          </p:sp>
          <p:sp>
            <p:nvSpPr>
              <p:cNvPr id="59" name="TextBox 59"/>
              <p:cNvSpPr txBox="1"/>
              <p:nvPr/>
            </p:nvSpPr>
            <p:spPr>
              <a:xfrm>
                <a:off x="5567542" y="5276850"/>
                <a:ext cx="101881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Định dạng</a:t>
                </a:r>
              </a:p>
            </p:txBody>
          </p:sp>
          <p:sp>
            <p:nvSpPr>
              <p:cNvPr id="60" name="TextBox 60"/>
              <p:cNvSpPr txBox="1"/>
              <p:nvPr/>
            </p:nvSpPr>
            <p:spPr>
              <a:xfrm>
                <a:off x="6812280" y="5267325"/>
                <a:ext cx="409852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Tin nhắn Zalo có lời chào, nội dung, chữ ký</a:t>
                </a:r>
              </a:p>
            </p:txBody>
          </p:sp>
        </p:grpSp>
      </p:grpSp>
      <p:grpSp>
        <p:nvGrpSpPr>
          <p:cNvPr id="65" name="Group 65"/>
          <p:cNvGrpSpPr/>
          <p:nvPr/>
        </p:nvGrpSpPr>
        <p:grpSpPr>
          <a:xfrm>
            <a:off x="381000" y="5867400"/>
            <a:ext cx="6814131" cy="424434"/>
            <a:chOff x="381000" y="5867400"/>
            <a:chExt cx="6814131" cy="424434"/>
          </a:xfrm>
        </p:grpSpPr>
        <p:sp>
          <p:nvSpPr>
            <p:cNvPr id="63" name="Rectangle 63"/>
            <p:cNvSpPr/>
            <p:nvPr/>
          </p:nvSpPr>
          <p:spPr>
            <a:xfrm>
              <a:off x="381000" y="5867400"/>
              <a:ext cx="57150" cy="381000"/>
            </a:xfrm>
            <a:prstGeom prst="roundRect">
              <a:avLst>
                <a:gd name="adj" fmla="val 50000"/>
              </a:avLst>
            </a:prstGeom>
            <a:solidFill>
              <a:schemeClr val="accent2"/>
            </a:solidFill>
            <a:ln>
              <a:noFill/>
            </a:ln>
          </p:spPr>
        </p:sp>
        <p:sp>
          <p:nvSpPr>
            <p:cNvPr id="64" name="TextBox 64"/>
            <p:cNvSpPr txBox="1"/>
            <p:nvPr/>
          </p:nvSpPr>
          <p:spPr>
            <a:xfrm>
              <a:off x="581406" y="5939790"/>
              <a:ext cx="6613725"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“Không phải ChatGPT giỏi lên. Là mình giao việc rõ hơn.”</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6799840" y="6554152"/>
            <a:ext cx="434974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(lead, giá sỉ) · giám định Elasten: tài liệu Wir</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2492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kỹ thuật nâng chất lượng:</a:t>
            </a:r>
            <a:br/>
            <a:r>
              <a:rPr lang="vi-VN" sz="3150" b="1" dirty="0">
                <a:solidFill>
                  <a:schemeClr val="accent1"/>
                </a:solidFill>
                <a:latin typeface="+mn-lt"/>
                <a:ea typeface="+mn-ea"/>
                <a:cs typeface="+mn-cs"/>
              </a:rPr>
              <a:t>đưa mẫu, cho AI hỏi lại, chia nhỏ việc</a:t>
            </a:r>
          </a:p>
        </p:txBody>
      </p:sp>
      <p:grpSp>
        <p:nvGrpSpPr>
          <p:cNvPr id="25" name="Group 25"/>
          <p:cNvGrpSpPr/>
          <p:nvPr/>
        </p:nvGrpSpPr>
        <p:grpSpPr>
          <a:xfrm>
            <a:off x="381000" y="2114550"/>
            <a:ext cx="3657600" cy="3429000"/>
            <a:chOff x="381000" y="2114550"/>
            <a:chExt cx="3657600" cy="3429000"/>
          </a:xfrm>
        </p:grpSpPr>
        <p:sp>
          <p:nvSpPr>
            <p:cNvPr id="17" name="Rectangle 17"/>
            <p:cNvSpPr/>
            <p:nvPr/>
          </p:nvSpPr>
          <p:spPr>
            <a:xfrm>
              <a:off x="381000" y="2114550"/>
              <a:ext cx="3657600" cy="3429000"/>
            </a:xfrm>
            <a:prstGeom prst="roundRect">
              <a:avLst>
                <a:gd name="adj" fmla="val 4444"/>
              </a:avLst>
            </a:prstGeom>
            <a:solidFill>
              <a:schemeClr val="lt1"/>
            </a:solidFill>
            <a:ln w="14288">
              <a:solidFill>
                <a:schemeClr val="accent4"/>
              </a:solidFill>
            </a:ln>
          </p:spPr>
        </p:sp>
        <p:sp>
          <p:nvSpPr>
            <p:cNvPr id="18" name="Ellipse 18"/>
            <p:cNvSpPr/>
            <p:nvPr/>
          </p:nvSpPr>
          <p:spPr>
            <a:xfrm>
              <a:off x="647700" y="2362200"/>
              <a:ext cx="419100" cy="419100"/>
            </a:xfrm>
            <a:prstGeom prst="ellipse">
              <a:avLst/>
            </a:prstGeom>
            <a:solidFill>
              <a:schemeClr val="accent3"/>
            </a:solidFill>
            <a:ln>
              <a:noFill/>
            </a:ln>
          </p:spPr>
        </p:sp>
        <p:sp>
          <p:nvSpPr>
            <p:cNvPr id="19" name="TextBox 19"/>
            <p:cNvSpPr txBox="1"/>
            <p:nvPr/>
          </p:nvSpPr>
          <p:spPr>
            <a:xfrm>
              <a:off x="784730" y="24698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1</a:t>
              </a:r>
            </a:p>
          </p:txBody>
        </p:sp>
        <p:sp>
          <p:nvSpPr>
            <p:cNvPr id="20" name="TextBox 20"/>
            <p:cNvSpPr txBox="1"/>
            <p:nvPr/>
          </p:nvSpPr>
          <p:spPr>
            <a:xfrm>
              <a:off x="1190244" y="2446972"/>
              <a:ext cx="185044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Đưa 1 mẫu tốt</a:t>
              </a:r>
            </a:p>
          </p:txBody>
        </p:sp>
        <p:sp>
          <p:nvSpPr>
            <p:cNvPr id="21" name="TextBox 21"/>
            <p:cNvSpPr txBox="1"/>
            <p:nvPr/>
          </p:nvSpPr>
          <p:spPr>
            <a:xfrm>
              <a:off x="639318" y="2946082"/>
              <a:ext cx="251407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“1 mẫu tốt đáng giá hơn</a:t>
              </a:r>
              <a:br/>
              <a:r>
                <a:rPr lang="vi-VN" sz="1650" b="1" dirty="0">
                  <a:solidFill>
                    <a:schemeClr val="accent1"/>
                  </a:solidFill>
                  <a:latin typeface="+mn-lt"/>
                  <a:ea typeface="+mn-ea"/>
                  <a:cs typeface="+mn-cs"/>
                </a:rPr>
                <a:t>10 dòng mô tả.”</a:t>
              </a:r>
            </a:p>
          </p:txBody>
        </p:sp>
        <p:sp>
          <p:nvSpPr>
            <p:cNvPr id="22" name="TextBox 22"/>
            <p:cNvSpPr txBox="1"/>
            <p:nvPr/>
          </p:nvSpPr>
          <p:spPr>
            <a:xfrm>
              <a:off x="640080" y="3571875"/>
              <a:ext cx="2720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Dán một bài/tin chuẩn cũ của</a:t>
              </a:r>
              <a:br/>
              <a:r>
                <a:rPr lang="vi-VN" sz="1500" dirty="0">
                  <a:solidFill>
                    <a:schemeClr val="dk1"/>
                  </a:solidFill>
                  <a:latin typeface="+mn-lt"/>
                  <a:ea typeface="+mn-ea"/>
                  <a:cs typeface="+mn-cs"/>
                </a:rPr>
                <a:t>phòng, bảo AI học đúng bố cục</a:t>
              </a:r>
              <a:br/>
              <a:r>
                <a:rPr lang="vi-VN" sz="1500" dirty="0">
                  <a:solidFill>
                    <a:schemeClr val="dk1"/>
                  </a:solidFill>
                  <a:latin typeface="+mn-lt"/>
                  <a:ea typeface="+mn-ea"/>
                  <a:cs typeface="+mn-cs"/>
                </a:rPr>
                <a:t>và giọng văn.</a:t>
              </a:r>
            </a:p>
          </p:txBody>
        </p:sp>
        <p:sp>
          <p:nvSpPr>
            <p:cNvPr id="23" name="Rectangle 23"/>
            <p:cNvSpPr/>
            <p:nvPr/>
          </p:nvSpPr>
          <p:spPr>
            <a:xfrm>
              <a:off x="647700" y="4495800"/>
              <a:ext cx="3124200" cy="838200"/>
            </a:xfrm>
            <a:prstGeom prst="roundRect">
              <a:avLst>
                <a:gd name="adj" fmla="val 11364"/>
              </a:avLst>
            </a:prstGeom>
            <a:solidFill>
              <a:schemeClr val="lt2"/>
            </a:solidFill>
            <a:ln>
              <a:noFill/>
            </a:ln>
          </p:spPr>
        </p:sp>
        <p:sp>
          <p:nvSpPr>
            <p:cNvPr id="24" name="TextBox 24"/>
            <p:cNvSpPr txBox="1"/>
            <p:nvPr/>
          </p:nvSpPr>
          <p:spPr>
            <a:xfrm>
              <a:off x="792480" y="4619625"/>
              <a:ext cx="21202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Học đúng bố cục và</a:t>
              </a:r>
              <a:br/>
              <a:r>
                <a:rPr lang="vi-VN" sz="1500" dirty="0">
                  <a:solidFill>
                    <a:schemeClr val="accent1"/>
                  </a:solidFill>
                  <a:latin typeface="Consolas"/>
                  <a:ea typeface="Consolas"/>
                  <a:cs typeface="Consolas"/>
                </a:rPr>
                <a:t>giọng văn của mẫu này:</a:t>
              </a:r>
              <a:br/>
              <a:r>
                <a:rPr lang="vi-VN" sz="1500" dirty="0">
                  <a:solidFill>
                    <a:schemeClr val="accent1"/>
                  </a:solidFill>
                  <a:latin typeface="Consolas"/>
                  <a:ea typeface="Consolas"/>
                  <a:cs typeface="Consolas"/>
                </a:rPr>
                <a:t>[DÁN MẪU]</a:t>
              </a:r>
            </a:p>
          </p:txBody>
        </p:sp>
      </p:grpSp>
      <p:grpSp>
        <p:nvGrpSpPr>
          <p:cNvPr id="34" name="Group 34"/>
          <p:cNvGrpSpPr/>
          <p:nvPr/>
        </p:nvGrpSpPr>
        <p:grpSpPr>
          <a:xfrm>
            <a:off x="4267200" y="2228850"/>
            <a:ext cx="3657600" cy="3429000"/>
            <a:chOff x="4267200" y="2228850"/>
            <a:chExt cx="3657600" cy="3429000"/>
          </a:xfrm>
        </p:grpSpPr>
        <p:sp>
          <p:nvSpPr>
            <p:cNvPr id="26" name="Rectangle 26"/>
            <p:cNvSpPr/>
            <p:nvPr/>
          </p:nvSpPr>
          <p:spPr>
            <a:xfrm>
              <a:off x="4267200" y="2228850"/>
              <a:ext cx="3657600" cy="3429000"/>
            </a:xfrm>
            <a:prstGeom prst="roundRect">
              <a:avLst>
                <a:gd name="adj" fmla="val 4444"/>
              </a:avLst>
            </a:prstGeom>
            <a:solidFill>
              <a:schemeClr val="lt1"/>
            </a:solidFill>
            <a:ln w="14288">
              <a:solidFill>
                <a:schemeClr val="accent4"/>
              </a:solidFill>
            </a:ln>
          </p:spPr>
        </p:sp>
        <p:sp>
          <p:nvSpPr>
            <p:cNvPr id="27" name="Ellipse 27"/>
            <p:cNvSpPr/>
            <p:nvPr/>
          </p:nvSpPr>
          <p:spPr>
            <a:xfrm>
              <a:off x="4533900" y="2476500"/>
              <a:ext cx="419100" cy="419100"/>
            </a:xfrm>
            <a:prstGeom prst="ellipse">
              <a:avLst/>
            </a:prstGeom>
            <a:solidFill>
              <a:schemeClr val="accent3"/>
            </a:solidFill>
            <a:ln>
              <a:noFill/>
            </a:ln>
          </p:spPr>
        </p:sp>
        <p:sp>
          <p:nvSpPr>
            <p:cNvPr id="28" name="TextBox 28"/>
            <p:cNvSpPr txBox="1"/>
            <p:nvPr/>
          </p:nvSpPr>
          <p:spPr>
            <a:xfrm>
              <a:off x="4670930" y="25841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2</a:t>
              </a:r>
            </a:p>
          </p:txBody>
        </p:sp>
        <p:sp>
          <p:nvSpPr>
            <p:cNvPr id="29" name="TextBox 29"/>
            <p:cNvSpPr txBox="1"/>
            <p:nvPr/>
          </p:nvSpPr>
          <p:spPr>
            <a:xfrm>
              <a:off x="5076444" y="2561272"/>
              <a:ext cx="16851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Cho AI hỏi lại</a:t>
              </a:r>
            </a:p>
          </p:txBody>
        </p:sp>
        <p:sp>
          <p:nvSpPr>
            <p:cNvPr id="30" name="TextBox 30"/>
            <p:cNvSpPr txBox="1"/>
            <p:nvPr/>
          </p:nvSpPr>
          <p:spPr>
            <a:xfrm>
              <a:off x="4525518" y="3060382"/>
              <a:ext cx="2447765"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AI hỏi thay vì tự bịa.</a:t>
              </a:r>
            </a:p>
          </p:txBody>
        </p:sp>
        <p:sp>
          <p:nvSpPr>
            <p:cNvPr id="31" name="TextBox 31"/>
            <p:cNvSpPr txBox="1"/>
            <p:nvPr/>
          </p:nvSpPr>
          <p:spPr>
            <a:xfrm>
              <a:off x="4526280" y="3686175"/>
              <a:ext cx="306176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một câu vào cuối prompt:</a:t>
              </a:r>
            </a:p>
          </p:txBody>
        </p:sp>
        <p:sp>
          <p:nvSpPr>
            <p:cNvPr id="32" name="Rectangle 32"/>
            <p:cNvSpPr/>
            <p:nvPr/>
          </p:nvSpPr>
          <p:spPr>
            <a:xfrm>
              <a:off x="4533900" y="4095750"/>
              <a:ext cx="3124200" cy="838200"/>
            </a:xfrm>
            <a:prstGeom prst="roundRect">
              <a:avLst>
                <a:gd name="adj" fmla="val 11364"/>
              </a:avLst>
            </a:prstGeom>
            <a:solidFill>
              <a:schemeClr val="lt2"/>
            </a:solidFill>
            <a:ln>
              <a:noFill/>
            </a:ln>
          </p:spPr>
        </p:sp>
        <p:sp>
          <p:nvSpPr>
            <p:cNvPr id="33" name="TextBox 33"/>
            <p:cNvSpPr txBox="1"/>
            <p:nvPr/>
          </p:nvSpPr>
          <p:spPr>
            <a:xfrm>
              <a:off x="4678680" y="4219575"/>
              <a:ext cx="20059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Nếu thiếu thông tin,</a:t>
              </a:r>
              <a:br/>
              <a:r>
                <a:rPr lang="vi-VN" sz="1500" dirty="0">
                  <a:solidFill>
                    <a:schemeClr val="accent1"/>
                  </a:solidFill>
                  <a:latin typeface="Consolas"/>
                  <a:ea typeface="Consolas"/>
                  <a:cs typeface="Consolas"/>
                </a:rPr>
                <a:t>hỏi lại tôi tối đa 3 câu</a:t>
              </a:r>
              <a:br/>
              <a:r>
                <a:rPr lang="vi-VN" sz="1500" dirty="0">
                  <a:solidFill>
                    <a:schemeClr val="accent1"/>
                  </a:solidFill>
                  <a:latin typeface="Consolas"/>
                  <a:ea typeface="Consolas"/>
                  <a:cs typeface="Consolas"/>
                </a:rPr>
                <a:t>trước khi làm.</a:t>
              </a:r>
            </a:p>
          </p:txBody>
        </p:sp>
      </p:grpSp>
      <p:grpSp>
        <p:nvGrpSpPr>
          <p:cNvPr id="47" name="Group 47"/>
          <p:cNvGrpSpPr/>
          <p:nvPr/>
        </p:nvGrpSpPr>
        <p:grpSpPr>
          <a:xfrm>
            <a:off x="8153400" y="2343150"/>
            <a:ext cx="3657600" cy="3429000"/>
            <a:chOff x="8153400" y="2343150"/>
            <a:chExt cx="3657600" cy="3429000"/>
          </a:xfrm>
        </p:grpSpPr>
        <p:sp>
          <p:nvSpPr>
            <p:cNvPr id="35" name="Rectangle 35"/>
            <p:cNvSpPr/>
            <p:nvPr/>
          </p:nvSpPr>
          <p:spPr>
            <a:xfrm>
              <a:off x="8153400" y="2343150"/>
              <a:ext cx="3657600" cy="3429000"/>
            </a:xfrm>
            <a:prstGeom prst="roundRect">
              <a:avLst>
                <a:gd name="adj" fmla="val 4444"/>
              </a:avLst>
            </a:prstGeom>
            <a:solidFill>
              <a:schemeClr val="lt1"/>
            </a:solidFill>
            <a:ln w="14288">
              <a:solidFill>
                <a:schemeClr val="accent4"/>
              </a:solidFill>
            </a:ln>
          </p:spPr>
        </p:sp>
        <p:sp>
          <p:nvSpPr>
            <p:cNvPr id="36" name="Ellipse 36"/>
            <p:cNvSpPr/>
            <p:nvPr/>
          </p:nvSpPr>
          <p:spPr>
            <a:xfrm>
              <a:off x="8420100" y="2590800"/>
              <a:ext cx="419100" cy="419100"/>
            </a:xfrm>
            <a:prstGeom prst="ellipse">
              <a:avLst/>
            </a:prstGeom>
            <a:solidFill>
              <a:schemeClr val="accent3"/>
            </a:solidFill>
            <a:ln>
              <a:noFill/>
            </a:ln>
          </p:spPr>
        </p:sp>
        <p:sp>
          <p:nvSpPr>
            <p:cNvPr id="37" name="TextBox 37"/>
            <p:cNvSpPr txBox="1"/>
            <p:nvPr/>
          </p:nvSpPr>
          <p:spPr>
            <a:xfrm>
              <a:off x="8557130" y="26984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3</a:t>
              </a:r>
            </a:p>
          </p:txBody>
        </p:sp>
        <p:sp>
          <p:nvSpPr>
            <p:cNvPr id="38" name="TextBox 38"/>
            <p:cNvSpPr txBox="1"/>
            <p:nvPr/>
          </p:nvSpPr>
          <p:spPr>
            <a:xfrm>
              <a:off x="8962644" y="2675572"/>
              <a:ext cx="264705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Chia việc nhiều bước</a:t>
              </a:r>
            </a:p>
          </p:txBody>
        </p:sp>
        <p:sp>
          <p:nvSpPr>
            <p:cNvPr id="39" name="TextBox 39"/>
            <p:cNvSpPr txBox="1"/>
            <p:nvPr/>
          </p:nvSpPr>
          <p:spPr>
            <a:xfrm>
              <a:off x="8411718" y="3174682"/>
              <a:ext cx="2261044"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Kiểm xong bước trước</a:t>
              </a:r>
              <a:br/>
              <a:r>
                <a:rPr lang="vi-VN" sz="1650" b="1" dirty="0">
                  <a:solidFill>
                    <a:schemeClr val="accent1"/>
                  </a:solidFill>
                  <a:latin typeface="+mn-lt"/>
                  <a:ea typeface="+mn-ea"/>
                  <a:cs typeface="+mn-cs"/>
                </a:rPr>
                <a:t>mới đi tiếp.</a:t>
              </a:r>
            </a:p>
          </p:txBody>
        </p:sp>
        <p:sp>
          <p:nvSpPr>
            <p:cNvPr id="40" name="TextBox 40"/>
            <p:cNvSpPr txBox="1"/>
            <p:nvPr/>
          </p:nvSpPr>
          <p:spPr>
            <a:xfrm>
              <a:off x="8412480" y="3800475"/>
              <a:ext cx="332371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lớn tách thành chuỗi prompt:</a:t>
              </a:r>
            </a:p>
          </p:txBody>
        </p:sp>
        <p:sp>
          <p:nvSpPr>
            <p:cNvPr id="41" name="Rectangle 41"/>
            <p:cNvSpPr/>
            <p:nvPr/>
          </p:nvSpPr>
          <p:spPr>
            <a:xfrm>
              <a:off x="8420100" y="4152900"/>
              <a:ext cx="3124200" cy="323850"/>
            </a:xfrm>
            <a:prstGeom prst="roundRect">
              <a:avLst>
                <a:gd name="adj" fmla="val 50000"/>
              </a:avLst>
            </a:prstGeom>
            <a:solidFill>
              <a:schemeClr val="lt2"/>
            </a:solidFill>
            <a:ln>
              <a:noFill/>
            </a:ln>
          </p:spPr>
        </p:sp>
        <p:sp>
          <p:nvSpPr>
            <p:cNvPr id="42" name="TextBox 42"/>
            <p:cNvSpPr txBox="1"/>
            <p:nvPr/>
          </p:nvSpPr>
          <p:spPr>
            <a:xfrm>
              <a:off x="8583930" y="4219575"/>
              <a:ext cx="2017931"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1 · </a:t>
              </a:r>
              <a:r>
                <a:rPr lang="vi-VN" sz="1500" dirty="0">
                  <a:solidFill>
                    <a:schemeClr val="accent1"/>
                  </a:solidFill>
                  <a:latin typeface="+mn-lt"/>
                  <a:ea typeface="+mn-ea"/>
                  <a:cs typeface="+mn-cs"/>
                </a:rPr>
                <a:t>Phân tích số liệu</a:t>
              </a:r>
            </a:p>
          </p:txBody>
        </p:sp>
        <p:sp>
          <p:nvSpPr>
            <p:cNvPr id="43" name="Rectangle 43"/>
            <p:cNvSpPr/>
            <p:nvPr/>
          </p:nvSpPr>
          <p:spPr>
            <a:xfrm>
              <a:off x="8420100" y="4552950"/>
              <a:ext cx="3124200" cy="323850"/>
            </a:xfrm>
            <a:prstGeom prst="roundRect">
              <a:avLst>
                <a:gd name="adj" fmla="val 50000"/>
              </a:avLst>
            </a:prstGeom>
            <a:solidFill>
              <a:schemeClr val="lt2"/>
            </a:solidFill>
            <a:ln>
              <a:noFill/>
            </a:ln>
          </p:spPr>
        </p:sp>
        <p:sp>
          <p:nvSpPr>
            <p:cNvPr id="44" name="TextBox 44"/>
            <p:cNvSpPr txBox="1"/>
            <p:nvPr/>
          </p:nvSpPr>
          <p:spPr>
            <a:xfrm>
              <a:off x="8583930" y="4619625"/>
              <a:ext cx="2717597"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2 · </a:t>
              </a:r>
              <a:r>
                <a:rPr lang="vi-VN" sz="1500" dirty="0">
                  <a:solidFill>
                    <a:schemeClr val="accent1"/>
                  </a:solidFill>
                  <a:latin typeface="+mn-lt"/>
                  <a:ea typeface="+mn-ea"/>
                  <a:cs typeface="+mn-cs"/>
                </a:rPr>
                <a:t>Viết Executive Summary</a:t>
              </a:r>
            </a:p>
          </p:txBody>
        </p:sp>
        <p:sp>
          <p:nvSpPr>
            <p:cNvPr id="45" name="Rectangle 45"/>
            <p:cNvSpPr/>
            <p:nvPr/>
          </p:nvSpPr>
          <p:spPr>
            <a:xfrm>
              <a:off x="8420100" y="4953000"/>
              <a:ext cx="3124200" cy="323850"/>
            </a:xfrm>
            <a:prstGeom prst="roundRect">
              <a:avLst>
                <a:gd name="adj" fmla="val 50000"/>
              </a:avLst>
            </a:prstGeom>
            <a:solidFill>
              <a:schemeClr val="lt2"/>
            </a:solidFill>
            <a:ln>
              <a:noFill/>
            </a:ln>
          </p:spPr>
        </p:sp>
        <p:sp>
          <p:nvSpPr>
            <p:cNvPr id="46" name="TextBox 46"/>
            <p:cNvSpPr txBox="1"/>
            <p:nvPr/>
          </p:nvSpPr>
          <p:spPr>
            <a:xfrm>
              <a:off x="8583930" y="5019675"/>
              <a:ext cx="207789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3 · </a:t>
              </a:r>
              <a:r>
                <a:rPr lang="vi-VN" sz="1500" dirty="0">
                  <a:solidFill>
                    <a:schemeClr val="accent1"/>
                  </a:solidFill>
                  <a:latin typeface="+mn-lt"/>
                  <a:ea typeface="+mn-ea"/>
                  <a:cs typeface="+mn-cs"/>
                </a:rPr>
                <a:t>Dựng outline slide</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5405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Với file số liệu, đếm trước, phân tích sau</a:t>
            </a:r>
            <a:br/>
            <a:r>
              <a:rPr lang="vi-VN" sz="3150" b="1" dirty="0">
                <a:solidFill>
                  <a:schemeClr val="accent1"/>
                </a:solidFill>
                <a:latin typeface="+mn-lt"/>
                <a:ea typeface="+mn-ea"/>
                <a:cs typeface="+mn-cs"/>
              </a:rPr>
              <a:t>và chỉ tách theo chiều file thực sự có</a:t>
            </a:r>
          </a:p>
        </p:txBody>
      </p:sp>
      <p:grpSp>
        <p:nvGrpSpPr>
          <p:cNvPr id="32" name="Group 32"/>
          <p:cNvGrpSpPr/>
          <p:nvPr/>
        </p:nvGrpSpPr>
        <p:grpSpPr>
          <a:xfrm>
            <a:off x="371094" y="2227898"/>
            <a:ext cx="4962906" cy="3237547"/>
            <a:chOff x="371094" y="2227898"/>
            <a:chExt cx="4962906" cy="3237547"/>
          </a:xfrm>
        </p:grpSpPr>
        <p:sp>
          <p:nvSpPr>
            <p:cNvPr id="17" name="TextBox 17"/>
            <p:cNvSpPr txBox="1"/>
            <p:nvPr/>
          </p:nvSpPr>
          <p:spPr>
            <a:xfrm>
              <a:off x="371094" y="22278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1</a:t>
              </a:r>
            </a:p>
          </p:txBody>
        </p:sp>
        <p:sp>
          <p:nvSpPr>
            <p:cNvPr id="18" name="TextBox 18"/>
            <p:cNvSpPr txBox="1"/>
            <p:nvPr/>
          </p:nvSpPr>
          <p:spPr>
            <a:xfrm>
              <a:off x="715518" y="2260282"/>
              <a:ext cx="291742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Đếm trước, phân tích sau</a:t>
              </a:r>
            </a:p>
          </p:txBody>
        </p:sp>
        <p:sp>
          <p:nvSpPr>
            <p:cNvPr id="19" name="TextBox 19"/>
            <p:cNvSpPr txBox="1"/>
            <p:nvPr/>
          </p:nvSpPr>
          <p:spPr>
            <a:xfrm>
              <a:off x="716280" y="2543175"/>
              <a:ext cx="377846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Báo số dòng, các cột rồi mới phân tích</a:t>
              </a:r>
            </a:p>
          </p:txBody>
        </p:sp>
        <p:sp>
          <p:nvSpPr>
            <p:cNvPr id="20" name="Line 20"/>
            <p:cNvSpPr/>
            <p:nvPr/>
          </p:nvSpPr>
          <p:spPr>
            <a:xfrm>
              <a:off x="381000" y="29337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1" name="TextBox 21"/>
            <p:cNvSpPr txBox="1"/>
            <p:nvPr/>
          </p:nvSpPr>
          <p:spPr>
            <a:xfrm>
              <a:off x="371094" y="31041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2</a:t>
              </a:r>
            </a:p>
          </p:txBody>
        </p:sp>
        <p:sp>
          <p:nvSpPr>
            <p:cNvPr id="22" name="TextBox 22"/>
            <p:cNvSpPr txBox="1"/>
            <p:nvPr/>
          </p:nvSpPr>
          <p:spPr>
            <a:xfrm>
              <a:off x="715518" y="3136582"/>
              <a:ext cx="24382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Chỉ theo chiều file có</a:t>
              </a:r>
            </a:p>
          </p:txBody>
        </p:sp>
        <p:sp>
          <p:nvSpPr>
            <p:cNvPr id="23" name="TextBox 23"/>
            <p:cNvSpPr txBox="1"/>
            <p:nvPr/>
          </p:nvSpPr>
          <p:spPr>
            <a:xfrm>
              <a:off x="716280" y="3419475"/>
              <a:ext cx="39398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có cột thì cấm tách theo chiều đó</a:t>
              </a:r>
            </a:p>
          </p:txBody>
        </p:sp>
        <p:sp>
          <p:nvSpPr>
            <p:cNvPr id="24" name="Line 24"/>
            <p:cNvSpPr/>
            <p:nvPr/>
          </p:nvSpPr>
          <p:spPr>
            <a:xfrm>
              <a:off x="381000" y="38100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5" name="TextBox 25"/>
            <p:cNvSpPr txBox="1"/>
            <p:nvPr/>
          </p:nvSpPr>
          <p:spPr>
            <a:xfrm>
              <a:off x="371094" y="39804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3</a:t>
              </a:r>
            </a:p>
          </p:txBody>
        </p:sp>
        <p:sp>
          <p:nvSpPr>
            <p:cNvPr id="26" name="TextBox 26"/>
            <p:cNvSpPr txBox="1"/>
            <p:nvPr/>
          </p:nvSpPr>
          <p:spPr>
            <a:xfrm>
              <a:off x="715518" y="4012882"/>
              <a:ext cx="158677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Đối chiếu tổng</a:t>
              </a:r>
            </a:p>
          </p:txBody>
        </p:sp>
        <p:sp>
          <p:nvSpPr>
            <p:cNvPr id="27" name="TextBox 27"/>
            <p:cNvSpPr txBox="1"/>
            <p:nvPr/>
          </p:nvSpPr>
          <p:spPr>
            <a:xfrm>
              <a:off x="716280" y="4295775"/>
              <a:ext cx="396974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Số tổng phải khớp file gốc trước khi dùng</a:t>
              </a:r>
            </a:p>
          </p:txBody>
        </p:sp>
        <p:sp>
          <p:nvSpPr>
            <p:cNvPr id="28" name="Line 28"/>
            <p:cNvSpPr/>
            <p:nvPr/>
          </p:nvSpPr>
          <p:spPr>
            <a:xfrm>
              <a:off x="381000" y="46863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9" name="TextBox 29"/>
            <p:cNvSpPr txBox="1"/>
            <p:nvPr/>
          </p:nvSpPr>
          <p:spPr>
            <a:xfrm>
              <a:off x="371094" y="48567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4</a:t>
              </a:r>
            </a:p>
          </p:txBody>
        </p:sp>
        <p:sp>
          <p:nvSpPr>
            <p:cNvPr id="30" name="TextBox 30"/>
            <p:cNvSpPr txBox="1"/>
            <p:nvPr/>
          </p:nvSpPr>
          <p:spPr>
            <a:xfrm>
              <a:off x="715518" y="4889182"/>
              <a:ext cx="268349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Nguyên nhân là suy đoán</a:t>
              </a:r>
            </a:p>
          </p:txBody>
        </p:sp>
        <p:sp>
          <p:nvSpPr>
            <p:cNvPr id="31" name="TextBox 31"/>
            <p:cNvSpPr txBox="1"/>
            <p:nvPr/>
          </p:nvSpPr>
          <p:spPr>
            <a:xfrm>
              <a:off x="716280" y="5172075"/>
              <a:ext cx="37186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“nghi do…, cần kiểm chứng bằng…”</a:t>
              </a:r>
            </a:p>
          </p:txBody>
        </p:sp>
      </p:grpSp>
      <p:grpSp>
        <p:nvGrpSpPr>
          <p:cNvPr id="41" name="Group 41"/>
          <p:cNvGrpSpPr/>
          <p:nvPr/>
        </p:nvGrpSpPr>
        <p:grpSpPr>
          <a:xfrm>
            <a:off x="5715000" y="2114550"/>
            <a:ext cx="6096000" cy="3886200"/>
            <a:chOff x="5715000" y="2114550"/>
            <a:chExt cx="6096000" cy="3886200"/>
          </a:xfrm>
        </p:grpSpPr>
        <p:sp>
          <p:nvSpPr>
            <p:cNvPr id="33" name="Rectangle 33"/>
            <p:cNvSpPr/>
            <p:nvPr/>
          </p:nvSpPr>
          <p:spPr>
            <a:xfrm>
              <a:off x="5715000" y="2114550"/>
              <a:ext cx="6096000" cy="3886200"/>
            </a:xfrm>
            <a:prstGeom prst="roundRect">
              <a:avLst>
                <a:gd name="adj" fmla="val 3922"/>
              </a:avLst>
            </a:prstGeom>
            <a:solidFill>
              <a:schemeClr val="lt1"/>
            </a:solidFill>
            <a:ln w="14288">
              <a:solidFill>
                <a:schemeClr val="accent3"/>
              </a:solidFill>
            </a:ln>
          </p:spPr>
        </p:sp>
        <p:grpSp>
          <p:nvGrpSpPr>
            <p:cNvPr id="39" name="Group 39"/>
            <p:cNvGrpSpPr/>
            <p:nvPr/>
          </p:nvGrpSpPr>
          <p:grpSpPr>
            <a:xfrm>
              <a:off x="5987256" y="2293144"/>
              <a:ext cx="122238" cy="157163"/>
              <a:chOff x="5987256" y="2293144"/>
              <a:chExt cx="122238" cy="157163"/>
            </a:xfrm>
          </p:grpSpPr>
          <p:sp>
            <p:nvSpPr>
              <p:cNvPr id="34" name="Freeform 34"/>
              <p:cNvSpPr/>
              <p:nvPr/>
            </p:nvSpPr>
            <p:spPr>
              <a:xfrm>
                <a:off x="6065838" y="22931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3"/>
                </a:solidFill>
              </a:ln>
            </p:spPr>
          </p:sp>
          <p:sp>
            <p:nvSpPr>
              <p:cNvPr id="35" name="Freeform 35"/>
              <p:cNvSpPr/>
              <p:nvPr/>
            </p:nvSpPr>
            <p:spPr>
              <a:xfrm>
                <a:off x="5987256" y="22931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3"/>
                </a:solidFill>
              </a:ln>
            </p:spPr>
          </p:sp>
          <p:sp>
            <p:nvSpPr>
              <p:cNvPr id="36" name="Freeform 36"/>
              <p:cNvSpPr/>
              <p:nvPr/>
            </p:nvSpPr>
            <p:spPr>
              <a:xfrm>
                <a:off x="6013450" y="2362994"/>
                <a:ext cx="69850" cy="61119"/>
              </a:xfrm>
              <a:custGeom>
                <a:avLst/>
                <a:gdLst/>
                <a:ahLst/>
                <a:cxnLst/>
                <a:rect l="l" t="t" r="r" b="b"/>
                <a:pathLst>
                  <a:path w="69850" h="61119">
                    <a:moveTo>
                      <a:pt x="0" y="0"/>
                    </a:moveTo>
                    <a:lnTo>
                      <a:pt x="69850" y="0"/>
                    </a:lnTo>
                    <a:lnTo>
                      <a:pt x="69850" y="61119"/>
                    </a:lnTo>
                    <a:lnTo>
                      <a:pt x="0" y="61119"/>
                    </a:lnTo>
                    <a:lnTo>
                      <a:pt x="0" y="0"/>
                    </a:lnTo>
                  </a:path>
                </a:pathLst>
              </a:custGeom>
              <a:noFill/>
              <a:ln w="17463">
                <a:solidFill>
                  <a:schemeClr val="accent3"/>
                </a:solidFill>
              </a:ln>
            </p:spPr>
          </p:sp>
          <p:sp>
            <p:nvSpPr>
              <p:cNvPr id="37" name="Freeform 37"/>
              <p:cNvSpPr/>
              <p:nvPr/>
            </p:nvSpPr>
            <p:spPr>
              <a:xfrm>
                <a:off x="6013450" y="2397919"/>
                <a:ext cx="69850" cy="9525"/>
              </a:xfrm>
              <a:custGeom>
                <a:avLst/>
                <a:gdLst/>
                <a:ahLst/>
                <a:cxnLst/>
                <a:rect l="l" t="t" r="r" b="b"/>
                <a:pathLst>
                  <a:path w="69850" h="9525">
                    <a:moveTo>
                      <a:pt x="0" y="0"/>
                    </a:moveTo>
                    <a:lnTo>
                      <a:pt x="69850" y="0"/>
                    </a:lnTo>
                  </a:path>
                </a:pathLst>
              </a:custGeom>
              <a:noFill/>
              <a:ln w="17463">
                <a:solidFill>
                  <a:schemeClr val="accent3"/>
                </a:solidFill>
              </a:ln>
            </p:spPr>
          </p:sp>
          <p:sp>
            <p:nvSpPr>
              <p:cNvPr id="38" name="Freeform 38"/>
              <p:cNvSpPr/>
              <p:nvPr/>
            </p:nvSpPr>
            <p:spPr>
              <a:xfrm>
                <a:off x="6039644" y="2362994"/>
                <a:ext cx="9525" cy="61119"/>
              </a:xfrm>
              <a:custGeom>
                <a:avLst/>
                <a:gdLst/>
                <a:ahLst/>
                <a:cxnLst/>
                <a:rect l="l" t="t" r="r" b="b"/>
                <a:pathLst>
                  <a:path w="9525" h="61119">
                    <a:moveTo>
                      <a:pt x="0" y="0"/>
                    </a:moveTo>
                    <a:lnTo>
                      <a:pt x="0" y="61119"/>
                    </a:lnTo>
                  </a:path>
                </a:pathLst>
              </a:custGeom>
              <a:noFill/>
              <a:ln w="17463">
                <a:solidFill>
                  <a:schemeClr val="accent3"/>
                </a:solidFill>
              </a:ln>
            </p:spPr>
          </p:sp>
        </p:grpSp>
        <p:sp>
          <p:nvSpPr>
            <p:cNvPr id="40" name="TextBox 40"/>
            <p:cNvSpPr txBox="1"/>
            <p:nvPr/>
          </p:nvSpPr>
          <p:spPr>
            <a:xfrm>
              <a:off x="6223254" y="2299335"/>
              <a:ext cx="3593653"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BẪY DEMO · FILE ĐƠN HÀNG WIR (6 CỘT)</a:t>
              </a:r>
            </a:p>
          </p:txBody>
        </p:sp>
      </p:grpSp>
      <p:grpSp>
        <p:nvGrpSpPr>
          <p:cNvPr id="54" name="Group 54"/>
          <p:cNvGrpSpPr/>
          <p:nvPr/>
        </p:nvGrpSpPr>
        <p:grpSpPr>
          <a:xfrm>
            <a:off x="5943600" y="2609850"/>
            <a:ext cx="5638800" cy="342900"/>
            <a:chOff x="5943600" y="2609850"/>
            <a:chExt cx="5638800" cy="342900"/>
          </a:xfrm>
        </p:grpSpPr>
        <p:sp>
          <p:nvSpPr>
            <p:cNvPr id="42" name="Rectangle 42"/>
            <p:cNvSpPr/>
            <p:nvPr/>
          </p:nvSpPr>
          <p:spPr>
            <a:xfrm>
              <a:off x="5943600" y="2609850"/>
              <a:ext cx="762000" cy="342900"/>
            </a:xfrm>
            <a:prstGeom prst="roundRect">
              <a:avLst>
                <a:gd name="adj" fmla="val 16667"/>
              </a:avLst>
            </a:prstGeom>
            <a:solidFill>
              <a:schemeClr val="accent1"/>
            </a:solidFill>
            <a:ln>
              <a:noFill/>
            </a:ln>
          </p:spPr>
        </p:sp>
        <p:sp>
          <p:nvSpPr>
            <p:cNvPr id="43" name="TextBox 43"/>
            <p:cNvSpPr txBox="1"/>
            <p:nvPr/>
          </p:nvSpPr>
          <p:spPr>
            <a:xfrm>
              <a:off x="6129280" y="2708910"/>
              <a:ext cx="390639"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Ngày</a:t>
              </a:r>
            </a:p>
          </p:txBody>
        </p:sp>
        <p:sp>
          <p:nvSpPr>
            <p:cNvPr id="44" name="Rectangle 44"/>
            <p:cNvSpPr/>
            <p:nvPr/>
          </p:nvSpPr>
          <p:spPr>
            <a:xfrm>
              <a:off x="6743700" y="2609850"/>
              <a:ext cx="762000" cy="342900"/>
            </a:xfrm>
            <a:prstGeom prst="roundRect">
              <a:avLst>
                <a:gd name="adj" fmla="val 16667"/>
              </a:avLst>
            </a:prstGeom>
            <a:solidFill>
              <a:schemeClr val="accent1"/>
            </a:solidFill>
            <a:ln>
              <a:noFill/>
            </a:ln>
          </p:spPr>
        </p:sp>
        <p:sp>
          <p:nvSpPr>
            <p:cNvPr id="45" name="TextBox 45"/>
            <p:cNvSpPr txBox="1"/>
            <p:nvPr/>
          </p:nvSpPr>
          <p:spPr>
            <a:xfrm>
              <a:off x="6929380" y="2708910"/>
              <a:ext cx="390639"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Kênh</a:t>
              </a:r>
            </a:p>
          </p:txBody>
        </p:sp>
        <p:sp>
          <p:nvSpPr>
            <p:cNvPr id="46" name="Rectangle 46"/>
            <p:cNvSpPr/>
            <p:nvPr/>
          </p:nvSpPr>
          <p:spPr>
            <a:xfrm>
              <a:off x="7543800" y="2609850"/>
              <a:ext cx="990600" cy="342900"/>
            </a:xfrm>
            <a:prstGeom prst="roundRect">
              <a:avLst>
                <a:gd name="adj" fmla="val 16667"/>
              </a:avLst>
            </a:prstGeom>
            <a:solidFill>
              <a:schemeClr val="accent1"/>
            </a:solidFill>
            <a:ln>
              <a:noFill/>
            </a:ln>
          </p:spPr>
        </p:sp>
        <p:sp>
          <p:nvSpPr>
            <p:cNvPr id="47" name="TextBox 47"/>
            <p:cNvSpPr txBox="1"/>
            <p:nvPr/>
          </p:nvSpPr>
          <p:spPr>
            <a:xfrm>
              <a:off x="7661095" y="2708910"/>
              <a:ext cx="756011"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Sản phẩm</a:t>
              </a:r>
            </a:p>
          </p:txBody>
        </p:sp>
        <p:sp>
          <p:nvSpPr>
            <p:cNvPr id="48" name="Rectangle 48"/>
            <p:cNvSpPr/>
            <p:nvPr/>
          </p:nvSpPr>
          <p:spPr>
            <a:xfrm>
              <a:off x="8572500" y="2609850"/>
              <a:ext cx="952500" cy="342900"/>
            </a:xfrm>
            <a:prstGeom prst="roundRect">
              <a:avLst>
                <a:gd name="adj" fmla="val 16667"/>
              </a:avLst>
            </a:prstGeom>
            <a:solidFill>
              <a:schemeClr val="accent1"/>
            </a:solidFill>
            <a:ln>
              <a:noFill/>
            </a:ln>
          </p:spPr>
        </p:sp>
        <p:sp>
          <p:nvSpPr>
            <p:cNvPr id="49" name="TextBox 49"/>
            <p:cNvSpPr txBox="1"/>
            <p:nvPr/>
          </p:nvSpPr>
          <p:spPr>
            <a:xfrm>
              <a:off x="8709218" y="2708910"/>
              <a:ext cx="67906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Số lượng</a:t>
              </a:r>
            </a:p>
          </p:txBody>
        </p:sp>
        <p:sp>
          <p:nvSpPr>
            <p:cNvPr id="50" name="Rectangle 50"/>
            <p:cNvSpPr/>
            <p:nvPr/>
          </p:nvSpPr>
          <p:spPr>
            <a:xfrm>
              <a:off x="9563100" y="2609850"/>
              <a:ext cx="876300" cy="342900"/>
            </a:xfrm>
            <a:prstGeom prst="roundRect">
              <a:avLst>
                <a:gd name="adj" fmla="val 16667"/>
              </a:avLst>
            </a:prstGeom>
            <a:solidFill>
              <a:schemeClr val="accent1"/>
            </a:solidFill>
            <a:ln>
              <a:noFill/>
            </a:ln>
          </p:spPr>
        </p:sp>
        <p:sp>
          <p:nvSpPr>
            <p:cNvPr id="51" name="TextBox 51"/>
            <p:cNvSpPr txBox="1"/>
            <p:nvPr/>
          </p:nvSpPr>
          <p:spPr>
            <a:xfrm>
              <a:off x="9708358" y="2708910"/>
              <a:ext cx="5857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Đơn giá</a:t>
              </a:r>
            </a:p>
          </p:txBody>
        </p:sp>
        <p:sp>
          <p:nvSpPr>
            <p:cNvPr id="52" name="Rectangle 52"/>
            <p:cNvSpPr/>
            <p:nvPr/>
          </p:nvSpPr>
          <p:spPr>
            <a:xfrm>
              <a:off x="10477500" y="2609850"/>
              <a:ext cx="1104900" cy="342900"/>
            </a:xfrm>
            <a:prstGeom prst="roundRect">
              <a:avLst>
                <a:gd name="adj" fmla="val 16667"/>
              </a:avLst>
            </a:prstGeom>
            <a:solidFill>
              <a:schemeClr val="accent1"/>
            </a:solidFill>
            <a:ln>
              <a:noFill/>
            </a:ln>
          </p:spPr>
        </p:sp>
        <p:sp>
          <p:nvSpPr>
            <p:cNvPr id="53" name="TextBox 53"/>
            <p:cNvSpPr txBox="1"/>
            <p:nvPr/>
          </p:nvSpPr>
          <p:spPr>
            <a:xfrm>
              <a:off x="10597134" y="2708910"/>
              <a:ext cx="865632"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Thành tiền</a:t>
              </a:r>
            </a:p>
          </p:txBody>
        </p:sp>
      </p:grpSp>
      <p:grpSp>
        <p:nvGrpSpPr>
          <p:cNvPr id="57" name="Group 57"/>
          <p:cNvGrpSpPr/>
          <p:nvPr/>
        </p:nvGrpSpPr>
        <p:grpSpPr>
          <a:xfrm>
            <a:off x="5943600" y="3086100"/>
            <a:ext cx="3390900" cy="346901"/>
            <a:chOff x="5943600" y="3086100"/>
            <a:chExt cx="3390900" cy="346901"/>
          </a:xfrm>
        </p:grpSpPr>
        <p:sp>
          <p:nvSpPr>
            <p:cNvPr id="55" name="Rectangle 55"/>
            <p:cNvSpPr/>
            <p:nvPr/>
          </p:nvSpPr>
          <p:spPr>
            <a:xfrm>
              <a:off x="5943600" y="3086100"/>
              <a:ext cx="3390900" cy="342900"/>
            </a:xfrm>
            <a:prstGeom prst="roundRect">
              <a:avLst>
                <a:gd name="adj" fmla="val 22222"/>
              </a:avLst>
            </a:prstGeom>
            <a:solidFill>
              <a:schemeClr val="lt1"/>
            </a:solidFill>
            <a:ln w="19050">
              <a:solidFill>
                <a:srgbClr val="C0392B"/>
              </a:solidFill>
              <a:prstDash val="dash"/>
            </a:ln>
          </p:spPr>
        </p:sp>
        <p:sp>
          <p:nvSpPr>
            <p:cNvPr id="56" name="TextBox 56"/>
            <p:cNvSpPr txBox="1"/>
            <p:nvPr/>
          </p:nvSpPr>
          <p:spPr>
            <a:xfrm>
              <a:off x="6089142" y="3168968"/>
              <a:ext cx="3150313"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Không có cột “nhân viên bán hàng”</a:t>
              </a:r>
            </a:p>
          </p:txBody>
        </p:sp>
      </p:grpSp>
      <p:grpSp>
        <p:nvGrpSpPr>
          <p:cNvPr id="64" name="Group 64"/>
          <p:cNvGrpSpPr/>
          <p:nvPr/>
        </p:nvGrpSpPr>
        <p:grpSpPr>
          <a:xfrm>
            <a:off x="5943600" y="3619500"/>
            <a:ext cx="5638800" cy="666750"/>
            <a:chOff x="5943600" y="3619500"/>
            <a:chExt cx="5638800" cy="666750"/>
          </a:xfrm>
        </p:grpSpPr>
        <p:sp>
          <p:nvSpPr>
            <p:cNvPr id="58" name="Rectangle 58"/>
            <p:cNvSpPr/>
            <p:nvPr/>
          </p:nvSpPr>
          <p:spPr>
            <a:xfrm>
              <a:off x="5943600" y="3619500"/>
              <a:ext cx="5638800" cy="666750"/>
            </a:xfrm>
            <a:prstGeom prst="roundRect">
              <a:avLst>
                <a:gd name="adj" fmla="val 20000"/>
              </a:avLst>
            </a:prstGeom>
            <a:solidFill>
              <a:schemeClr val="lt2"/>
            </a:solidFill>
            <a:ln>
              <a:noFill/>
            </a:ln>
          </p:spPr>
        </p:sp>
        <p:grpSp>
          <p:nvGrpSpPr>
            <p:cNvPr id="62" name="Group 62"/>
            <p:cNvGrpSpPr/>
            <p:nvPr/>
          </p:nvGrpSpPr>
          <p:grpSpPr>
            <a:xfrm>
              <a:off x="6141244" y="3873500"/>
              <a:ext cx="157163" cy="148431"/>
              <a:chOff x="6141244" y="3873500"/>
              <a:chExt cx="157163" cy="148431"/>
            </a:xfrm>
          </p:grpSpPr>
          <p:sp>
            <p:nvSpPr>
              <p:cNvPr id="59" name="Freeform 59"/>
              <p:cNvSpPr/>
              <p:nvPr/>
            </p:nvSpPr>
            <p:spPr>
              <a:xfrm>
                <a:off x="6184900" y="3917156"/>
                <a:ext cx="69850" cy="9525"/>
              </a:xfrm>
              <a:custGeom>
                <a:avLst/>
                <a:gdLst/>
                <a:ahLst/>
                <a:cxnLst/>
                <a:rect l="l" t="t" r="r" b="b"/>
                <a:pathLst>
                  <a:path w="69850" h="9525">
                    <a:moveTo>
                      <a:pt x="0" y="0"/>
                    </a:moveTo>
                    <a:lnTo>
                      <a:pt x="69850" y="0"/>
                    </a:lnTo>
                  </a:path>
                </a:pathLst>
              </a:custGeom>
              <a:noFill/>
              <a:ln w="17463">
                <a:solidFill>
                  <a:schemeClr val="accent3"/>
                </a:solidFill>
              </a:ln>
            </p:spPr>
          </p:sp>
          <p:sp>
            <p:nvSpPr>
              <p:cNvPr id="60" name="Freeform 60"/>
              <p:cNvSpPr/>
              <p:nvPr/>
            </p:nvSpPr>
            <p:spPr>
              <a:xfrm>
                <a:off x="6184900" y="3952081"/>
                <a:ext cx="52388" cy="9525"/>
              </a:xfrm>
              <a:custGeom>
                <a:avLst/>
                <a:gdLst/>
                <a:ahLst/>
                <a:cxnLst/>
                <a:rect l="l" t="t" r="r" b="b"/>
                <a:pathLst>
                  <a:path w="52388" h="9525">
                    <a:moveTo>
                      <a:pt x="0" y="0"/>
                    </a:moveTo>
                    <a:lnTo>
                      <a:pt x="52388" y="0"/>
                    </a:lnTo>
                  </a:path>
                </a:pathLst>
              </a:custGeom>
              <a:noFill/>
              <a:ln w="17463">
                <a:solidFill>
                  <a:schemeClr val="accent3"/>
                </a:solidFill>
              </a:ln>
            </p:spPr>
          </p:sp>
          <p:sp>
            <p:nvSpPr>
              <p:cNvPr id="61" name="Freeform 61"/>
              <p:cNvSpPr/>
              <p:nvPr/>
            </p:nvSpPr>
            <p:spPr>
              <a:xfrm>
                <a:off x="6141244" y="3873500"/>
                <a:ext cx="157163" cy="148431"/>
              </a:xfrm>
              <a:custGeom>
                <a:avLst/>
                <a:gdLst/>
                <a:ahLst/>
                <a:cxnLst/>
                <a:rect l="l" t="t" r="r" b="b"/>
                <a:pathLst>
                  <a:path w="157163" h="148431">
                    <a:moveTo>
                      <a:pt x="52388" y="122238"/>
                    </a:moveTo>
                    <a:lnTo>
                      <a:pt x="26194" y="122238"/>
                    </a:lnTo>
                    <a:cubicBezTo>
                      <a:pt x="11727" y="122238"/>
                      <a:pt x="0" y="110510"/>
                      <a:pt x="0" y="96044"/>
                    </a:cubicBezTo>
                    <a:lnTo>
                      <a:pt x="0" y="26194"/>
                    </a:ln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104775" y="122238"/>
                    </a:lnTo>
                    <a:lnTo>
                      <a:pt x="78581" y="148431"/>
                    </a:lnTo>
                    <a:lnTo>
                      <a:pt x="52388" y="122238"/>
                    </a:lnTo>
                  </a:path>
                </a:pathLst>
              </a:custGeom>
              <a:noFill/>
              <a:ln w="17463">
                <a:solidFill>
                  <a:schemeClr val="accent3"/>
                </a:solidFill>
              </a:ln>
            </p:spPr>
          </p:sp>
        </p:grpSp>
        <p:sp>
          <p:nvSpPr>
            <p:cNvPr id="63" name="TextBox 63"/>
            <p:cNvSpPr txBox="1"/>
            <p:nvPr/>
          </p:nvSpPr>
          <p:spPr>
            <a:xfrm>
              <a:off x="6450330" y="3724275"/>
              <a:ext cx="2710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Phân tích doanh số theo từng</a:t>
              </a:r>
              <a:br/>
              <a:r>
                <a:rPr lang="vi-VN" sz="1500" dirty="0">
                  <a:solidFill>
                    <a:schemeClr val="accent1"/>
                  </a:solidFill>
                  <a:latin typeface="Consolas"/>
                  <a:ea typeface="Consolas"/>
                  <a:cs typeface="Consolas"/>
                </a:rPr>
                <a:t>nhân viên bán hàng.</a:t>
              </a:r>
            </a:p>
          </p:txBody>
        </p:sp>
      </p:grpSp>
      <p:grpSp>
        <p:nvGrpSpPr>
          <p:cNvPr id="71" name="Group 71"/>
          <p:cNvGrpSpPr/>
          <p:nvPr/>
        </p:nvGrpSpPr>
        <p:grpSpPr>
          <a:xfrm>
            <a:off x="5961839" y="4505325"/>
            <a:ext cx="4347761" cy="643509"/>
            <a:chOff x="5961839" y="4505325"/>
            <a:chExt cx="4347761" cy="643509"/>
          </a:xfrm>
        </p:grpSpPr>
        <p:grpSp>
          <p:nvGrpSpPr>
            <p:cNvPr id="68" name="Group 68"/>
            <p:cNvGrpSpPr/>
            <p:nvPr/>
          </p:nvGrpSpPr>
          <p:grpSpPr>
            <a:xfrm>
              <a:off x="5961839" y="4521211"/>
              <a:ext cx="192114" cy="165051"/>
              <a:chOff x="5961839" y="4521211"/>
              <a:chExt cx="192114" cy="165051"/>
            </a:xfrm>
          </p:grpSpPr>
          <p:sp>
            <p:nvSpPr>
              <p:cNvPr id="65" name="Freeform 65"/>
              <p:cNvSpPr/>
              <p:nvPr/>
            </p:nvSpPr>
            <p:spPr>
              <a:xfrm>
                <a:off x="6057900" y="45815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66" name="Freeform 66"/>
              <p:cNvSpPr/>
              <p:nvPr/>
            </p:nvSpPr>
            <p:spPr>
              <a:xfrm>
                <a:off x="5961839" y="45212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67" name="Freeform 67"/>
              <p:cNvSpPr/>
              <p:nvPr/>
            </p:nvSpPr>
            <p:spPr>
              <a:xfrm>
                <a:off x="6057900" y="46482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69" name="TextBox 69"/>
            <p:cNvSpPr txBox="1"/>
            <p:nvPr/>
          </p:nvSpPr>
          <p:spPr>
            <a:xfrm>
              <a:off x="6278880" y="4505325"/>
              <a:ext cx="40307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ChatGPT vẫn lập bảng theo từng nhân viên</a:t>
              </a:r>
            </a:p>
          </p:txBody>
        </p:sp>
        <p:sp>
          <p:nvSpPr>
            <p:cNvPr id="70" name="TextBox 70"/>
            <p:cNvSpPr txBox="1"/>
            <p:nvPr/>
          </p:nvSpPr>
          <p:spPr>
            <a:xfrm>
              <a:off x="6277356" y="4796790"/>
              <a:ext cx="1366296"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 Bịa 100%</a:t>
              </a:r>
            </a:p>
          </p:txBody>
        </p:sp>
      </p:grpSp>
      <p:grpSp>
        <p:nvGrpSpPr>
          <p:cNvPr id="77" name="Group 77"/>
          <p:cNvGrpSpPr/>
          <p:nvPr/>
        </p:nvGrpSpPr>
        <p:grpSpPr>
          <a:xfrm>
            <a:off x="5943600" y="5238750"/>
            <a:ext cx="5638800" cy="670751"/>
            <a:chOff x="5943600" y="5238750"/>
            <a:chExt cx="5638800" cy="670751"/>
          </a:xfrm>
        </p:grpSpPr>
        <p:sp>
          <p:nvSpPr>
            <p:cNvPr id="72" name="Line 72"/>
            <p:cNvSpPr/>
            <p:nvPr/>
          </p:nvSpPr>
          <p:spPr>
            <a:xfrm>
              <a:off x="5943600" y="5238750"/>
              <a:ext cx="5638800" cy="9525"/>
            </a:xfrm>
            <a:custGeom>
              <a:avLst/>
              <a:gdLst/>
              <a:ahLst/>
              <a:cxnLst/>
              <a:rect l="l" t="t" r="r" b="b"/>
              <a:pathLst>
                <a:path w="5638800" h="9525">
                  <a:moveTo>
                    <a:pt x="0" y="0"/>
                  </a:moveTo>
                  <a:lnTo>
                    <a:pt x="5638800" y="0"/>
                  </a:lnTo>
                </a:path>
              </a:pathLst>
            </a:custGeom>
            <a:noFill/>
            <a:ln w="9525">
              <a:solidFill>
                <a:schemeClr val="accent4"/>
              </a:solidFill>
            </a:ln>
          </p:spPr>
        </p:sp>
        <p:grpSp>
          <p:nvGrpSpPr>
            <p:cNvPr id="75" name="Group 75"/>
            <p:cNvGrpSpPr/>
            <p:nvPr/>
          </p:nvGrpSpPr>
          <p:grpSpPr>
            <a:xfrm>
              <a:off x="5972175" y="5419725"/>
              <a:ext cx="171450" cy="171450"/>
              <a:chOff x="5972175" y="5419725"/>
              <a:chExt cx="171450" cy="171450"/>
            </a:xfrm>
          </p:grpSpPr>
          <p:sp>
            <p:nvSpPr>
              <p:cNvPr id="73" name="Freeform 73"/>
              <p:cNvSpPr/>
              <p:nvPr/>
            </p:nvSpPr>
            <p:spPr>
              <a:xfrm>
                <a:off x="5972175" y="54197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74" name="Freeform 74"/>
              <p:cNvSpPr/>
              <p:nvPr/>
            </p:nvSpPr>
            <p:spPr>
              <a:xfrm>
                <a:off x="6029325" y="548640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76" name="TextBox 76"/>
            <p:cNvSpPr txBox="1"/>
            <p:nvPr/>
          </p:nvSpPr>
          <p:spPr>
            <a:xfrm>
              <a:off x="6279642" y="5416868"/>
              <a:ext cx="3949351"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Đáp án đối chiếu:</a:t>
              </a:r>
              <a:r>
                <a:rPr lang="vi-VN" sz="1350" dirty="0">
                  <a:solidFill>
                    <a:schemeClr val="dk1"/>
                  </a:solidFill>
                  <a:latin typeface="+mn-lt"/>
                  <a:ea typeface="+mn-ea"/>
                  <a:cs typeface="+mn-cs"/>
                </a:rPr>
                <a:t> 40 dòng · tổng 147.300.000 đ</a:t>
              </a:r>
            </a:p>
            <a:p>
              <a:pPr marL="145732" indent="-145732" algn="l">
                <a:lnSpc>
                  <a:spcPts val="1800"/>
                </a:lnSpc>
                <a:buClr>
                  <a:schemeClr val="dk1"/>
                </a:buClr>
                <a:buSzTx/>
                <a:buFontTx/>
                <a:buChar char="•"/>
              </a:pPr>
              <a:r>
                <a:rPr lang="vi-VN" sz="1350" dirty="0">
                  <a:solidFill>
                    <a:schemeClr val="dk1"/>
                  </a:solidFill>
                  <a:latin typeface="+mn-lt"/>
                  <a:ea typeface="+mn-ea"/>
                  <a:cs typeface="+mn-cs"/>
                </a:rPr>
                <a:t>riêng Elasten 85.700.000 đ</a:t>
              </a:r>
            </a:p>
          </p:txBody>
        </p:sp>
      </p:grpSp>
      <p:sp>
        <p:nvSpPr>
          <p:cNvPr id="78" name="TextBox 7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9" name="TextBox 79"/>
          <p:cNvSpPr txBox="1"/>
          <p:nvPr/>
        </p:nvSpPr>
        <p:spPr>
          <a:xfrm>
            <a:off x="7750291" y="6554152"/>
            <a:ext cx="3399293"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(file đơn hàng) · số liệu minh hoạ</a:t>
            </a:r>
          </a:p>
        </p:txBody>
      </p:sp>
      <p:sp>
        <p:nvSpPr>
          <p:cNvPr id="80" name="TextBox 8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fade">
                                      <p:cBhvr>
                                        <p:cTn id="7" dur="4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fade">
                                      <p:cBhvr>
                                        <p:cTn id="12" dur="4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1"/>
                                        </p:tgtEl>
                                        <p:attrNameLst>
                                          <p:attrName>style.visibility</p:attrName>
                                        </p:attrNameLst>
                                      </p:cBhvr>
                                      <p:to>
                                        <p:strVal val="visible"/>
                                      </p:to>
                                    </p:set>
                                    <p:animEffect transition="in" filter="fade">
                                      <p:cBhvr>
                                        <p:cTn id="17" dur="400"/>
                                        <p:tgtEl>
                                          <p:spTgt spid="71"/>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57"/>
                                        </p:tgtEl>
                                        <p:attrNameLst>
                                          <p:attrName>style.visibility</p:attrName>
                                        </p:attrNameLst>
                                      </p:cBhvr>
                                      <p:to>
                                        <p:strVal val="visible"/>
                                      </p:to>
                                    </p:set>
                                    <p:anim calcmode="lin" valueType="num">
                                      <p:cBhvr>
                                        <p:cTn id="22" dur="400" fill="hold"/>
                                        <p:tgtEl>
                                          <p:spTgt spid="57"/>
                                        </p:tgtEl>
                                        <p:attrNameLst>
                                          <p:attrName>ppt_w</p:attrName>
                                        </p:attrNameLst>
                                      </p:cBhvr>
                                      <p:tavLst>
                                        <p:tav tm="0">
                                          <p:val>
                                            <p:fltVal val="0"/>
                                          </p:val>
                                        </p:tav>
                                        <p:tav tm="100000">
                                          <p:val>
                                            <p:strVal val="#ppt_w"/>
                                          </p:val>
                                        </p:tav>
                                      </p:tavLst>
                                    </p:anim>
                                    <p:anim calcmode="lin" valueType="num">
                                      <p:cBhvr>
                                        <p:cTn id="23" dur="400" fill="hold"/>
                                        <p:tgtEl>
                                          <p:spTgt spid="57"/>
                                        </p:tgtEl>
                                        <p:attrNameLst>
                                          <p:attrName>ppt_h</p:attrName>
                                        </p:attrNameLst>
                                      </p:cBhvr>
                                      <p:tavLst>
                                        <p:tav tm="0">
                                          <p:val>
                                            <p:fltVal val="0"/>
                                          </p:val>
                                        </p:tav>
                                        <p:tav tm="100000">
                                          <p:val>
                                            <p:strVal val="#ppt_h"/>
                                          </p:val>
                                        </p:tav>
                                      </p:tavLst>
                                    </p:anim>
                                    <p:animEffect transition="in" filter="fade">
                                      <p:cBhvr>
                                        <p:cTn id="24" dur="400"/>
                                        <p:tgtEl>
                                          <p:spTgt spid="5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77"/>
                                        </p:tgtEl>
                                        <p:attrNameLst>
                                          <p:attrName>style.visibility</p:attrName>
                                        </p:attrNameLst>
                                      </p:cBhvr>
                                      <p:to>
                                        <p:strVal val="visible"/>
                                      </p:to>
                                    </p:set>
                                    <p:animEffect transition="in" filter="fade">
                                      <p:cBhvr>
                                        <p:cTn id="29"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6688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Kiểm chứng đầu ra trong vài phút</a:t>
            </a:r>
            <a:br/>
            <a:r>
              <a:rPr lang="vi-VN" sz="3150" b="1" dirty="0">
                <a:solidFill>
                  <a:schemeClr val="accent1"/>
                </a:solidFill>
                <a:latin typeface="+mn-lt"/>
                <a:ea typeface="+mn-ea"/>
                <a:cs typeface="+mn-cs"/>
              </a:rPr>
              <a:t>bằng bốn cách trước khi dùng</a:t>
            </a:r>
          </a:p>
        </p:txBody>
      </p:sp>
      <p:grpSp>
        <p:nvGrpSpPr>
          <p:cNvPr id="29" name="Group 29"/>
          <p:cNvGrpSpPr/>
          <p:nvPr/>
        </p:nvGrpSpPr>
        <p:grpSpPr>
          <a:xfrm>
            <a:off x="381000" y="2114550"/>
            <a:ext cx="5638800" cy="1733550"/>
            <a:chOff x="381000" y="2114550"/>
            <a:chExt cx="5638800" cy="1733550"/>
          </a:xfrm>
        </p:grpSpPr>
        <p:sp>
          <p:nvSpPr>
            <p:cNvPr id="17" name="Rectangle 17"/>
            <p:cNvSpPr/>
            <p:nvPr/>
          </p:nvSpPr>
          <p:spPr>
            <a:xfrm>
              <a:off x="381000" y="2114550"/>
              <a:ext cx="5638800" cy="1733550"/>
            </a:xfrm>
            <a:prstGeom prst="roundRect">
              <a:avLst>
                <a:gd name="adj" fmla="val 8791"/>
              </a:avLst>
            </a:prstGeom>
            <a:solidFill>
              <a:schemeClr val="lt1"/>
            </a:solidFill>
            <a:ln w="14288">
              <a:solidFill>
                <a:schemeClr val="accent4"/>
              </a:solidFill>
            </a:ln>
          </p:spPr>
        </p:sp>
        <p:sp>
          <p:nvSpPr>
            <p:cNvPr id="18" name="Ellipse 18"/>
            <p:cNvSpPr/>
            <p:nvPr/>
          </p:nvSpPr>
          <p:spPr>
            <a:xfrm>
              <a:off x="609600" y="2343150"/>
              <a:ext cx="495300" cy="495300"/>
            </a:xfrm>
            <a:prstGeom prst="ellipse">
              <a:avLst/>
            </a:prstGeom>
            <a:solidFill>
              <a:schemeClr val="lt2"/>
            </a:solidFill>
            <a:ln>
              <a:noFill/>
            </a:ln>
          </p:spPr>
        </p:sp>
        <p:grpSp>
          <p:nvGrpSpPr>
            <p:cNvPr id="24" name="Group 24"/>
            <p:cNvGrpSpPr/>
            <p:nvPr/>
          </p:nvGrpSpPr>
          <p:grpSpPr>
            <a:xfrm>
              <a:off x="768350" y="2476500"/>
              <a:ext cx="177800" cy="228599"/>
              <a:chOff x="768350" y="2476500"/>
              <a:chExt cx="177800" cy="228599"/>
            </a:xfrm>
          </p:grpSpPr>
          <p:sp>
            <p:nvSpPr>
              <p:cNvPr id="19" name="Freeform 19"/>
              <p:cNvSpPr/>
              <p:nvPr/>
            </p:nvSpPr>
            <p:spPr>
              <a:xfrm>
                <a:off x="882650" y="24765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3"/>
                </a:solidFill>
              </a:ln>
            </p:spPr>
          </p:sp>
          <p:sp>
            <p:nvSpPr>
              <p:cNvPr id="20" name="Freeform 20"/>
              <p:cNvSpPr/>
              <p:nvPr/>
            </p:nvSpPr>
            <p:spPr>
              <a:xfrm>
                <a:off x="768350" y="24765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3"/>
                </a:solidFill>
              </a:ln>
            </p:spPr>
          </p:sp>
          <p:sp>
            <p:nvSpPr>
              <p:cNvPr id="21" name="Freeform 21"/>
              <p:cNvSpPr/>
              <p:nvPr/>
            </p:nvSpPr>
            <p:spPr>
              <a:xfrm>
                <a:off x="819150" y="2552700"/>
                <a:ext cx="12700" cy="9525"/>
              </a:xfrm>
              <a:custGeom>
                <a:avLst/>
                <a:gdLst/>
                <a:ahLst/>
                <a:cxnLst/>
                <a:rect l="l" t="t" r="r" b="b"/>
                <a:pathLst>
                  <a:path w="12700" h="9525">
                    <a:moveTo>
                      <a:pt x="0" y="0"/>
                    </a:moveTo>
                    <a:lnTo>
                      <a:pt x="12700" y="0"/>
                    </a:lnTo>
                  </a:path>
                </a:pathLst>
              </a:custGeom>
              <a:noFill/>
              <a:ln w="25400">
                <a:solidFill>
                  <a:schemeClr val="accent3"/>
                </a:solidFill>
              </a:ln>
            </p:spPr>
          </p:sp>
          <p:sp>
            <p:nvSpPr>
              <p:cNvPr id="22" name="Freeform 22"/>
              <p:cNvSpPr/>
              <p:nvPr/>
            </p:nvSpPr>
            <p:spPr>
              <a:xfrm>
                <a:off x="819150" y="2603500"/>
                <a:ext cx="76200" cy="9525"/>
              </a:xfrm>
              <a:custGeom>
                <a:avLst/>
                <a:gdLst/>
                <a:ahLst/>
                <a:cxnLst/>
                <a:rect l="l" t="t" r="r" b="b"/>
                <a:pathLst>
                  <a:path w="76200" h="9525">
                    <a:moveTo>
                      <a:pt x="0" y="0"/>
                    </a:moveTo>
                    <a:lnTo>
                      <a:pt x="76200" y="0"/>
                    </a:lnTo>
                  </a:path>
                </a:pathLst>
              </a:custGeom>
              <a:noFill/>
              <a:ln w="25400">
                <a:solidFill>
                  <a:schemeClr val="accent3"/>
                </a:solidFill>
              </a:ln>
            </p:spPr>
          </p:sp>
          <p:sp>
            <p:nvSpPr>
              <p:cNvPr id="23" name="Freeform 23"/>
              <p:cNvSpPr/>
              <p:nvPr/>
            </p:nvSpPr>
            <p:spPr>
              <a:xfrm>
                <a:off x="819150" y="2654299"/>
                <a:ext cx="76200" cy="9525"/>
              </a:xfrm>
              <a:custGeom>
                <a:avLst/>
                <a:gdLst/>
                <a:ahLst/>
                <a:cxnLst/>
                <a:rect l="l" t="t" r="r" b="b"/>
                <a:pathLst>
                  <a:path w="76200" h="9525">
                    <a:moveTo>
                      <a:pt x="0" y="0"/>
                    </a:moveTo>
                    <a:lnTo>
                      <a:pt x="76200" y="0"/>
                    </a:lnTo>
                  </a:path>
                </a:pathLst>
              </a:custGeom>
              <a:noFill/>
              <a:ln w="25400">
                <a:solidFill>
                  <a:schemeClr val="accent3"/>
                </a:solidFill>
              </a:ln>
            </p:spPr>
          </p:sp>
        </p:grpSp>
        <p:sp>
          <p:nvSpPr>
            <p:cNvPr id="25" name="TextBox 25"/>
            <p:cNvSpPr txBox="1"/>
            <p:nvPr/>
          </p:nvSpPr>
          <p:spPr>
            <a:xfrm>
              <a:off x="1247394" y="2475548"/>
              <a:ext cx="2257992"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Ctrl+F trích dẫn</a:t>
              </a:r>
            </a:p>
          </p:txBody>
        </p:sp>
        <p:sp>
          <p:nvSpPr>
            <p:cNvPr id="26" name="Rectangle 26"/>
            <p:cNvSpPr/>
            <p:nvPr/>
          </p:nvSpPr>
          <p:spPr>
            <a:xfrm>
              <a:off x="4667250" y="2343150"/>
              <a:ext cx="1123950" cy="285750"/>
            </a:xfrm>
            <a:prstGeom prst="roundRect">
              <a:avLst>
                <a:gd name="adj" fmla="val 50000"/>
              </a:avLst>
            </a:prstGeom>
            <a:solidFill>
              <a:srgbClr val="FCEBDD"/>
            </a:solidFill>
            <a:ln>
              <a:noFill/>
            </a:ln>
          </p:spPr>
        </p:sp>
        <p:sp>
          <p:nvSpPr>
            <p:cNvPr id="27" name="TextBox 27"/>
            <p:cNvSpPr txBox="1"/>
            <p:nvPr/>
          </p:nvSpPr>
          <p:spPr>
            <a:xfrm>
              <a:off x="4748190" y="2413635"/>
              <a:ext cx="962071"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 giây / câu</a:t>
              </a:r>
            </a:p>
          </p:txBody>
        </p:sp>
        <p:sp>
          <p:nvSpPr>
            <p:cNvPr id="28" name="TextBox 28"/>
            <p:cNvSpPr txBox="1"/>
            <p:nvPr/>
          </p:nvSpPr>
          <p:spPr>
            <a:xfrm>
              <a:off x="601218" y="3060382"/>
              <a:ext cx="436492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Copy câu AI “trích nguyên văn”, tìm trong</a:t>
              </a:r>
              <a:br/>
              <a:r>
                <a:rPr lang="vi-VN" sz="1650" dirty="0">
                  <a:solidFill>
                    <a:schemeClr val="dk1"/>
                  </a:solidFill>
                  <a:latin typeface="+mn-lt"/>
                  <a:ea typeface="+mn-ea"/>
                  <a:cs typeface="+mn-cs"/>
                </a:rPr>
                <a:t>tài liệu gốc</a:t>
              </a:r>
            </a:p>
          </p:txBody>
        </p:sp>
      </p:grpSp>
      <p:grpSp>
        <p:nvGrpSpPr>
          <p:cNvPr id="42" name="Group 42"/>
          <p:cNvGrpSpPr/>
          <p:nvPr/>
        </p:nvGrpSpPr>
        <p:grpSpPr>
          <a:xfrm>
            <a:off x="6172200" y="2114550"/>
            <a:ext cx="5638800" cy="1733550"/>
            <a:chOff x="6172200" y="2114550"/>
            <a:chExt cx="5638800" cy="1733550"/>
          </a:xfrm>
        </p:grpSpPr>
        <p:sp>
          <p:nvSpPr>
            <p:cNvPr id="30" name="Rectangle 30"/>
            <p:cNvSpPr/>
            <p:nvPr/>
          </p:nvSpPr>
          <p:spPr>
            <a:xfrm>
              <a:off x="6172200" y="2114550"/>
              <a:ext cx="5638800" cy="1733550"/>
            </a:xfrm>
            <a:prstGeom prst="roundRect">
              <a:avLst>
                <a:gd name="adj" fmla="val 8791"/>
              </a:avLst>
            </a:prstGeom>
            <a:solidFill>
              <a:schemeClr val="lt1"/>
            </a:solidFill>
            <a:ln w="14288">
              <a:solidFill>
                <a:schemeClr val="accent4"/>
              </a:solidFill>
            </a:ln>
          </p:spPr>
        </p:sp>
        <p:sp>
          <p:nvSpPr>
            <p:cNvPr id="31" name="Ellipse 31"/>
            <p:cNvSpPr/>
            <p:nvPr/>
          </p:nvSpPr>
          <p:spPr>
            <a:xfrm>
              <a:off x="6400800" y="2343150"/>
              <a:ext cx="495300" cy="495300"/>
            </a:xfrm>
            <a:prstGeom prst="ellipse">
              <a:avLst/>
            </a:prstGeom>
            <a:solidFill>
              <a:schemeClr val="lt2"/>
            </a:solidFill>
            <a:ln>
              <a:noFill/>
            </a:ln>
          </p:spPr>
        </p:sp>
        <p:grpSp>
          <p:nvGrpSpPr>
            <p:cNvPr id="37" name="Group 37"/>
            <p:cNvGrpSpPr/>
            <p:nvPr/>
          </p:nvGrpSpPr>
          <p:grpSpPr>
            <a:xfrm>
              <a:off x="6559550" y="2476500"/>
              <a:ext cx="177800" cy="228599"/>
              <a:chOff x="6559550" y="2476500"/>
              <a:chExt cx="177800" cy="228599"/>
            </a:xfrm>
          </p:grpSpPr>
          <p:sp>
            <p:nvSpPr>
              <p:cNvPr id="32" name="Freeform 32"/>
              <p:cNvSpPr/>
              <p:nvPr/>
            </p:nvSpPr>
            <p:spPr>
              <a:xfrm>
                <a:off x="6673850" y="24765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3"/>
                </a:solidFill>
              </a:ln>
            </p:spPr>
          </p:sp>
          <p:sp>
            <p:nvSpPr>
              <p:cNvPr id="33" name="Freeform 33"/>
              <p:cNvSpPr/>
              <p:nvPr/>
            </p:nvSpPr>
            <p:spPr>
              <a:xfrm>
                <a:off x="6559550" y="24765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3"/>
                </a:solidFill>
              </a:ln>
            </p:spPr>
          </p:sp>
          <p:sp>
            <p:nvSpPr>
              <p:cNvPr id="34" name="Freeform 34"/>
              <p:cNvSpPr/>
              <p:nvPr/>
            </p:nvSpPr>
            <p:spPr>
              <a:xfrm>
                <a:off x="6597650" y="2578100"/>
                <a:ext cx="101600" cy="88900"/>
              </a:xfrm>
              <a:custGeom>
                <a:avLst/>
                <a:gdLst/>
                <a:ahLst/>
                <a:cxnLst/>
                <a:rect l="l" t="t" r="r" b="b"/>
                <a:pathLst>
                  <a:path w="101600" h="88900">
                    <a:moveTo>
                      <a:pt x="0" y="0"/>
                    </a:moveTo>
                    <a:lnTo>
                      <a:pt x="101600" y="0"/>
                    </a:lnTo>
                    <a:lnTo>
                      <a:pt x="101600" y="88900"/>
                    </a:lnTo>
                    <a:lnTo>
                      <a:pt x="0" y="88900"/>
                    </a:lnTo>
                    <a:lnTo>
                      <a:pt x="0" y="0"/>
                    </a:lnTo>
                  </a:path>
                </a:pathLst>
              </a:custGeom>
              <a:noFill/>
              <a:ln w="25400">
                <a:solidFill>
                  <a:schemeClr val="accent3"/>
                </a:solidFill>
              </a:ln>
            </p:spPr>
          </p:sp>
          <p:sp>
            <p:nvSpPr>
              <p:cNvPr id="35" name="Freeform 35"/>
              <p:cNvSpPr/>
              <p:nvPr/>
            </p:nvSpPr>
            <p:spPr>
              <a:xfrm>
                <a:off x="6597650" y="2628900"/>
                <a:ext cx="101600" cy="9525"/>
              </a:xfrm>
              <a:custGeom>
                <a:avLst/>
                <a:gdLst/>
                <a:ahLst/>
                <a:cxnLst/>
                <a:rect l="l" t="t" r="r" b="b"/>
                <a:pathLst>
                  <a:path w="101600" h="9525">
                    <a:moveTo>
                      <a:pt x="0" y="0"/>
                    </a:moveTo>
                    <a:lnTo>
                      <a:pt x="101600" y="0"/>
                    </a:lnTo>
                  </a:path>
                </a:pathLst>
              </a:custGeom>
              <a:noFill/>
              <a:ln w="25400">
                <a:solidFill>
                  <a:schemeClr val="accent3"/>
                </a:solidFill>
              </a:ln>
            </p:spPr>
          </p:sp>
          <p:sp>
            <p:nvSpPr>
              <p:cNvPr id="36" name="Freeform 36"/>
              <p:cNvSpPr/>
              <p:nvPr/>
            </p:nvSpPr>
            <p:spPr>
              <a:xfrm>
                <a:off x="6635750" y="2578100"/>
                <a:ext cx="9525" cy="88900"/>
              </a:xfrm>
              <a:custGeom>
                <a:avLst/>
                <a:gdLst/>
                <a:ahLst/>
                <a:cxnLst/>
                <a:rect l="l" t="t" r="r" b="b"/>
                <a:pathLst>
                  <a:path w="9525" h="88900">
                    <a:moveTo>
                      <a:pt x="0" y="0"/>
                    </a:moveTo>
                    <a:lnTo>
                      <a:pt x="0" y="88900"/>
                    </a:lnTo>
                  </a:path>
                </a:pathLst>
              </a:custGeom>
              <a:noFill/>
              <a:ln w="25400">
                <a:solidFill>
                  <a:schemeClr val="accent3"/>
                </a:solidFill>
              </a:ln>
            </p:spPr>
          </p:sp>
        </p:grpSp>
        <p:sp>
          <p:nvSpPr>
            <p:cNvPr id="38" name="TextBox 38"/>
            <p:cNvSpPr txBox="1"/>
            <p:nvPr/>
          </p:nvSpPr>
          <p:spPr>
            <a:xfrm>
              <a:off x="7038594" y="2475548"/>
              <a:ext cx="273002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Rà ngẫu nhiên số liệu</a:t>
              </a:r>
            </a:p>
          </p:txBody>
        </p:sp>
        <p:sp>
          <p:nvSpPr>
            <p:cNvPr id="39" name="Rectangle 39"/>
            <p:cNvSpPr/>
            <p:nvPr/>
          </p:nvSpPr>
          <p:spPr>
            <a:xfrm>
              <a:off x="10458450" y="2343150"/>
              <a:ext cx="1123950" cy="285750"/>
            </a:xfrm>
            <a:prstGeom prst="roundRect">
              <a:avLst>
                <a:gd name="adj" fmla="val 50000"/>
              </a:avLst>
            </a:prstGeom>
            <a:solidFill>
              <a:srgbClr val="FCEBDD"/>
            </a:solidFill>
            <a:ln>
              <a:noFill/>
            </a:ln>
          </p:spPr>
        </p:sp>
        <p:sp>
          <p:nvSpPr>
            <p:cNvPr id="40" name="TextBox 40"/>
            <p:cNvSpPr txBox="1"/>
            <p:nvPr/>
          </p:nvSpPr>
          <p:spPr>
            <a:xfrm>
              <a:off x="10755657" y="2413635"/>
              <a:ext cx="52953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 phút</a:t>
              </a:r>
            </a:p>
          </p:txBody>
        </p:sp>
        <p:sp>
          <p:nvSpPr>
            <p:cNvPr id="41" name="TextBox 41"/>
            <p:cNvSpPr txBox="1"/>
            <p:nvPr/>
          </p:nvSpPr>
          <p:spPr>
            <a:xfrm>
              <a:off x="6392418" y="3060382"/>
              <a:ext cx="417917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Chọn 2–3 con số, tự đối chiếu với nguồn</a:t>
              </a:r>
            </a:p>
          </p:txBody>
        </p:sp>
      </p:grpSp>
      <p:grpSp>
        <p:nvGrpSpPr>
          <p:cNvPr id="52" name="Group 52"/>
          <p:cNvGrpSpPr/>
          <p:nvPr/>
        </p:nvGrpSpPr>
        <p:grpSpPr>
          <a:xfrm>
            <a:off x="381000" y="4000500"/>
            <a:ext cx="5638800" cy="1733550"/>
            <a:chOff x="381000" y="4000500"/>
            <a:chExt cx="5638800" cy="1733550"/>
          </a:xfrm>
        </p:grpSpPr>
        <p:sp>
          <p:nvSpPr>
            <p:cNvPr id="43" name="Rectangle 43"/>
            <p:cNvSpPr/>
            <p:nvPr/>
          </p:nvSpPr>
          <p:spPr>
            <a:xfrm>
              <a:off x="381000" y="4000500"/>
              <a:ext cx="5638800" cy="1733550"/>
            </a:xfrm>
            <a:prstGeom prst="roundRect">
              <a:avLst>
                <a:gd name="adj" fmla="val 8791"/>
              </a:avLst>
            </a:prstGeom>
            <a:solidFill>
              <a:schemeClr val="lt1"/>
            </a:solidFill>
            <a:ln w="14288">
              <a:solidFill>
                <a:schemeClr val="accent4"/>
              </a:solidFill>
            </a:ln>
          </p:spPr>
        </p:sp>
        <p:sp>
          <p:nvSpPr>
            <p:cNvPr id="44" name="Ellipse 44"/>
            <p:cNvSpPr/>
            <p:nvPr/>
          </p:nvSpPr>
          <p:spPr>
            <a:xfrm>
              <a:off x="609600" y="4229100"/>
              <a:ext cx="495300" cy="495300"/>
            </a:xfrm>
            <a:prstGeom prst="ellipse">
              <a:avLst/>
            </a:prstGeom>
            <a:solidFill>
              <a:schemeClr val="lt2"/>
            </a:solidFill>
            <a:ln>
              <a:noFill/>
            </a:ln>
          </p:spPr>
        </p:sp>
        <p:grpSp>
          <p:nvGrpSpPr>
            <p:cNvPr id="47" name="Group 47"/>
            <p:cNvGrpSpPr/>
            <p:nvPr/>
          </p:nvGrpSpPr>
          <p:grpSpPr>
            <a:xfrm>
              <a:off x="755650" y="4370250"/>
              <a:ext cx="203199" cy="213000"/>
              <a:chOff x="755650" y="4370250"/>
              <a:chExt cx="203199" cy="213000"/>
            </a:xfrm>
          </p:grpSpPr>
          <p:sp>
            <p:nvSpPr>
              <p:cNvPr id="45" name="Freeform 45"/>
              <p:cNvSpPr/>
              <p:nvPr/>
            </p:nvSpPr>
            <p:spPr>
              <a:xfrm>
                <a:off x="755650" y="4370250"/>
                <a:ext cx="203199" cy="93800"/>
              </a:xfrm>
              <a:custGeom>
                <a:avLst/>
                <a:gdLst/>
                <a:ahLst/>
                <a:cxnLst/>
                <a:rect l="l" t="t" r="r" b="b"/>
                <a:pathLst>
                  <a:path w="203199" h="93800">
                    <a:moveTo>
                      <a:pt x="203199" y="93800"/>
                    </a:moveTo>
                    <a:cubicBezTo>
                      <a:pt x="196815" y="47858"/>
                      <a:pt x="160475" y="11871"/>
                      <a:pt x="114473" y="5936"/>
                    </a:cubicBezTo>
                    <a:cubicBezTo>
                      <a:pt x="68472" y="0"/>
                      <a:pt x="24187" y="25584"/>
                      <a:pt x="6350" y="68400"/>
                    </a:cubicBezTo>
                    <a:moveTo>
                      <a:pt x="0" y="17600"/>
                    </a:moveTo>
                    <a:lnTo>
                      <a:pt x="0" y="68400"/>
                    </a:lnTo>
                    <a:lnTo>
                      <a:pt x="50800" y="68400"/>
                    </a:lnTo>
                  </a:path>
                </a:pathLst>
              </a:custGeom>
              <a:noFill/>
              <a:ln w="25400">
                <a:solidFill>
                  <a:schemeClr val="accent3"/>
                </a:solidFill>
              </a:ln>
            </p:spPr>
          </p:sp>
          <p:sp>
            <p:nvSpPr>
              <p:cNvPr id="46" name="Freeform 46"/>
              <p:cNvSpPr/>
              <p:nvPr/>
            </p:nvSpPr>
            <p:spPr>
              <a:xfrm>
                <a:off x="755650" y="4489450"/>
                <a:ext cx="203199" cy="93800"/>
              </a:xfrm>
              <a:custGeom>
                <a:avLst/>
                <a:gdLst/>
                <a:ahLst/>
                <a:cxnLst/>
                <a:rect l="l" t="t" r="r" b="b"/>
                <a:pathLst>
                  <a:path w="203199" h="93800">
                    <a:moveTo>
                      <a:pt x="0" y="0"/>
                    </a:moveTo>
                    <a:cubicBezTo>
                      <a:pt x="6385" y="45942"/>
                      <a:pt x="42724" y="81928"/>
                      <a:pt x="88726" y="87864"/>
                    </a:cubicBezTo>
                    <a:cubicBezTo>
                      <a:pt x="134728" y="93800"/>
                      <a:pt x="179012" y="68216"/>
                      <a:pt x="196850" y="25400"/>
                    </a:cubicBezTo>
                    <a:moveTo>
                      <a:pt x="203199" y="76200"/>
                    </a:moveTo>
                    <a:lnTo>
                      <a:pt x="203199" y="25400"/>
                    </a:lnTo>
                    <a:lnTo>
                      <a:pt x="152400" y="25400"/>
                    </a:lnTo>
                  </a:path>
                </a:pathLst>
              </a:custGeom>
              <a:noFill/>
              <a:ln w="25400">
                <a:solidFill>
                  <a:schemeClr val="accent3"/>
                </a:solidFill>
              </a:ln>
            </p:spPr>
          </p:sp>
        </p:grpSp>
        <p:sp>
          <p:nvSpPr>
            <p:cNvPr id="48" name="TextBox 48"/>
            <p:cNvSpPr txBox="1"/>
            <p:nvPr/>
          </p:nvSpPr>
          <p:spPr>
            <a:xfrm>
              <a:off x="1247394" y="4361498"/>
              <a:ext cx="2179122"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Phép thử đổi tên</a:t>
              </a:r>
            </a:p>
          </p:txBody>
        </p:sp>
        <p:sp>
          <p:nvSpPr>
            <p:cNvPr id="49" name="Rectangle 49"/>
            <p:cNvSpPr/>
            <p:nvPr/>
          </p:nvSpPr>
          <p:spPr>
            <a:xfrm>
              <a:off x="4667250" y="4229100"/>
              <a:ext cx="1123950" cy="285750"/>
            </a:xfrm>
            <a:prstGeom prst="roundRect">
              <a:avLst>
                <a:gd name="adj" fmla="val 50000"/>
              </a:avLst>
            </a:prstGeom>
            <a:solidFill>
              <a:srgbClr val="FCEBDD"/>
            </a:solidFill>
            <a:ln>
              <a:noFill/>
            </a:ln>
          </p:spPr>
        </p:sp>
        <p:sp>
          <p:nvSpPr>
            <p:cNvPr id="50" name="TextBox 50"/>
            <p:cNvSpPr txBox="1"/>
            <p:nvPr/>
          </p:nvSpPr>
          <p:spPr>
            <a:xfrm>
              <a:off x="4939013" y="4299585"/>
              <a:ext cx="580423"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 giây</a:t>
              </a:r>
            </a:p>
          </p:txBody>
        </p:sp>
        <p:sp>
          <p:nvSpPr>
            <p:cNvPr id="51" name="TextBox 51"/>
            <p:cNvSpPr txBox="1"/>
            <p:nvPr/>
          </p:nvSpPr>
          <p:spPr>
            <a:xfrm>
              <a:off x="601218" y="4946332"/>
              <a:ext cx="40820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Thay tên mình bằng tên đối thủ; câu vẫn</a:t>
              </a:r>
              <a:br/>
              <a:r>
                <a:rPr lang="vi-VN" sz="1650" dirty="0">
                  <a:solidFill>
                    <a:schemeClr val="dk1"/>
                  </a:solidFill>
                  <a:latin typeface="+mn-lt"/>
                  <a:ea typeface="+mn-ea"/>
                  <a:cs typeface="+mn-cs"/>
                </a:rPr>
                <a:t>đúng là chưa đủ cụ thể</a:t>
              </a:r>
            </a:p>
          </p:txBody>
        </p:sp>
      </p:grpSp>
      <p:grpSp>
        <p:nvGrpSpPr>
          <p:cNvPr id="63" name="Group 63"/>
          <p:cNvGrpSpPr/>
          <p:nvPr/>
        </p:nvGrpSpPr>
        <p:grpSpPr>
          <a:xfrm>
            <a:off x="6172200" y="4000500"/>
            <a:ext cx="5638800" cy="1733550"/>
            <a:chOff x="6172200" y="4000500"/>
            <a:chExt cx="5638800" cy="1733550"/>
          </a:xfrm>
        </p:grpSpPr>
        <p:sp>
          <p:nvSpPr>
            <p:cNvPr id="53" name="Rectangle 53"/>
            <p:cNvSpPr/>
            <p:nvPr/>
          </p:nvSpPr>
          <p:spPr>
            <a:xfrm>
              <a:off x="6172200" y="4000500"/>
              <a:ext cx="5638800" cy="1733550"/>
            </a:xfrm>
            <a:prstGeom prst="roundRect">
              <a:avLst>
                <a:gd name="adj" fmla="val 8791"/>
              </a:avLst>
            </a:prstGeom>
            <a:solidFill>
              <a:schemeClr val="lt1"/>
            </a:solidFill>
            <a:ln w="14288">
              <a:solidFill>
                <a:schemeClr val="accent4"/>
              </a:solidFill>
            </a:ln>
          </p:spPr>
        </p:sp>
        <p:sp>
          <p:nvSpPr>
            <p:cNvPr id="54" name="Ellipse 54"/>
            <p:cNvSpPr/>
            <p:nvPr/>
          </p:nvSpPr>
          <p:spPr>
            <a:xfrm>
              <a:off x="6400800" y="4229100"/>
              <a:ext cx="495300" cy="495300"/>
            </a:xfrm>
            <a:prstGeom prst="ellipse">
              <a:avLst/>
            </a:prstGeom>
            <a:solidFill>
              <a:schemeClr val="lt2"/>
            </a:solidFill>
            <a:ln>
              <a:noFill/>
            </a:ln>
          </p:spPr>
        </p:sp>
        <p:grpSp>
          <p:nvGrpSpPr>
            <p:cNvPr id="58" name="Group 58"/>
            <p:cNvGrpSpPr/>
            <p:nvPr/>
          </p:nvGrpSpPr>
          <p:grpSpPr>
            <a:xfrm>
              <a:off x="6534150" y="4375150"/>
              <a:ext cx="228599" cy="215899"/>
              <a:chOff x="6534150" y="4375150"/>
              <a:chExt cx="228599" cy="215899"/>
            </a:xfrm>
          </p:grpSpPr>
          <p:sp>
            <p:nvSpPr>
              <p:cNvPr id="55" name="Freeform 55"/>
              <p:cNvSpPr/>
              <p:nvPr/>
            </p:nvSpPr>
            <p:spPr>
              <a:xfrm>
                <a:off x="6597650" y="4438650"/>
                <a:ext cx="101600" cy="9525"/>
              </a:xfrm>
              <a:custGeom>
                <a:avLst/>
                <a:gdLst/>
                <a:ahLst/>
                <a:cxnLst/>
                <a:rect l="l" t="t" r="r" b="b"/>
                <a:pathLst>
                  <a:path w="101600" h="9525">
                    <a:moveTo>
                      <a:pt x="0" y="0"/>
                    </a:moveTo>
                    <a:lnTo>
                      <a:pt x="101600" y="0"/>
                    </a:lnTo>
                  </a:path>
                </a:pathLst>
              </a:custGeom>
              <a:noFill/>
              <a:ln w="25400">
                <a:solidFill>
                  <a:schemeClr val="accent3"/>
                </a:solidFill>
              </a:ln>
            </p:spPr>
          </p:sp>
          <p:sp>
            <p:nvSpPr>
              <p:cNvPr id="56" name="Freeform 56"/>
              <p:cNvSpPr/>
              <p:nvPr/>
            </p:nvSpPr>
            <p:spPr>
              <a:xfrm>
                <a:off x="6597650" y="4489450"/>
                <a:ext cx="76200" cy="9525"/>
              </a:xfrm>
              <a:custGeom>
                <a:avLst/>
                <a:gdLst/>
                <a:ahLst/>
                <a:cxnLst/>
                <a:rect l="l" t="t" r="r" b="b"/>
                <a:pathLst>
                  <a:path w="76200" h="9525">
                    <a:moveTo>
                      <a:pt x="0" y="0"/>
                    </a:moveTo>
                    <a:lnTo>
                      <a:pt x="76200" y="0"/>
                    </a:lnTo>
                  </a:path>
                </a:pathLst>
              </a:custGeom>
              <a:noFill/>
              <a:ln w="25400">
                <a:solidFill>
                  <a:schemeClr val="accent3"/>
                </a:solidFill>
              </a:ln>
            </p:spPr>
          </p:sp>
          <p:sp>
            <p:nvSpPr>
              <p:cNvPr id="57" name="Freeform 57"/>
              <p:cNvSpPr/>
              <p:nvPr/>
            </p:nvSpPr>
            <p:spPr>
              <a:xfrm>
                <a:off x="6534150" y="4375150"/>
                <a:ext cx="228599" cy="215899"/>
              </a:xfrm>
              <a:custGeom>
                <a:avLst/>
                <a:gdLst/>
                <a:ahLst/>
                <a:cxnLst/>
                <a:rect l="l" t="t" r="r" b="b"/>
                <a:pathLst>
                  <a:path w="228599" h="215899">
                    <a:moveTo>
                      <a:pt x="76200" y="177800"/>
                    </a:moveTo>
                    <a:lnTo>
                      <a:pt x="38100" y="177800"/>
                    </a:lnTo>
                    <a:cubicBezTo>
                      <a:pt x="17058" y="177800"/>
                      <a:pt x="0" y="160742"/>
                      <a:pt x="0" y="139700"/>
                    </a:cubicBezTo>
                    <a:lnTo>
                      <a:pt x="0" y="38100"/>
                    </a:lnTo>
                    <a:cubicBezTo>
                      <a:pt x="0" y="17058"/>
                      <a:pt x="17058" y="0"/>
                      <a:pt x="38100" y="0"/>
                    </a:cubicBezTo>
                    <a:lnTo>
                      <a:pt x="190500" y="0"/>
                    </a:lnTo>
                    <a:cubicBezTo>
                      <a:pt x="211542" y="0"/>
                      <a:pt x="228599" y="17058"/>
                      <a:pt x="228599" y="38100"/>
                    </a:cubicBezTo>
                    <a:lnTo>
                      <a:pt x="228599" y="139700"/>
                    </a:lnTo>
                    <a:cubicBezTo>
                      <a:pt x="228599" y="160742"/>
                      <a:pt x="211542" y="177800"/>
                      <a:pt x="190500" y="177800"/>
                    </a:cubicBezTo>
                    <a:lnTo>
                      <a:pt x="152400" y="177800"/>
                    </a:lnTo>
                    <a:lnTo>
                      <a:pt x="114300" y="215899"/>
                    </a:lnTo>
                    <a:lnTo>
                      <a:pt x="76200" y="177800"/>
                    </a:lnTo>
                  </a:path>
                </a:pathLst>
              </a:custGeom>
              <a:noFill/>
              <a:ln w="25400">
                <a:solidFill>
                  <a:schemeClr val="accent3"/>
                </a:solidFill>
              </a:ln>
            </p:spPr>
          </p:sp>
        </p:grpSp>
        <p:sp>
          <p:nvSpPr>
            <p:cNvPr id="59" name="TextBox 59"/>
            <p:cNvSpPr txBox="1"/>
            <p:nvPr/>
          </p:nvSpPr>
          <p:spPr>
            <a:xfrm>
              <a:off x="7038594" y="4361498"/>
              <a:ext cx="1825099"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Bắt AI tự khai</a:t>
              </a:r>
            </a:p>
          </p:txBody>
        </p:sp>
        <p:sp>
          <p:nvSpPr>
            <p:cNvPr id="60" name="Rectangle 60"/>
            <p:cNvSpPr/>
            <p:nvPr/>
          </p:nvSpPr>
          <p:spPr>
            <a:xfrm>
              <a:off x="10458450" y="4229100"/>
              <a:ext cx="1123950" cy="285750"/>
            </a:xfrm>
            <a:prstGeom prst="roundRect">
              <a:avLst>
                <a:gd name="adj" fmla="val 50000"/>
              </a:avLst>
            </a:prstGeom>
            <a:solidFill>
              <a:srgbClr val="FCEBDD"/>
            </a:solidFill>
            <a:ln>
              <a:noFill/>
            </a:ln>
          </p:spPr>
        </p:sp>
        <p:sp>
          <p:nvSpPr>
            <p:cNvPr id="61" name="TextBox 61"/>
            <p:cNvSpPr txBox="1"/>
            <p:nvPr/>
          </p:nvSpPr>
          <p:spPr>
            <a:xfrm>
              <a:off x="10564833" y="4299585"/>
              <a:ext cx="91118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 lượt chat</a:t>
              </a:r>
            </a:p>
          </p:txBody>
        </p:sp>
        <p:sp>
          <p:nvSpPr>
            <p:cNvPr id="62" name="TextBox 62"/>
            <p:cNvSpPr txBox="1"/>
            <p:nvPr/>
          </p:nvSpPr>
          <p:spPr>
            <a:xfrm>
              <a:off x="6392418" y="4946332"/>
              <a:ext cx="410298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Hỏi: “Chỗ nào bạn tự suy đoán mà tài liệu</a:t>
              </a:r>
              <a:br/>
              <a:r>
                <a:rPr lang="vi-VN" sz="1650" dirty="0">
                  <a:solidFill>
                    <a:schemeClr val="dk1"/>
                  </a:solidFill>
                  <a:latin typeface="+mn-lt"/>
                  <a:ea typeface="+mn-ea"/>
                  <a:cs typeface="+mn-cs"/>
                </a:rPr>
                <a:t>không nói?”</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8793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2: làm ít nhất 3 việc</a:t>
            </a:r>
            <a:br/>
            <a:r>
              <a:rPr lang="vi-VN" sz="3150" b="1" dirty="0">
                <a:solidFill>
                  <a:schemeClr val="accent1"/>
                </a:solidFill>
                <a:latin typeface="+mn-lt"/>
                <a:ea typeface="+mn-ea"/>
                <a:cs typeface="+mn-cs"/>
              </a:rPr>
              <a:t>trên dữ liệu Wir với prompt đủ 4 phần</a:t>
            </a:r>
          </a:p>
        </p:txBody>
      </p:sp>
      <p:grpSp>
        <p:nvGrpSpPr>
          <p:cNvPr id="51" name="Group 51"/>
          <p:cNvGrpSpPr/>
          <p:nvPr/>
        </p:nvGrpSpPr>
        <p:grpSpPr>
          <a:xfrm>
            <a:off x="381000" y="2140744"/>
            <a:ext cx="6572250" cy="2888456"/>
            <a:chOff x="381000" y="2140744"/>
            <a:chExt cx="6572250" cy="2888456"/>
          </a:xfrm>
        </p:grpSpPr>
        <p:grpSp>
          <p:nvGrpSpPr>
            <p:cNvPr id="20" name="Group 20"/>
            <p:cNvGrpSpPr/>
            <p:nvPr/>
          </p:nvGrpSpPr>
          <p:grpSpPr>
            <a:xfrm>
              <a:off x="424656" y="2140744"/>
              <a:ext cx="122238" cy="157162"/>
              <a:chOff x="424656" y="2140744"/>
              <a:chExt cx="122238" cy="157162"/>
            </a:xfrm>
          </p:grpSpPr>
          <p:sp>
            <p:nvSpPr>
              <p:cNvPr id="17" name="Freeform 17"/>
              <p:cNvSpPr/>
              <p:nvPr/>
            </p:nvSpPr>
            <p:spPr>
              <a:xfrm>
                <a:off x="424656" y="2158206"/>
                <a:ext cx="122238" cy="139700"/>
              </a:xfrm>
              <a:custGeom>
                <a:avLst/>
                <a:gdLst/>
                <a:ahLst/>
                <a:cxnLst/>
                <a:rect l="l" t="t" r="r" b="b"/>
                <a:pathLst>
                  <a:path w="122238" h="139700">
                    <a:moveTo>
                      <a:pt x="34925" y="0"/>
                    </a:moveTo>
                    <a:lnTo>
                      <a:pt x="17463" y="0"/>
                    </a:lnTo>
                    <a:cubicBezTo>
                      <a:pt x="7818" y="0"/>
                      <a:pt x="0" y="7818"/>
                      <a:pt x="0" y="17463"/>
                    </a:cubicBezTo>
                    <a:lnTo>
                      <a:pt x="0" y="122238"/>
                    </a:lnTo>
                    <a:cubicBezTo>
                      <a:pt x="0" y="131882"/>
                      <a:pt x="7818" y="139700"/>
                      <a:pt x="17463" y="139700"/>
                    </a:cubicBezTo>
                    <a:lnTo>
                      <a:pt x="104775" y="139700"/>
                    </a:lnTo>
                    <a:cubicBezTo>
                      <a:pt x="114419" y="139700"/>
                      <a:pt x="122238" y="131882"/>
                      <a:pt x="122238" y="122238"/>
                    </a:cubicBezTo>
                    <a:lnTo>
                      <a:pt x="122238" y="17463"/>
                    </a:lnTo>
                    <a:cubicBezTo>
                      <a:pt x="122238" y="7818"/>
                      <a:pt x="114419" y="0"/>
                      <a:pt x="104775" y="0"/>
                    </a:cubicBezTo>
                    <a:lnTo>
                      <a:pt x="87313" y="0"/>
                    </a:lnTo>
                  </a:path>
                </a:pathLst>
              </a:custGeom>
              <a:noFill/>
              <a:ln w="17463">
                <a:solidFill>
                  <a:schemeClr val="accent3"/>
                </a:solidFill>
              </a:ln>
            </p:spPr>
          </p:sp>
          <p:sp>
            <p:nvSpPr>
              <p:cNvPr id="18" name="Freeform 18"/>
              <p:cNvSpPr/>
              <p:nvPr/>
            </p:nvSpPr>
            <p:spPr>
              <a:xfrm>
                <a:off x="459581" y="2140744"/>
                <a:ext cx="52388" cy="34925"/>
              </a:xfrm>
              <a:custGeom>
                <a:avLst/>
                <a:gdLst/>
                <a:ahLst/>
                <a:cxnLst/>
                <a:rect l="l" t="t" r="r" b="b"/>
                <a:pathLst>
                  <a:path w="52388" h="34925">
                    <a:moveTo>
                      <a:pt x="0" y="17463"/>
                    </a:moveTo>
                    <a:cubicBezTo>
                      <a:pt x="0" y="7818"/>
                      <a:pt x="7818" y="0"/>
                      <a:pt x="17463" y="0"/>
                    </a:cubicBezTo>
                    <a:lnTo>
                      <a:pt x="34925" y="0"/>
                    </a:lnTo>
                    <a:cubicBezTo>
                      <a:pt x="44569" y="0"/>
                      <a:pt x="52388" y="7818"/>
                      <a:pt x="52388" y="17463"/>
                    </a:cubicBezTo>
                    <a:cubicBezTo>
                      <a:pt x="52388" y="27107"/>
                      <a:pt x="44569" y="34925"/>
                      <a:pt x="34925" y="34925"/>
                    </a:cubicBezTo>
                    <a:lnTo>
                      <a:pt x="17463" y="34925"/>
                    </a:lnTo>
                    <a:cubicBezTo>
                      <a:pt x="7818" y="34925"/>
                      <a:pt x="0" y="27107"/>
                      <a:pt x="0" y="17463"/>
                    </a:cubicBezTo>
                  </a:path>
                </a:pathLst>
              </a:custGeom>
              <a:noFill/>
              <a:ln w="17463">
                <a:solidFill>
                  <a:schemeClr val="accent3"/>
                </a:solidFill>
              </a:ln>
            </p:spPr>
          </p:sp>
          <p:sp>
            <p:nvSpPr>
              <p:cNvPr id="19" name="Freeform 19"/>
              <p:cNvSpPr/>
              <p:nvPr/>
            </p:nvSpPr>
            <p:spPr>
              <a:xfrm>
                <a:off x="459581" y="2219325"/>
                <a:ext cx="52388" cy="34925"/>
              </a:xfrm>
              <a:custGeom>
                <a:avLst/>
                <a:gdLst/>
                <a:ahLst/>
                <a:cxnLst/>
                <a:rect l="l" t="t" r="r" b="b"/>
                <a:pathLst>
                  <a:path w="52388" h="34925">
                    <a:moveTo>
                      <a:pt x="0" y="17463"/>
                    </a:moveTo>
                    <a:lnTo>
                      <a:pt x="17463" y="34925"/>
                    </a:lnTo>
                    <a:lnTo>
                      <a:pt x="52388" y="0"/>
                    </a:lnTo>
                  </a:path>
                </a:pathLst>
              </a:custGeom>
              <a:noFill/>
              <a:ln w="17463">
                <a:solidFill>
                  <a:schemeClr val="accent3"/>
                </a:solidFill>
              </a:ln>
            </p:spPr>
          </p:sp>
        </p:grpSp>
        <p:sp>
          <p:nvSpPr>
            <p:cNvPr id="21" name="TextBox 21"/>
            <p:cNvSpPr txBox="1"/>
            <p:nvPr/>
          </p:nvSpPr>
          <p:spPr>
            <a:xfrm>
              <a:off x="660654" y="2146935"/>
              <a:ext cx="185306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CHỌN ÍT NHẤT 3 VIỆC</a:t>
              </a:r>
            </a:p>
          </p:txBody>
        </p:sp>
        <p:sp>
          <p:nvSpPr>
            <p:cNvPr id="22" name="Rectangle 22"/>
            <p:cNvSpPr/>
            <p:nvPr/>
          </p:nvSpPr>
          <p:spPr>
            <a:xfrm>
              <a:off x="381000" y="2438400"/>
              <a:ext cx="6572250" cy="590550"/>
            </a:xfrm>
            <a:prstGeom prst="roundRect">
              <a:avLst>
                <a:gd name="adj" fmla="val 22581"/>
              </a:avLst>
            </a:prstGeom>
            <a:solidFill>
              <a:schemeClr val="lt1"/>
            </a:solidFill>
            <a:ln w="14288">
              <a:solidFill>
                <a:schemeClr val="accent4"/>
              </a:solidFill>
            </a:ln>
          </p:spPr>
        </p:sp>
        <p:grpSp>
          <p:nvGrpSpPr>
            <p:cNvPr id="28" name="Group 28"/>
            <p:cNvGrpSpPr/>
            <p:nvPr/>
          </p:nvGrpSpPr>
          <p:grpSpPr>
            <a:xfrm>
              <a:off x="600075" y="2647950"/>
              <a:ext cx="133350" cy="171450"/>
              <a:chOff x="600075" y="2647950"/>
              <a:chExt cx="133350" cy="171450"/>
            </a:xfrm>
          </p:grpSpPr>
          <p:sp>
            <p:nvSpPr>
              <p:cNvPr id="23" name="Freeform 23"/>
              <p:cNvSpPr/>
              <p:nvPr/>
            </p:nvSpPr>
            <p:spPr>
              <a:xfrm>
                <a:off x="685800" y="264795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chemeClr val="accent3"/>
                </a:solidFill>
              </a:ln>
            </p:spPr>
          </p:sp>
          <p:sp>
            <p:nvSpPr>
              <p:cNvPr id="24" name="Freeform 24"/>
              <p:cNvSpPr/>
              <p:nvPr/>
            </p:nvSpPr>
            <p:spPr>
              <a:xfrm>
                <a:off x="600075" y="264795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chemeClr val="accent3"/>
                </a:solidFill>
              </a:ln>
            </p:spPr>
          </p:sp>
          <p:sp>
            <p:nvSpPr>
              <p:cNvPr id="25" name="Freeform 25"/>
              <p:cNvSpPr/>
              <p:nvPr/>
            </p:nvSpPr>
            <p:spPr>
              <a:xfrm>
                <a:off x="638175" y="2705100"/>
                <a:ext cx="9525" cy="9525"/>
              </a:xfrm>
              <a:custGeom>
                <a:avLst/>
                <a:gdLst/>
                <a:ahLst/>
                <a:cxnLst/>
                <a:rect l="l" t="t" r="r" b="b"/>
                <a:pathLst>
                  <a:path w="9525" h="9525">
                    <a:moveTo>
                      <a:pt x="0" y="0"/>
                    </a:moveTo>
                    <a:lnTo>
                      <a:pt x="9525" y="0"/>
                    </a:lnTo>
                  </a:path>
                </a:pathLst>
              </a:custGeom>
              <a:noFill/>
              <a:ln w="19050">
                <a:solidFill>
                  <a:schemeClr val="accent3"/>
                </a:solidFill>
              </a:ln>
            </p:spPr>
          </p:sp>
          <p:sp>
            <p:nvSpPr>
              <p:cNvPr id="26" name="Freeform 26"/>
              <p:cNvSpPr/>
              <p:nvPr/>
            </p:nvSpPr>
            <p:spPr>
              <a:xfrm>
                <a:off x="638175" y="2743200"/>
                <a:ext cx="57150" cy="9525"/>
              </a:xfrm>
              <a:custGeom>
                <a:avLst/>
                <a:gdLst/>
                <a:ahLst/>
                <a:cxnLst/>
                <a:rect l="l" t="t" r="r" b="b"/>
                <a:pathLst>
                  <a:path w="57150" h="9525">
                    <a:moveTo>
                      <a:pt x="0" y="0"/>
                    </a:moveTo>
                    <a:lnTo>
                      <a:pt x="57150" y="0"/>
                    </a:lnTo>
                  </a:path>
                </a:pathLst>
              </a:custGeom>
              <a:noFill/>
              <a:ln w="19050">
                <a:solidFill>
                  <a:schemeClr val="accent3"/>
                </a:solidFill>
              </a:ln>
            </p:spPr>
          </p:sp>
          <p:sp>
            <p:nvSpPr>
              <p:cNvPr id="27" name="Freeform 27"/>
              <p:cNvSpPr/>
              <p:nvPr/>
            </p:nvSpPr>
            <p:spPr>
              <a:xfrm>
                <a:off x="638175" y="2781300"/>
                <a:ext cx="57150" cy="9525"/>
              </a:xfrm>
              <a:custGeom>
                <a:avLst/>
                <a:gdLst/>
                <a:ahLst/>
                <a:cxnLst/>
                <a:rect l="l" t="t" r="r" b="b"/>
                <a:pathLst>
                  <a:path w="57150" h="9525">
                    <a:moveTo>
                      <a:pt x="0" y="0"/>
                    </a:moveTo>
                    <a:lnTo>
                      <a:pt x="57150" y="0"/>
                    </a:lnTo>
                  </a:path>
                </a:pathLst>
              </a:custGeom>
              <a:noFill/>
              <a:ln w="19050">
                <a:solidFill>
                  <a:schemeClr val="accent3"/>
                </a:solidFill>
              </a:ln>
            </p:spPr>
          </p:sp>
        </p:grpSp>
        <p:sp>
          <p:nvSpPr>
            <p:cNvPr id="29" name="TextBox 29"/>
            <p:cNvSpPr txBox="1"/>
            <p:nvPr/>
          </p:nvSpPr>
          <p:spPr>
            <a:xfrm>
              <a:off x="906018" y="2631758"/>
              <a:ext cx="485575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Biên bản họp + đầu việc từ transcript họp thô</a:t>
              </a:r>
            </a:p>
          </p:txBody>
        </p:sp>
        <p:sp>
          <p:nvSpPr>
            <p:cNvPr id="30" name="Rectangle 30"/>
            <p:cNvSpPr/>
            <p:nvPr/>
          </p:nvSpPr>
          <p:spPr>
            <a:xfrm>
              <a:off x="381000" y="3105150"/>
              <a:ext cx="6572250" cy="590550"/>
            </a:xfrm>
            <a:prstGeom prst="roundRect">
              <a:avLst>
                <a:gd name="adj" fmla="val 22581"/>
              </a:avLst>
            </a:prstGeom>
            <a:solidFill>
              <a:schemeClr val="lt1"/>
            </a:solidFill>
            <a:ln w="14288">
              <a:solidFill>
                <a:schemeClr val="accent4"/>
              </a:solidFill>
            </a:ln>
          </p:spPr>
        </p:sp>
        <p:grpSp>
          <p:nvGrpSpPr>
            <p:cNvPr id="36" name="Group 36"/>
            <p:cNvGrpSpPr/>
            <p:nvPr/>
          </p:nvGrpSpPr>
          <p:grpSpPr>
            <a:xfrm>
              <a:off x="600075" y="3314700"/>
              <a:ext cx="133350" cy="171450"/>
              <a:chOff x="600075" y="3314700"/>
              <a:chExt cx="133350" cy="171450"/>
            </a:xfrm>
          </p:grpSpPr>
          <p:sp>
            <p:nvSpPr>
              <p:cNvPr id="31" name="Freeform 31"/>
              <p:cNvSpPr/>
              <p:nvPr/>
            </p:nvSpPr>
            <p:spPr>
              <a:xfrm>
                <a:off x="685800" y="331470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chemeClr val="accent3"/>
                </a:solidFill>
              </a:ln>
            </p:spPr>
          </p:sp>
          <p:sp>
            <p:nvSpPr>
              <p:cNvPr id="32" name="Freeform 32"/>
              <p:cNvSpPr/>
              <p:nvPr/>
            </p:nvSpPr>
            <p:spPr>
              <a:xfrm>
                <a:off x="600075" y="331470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chemeClr val="accent3"/>
                </a:solidFill>
              </a:ln>
            </p:spPr>
          </p:sp>
          <p:sp>
            <p:nvSpPr>
              <p:cNvPr id="33" name="Freeform 33"/>
              <p:cNvSpPr/>
              <p:nvPr/>
            </p:nvSpPr>
            <p:spPr>
              <a:xfrm>
                <a:off x="628650" y="3390900"/>
                <a:ext cx="76200" cy="66675"/>
              </a:xfrm>
              <a:custGeom>
                <a:avLst/>
                <a:gdLst/>
                <a:ahLst/>
                <a:cxnLst/>
                <a:rect l="l" t="t" r="r" b="b"/>
                <a:pathLst>
                  <a:path w="76200" h="66675">
                    <a:moveTo>
                      <a:pt x="0" y="0"/>
                    </a:moveTo>
                    <a:lnTo>
                      <a:pt x="76200" y="0"/>
                    </a:lnTo>
                    <a:lnTo>
                      <a:pt x="76200" y="66675"/>
                    </a:lnTo>
                    <a:lnTo>
                      <a:pt x="0" y="66675"/>
                    </a:lnTo>
                    <a:lnTo>
                      <a:pt x="0" y="0"/>
                    </a:lnTo>
                  </a:path>
                </a:pathLst>
              </a:custGeom>
              <a:noFill/>
              <a:ln w="19050">
                <a:solidFill>
                  <a:schemeClr val="accent3"/>
                </a:solidFill>
              </a:ln>
            </p:spPr>
          </p:sp>
          <p:sp>
            <p:nvSpPr>
              <p:cNvPr id="34" name="Freeform 34"/>
              <p:cNvSpPr/>
              <p:nvPr/>
            </p:nvSpPr>
            <p:spPr>
              <a:xfrm>
                <a:off x="628650" y="3429000"/>
                <a:ext cx="76200" cy="9525"/>
              </a:xfrm>
              <a:custGeom>
                <a:avLst/>
                <a:gdLst/>
                <a:ahLst/>
                <a:cxnLst/>
                <a:rect l="l" t="t" r="r" b="b"/>
                <a:pathLst>
                  <a:path w="76200" h="9525">
                    <a:moveTo>
                      <a:pt x="0" y="0"/>
                    </a:moveTo>
                    <a:lnTo>
                      <a:pt x="76200" y="0"/>
                    </a:lnTo>
                  </a:path>
                </a:pathLst>
              </a:custGeom>
              <a:noFill/>
              <a:ln w="19050">
                <a:solidFill>
                  <a:schemeClr val="accent3"/>
                </a:solidFill>
              </a:ln>
            </p:spPr>
          </p:sp>
          <p:sp>
            <p:nvSpPr>
              <p:cNvPr id="35" name="Freeform 35"/>
              <p:cNvSpPr/>
              <p:nvPr/>
            </p:nvSpPr>
            <p:spPr>
              <a:xfrm>
                <a:off x="657225" y="3390900"/>
                <a:ext cx="9525" cy="66675"/>
              </a:xfrm>
              <a:custGeom>
                <a:avLst/>
                <a:gdLst/>
                <a:ahLst/>
                <a:cxnLst/>
                <a:rect l="l" t="t" r="r" b="b"/>
                <a:pathLst>
                  <a:path w="9525" h="66675">
                    <a:moveTo>
                      <a:pt x="0" y="0"/>
                    </a:moveTo>
                    <a:lnTo>
                      <a:pt x="0" y="66675"/>
                    </a:lnTo>
                  </a:path>
                </a:pathLst>
              </a:custGeom>
              <a:noFill/>
              <a:ln w="19050">
                <a:solidFill>
                  <a:schemeClr val="accent3"/>
                </a:solidFill>
              </a:ln>
            </p:spPr>
          </p:sp>
        </p:grpSp>
        <p:sp>
          <p:nvSpPr>
            <p:cNvPr id="37" name="TextBox 37"/>
            <p:cNvSpPr txBox="1"/>
            <p:nvPr/>
          </p:nvSpPr>
          <p:spPr>
            <a:xfrm>
              <a:off x="906018" y="3298508"/>
              <a:ext cx="4545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Báo cáo doanh thu từ file đơn hàng 40 dòng</a:t>
              </a:r>
            </a:p>
          </p:txBody>
        </p:sp>
        <p:sp>
          <p:nvSpPr>
            <p:cNvPr id="38" name="Rectangle 38"/>
            <p:cNvSpPr/>
            <p:nvPr/>
          </p:nvSpPr>
          <p:spPr>
            <a:xfrm>
              <a:off x="381000" y="3771900"/>
              <a:ext cx="6572250" cy="590550"/>
            </a:xfrm>
            <a:prstGeom prst="roundRect">
              <a:avLst>
                <a:gd name="adj" fmla="val 22581"/>
              </a:avLst>
            </a:prstGeom>
            <a:solidFill>
              <a:schemeClr val="lt1"/>
            </a:solidFill>
            <a:ln w="14288">
              <a:solidFill>
                <a:schemeClr val="accent4"/>
              </a:solidFill>
            </a:ln>
          </p:spPr>
        </p:sp>
        <p:grpSp>
          <p:nvGrpSpPr>
            <p:cNvPr id="43" name="Group 43"/>
            <p:cNvGrpSpPr/>
            <p:nvPr/>
          </p:nvGrpSpPr>
          <p:grpSpPr>
            <a:xfrm>
              <a:off x="581025" y="3981450"/>
              <a:ext cx="171450" cy="171450"/>
              <a:chOff x="581025" y="3981450"/>
              <a:chExt cx="171450" cy="171450"/>
            </a:xfrm>
          </p:grpSpPr>
          <p:sp>
            <p:nvSpPr>
              <p:cNvPr id="39" name="Freeform 39"/>
              <p:cNvSpPr/>
              <p:nvPr/>
            </p:nvSpPr>
            <p:spPr>
              <a:xfrm>
                <a:off x="600075" y="39814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chemeClr val="accent3"/>
                </a:solidFill>
              </a:ln>
            </p:spPr>
          </p:sp>
          <p:sp>
            <p:nvSpPr>
              <p:cNvPr id="40" name="Freeform 40"/>
              <p:cNvSpPr/>
              <p:nvPr/>
            </p:nvSpPr>
            <p:spPr>
              <a:xfrm>
                <a:off x="581025" y="409575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chemeClr val="accent3"/>
                </a:solidFill>
              </a:ln>
            </p:spPr>
          </p:sp>
          <p:sp>
            <p:nvSpPr>
              <p:cNvPr id="41" name="Freeform 41"/>
              <p:cNvSpPr/>
              <p:nvPr/>
            </p:nvSpPr>
            <p:spPr>
              <a:xfrm>
                <a:off x="704850" y="398268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chemeClr val="accent3"/>
                </a:solidFill>
              </a:ln>
            </p:spPr>
          </p:sp>
          <p:sp>
            <p:nvSpPr>
              <p:cNvPr id="42" name="Freeform 42"/>
              <p:cNvSpPr/>
              <p:nvPr/>
            </p:nvSpPr>
            <p:spPr>
              <a:xfrm>
                <a:off x="723900" y="409717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chemeClr val="accent3"/>
                </a:solidFill>
              </a:ln>
            </p:spPr>
          </p:sp>
        </p:grpSp>
        <p:sp>
          <p:nvSpPr>
            <p:cNvPr id="44" name="TextBox 44"/>
            <p:cNvSpPr txBox="1"/>
            <p:nvPr/>
          </p:nvSpPr>
          <p:spPr>
            <a:xfrm>
              <a:off x="906018" y="3965258"/>
              <a:ext cx="599187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5 insight có mã bằng chứng từ 30 review, tin nhắn khách</a:t>
              </a:r>
            </a:p>
          </p:txBody>
        </p:sp>
        <p:sp>
          <p:nvSpPr>
            <p:cNvPr id="45" name="Rectangle 45"/>
            <p:cNvSpPr/>
            <p:nvPr/>
          </p:nvSpPr>
          <p:spPr>
            <a:xfrm>
              <a:off x="381000" y="4438650"/>
              <a:ext cx="6572250" cy="590550"/>
            </a:xfrm>
            <a:prstGeom prst="roundRect">
              <a:avLst>
                <a:gd name="adj" fmla="val 22581"/>
              </a:avLst>
            </a:prstGeom>
            <a:solidFill>
              <a:schemeClr val="lt1"/>
            </a:solidFill>
            <a:ln w="14288">
              <a:solidFill>
                <a:schemeClr val="accent4"/>
              </a:solidFill>
            </a:ln>
          </p:spPr>
        </p:sp>
        <p:grpSp>
          <p:nvGrpSpPr>
            <p:cNvPr id="49" name="Group 49"/>
            <p:cNvGrpSpPr/>
            <p:nvPr/>
          </p:nvGrpSpPr>
          <p:grpSpPr>
            <a:xfrm>
              <a:off x="581025" y="4648200"/>
              <a:ext cx="171450" cy="171450"/>
              <a:chOff x="581025" y="4648200"/>
              <a:chExt cx="171450" cy="171450"/>
            </a:xfrm>
          </p:grpSpPr>
          <p:sp>
            <p:nvSpPr>
              <p:cNvPr id="46" name="Freeform 46"/>
              <p:cNvSpPr/>
              <p:nvPr/>
            </p:nvSpPr>
            <p:spPr>
              <a:xfrm>
                <a:off x="657225" y="472440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chemeClr val="accent3"/>
                </a:solidFill>
              </a:ln>
            </p:spPr>
          </p:sp>
          <p:sp>
            <p:nvSpPr>
              <p:cNvPr id="47" name="Freeform 47"/>
              <p:cNvSpPr/>
              <p:nvPr/>
            </p:nvSpPr>
            <p:spPr>
              <a:xfrm>
                <a:off x="619125" y="4686300"/>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chemeClr val="accent3"/>
                </a:solidFill>
              </a:ln>
            </p:spPr>
          </p:sp>
          <p:sp>
            <p:nvSpPr>
              <p:cNvPr id="48" name="Freeform 48"/>
              <p:cNvSpPr/>
              <p:nvPr/>
            </p:nvSpPr>
            <p:spPr>
              <a:xfrm>
                <a:off x="581025" y="46482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chemeClr val="accent3"/>
                </a:solidFill>
              </a:ln>
            </p:spPr>
          </p:sp>
        </p:grpSp>
        <p:sp>
          <p:nvSpPr>
            <p:cNvPr id="50" name="TextBox 50"/>
            <p:cNvSpPr txBox="1"/>
            <p:nvPr/>
          </p:nvSpPr>
          <p:spPr>
            <a:xfrm>
              <a:off x="906018" y="4632008"/>
              <a:ext cx="408983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Chấm điểm 12 lead và soạn tin tiếp cận</a:t>
              </a:r>
            </a:p>
          </p:txBody>
        </p:sp>
      </p:grpSp>
      <p:grpSp>
        <p:nvGrpSpPr>
          <p:cNvPr id="57" name="Group 57"/>
          <p:cNvGrpSpPr/>
          <p:nvPr/>
        </p:nvGrpSpPr>
        <p:grpSpPr>
          <a:xfrm>
            <a:off x="381000" y="5219700"/>
            <a:ext cx="6572250" cy="742950"/>
            <a:chOff x="381000" y="5219700"/>
            <a:chExt cx="6572250" cy="742950"/>
          </a:xfrm>
        </p:grpSpPr>
        <p:sp>
          <p:nvSpPr>
            <p:cNvPr id="52" name="Rectangle 52"/>
            <p:cNvSpPr/>
            <p:nvPr/>
          </p:nvSpPr>
          <p:spPr>
            <a:xfrm>
              <a:off x="381000" y="5219700"/>
              <a:ext cx="6572250" cy="742950"/>
            </a:xfrm>
            <a:prstGeom prst="roundRect">
              <a:avLst>
                <a:gd name="adj" fmla="val 17949"/>
              </a:avLst>
            </a:prstGeom>
            <a:solidFill>
              <a:schemeClr val="lt2"/>
            </a:solidFill>
            <a:ln>
              <a:noFill/>
            </a:ln>
          </p:spPr>
        </p:sp>
        <p:grpSp>
          <p:nvGrpSpPr>
            <p:cNvPr id="55" name="Group 55"/>
            <p:cNvGrpSpPr/>
            <p:nvPr/>
          </p:nvGrpSpPr>
          <p:grpSpPr>
            <a:xfrm>
              <a:off x="581025" y="5381625"/>
              <a:ext cx="171450" cy="171450"/>
              <a:chOff x="581025" y="5381625"/>
              <a:chExt cx="171450" cy="171450"/>
            </a:xfrm>
          </p:grpSpPr>
          <p:sp>
            <p:nvSpPr>
              <p:cNvPr id="53" name="Freeform 53"/>
              <p:cNvSpPr/>
              <p:nvPr/>
            </p:nvSpPr>
            <p:spPr>
              <a:xfrm>
                <a:off x="581025" y="53816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54" name="Freeform 54"/>
              <p:cNvSpPr/>
              <p:nvPr/>
            </p:nvSpPr>
            <p:spPr>
              <a:xfrm>
                <a:off x="638175" y="544830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56" name="TextBox 56"/>
            <p:cNvSpPr txBox="1"/>
            <p:nvPr/>
          </p:nvSpPr>
          <p:spPr>
            <a:xfrm>
              <a:off x="906780" y="5362575"/>
              <a:ext cx="4071938" cy="560070"/>
            </a:xfrm>
            <a:prstGeom prst="rect">
              <a:avLst/>
            </a:prstGeom>
            <a:noFill/>
            <a:ln>
              <a:noFill/>
            </a:ln>
          </p:spPr>
          <p:txBody>
            <a:bodyPr wrap="none" lIns="0" tIns="0" rIns="0" bIns="0" anchor="t" anchorCtr="0">
              <a:spAutoFit/>
            </a:bodyPr>
            <a:lstStyle/>
            <a:p>
              <a:pPr algn="l">
                <a:lnSpc>
                  <a:spcPts val="21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prompt đủ 4 phần · không có số bịa</a:t>
              </a:r>
            </a:p>
            <a:p>
              <a:pPr marL="161925" indent="-161925" algn="l">
                <a:lnSpc>
                  <a:spcPts val="2100"/>
                </a:lnSpc>
                <a:buClr>
                  <a:schemeClr val="dk1"/>
                </a:buClr>
                <a:buSzTx/>
                <a:buFontTx/>
                <a:buChar char="•"/>
              </a:pPr>
              <a:r>
                <a:rPr lang="vi-VN" sz="1500" dirty="0">
                  <a:solidFill>
                    <a:schemeClr val="dk1"/>
                  </a:solidFill>
                  <a:latin typeface="+mn-lt"/>
                  <a:ea typeface="+mn-ea"/>
                  <a:cs typeface="+mn-cs"/>
                </a:rPr>
                <a:t>tự kiểm chứng ≥ 2 con số hoặc trích dẫn</a:t>
              </a:r>
            </a:p>
          </p:txBody>
        </p:sp>
      </p:grpSp>
      <p:grpSp>
        <p:nvGrpSpPr>
          <p:cNvPr id="69" name="Group 69"/>
          <p:cNvGrpSpPr/>
          <p:nvPr/>
        </p:nvGrpSpPr>
        <p:grpSpPr>
          <a:xfrm>
            <a:off x="7181850" y="2114550"/>
            <a:ext cx="4629150" cy="3848100"/>
            <a:chOff x="7181850" y="2114550"/>
            <a:chExt cx="4629150" cy="3848100"/>
          </a:xfrm>
        </p:grpSpPr>
        <p:sp>
          <p:nvSpPr>
            <p:cNvPr id="58" name="Rectangle 58"/>
            <p:cNvSpPr/>
            <p:nvPr/>
          </p:nvSpPr>
          <p:spPr>
            <a:xfrm>
              <a:off x="7181850" y="2114550"/>
              <a:ext cx="4629150" cy="3848100"/>
            </a:xfrm>
            <a:prstGeom prst="roundRect">
              <a:avLst>
                <a:gd name="adj" fmla="val 3960"/>
              </a:avLst>
            </a:prstGeom>
            <a:solidFill>
              <a:schemeClr val="lt2"/>
            </a:solidFill>
            <a:ln>
              <a:noFill/>
            </a:ln>
          </p:spPr>
        </p:sp>
        <p:grpSp>
          <p:nvGrpSpPr>
            <p:cNvPr id="62" name="Group 62"/>
            <p:cNvGrpSpPr/>
            <p:nvPr/>
          </p:nvGrpSpPr>
          <p:grpSpPr>
            <a:xfrm>
              <a:off x="7441406" y="2316956"/>
              <a:ext cx="185737" cy="185737"/>
              <a:chOff x="7441406" y="2316956"/>
              <a:chExt cx="185737" cy="185737"/>
            </a:xfrm>
          </p:grpSpPr>
          <p:sp>
            <p:nvSpPr>
              <p:cNvPr id="59" name="Freeform 5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60" name="Freeform 6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61" name="Freeform 6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63" name="TextBox 6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64" name="TextBox 64"/>
            <p:cNvSpPr txBox="1"/>
            <p:nvPr/>
          </p:nvSpPr>
          <p:spPr>
            <a:xfrm>
              <a:off x="7402830" y="2695575"/>
              <a:ext cx="376570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File không có cột nhân viên bán hàng,</a:t>
              </a:r>
              <a:br/>
              <a:r>
                <a:rPr lang="vi-VN" sz="1500" b="1" dirty="0">
                  <a:solidFill>
                    <a:schemeClr val="accent1"/>
                  </a:solidFill>
                  <a:latin typeface="+mn-lt"/>
                  <a:ea typeface="+mn-ea"/>
                  <a:cs typeface="+mn-cs"/>
                </a:rPr>
                <a:t>sếp muốn xem doanh số theo nhân viên?</a:t>
              </a:r>
            </a:p>
          </p:txBody>
        </p:sp>
        <p:sp>
          <p:nvSpPr>
            <p:cNvPr id="65" name="Line 65"/>
            <p:cNvSpPr/>
            <p:nvPr/>
          </p:nvSpPr>
          <p:spPr>
            <a:xfrm>
              <a:off x="7410450" y="38671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66" name="TextBox 66"/>
            <p:cNvSpPr txBox="1"/>
            <p:nvPr/>
          </p:nvSpPr>
          <p:spPr>
            <a:xfrm>
              <a:off x="7402830" y="4010025"/>
              <a:ext cx="29605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Một đề xuất cần đủ 4 thứ gì?</a:t>
              </a:r>
            </a:p>
          </p:txBody>
        </p:sp>
        <p:sp>
          <p:nvSpPr>
            <p:cNvPr id="67" name="Line 67"/>
            <p:cNvSpPr/>
            <p:nvPr/>
          </p:nvSpPr>
          <p:spPr>
            <a:xfrm>
              <a:off x="7410450" y="49339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68" name="TextBox 68"/>
            <p:cNvSpPr txBox="1"/>
            <p:nvPr/>
          </p:nvSpPr>
          <p:spPr>
            <a:xfrm>
              <a:off x="7402830" y="5076825"/>
              <a:ext cx="374018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Khi nào chuyển từ prompt sang Skill?</a:t>
              </a:r>
            </a:p>
          </p:txBody>
        </p:sp>
      </p:grpSp>
      <p:grpSp>
        <p:nvGrpSpPr>
          <p:cNvPr id="71" name="Group 71"/>
          <p:cNvGrpSpPr/>
          <p:nvPr/>
        </p:nvGrpSpPr>
        <p:grpSpPr>
          <a:xfrm>
            <a:off x="7402830" y="3228975"/>
            <a:ext cx="3116104" cy="541020"/>
            <a:chOff x="7402830" y="3228975"/>
            <a:chExt cx="3116104" cy="541020"/>
          </a:xfrm>
        </p:grpSpPr>
        <p:sp>
          <p:nvSpPr>
            <p:cNvPr id="70" name="TextBox 70"/>
            <p:cNvSpPr txBox="1"/>
            <p:nvPr/>
          </p:nvSpPr>
          <p:spPr>
            <a:xfrm>
              <a:off x="7402830" y="3228975"/>
              <a:ext cx="3116104"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Nói rõ file không có; đề xuất lấy</a:t>
              </a:r>
              <a:br/>
              <a:r>
                <a:rPr lang="vi-VN" sz="1500" dirty="0">
                  <a:solidFill>
                    <a:schemeClr val="dk1"/>
                  </a:solidFill>
                  <a:latin typeface="+mn-lt"/>
                  <a:ea typeface="+mn-ea"/>
                  <a:cs typeface="+mn-cs"/>
                </a:rPr>
                <a:t>thêm nguồn, không ép AI</a:t>
              </a:r>
            </a:p>
          </p:txBody>
        </p:sp>
      </p:grpSp>
      <p:grpSp>
        <p:nvGrpSpPr>
          <p:cNvPr id="73" name="Group 73"/>
          <p:cNvGrpSpPr/>
          <p:nvPr/>
        </p:nvGrpSpPr>
        <p:grpSpPr>
          <a:xfrm>
            <a:off x="7402830" y="4295775"/>
            <a:ext cx="3401854" cy="541020"/>
            <a:chOff x="7402830" y="4295775"/>
            <a:chExt cx="3401854" cy="541020"/>
          </a:xfrm>
        </p:grpSpPr>
        <p:sp>
          <p:nvSpPr>
            <p:cNvPr id="72" name="TextBox 72"/>
            <p:cNvSpPr txBox="1"/>
            <p:nvPr/>
          </p:nvSpPr>
          <p:spPr>
            <a:xfrm>
              <a:off x="7402830" y="4295775"/>
              <a:ext cx="3401854"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Việc, người chịu trách nhiệm, hạn,</a:t>
              </a:r>
              <a:br/>
              <a:r>
                <a:rPr lang="vi-VN" sz="1500" dirty="0">
                  <a:solidFill>
                    <a:schemeClr val="dk1"/>
                  </a:solidFill>
                  <a:latin typeface="+mn-lt"/>
                  <a:ea typeface="+mn-ea"/>
                  <a:cs typeface="+mn-cs"/>
                </a:rPr>
                <a:t>nguồn lực/chi phí</a:t>
              </a:r>
            </a:p>
          </p:txBody>
        </p:sp>
      </p:grpSp>
      <p:grpSp>
        <p:nvGrpSpPr>
          <p:cNvPr id="75" name="Group 75"/>
          <p:cNvGrpSpPr/>
          <p:nvPr/>
        </p:nvGrpSpPr>
        <p:grpSpPr>
          <a:xfrm>
            <a:off x="7402830" y="5362575"/>
            <a:ext cx="3068479" cy="541020"/>
            <a:chOff x="7402830" y="5362575"/>
            <a:chExt cx="3068479" cy="541020"/>
          </a:xfrm>
        </p:grpSpPr>
        <p:sp>
          <p:nvSpPr>
            <p:cNvPr id="74" name="TextBox 74"/>
            <p:cNvSpPr txBox="1"/>
            <p:nvPr/>
          </p:nvSpPr>
          <p:spPr>
            <a:xfrm>
              <a:off x="7402830" y="5362575"/>
              <a:ext cx="3068479"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Khi việc lặp lại hàng tuần và bạn</a:t>
              </a:r>
              <a:br/>
              <a:r>
                <a:rPr lang="vi-VN" sz="1500" dirty="0">
                  <a:solidFill>
                    <a:schemeClr val="dk1"/>
                  </a:solidFill>
                  <a:latin typeface="+mn-lt"/>
                  <a:ea typeface="+mn-ea"/>
                  <a:cs typeface="+mn-cs"/>
                </a:rPr>
                <a:t>gõ lại cùng bộ chỉ dẫn</a:t>
              </a:r>
            </a:p>
          </p:txBody>
        </p:sp>
      </p:grpSp>
      <p:sp>
        <p:nvSpPr>
          <p:cNvPr id="76" name="TextBox 7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7" name="TextBox 77"/>
          <p:cNvSpPr txBox="1"/>
          <p:nvPr/>
        </p:nvSpPr>
        <p:spPr>
          <a:xfrm>
            <a:off x="9406920" y="6554152"/>
            <a:ext cx="174266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Bộ dữ liệu demo Wir Group</a:t>
            </a:r>
          </a:p>
        </p:txBody>
      </p:sp>
      <p:sp>
        <p:nvSpPr>
          <p:cNvPr id="78" name="TextBox 7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fade">
                                      <p:cBhvr>
                                        <p:cTn id="7" dur="300"/>
                                        <p:tgtEl>
                                          <p:spTgt spid="7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3"/>
                                        </p:tgtEl>
                                        <p:attrNameLst>
                                          <p:attrName>style.visibility</p:attrName>
                                        </p:attrNameLst>
                                      </p:cBhvr>
                                      <p:to>
                                        <p:strVal val="visible"/>
                                      </p:to>
                                    </p:set>
                                    <p:animEffect transition="in" filter="fade">
                                      <p:cBhvr>
                                        <p:cTn id="12" dur="300"/>
                                        <p:tgtEl>
                                          <p:spTgt spid="7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5"/>
                                        </p:tgtEl>
                                        <p:attrNameLst>
                                          <p:attrName>style.visibility</p:attrName>
                                        </p:attrNameLst>
                                      </p:cBhvr>
                                      <p:to>
                                        <p:strVal val="visible"/>
                                      </p:to>
                                    </p:set>
                                    <p:animEffect transition="in" filter="fade">
                                      <p:cBhvr>
                                        <p:cTn id="17" dur="3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rgbClr val="2E5E91"/>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3</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3</a:t>
              </a:r>
            </a:p>
          </p:txBody>
        </p:sp>
        <p:sp>
          <p:nvSpPr>
            <p:cNvPr id="5" name="TextBox 5"/>
            <p:cNvSpPr txBox="1"/>
            <p:nvPr/>
          </p:nvSpPr>
          <p:spPr>
            <a:xfrm>
              <a:off x="514350" y="4208145"/>
              <a:ext cx="1153119"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Skill</a:t>
              </a:r>
            </a:p>
          </p:txBody>
        </p:sp>
        <p:grpSp>
          <p:nvGrpSpPr>
            <p:cNvPr id="12" name="Group 12"/>
            <p:cNvGrpSpPr/>
            <p:nvPr/>
          </p:nvGrpSpPr>
          <p:grpSpPr>
            <a:xfrm>
              <a:off x="622300" y="5448300"/>
              <a:ext cx="419100" cy="368301"/>
              <a:chOff x="622300" y="5448300"/>
              <a:chExt cx="419100" cy="368301"/>
            </a:xfrm>
          </p:grpSpPr>
          <p:sp>
            <p:nvSpPr>
              <p:cNvPr id="6" name="Freeform 6"/>
              <p:cNvSpPr/>
              <p:nvPr/>
            </p:nvSpPr>
            <p:spPr>
              <a:xfrm>
                <a:off x="622300" y="54483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7" name="Freeform 7"/>
              <p:cNvSpPr/>
              <p:nvPr/>
            </p:nvSpPr>
            <p:spPr>
              <a:xfrm>
                <a:off x="622300" y="56007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8" name="Freeform 8"/>
              <p:cNvSpPr/>
              <p:nvPr/>
            </p:nvSpPr>
            <p:spPr>
              <a:xfrm>
                <a:off x="622300" y="5753101"/>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9" name="Freeform 9"/>
              <p:cNvSpPr/>
              <p:nvPr/>
            </p:nvSpPr>
            <p:spPr>
              <a:xfrm>
                <a:off x="812800" y="5486400"/>
                <a:ext cx="228600" cy="9525"/>
              </a:xfrm>
              <a:custGeom>
                <a:avLst/>
                <a:gdLst/>
                <a:ahLst/>
                <a:cxnLst/>
                <a:rect l="l" t="t" r="r" b="b"/>
                <a:pathLst>
                  <a:path w="228600" h="9525">
                    <a:moveTo>
                      <a:pt x="0" y="0"/>
                    </a:moveTo>
                    <a:lnTo>
                      <a:pt x="228600" y="0"/>
                    </a:lnTo>
                  </a:path>
                </a:pathLst>
              </a:custGeom>
              <a:noFill/>
              <a:ln w="50800">
                <a:solidFill>
                  <a:srgbClr val="FFFFFF"/>
                </a:solidFill>
              </a:ln>
            </p:spPr>
          </p:sp>
          <p:sp>
            <p:nvSpPr>
              <p:cNvPr id="10" name="Freeform 10"/>
              <p:cNvSpPr/>
              <p:nvPr/>
            </p:nvSpPr>
            <p:spPr>
              <a:xfrm>
                <a:off x="812800" y="5638800"/>
                <a:ext cx="228600" cy="9525"/>
              </a:xfrm>
              <a:custGeom>
                <a:avLst/>
                <a:gdLst/>
                <a:ahLst/>
                <a:cxnLst/>
                <a:rect l="l" t="t" r="r" b="b"/>
                <a:pathLst>
                  <a:path w="228600" h="9525">
                    <a:moveTo>
                      <a:pt x="0" y="0"/>
                    </a:moveTo>
                    <a:lnTo>
                      <a:pt x="228600" y="0"/>
                    </a:lnTo>
                  </a:path>
                </a:pathLst>
              </a:custGeom>
              <a:noFill/>
              <a:ln w="50800">
                <a:solidFill>
                  <a:srgbClr val="FFFFFF"/>
                </a:solidFill>
              </a:ln>
            </p:spPr>
          </p:sp>
          <p:sp>
            <p:nvSpPr>
              <p:cNvPr id="11" name="Freeform 11"/>
              <p:cNvSpPr/>
              <p:nvPr/>
            </p:nvSpPr>
            <p:spPr>
              <a:xfrm>
                <a:off x="812800" y="5791201"/>
                <a:ext cx="228600" cy="9525"/>
              </a:xfrm>
              <a:custGeom>
                <a:avLst/>
                <a:gdLst/>
                <a:ahLst/>
                <a:cxnLst/>
                <a:rect l="l" t="t" r="r" b="b"/>
                <a:pathLst>
                  <a:path w="228600" h="9525">
                    <a:moveTo>
                      <a:pt x="0" y="0"/>
                    </a:moveTo>
                    <a:lnTo>
                      <a:pt x="228600" y="0"/>
                    </a:lnTo>
                  </a:path>
                </a:pathLst>
              </a:custGeom>
              <a:noFill/>
              <a:ln w="50800">
                <a:solidFill>
                  <a:srgbClr val="FFFFFF"/>
                </a:solidFill>
              </a:ln>
            </p:spPr>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sp>
        <p:sp>
          <p:nvSpPr>
            <p:cNvPr id="15" name="Rectangle 15"/>
            <p:cNvSpPr/>
            <p:nvPr/>
          </p:nvSpPr>
          <p:spPr>
            <a:xfrm>
              <a:off x="7010400" y="304800"/>
              <a:ext cx="1143000" cy="114300"/>
            </a:xfrm>
            <a:prstGeom prst="roundRect">
              <a:avLst>
                <a:gd name="adj" fmla="val 25000"/>
              </a:avLst>
            </a:prstGeom>
            <a:solidFill>
              <a:srgbClr val="E3E9F1"/>
            </a:solidFill>
            <a:ln>
              <a:noFill/>
            </a:ln>
          </p:spPr>
        </p:sp>
        <p:sp>
          <p:nvSpPr>
            <p:cNvPr id="16" name="Rectangle 16"/>
            <p:cNvSpPr/>
            <p:nvPr/>
          </p:nvSpPr>
          <p:spPr>
            <a:xfrm>
              <a:off x="8229600" y="266700"/>
              <a:ext cx="1143000" cy="152400"/>
            </a:xfrm>
            <a:prstGeom prst="roundRect">
              <a:avLst>
                <a:gd name="adj" fmla="val 18750"/>
              </a:avLst>
            </a:prstGeom>
            <a:solidFill>
              <a:schemeClr val="accent2"/>
            </a:solidFill>
            <a:ln>
              <a:noFill/>
            </a:ln>
          </p:spPr>
        </p:sp>
        <p:sp>
          <p:nvSpPr>
            <p:cNvPr id="17" name="Rectangle 17"/>
            <p:cNvSpPr/>
            <p:nvPr/>
          </p:nvSpPr>
          <p:spPr>
            <a:xfrm>
              <a:off x="9448800" y="228600"/>
              <a:ext cx="1143000" cy="190500"/>
            </a:xfrm>
            <a:prstGeom prst="roundRect">
              <a:avLst>
                <a:gd name="adj" fmla="val 15000"/>
              </a:avLst>
            </a:prstGeom>
            <a:solidFill>
              <a:srgbClr val="E3E9F1"/>
            </a:solidFill>
            <a:ln>
              <a:noFill/>
            </a:ln>
          </p:spPr>
        </p:sp>
        <p:sp>
          <p:nvSpPr>
            <p:cNvPr id="18" name="Rectangle 18"/>
            <p:cNvSpPr/>
            <p:nvPr/>
          </p:nvSpPr>
          <p:spPr>
            <a:xfrm>
              <a:off x="10668000" y="190500"/>
              <a:ext cx="1143000" cy="228600"/>
            </a:xfrm>
            <a:prstGeom prst="roundRect">
              <a:avLst>
                <a:gd name="adj" fmla="val 12500"/>
              </a:avLst>
            </a:prstGeom>
            <a:solidFill>
              <a:srgbClr val="E3E9F1"/>
            </a:solidFill>
            <a:ln>
              <a:noFill/>
            </a:ln>
          </p:spPr>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22" name="TextBox 22"/>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4568571"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Biến việc lặp lại</a:t>
            </a:r>
            <a:br/>
            <a:r>
              <a:rPr lang="vi-VN" sz="3150" b="1" dirty="0">
                <a:solidFill>
                  <a:schemeClr val="accent1"/>
                </a:solidFill>
                <a:latin typeface="+mn-lt"/>
                <a:ea typeface="+mn-ea"/>
                <a:cs typeface="+mn-cs"/>
              </a:rPr>
              <a:t>thành quy trình chuẩn</a:t>
            </a:r>
          </a:p>
        </p:txBody>
      </p:sp>
      <p:grpSp>
        <p:nvGrpSpPr>
          <p:cNvPr id="34" name="Group 34"/>
          <p:cNvGrpSpPr/>
          <p:nvPr/>
        </p:nvGrpSpPr>
        <p:grpSpPr>
          <a:xfrm>
            <a:off x="4944618" y="2400300"/>
            <a:ext cx="6632716" cy="1020889"/>
            <a:chOff x="4944618" y="2400300"/>
            <a:chExt cx="6632716" cy="1020889"/>
          </a:xfrm>
        </p:grpSpPr>
        <p:sp>
          <p:nvSpPr>
            <p:cNvPr id="26" name="Rectangle 26"/>
            <p:cNvSpPr/>
            <p:nvPr/>
          </p:nvSpPr>
          <p:spPr>
            <a:xfrm>
              <a:off x="4953000" y="2400300"/>
              <a:ext cx="5429250" cy="457200"/>
            </a:xfrm>
            <a:prstGeom prst="roundRect">
              <a:avLst>
                <a:gd name="adj" fmla="val 50000"/>
              </a:avLst>
            </a:prstGeom>
            <a:solidFill>
              <a:schemeClr val="lt2"/>
            </a:solidFill>
            <a:ln>
              <a:noFill/>
            </a:ln>
          </p:spPr>
        </p:sp>
        <p:grpSp>
          <p:nvGrpSpPr>
            <p:cNvPr id="31" name="Group 31"/>
            <p:cNvGrpSpPr/>
            <p:nvPr/>
          </p:nvGrpSpPr>
          <p:grpSpPr>
            <a:xfrm>
              <a:off x="5172075" y="2543175"/>
              <a:ext cx="171450" cy="161925"/>
              <a:chOff x="5172075" y="2543175"/>
              <a:chExt cx="171450" cy="161925"/>
            </a:xfrm>
          </p:grpSpPr>
          <p:sp>
            <p:nvSpPr>
              <p:cNvPr id="27" name="Freeform 27"/>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2E5E91"/>
                </a:solidFill>
              </a:ln>
            </p:spPr>
          </p:sp>
          <p:sp>
            <p:nvSpPr>
              <p:cNvPr id="28" name="Freeform 28"/>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2E5E91"/>
                </a:solidFill>
              </a:ln>
            </p:spPr>
          </p:sp>
          <p:sp>
            <p:nvSpPr>
              <p:cNvPr id="29" name="Freeform 29"/>
              <p:cNvSpPr/>
              <p:nvPr/>
            </p:nvSpPr>
            <p:spPr>
              <a:xfrm>
                <a:off x="5257800" y="2628900"/>
                <a:ext cx="9525" cy="9525"/>
              </a:xfrm>
              <a:custGeom>
                <a:avLst/>
                <a:gdLst/>
                <a:ahLst/>
                <a:cxnLst/>
                <a:rect l="l" t="t" r="r" b="b"/>
                <a:pathLst>
                  <a:path w="9525" h="9525">
                    <a:moveTo>
                      <a:pt x="0" y="0"/>
                    </a:moveTo>
                    <a:lnTo>
                      <a:pt x="0" y="95"/>
                    </a:lnTo>
                  </a:path>
                </a:pathLst>
              </a:custGeom>
              <a:noFill/>
              <a:ln w="19050">
                <a:solidFill>
                  <a:srgbClr val="2E5E91"/>
                </a:solidFill>
              </a:ln>
            </p:spPr>
          </p:sp>
          <p:sp>
            <p:nvSpPr>
              <p:cNvPr id="30" name="Freeform 30"/>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2E5E91"/>
                </a:solidFill>
              </a:ln>
            </p:spPr>
          </p:sp>
        </p:grpSp>
        <p:sp>
          <p:nvSpPr>
            <p:cNvPr id="32" name="TextBox 32"/>
            <p:cNvSpPr txBox="1"/>
            <p:nvPr/>
          </p:nvSpPr>
          <p:spPr>
            <a:xfrm>
              <a:off x="5478018" y="2526982"/>
              <a:ext cx="493340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Việc lặp lại — dán tờ quy trình chuẩn lên tường</a:t>
              </a:r>
            </a:p>
          </p:txBody>
        </p:sp>
        <p:sp>
          <p:nvSpPr>
            <p:cNvPr id="33" name="TextBox 33"/>
            <p:cNvSpPr txBox="1"/>
            <p:nvPr/>
          </p:nvSpPr>
          <p:spPr>
            <a:xfrm>
              <a:off x="4944618" y="3098482"/>
              <a:ext cx="6632716"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Mỗi tuần lại gõ lại cùng một bộ chỉ dẫn cho cùng một loại việc.</a:t>
              </a:r>
            </a:p>
          </p:txBody>
        </p:sp>
      </p:grpSp>
      <p:grpSp>
        <p:nvGrpSpPr>
          <p:cNvPr id="48" name="Group 48"/>
          <p:cNvGrpSpPr/>
          <p:nvPr/>
        </p:nvGrpSpPr>
        <p:grpSpPr>
          <a:xfrm>
            <a:off x="4946904" y="3718560"/>
            <a:ext cx="6480085" cy="2045779"/>
            <a:chOff x="4946904" y="3718560"/>
            <a:chExt cx="6480085" cy="2045779"/>
          </a:xfrm>
        </p:grpSpPr>
        <p:sp>
          <p:nvSpPr>
            <p:cNvPr id="35" name="TextBox 35"/>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6" name="Ellipse 36"/>
            <p:cNvSpPr/>
            <p:nvPr/>
          </p:nvSpPr>
          <p:spPr>
            <a:xfrm>
              <a:off x="4962525" y="4038600"/>
              <a:ext cx="285750" cy="285750"/>
            </a:xfrm>
            <a:prstGeom prst="ellipse">
              <a:avLst/>
            </a:prstGeom>
            <a:solidFill>
              <a:srgbClr val="2E5E91"/>
            </a:solidFill>
            <a:ln>
              <a:noFill/>
            </a:ln>
          </p:spPr>
        </p:sp>
        <p:sp>
          <p:nvSpPr>
            <p:cNvPr id="37" name="TextBox 37"/>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8" name="TextBox 38"/>
            <p:cNvSpPr txBox="1"/>
            <p:nvPr/>
          </p:nvSpPr>
          <p:spPr>
            <a:xfrm>
              <a:off x="5382768" y="4070032"/>
              <a:ext cx="449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Skill với Instructions và Prompt</a:t>
              </a:r>
            </a:p>
          </p:txBody>
        </p:sp>
        <p:sp>
          <p:nvSpPr>
            <p:cNvPr id="39" name="Ellipse 39"/>
            <p:cNvSpPr/>
            <p:nvPr/>
          </p:nvSpPr>
          <p:spPr>
            <a:xfrm>
              <a:off x="4962525" y="4495800"/>
              <a:ext cx="285750" cy="285750"/>
            </a:xfrm>
            <a:prstGeom prst="ellipse">
              <a:avLst/>
            </a:prstGeom>
            <a:solidFill>
              <a:srgbClr val="2E5E91"/>
            </a:solidFill>
            <a:ln>
              <a:noFill/>
            </a:ln>
          </p:spPr>
        </p:sp>
        <p:sp>
          <p:nvSpPr>
            <p:cNvPr id="40" name="TextBox 40"/>
            <p:cNvSpPr txBox="1"/>
            <p:nvPr/>
          </p:nvSpPr>
          <p:spPr>
            <a:xfrm>
              <a:off x="5039473" y="4543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1" name="TextBox 41"/>
            <p:cNvSpPr txBox="1"/>
            <p:nvPr/>
          </p:nvSpPr>
          <p:spPr>
            <a:xfrm>
              <a:off x="5382768" y="4527232"/>
              <a:ext cx="604354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Biết vì sao dòng description quyết định skill có được gọi</a:t>
              </a:r>
            </a:p>
          </p:txBody>
        </p:sp>
        <p:sp>
          <p:nvSpPr>
            <p:cNvPr id="42" name="Ellipse 42"/>
            <p:cNvSpPr/>
            <p:nvPr/>
          </p:nvSpPr>
          <p:spPr>
            <a:xfrm>
              <a:off x="4962525" y="4953000"/>
              <a:ext cx="285750" cy="285750"/>
            </a:xfrm>
            <a:prstGeom prst="ellipse">
              <a:avLst/>
            </a:prstGeom>
            <a:solidFill>
              <a:srgbClr val="2E5E91"/>
            </a:solidFill>
            <a:ln>
              <a:noFill/>
            </a:ln>
          </p:spPr>
        </p:sp>
        <p:sp>
          <p:nvSpPr>
            <p:cNvPr id="43" name="TextBox 43"/>
            <p:cNvSpPr txBox="1"/>
            <p:nvPr/>
          </p:nvSpPr>
          <p:spPr>
            <a:xfrm>
              <a:off x="5039473" y="5000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4" name="TextBox 44"/>
            <p:cNvSpPr txBox="1"/>
            <p:nvPr/>
          </p:nvSpPr>
          <p:spPr>
            <a:xfrm>
              <a:off x="5382768" y="4984432"/>
              <a:ext cx="6044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tạo 1 skill theo cách “làm tay nhiều lượt rồi đóng gói”</a:t>
              </a:r>
            </a:p>
          </p:txBody>
        </p:sp>
        <p:sp>
          <p:nvSpPr>
            <p:cNvPr id="45" name="Ellipse 45"/>
            <p:cNvSpPr/>
            <p:nvPr/>
          </p:nvSpPr>
          <p:spPr>
            <a:xfrm>
              <a:off x="4962525" y="5410200"/>
              <a:ext cx="285750" cy="285750"/>
            </a:xfrm>
            <a:prstGeom prst="ellipse">
              <a:avLst/>
            </a:prstGeom>
            <a:solidFill>
              <a:srgbClr val="2E5E91"/>
            </a:solidFill>
            <a:ln>
              <a:noFill/>
            </a:ln>
          </p:spPr>
        </p:sp>
        <p:sp>
          <p:nvSpPr>
            <p:cNvPr id="46" name="TextBox 46"/>
            <p:cNvSpPr txBox="1"/>
            <p:nvPr/>
          </p:nvSpPr>
          <p:spPr>
            <a:xfrm>
              <a:off x="5039473" y="54578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7" name="TextBox 47"/>
            <p:cNvSpPr txBox="1"/>
            <p:nvPr/>
          </p:nvSpPr>
          <p:spPr>
            <a:xfrm>
              <a:off x="5382768" y="5441632"/>
              <a:ext cx="483373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Qua phép thử “phiên mới, không gọi tên skill”</a:t>
              </a:r>
            </a:p>
          </p:txBody>
        </p:sp>
      </p:grpSp>
      <p:sp>
        <p:nvSpPr>
          <p:cNvPr id="49" name="TextBox 49"/>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790099"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là tờ quy trình chuẩn cho một việc:</a:t>
            </a:r>
            <a:br/>
            <a:r>
              <a:rPr lang="vi-VN" sz="3150" b="1" dirty="0">
                <a:solidFill>
                  <a:schemeClr val="accent1"/>
                </a:solidFill>
                <a:latin typeface="+mn-lt"/>
                <a:ea typeface="+mn-ea"/>
                <a:cs typeface="+mn-cs"/>
              </a:rPr>
              <a:t>chi tiết, dùng mãi, ChatGPT tự chọn khi gặp</a:t>
            </a:r>
          </a:p>
        </p:txBody>
      </p:sp>
      <p:grpSp>
        <p:nvGrpSpPr>
          <p:cNvPr id="25" name="Group 25"/>
          <p:cNvGrpSpPr/>
          <p:nvPr/>
        </p:nvGrpSpPr>
        <p:grpSpPr>
          <a:xfrm>
            <a:off x="373380" y="2743200"/>
            <a:ext cx="8237220" cy="2988945"/>
            <a:chOff x="373380" y="2743200"/>
            <a:chExt cx="8237220" cy="2988945"/>
          </a:xfrm>
        </p:grpSpPr>
        <p:sp>
          <p:nvSpPr>
            <p:cNvPr id="17" name="Line 17"/>
            <p:cNvSpPr/>
            <p:nvPr/>
          </p:nvSpPr>
          <p:spPr>
            <a:xfrm>
              <a:off x="381000" y="274320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18" name="TextBox 18"/>
            <p:cNvSpPr txBox="1"/>
            <p:nvPr/>
          </p:nvSpPr>
          <p:spPr>
            <a:xfrm>
              <a:off x="373380" y="2981325"/>
              <a:ext cx="669242"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Ví như</a:t>
              </a:r>
            </a:p>
          </p:txBody>
        </p:sp>
        <p:sp>
          <p:nvSpPr>
            <p:cNvPr id="19" name="Line 19"/>
            <p:cNvSpPr/>
            <p:nvPr/>
          </p:nvSpPr>
          <p:spPr>
            <a:xfrm>
              <a:off x="381000" y="356235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0" name="TextBox 20"/>
            <p:cNvSpPr txBox="1"/>
            <p:nvPr/>
          </p:nvSpPr>
          <p:spPr>
            <a:xfrm>
              <a:off x="373380" y="3800475"/>
              <a:ext cx="785736"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Áp dụng</a:t>
              </a:r>
            </a:p>
          </p:txBody>
        </p:sp>
        <p:sp>
          <p:nvSpPr>
            <p:cNvPr id="21" name="Line 21"/>
            <p:cNvSpPr/>
            <p:nvPr/>
          </p:nvSpPr>
          <p:spPr>
            <a:xfrm>
              <a:off x="381000" y="438150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2" name="TextBox 22"/>
            <p:cNvSpPr txBox="1"/>
            <p:nvPr/>
          </p:nvSpPr>
          <p:spPr>
            <a:xfrm>
              <a:off x="373380" y="4619625"/>
              <a:ext cx="615635"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Độ dài</a:t>
              </a:r>
            </a:p>
          </p:txBody>
        </p:sp>
        <p:sp>
          <p:nvSpPr>
            <p:cNvPr id="23" name="Line 23"/>
            <p:cNvSpPr/>
            <p:nvPr/>
          </p:nvSpPr>
          <p:spPr>
            <a:xfrm>
              <a:off x="381000" y="520065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4" name="TextBox 24"/>
            <p:cNvSpPr txBox="1"/>
            <p:nvPr/>
          </p:nvSpPr>
          <p:spPr>
            <a:xfrm>
              <a:off x="373380" y="5438775"/>
              <a:ext cx="562028"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Ai gọi</a:t>
              </a:r>
            </a:p>
          </p:txBody>
        </p:sp>
      </p:grpSp>
      <p:grpSp>
        <p:nvGrpSpPr>
          <p:cNvPr id="32" name="Group 32"/>
          <p:cNvGrpSpPr/>
          <p:nvPr/>
        </p:nvGrpSpPr>
        <p:grpSpPr>
          <a:xfrm>
            <a:off x="2353818" y="2228850"/>
            <a:ext cx="1494282" cy="3592639"/>
            <a:chOff x="2353818" y="2228850"/>
            <a:chExt cx="1494282" cy="3592639"/>
          </a:xfrm>
        </p:grpSpPr>
        <p:sp>
          <p:nvSpPr>
            <p:cNvPr id="26" name="Rectangle 26"/>
            <p:cNvSpPr/>
            <p:nvPr/>
          </p:nvSpPr>
          <p:spPr>
            <a:xfrm>
              <a:off x="2362200" y="2228850"/>
              <a:ext cx="1485900" cy="342900"/>
            </a:xfrm>
            <a:prstGeom prst="roundRect">
              <a:avLst>
                <a:gd name="adj" fmla="val 50000"/>
              </a:avLst>
            </a:prstGeom>
            <a:solidFill>
              <a:schemeClr val="accent5"/>
            </a:solidFill>
            <a:ln>
              <a:noFill/>
            </a:ln>
          </p:spPr>
        </p:sp>
        <p:sp>
          <p:nvSpPr>
            <p:cNvPr id="27" name="TextBox 27"/>
            <p:cNvSpPr txBox="1"/>
            <p:nvPr/>
          </p:nvSpPr>
          <p:spPr>
            <a:xfrm>
              <a:off x="2447799" y="23050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8" name="TextBox 28"/>
            <p:cNvSpPr txBox="1"/>
            <p:nvPr/>
          </p:nvSpPr>
          <p:spPr>
            <a:xfrm>
              <a:off x="2353818" y="3041332"/>
              <a:ext cx="7678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Nội quy</a:t>
              </a:r>
            </a:p>
          </p:txBody>
        </p:sp>
        <p:sp>
          <p:nvSpPr>
            <p:cNvPr id="29" name="TextBox 29"/>
            <p:cNvSpPr txBox="1"/>
            <p:nvPr/>
          </p:nvSpPr>
          <p:spPr>
            <a:xfrm>
              <a:off x="2353818" y="3860482"/>
              <a:ext cx="87885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Mọi việc</a:t>
              </a:r>
            </a:p>
          </p:txBody>
        </p:sp>
        <p:sp>
          <p:nvSpPr>
            <p:cNvPr id="30" name="TextBox 30"/>
            <p:cNvSpPr txBox="1"/>
            <p:nvPr/>
          </p:nvSpPr>
          <p:spPr>
            <a:xfrm>
              <a:off x="2353818" y="4546282"/>
              <a:ext cx="147313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Ngắn, chỉ điều</a:t>
              </a:r>
              <a:br/>
              <a:r>
                <a:rPr lang="vi-VN" sz="1650" dirty="0">
                  <a:solidFill>
                    <a:schemeClr val="dk1"/>
                  </a:solidFill>
                  <a:latin typeface="+mn-lt"/>
                  <a:ea typeface="+mn-ea"/>
                  <a:cs typeface="+mn-cs"/>
                </a:rPr>
                <a:t>luôn đúng</a:t>
              </a:r>
            </a:p>
          </p:txBody>
        </p:sp>
        <p:sp>
          <p:nvSpPr>
            <p:cNvPr id="31" name="TextBox 31"/>
            <p:cNvSpPr txBox="1"/>
            <p:nvPr/>
          </p:nvSpPr>
          <p:spPr>
            <a:xfrm>
              <a:off x="2353818" y="5498782"/>
              <a:ext cx="11352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áp dụng</a:t>
              </a:r>
            </a:p>
          </p:txBody>
        </p:sp>
      </p:grpSp>
      <p:grpSp>
        <p:nvGrpSpPr>
          <p:cNvPr id="39" name="Group 39"/>
          <p:cNvGrpSpPr/>
          <p:nvPr/>
        </p:nvGrpSpPr>
        <p:grpSpPr>
          <a:xfrm>
            <a:off x="5554218" y="2228850"/>
            <a:ext cx="2068007" cy="3592639"/>
            <a:chOff x="5554218" y="2228850"/>
            <a:chExt cx="2068007" cy="3592639"/>
          </a:xfrm>
        </p:grpSpPr>
        <p:sp>
          <p:nvSpPr>
            <p:cNvPr id="33" name="Rectangle 33"/>
            <p:cNvSpPr/>
            <p:nvPr/>
          </p:nvSpPr>
          <p:spPr>
            <a:xfrm>
              <a:off x="5562600" y="2228850"/>
              <a:ext cx="1143000" cy="342900"/>
            </a:xfrm>
            <a:prstGeom prst="roundRect">
              <a:avLst>
                <a:gd name="adj" fmla="val 50000"/>
              </a:avLst>
            </a:prstGeom>
            <a:solidFill>
              <a:schemeClr val="accent3"/>
            </a:solidFill>
            <a:ln>
              <a:noFill/>
            </a:ln>
          </p:spPr>
        </p:sp>
        <p:sp>
          <p:nvSpPr>
            <p:cNvPr id="34" name="TextBox 34"/>
            <p:cNvSpPr txBox="1"/>
            <p:nvPr/>
          </p:nvSpPr>
          <p:spPr>
            <a:xfrm>
              <a:off x="5751933" y="2305050"/>
              <a:ext cx="76433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a:t>
              </a:r>
            </a:p>
          </p:txBody>
        </p:sp>
        <p:sp>
          <p:nvSpPr>
            <p:cNvPr id="35" name="TextBox 35"/>
            <p:cNvSpPr txBox="1"/>
            <p:nvPr/>
          </p:nvSpPr>
          <p:spPr>
            <a:xfrm>
              <a:off x="5554218" y="2907982"/>
              <a:ext cx="148361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Phiếu giao việc</a:t>
              </a:r>
              <a:br/>
              <a:r>
                <a:rPr lang="vi-VN" sz="1650" dirty="0">
                  <a:solidFill>
                    <a:schemeClr val="dk1"/>
                  </a:solidFill>
                  <a:latin typeface="+mn-lt"/>
                  <a:ea typeface="+mn-ea"/>
                  <a:cs typeface="+mn-cs"/>
                </a:rPr>
                <a:t>hôm nay</a:t>
              </a:r>
            </a:p>
          </p:txBody>
        </p:sp>
        <p:sp>
          <p:nvSpPr>
            <p:cNvPr id="36" name="TextBox 36"/>
            <p:cNvSpPr txBox="1"/>
            <p:nvPr/>
          </p:nvSpPr>
          <p:spPr>
            <a:xfrm>
              <a:off x="5554218" y="3860482"/>
              <a:ext cx="51654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1 lần</a:t>
              </a:r>
            </a:p>
          </p:txBody>
        </p:sp>
        <p:sp>
          <p:nvSpPr>
            <p:cNvPr id="37" name="TextBox 37"/>
            <p:cNvSpPr txBox="1"/>
            <p:nvPr/>
          </p:nvSpPr>
          <p:spPr>
            <a:xfrm>
              <a:off x="5554218" y="4679632"/>
              <a:ext cx="206800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Vừa đủ cho việc này</a:t>
              </a:r>
            </a:p>
          </p:txBody>
        </p:sp>
        <p:sp>
          <p:nvSpPr>
            <p:cNvPr id="38" name="TextBox 38"/>
            <p:cNvSpPr txBox="1"/>
            <p:nvPr/>
          </p:nvSpPr>
          <p:spPr>
            <a:xfrm>
              <a:off x="5554218" y="5498782"/>
              <a:ext cx="8687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Mình gõ</a:t>
              </a:r>
            </a:p>
          </p:txBody>
        </p:sp>
      </p:grpSp>
      <p:grpSp>
        <p:nvGrpSpPr>
          <p:cNvPr id="47" name="Group 47"/>
          <p:cNvGrpSpPr/>
          <p:nvPr/>
        </p:nvGrpSpPr>
        <p:grpSpPr>
          <a:xfrm>
            <a:off x="8763000" y="2095500"/>
            <a:ext cx="3048000" cy="4000500"/>
            <a:chOff x="8763000" y="2095500"/>
            <a:chExt cx="3048000" cy="4000500"/>
          </a:xfrm>
        </p:grpSpPr>
        <p:sp>
          <p:nvSpPr>
            <p:cNvPr id="40" name="Rectangle 40"/>
            <p:cNvSpPr/>
            <p:nvPr/>
          </p:nvSpPr>
          <p:spPr>
            <a:xfrm>
              <a:off x="8763000" y="2095500"/>
              <a:ext cx="3048000" cy="4000500"/>
            </a:xfrm>
            <a:prstGeom prst="roundRect">
              <a:avLst>
                <a:gd name="adj" fmla="val 5000"/>
              </a:avLst>
            </a:prstGeom>
            <a:solidFill>
              <a:schemeClr val="lt1"/>
            </a:solidFill>
            <a:ln w="19050">
              <a:solidFill>
                <a:srgbClr val="2E5E91"/>
              </a:solidFill>
            </a:ln>
            <a:effectLst>
              <a:outerShdw blurRad="114300" dist="38100" dir="5400000" algn="ctr" rotWithShape="0">
                <a:srgbClr val="1D3557">
                  <a:alpha val="7500"/>
                </a:srgbClr>
              </a:outerShdw>
            </a:effectLst>
          </p:spPr>
        </p:sp>
        <p:sp>
          <p:nvSpPr>
            <p:cNvPr id="41" name="Rectangle 41"/>
            <p:cNvSpPr/>
            <p:nvPr/>
          </p:nvSpPr>
          <p:spPr>
            <a:xfrm>
              <a:off x="8991600" y="2228850"/>
              <a:ext cx="952500" cy="342900"/>
            </a:xfrm>
            <a:prstGeom prst="roundRect">
              <a:avLst>
                <a:gd name="adj" fmla="val 50000"/>
              </a:avLst>
            </a:prstGeom>
            <a:solidFill>
              <a:srgbClr val="2E5E91"/>
            </a:solidFill>
            <a:ln>
              <a:noFill/>
            </a:ln>
          </p:spPr>
        </p:sp>
        <p:sp>
          <p:nvSpPr>
            <p:cNvPr id="42" name="TextBox 42"/>
            <p:cNvSpPr txBox="1"/>
            <p:nvPr/>
          </p:nvSpPr>
          <p:spPr>
            <a:xfrm>
              <a:off x="9245803" y="23050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43" name="TextBox 43"/>
            <p:cNvSpPr txBox="1"/>
            <p:nvPr/>
          </p:nvSpPr>
          <p:spPr>
            <a:xfrm>
              <a:off x="8983218" y="2907982"/>
              <a:ext cx="203001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Tờ quy trình chuẩn</a:t>
              </a:r>
              <a:br/>
              <a:r>
                <a:rPr lang="vi-VN" sz="1650" b="1" dirty="0">
                  <a:solidFill>
                    <a:schemeClr val="accent1"/>
                  </a:solidFill>
                  <a:latin typeface="+mn-lt"/>
                  <a:ea typeface="+mn-ea"/>
                  <a:cs typeface="+mn-cs"/>
                </a:rPr>
                <a:t>cho 1 việc</a:t>
              </a:r>
            </a:p>
          </p:txBody>
        </p:sp>
        <p:sp>
          <p:nvSpPr>
            <p:cNvPr id="44" name="TextBox 44"/>
            <p:cNvSpPr txBox="1"/>
            <p:nvPr/>
          </p:nvSpPr>
          <p:spPr>
            <a:xfrm>
              <a:off x="8983218" y="3727132"/>
              <a:ext cx="1721977"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Mỗi lần gặp đúng</a:t>
              </a:r>
              <a:br/>
              <a:r>
                <a:rPr lang="vi-VN" sz="1650" b="1" dirty="0">
                  <a:solidFill>
                    <a:schemeClr val="accent1"/>
                  </a:solidFill>
                  <a:latin typeface="+mn-lt"/>
                  <a:ea typeface="+mn-ea"/>
                  <a:cs typeface="+mn-cs"/>
                </a:rPr>
                <a:t>loại việc đó</a:t>
              </a:r>
            </a:p>
          </p:txBody>
        </p:sp>
        <p:sp>
          <p:nvSpPr>
            <p:cNvPr id="45" name="TextBox 45"/>
            <p:cNvSpPr txBox="1"/>
            <p:nvPr/>
          </p:nvSpPr>
          <p:spPr>
            <a:xfrm>
              <a:off x="8983218" y="4679632"/>
              <a:ext cx="24387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Chi tiết, không sợ dài</a:t>
              </a:r>
            </a:p>
          </p:txBody>
        </p:sp>
        <p:sp>
          <p:nvSpPr>
            <p:cNvPr id="46" name="TextBox 46"/>
            <p:cNvSpPr txBox="1"/>
            <p:nvPr/>
          </p:nvSpPr>
          <p:spPr>
            <a:xfrm>
              <a:off x="8983218" y="5365432"/>
              <a:ext cx="1842992"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ChatGPT tự chọn,</a:t>
              </a:r>
              <a:br/>
              <a:r>
                <a:rPr lang="vi-VN" sz="1650" b="1" dirty="0">
                  <a:solidFill>
                    <a:schemeClr val="accent1"/>
                  </a:solidFill>
                  <a:latin typeface="+mn-lt"/>
                  <a:ea typeface="+mn-ea"/>
                  <a:cs typeface="+mn-cs"/>
                </a:rPr>
                <a:t>hoặc gọi bằng @</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3020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ChatGPT chỉ đọc dòng description để chọn skill,</a:t>
            </a:r>
            <a:br/>
            <a:r>
              <a:rPr lang="vi-VN" sz="3150" b="1" dirty="0">
                <a:solidFill>
                  <a:schemeClr val="accent1"/>
                </a:solidFill>
                <a:latin typeface="+mn-lt"/>
                <a:ea typeface="+mn-ea"/>
                <a:cs typeface="+mn-cs"/>
              </a:rPr>
              <a:t>nên description mơ hồ thì skill không được gọi</a:t>
            </a:r>
          </a:p>
        </p:txBody>
      </p:sp>
      <p:grpSp>
        <p:nvGrpSpPr>
          <p:cNvPr id="20" name="Group 20"/>
          <p:cNvGrpSpPr/>
          <p:nvPr/>
        </p:nvGrpSpPr>
        <p:grpSpPr>
          <a:xfrm>
            <a:off x="2076450" y="2400300"/>
            <a:ext cx="7981950" cy="1"/>
            <a:chOff x="2076450" y="2400300"/>
            <a:chExt cx="7981950" cy="1"/>
          </a:xfrm>
        </p:grpSpPr>
        <p:sp>
          <p:nvSpPr>
            <p:cNvPr id="17" name="Line 17"/>
            <p:cNvSpPr/>
            <p:nvPr/>
          </p:nvSpPr>
          <p:spPr>
            <a:xfrm>
              <a:off x="2076450" y="2400300"/>
              <a:ext cx="2266950" cy="1"/>
            </a:xfrm>
            <a:prstGeom prst="line">
              <a:avLst/>
            </a:prstGeom>
            <a:noFill/>
            <a:ln w="19050">
              <a:solidFill>
                <a:srgbClr val="5B6675"/>
              </a:solidFill>
              <a:tailEnd type="triangle" w="lg" len="lg"/>
            </a:ln>
          </p:spPr>
        </p:sp>
        <p:sp>
          <p:nvSpPr>
            <p:cNvPr id="18" name="Line 18"/>
            <p:cNvSpPr/>
            <p:nvPr/>
          </p:nvSpPr>
          <p:spPr>
            <a:xfrm>
              <a:off x="4933950" y="2400300"/>
              <a:ext cx="2266950" cy="1"/>
            </a:xfrm>
            <a:prstGeom prst="line">
              <a:avLst/>
            </a:prstGeom>
            <a:noFill/>
            <a:ln w="19050">
              <a:solidFill>
                <a:srgbClr val="5B6675"/>
              </a:solidFill>
              <a:tailEnd type="triangle" w="lg" len="lg"/>
            </a:ln>
          </p:spPr>
        </p:sp>
        <p:sp>
          <p:nvSpPr>
            <p:cNvPr id="19" name="Line 19"/>
            <p:cNvSpPr/>
            <p:nvPr/>
          </p:nvSpPr>
          <p:spPr>
            <a:xfrm>
              <a:off x="7791450" y="2400300"/>
              <a:ext cx="2266950" cy="1"/>
            </a:xfrm>
            <a:prstGeom prst="line">
              <a:avLst/>
            </a:prstGeom>
            <a:noFill/>
            <a:ln w="19050">
              <a:solidFill>
                <a:srgbClr val="5B6675"/>
              </a:solidFill>
              <a:tailEnd type="triangle" w="lg" len="lg"/>
            </a:ln>
          </p:spPr>
        </p:sp>
      </p:grpSp>
      <p:grpSp>
        <p:nvGrpSpPr>
          <p:cNvPr id="24" name="Group 24"/>
          <p:cNvGrpSpPr/>
          <p:nvPr/>
        </p:nvGrpSpPr>
        <p:grpSpPr>
          <a:xfrm>
            <a:off x="1096812" y="2190750"/>
            <a:ext cx="1425875" cy="836295"/>
            <a:chOff x="1096812" y="2190750"/>
            <a:chExt cx="1425875" cy="836295"/>
          </a:xfrm>
        </p:grpSpPr>
        <p:sp>
          <p:nvSpPr>
            <p:cNvPr id="21" name="Ellipse 21"/>
            <p:cNvSpPr/>
            <p:nvPr/>
          </p:nvSpPr>
          <p:spPr>
            <a:xfrm>
              <a:off x="1600200" y="2190750"/>
              <a:ext cx="419100" cy="419100"/>
            </a:xfrm>
            <a:prstGeom prst="ellipse">
              <a:avLst/>
            </a:prstGeom>
            <a:solidFill>
              <a:srgbClr val="2E5E91"/>
            </a:solidFill>
            <a:ln>
              <a:noFill/>
            </a:ln>
          </p:spPr>
        </p:sp>
        <p:sp>
          <p:nvSpPr>
            <p:cNvPr id="22" name="TextBox 22"/>
            <p:cNvSpPr txBox="1"/>
            <p:nvPr/>
          </p:nvSpPr>
          <p:spPr>
            <a:xfrm>
              <a:off x="1743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3" name="TextBox 23"/>
            <p:cNvSpPr txBox="1"/>
            <p:nvPr/>
          </p:nvSpPr>
          <p:spPr>
            <a:xfrm>
              <a:off x="1096812" y="2733675"/>
              <a:ext cx="1425875" cy="293370"/>
            </a:xfrm>
            <a:prstGeom prst="rect">
              <a:avLst/>
            </a:prstGeom>
            <a:noFill/>
            <a:ln>
              <a:noFill/>
            </a:ln>
          </p:spPr>
          <p:txBody>
            <a:bodyPr wrap="none" lIns="0" tIns="0" rIns="0" bIns="0" anchor="t" anchorCtr="0">
              <a:spAutoFit/>
            </a:bodyPr>
            <a:lstStyle/>
            <a:p>
              <a:pPr algn="ctr"/>
              <a:r>
                <a:rPr lang="vi-VN" sz="1500" dirty="0">
                  <a:solidFill>
                    <a:schemeClr val="dk1"/>
                  </a:solidFill>
                  <a:latin typeface="+mn-lt"/>
                  <a:ea typeface="+mn-ea"/>
                  <a:cs typeface="+mn-cs"/>
                </a:rPr>
                <a:t>Bạn gõ yêu cầu</a:t>
              </a:r>
            </a:p>
          </p:txBody>
        </p:sp>
      </p:grpSp>
      <p:grpSp>
        <p:nvGrpSpPr>
          <p:cNvPr id="30" name="Group 30"/>
          <p:cNvGrpSpPr/>
          <p:nvPr/>
        </p:nvGrpSpPr>
        <p:grpSpPr>
          <a:xfrm>
            <a:off x="3489484" y="2190750"/>
            <a:ext cx="2355532" cy="1362456"/>
            <a:chOff x="3489484" y="2190750"/>
            <a:chExt cx="2355532" cy="1362456"/>
          </a:xfrm>
        </p:grpSpPr>
        <p:sp>
          <p:nvSpPr>
            <p:cNvPr id="25" name="Ellipse 25"/>
            <p:cNvSpPr/>
            <p:nvPr/>
          </p:nvSpPr>
          <p:spPr>
            <a:xfrm>
              <a:off x="4457700" y="2190750"/>
              <a:ext cx="419100" cy="419100"/>
            </a:xfrm>
            <a:prstGeom prst="ellipse">
              <a:avLst/>
            </a:prstGeom>
            <a:solidFill>
              <a:schemeClr val="accent2"/>
            </a:solidFill>
            <a:ln>
              <a:noFill/>
            </a:ln>
          </p:spPr>
        </p:sp>
        <p:sp>
          <p:nvSpPr>
            <p:cNvPr id="26" name="TextBox 26"/>
            <p:cNvSpPr txBox="1"/>
            <p:nvPr/>
          </p:nvSpPr>
          <p:spPr>
            <a:xfrm>
              <a:off x="4601323" y="2314575"/>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2</a:t>
              </a:r>
            </a:p>
          </p:txBody>
        </p:sp>
        <p:sp>
          <p:nvSpPr>
            <p:cNvPr id="27" name="TextBox 27"/>
            <p:cNvSpPr txBox="1"/>
            <p:nvPr/>
          </p:nvSpPr>
          <p:spPr>
            <a:xfrm>
              <a:off x="3489484" y="2733675"/>
              <a:ext cx="2355532" cy="541020"/>
            </a:xfrm>
            <a:prstGeom prst="rect">
              <a:avLst/>
            </a:prstGeom>
            <a:noFill/>
            <a:ln>
              <a:noFill/>
            </a:ln>
          </p:spPr>
          <p:txBody>
            <a:bodyPr wrap="none" lIns="0" tIns="0" rIns="0" bIns="0" anchor="t" anchorCtr="0">
              <a:spAutoFit/>
            </a:bodyPr>
            <a:lstStyle/>
            <a:p>
              <a:pPr algn="ctr">
                <a:lnSpc>
                  <a:spcPts val="1950"/>
                </a:lnSpc>
              </a:pPr>
              <a:r>
                <a:rPr lang="vi-VN" sz="1500" b="1" dirty="0">
                  <a:solidFill>
                    <a:schemeClr val="accent1"/>
                  </a:solidFill>
                  <a:latin typeface="+mn-lt"/>
                  <a:ea typeface="+mn-ea"/>
                  <a:cs typeface="+mn-cs"/>
                </a:rPr>
                <a:t>ChatGPT chỉ đọc tên +</a:t>
              </a:r>
              <a:br/>
              <a:r>
                <a:rPr lang="vi-VN" sz="1500" b="1" dirty="0">
                  <a:solidFill>
                    <a:schemeClr val="accent1"/>
                  </a:solidFill>
                  <a:latin typeface="+mn-lt"/>
                  <a:ea typeface="+mn-ea"/>
                  <a:cs typeface="+mn-cs"/>
                </a:rPr>
                <a:t>description của mọi skill</a:t>
              </a:r>
            </a:p>
          </p:txBody>
        </p:sp>
        <p:sp>
          <p:nvSpPr>
            <p:cNvPr id="28" name="Rectangle 28"/>
            <p:cNvSpPr/>
            <p:nvPr/>
          </p:nvSpPr>
          <p:spPr>
            <a:xfrm>
              <a:off x="4038600" y="3257550"/>
              <a:ext cx="1257300" cy="266700"/>
            </a:xfrm>
            <a:prstGeom prst="roundRect">
              <a:avLst>
                <a:gd name="adj" fmla="val 50000"/>
              </a:avLst>
            </a:prstGeom>
            <a:solidFill>
              <a:srgbClr val="FCEBDD"/>
            </a:solidFill>
            <a:ln>
              <a:noFill/>
            </a:ln>
          </p:spPr>
        </p:sp>
        <p:sp>
          <p:nvSpPr>
            <p:cNvPr id="29" name="TextBox 29"/>
            <p:cNvSpPr txBox="1"/>
            <p:nvPr/>
          </p:nvSpPr>
          <p:spPr>
            <a:xfrm>
              <a:off x="4123823" y="3318510"/>
              <a:ext cx="108685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Chỗ mấu chốt</a:t>
              </a:r>
            </a:p>
          </p:txBody>
        </p:sp>
      </p:grpSp>
      <p:grpSp>
        <p:nvGrpSpPr>
          <p:cNvPr id="34" name="Group 34"/>
          <p:cNvGrpSpPr/>
          <p:nvPr/>
        </p:nvGrpSpPr>
        <p:grpSpPr>
          <a:xfrm>
            <a:off x="6731318" y="2190750"/>
            <a:ext cx="1586865" cy="1083945"/>
            <a:chOff x="6731318" y="2190750"/>
            <a:chExt cx="1586865" cy="1083945"/>
          </a:xfrm>
        </p:grpSpPr>
        <p:sp>
          <p:nvSpPr>
            <p:cNvPr id="31" name="Ellipse 31"/>
            <p:cNvSpPr/>
            <p:nvPr/>
          </p:nvSpPr>
          <p:spPr>
            <a:xfrm>
              <a:off x="7315200" y="2190750"/>
              <a:ext cx="419100" cy="419100"/>
            </a:xfrm>
            <a:prstGeom prst="ellipse">
              <a:avLst/>
            </a:prstGeom>
            <a:solidFill>
              <a:srgbClr val="2E5E91"/>
            </a:solidFill>
            <a:ln>
              <a:noFill/>
            </a:ln>
          </p:spPr>
        </p:sp>
        <p:sp>
          <p:nvSpPr>
            <p:cNvPr id="32" name="TextBox 32"/>
            <p:cNvSpPr txBox="1"/>
            <p:nvPr/>
          </p:nvSpPr>
          <p:spPr>
            <a:xfrm>
              <a:off x="7458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3" name="TextBox 33"/>
            <p:cNvSpPr txBox="1"/>
            <p:nvPr/>
          </p:nvSpPr>
          <p:spPr>
            <a:xfrm>
              <a:off x="6731318" y="2733675"/>
              <a:ext cx="158686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Thấy khớp mới mở</a:t>
              </a:r>
              <a:br/>
              <a:r>
                <a:rPr lang="vi-VN" sz="1500" dirty="0">
                  <a:solidFill>
                    <a:schemeClr val="dk1"/>
                  </a:solidFill>
                  <a:latin typeface="+mn-lt"/>
                  <a:ea typeface="+mn-ea"/>
                  <a:cs typeface="+mn-cs"/>
                </a:rPr>
                <a:t>toàn bộ SKILL.md</a:t>
              </a:r>
            </a:p>
          </p:txBody>
        </p:sp>
      </p:grpSp>
      <p:grpSp>
        <p:nvGrpSpPr>
          <p:cNvPr id="38" name="Group 38"/>
          <p:cNvGrpSpPr/>
          <p:nvPr/>
        </p:nvGrpSpPr>
        <p:grpSpPr>
          <a:xfrm>
            <a:off x="9407842" y="2190750"/>
            <a:ext cx="1948815" cy="1083945"/>
            <a:chOff x="9407842" y="2190750"/>
            <a:chExt cx="1948815" cy="1083945"/>
          </a:xfrm>
        </p:grpSpPr>
        <p:sp>
          <p:nvSpPr>
            <p:cNvPr id="35" name="Ellipse 35"/>
            <p:cNvSpPr/>
            <p:nvPr/>
          </p:nvSpPr>
          <p:spPr>
            <a:xfrm>
              <a:off x="10172700" y="2190750"/>
              <a:ext cx="419100" cy="419100"/>
            </a:xfrm>
            <a:prstGeom prst="ellipse">
              <a:avLst/>
            </a:prstGeom>
            <a:solidFill>
              <a:srgbClr val="2E5E91"/>
            </a:solidFill>
            <a:ln>
              <a:noFill/>
            </a:ln>
          </p:spPr>
        </p:sp>
        <p:sp>
          <p:nvSpPr>
            <p:cNvPr id="36" name="TextBox 36"/>
            <p:cNvSpPr txBox="1"/>
            <p:nvPr/>
          </p:nvSpPr>
          <p:spPr>
            <a:xfrm>
              <a:off x="103163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37" name="TextBox 37"/>
            <p:cNvSpPr txBox="1"/>
            <p:nvPr/>
          </p:nvSpPr>
          <p:spPr>
            <a:xfrm>
              <a:off x="9407842" y="2733675"/>
              <a:ext cx="194881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Làm đúng từng bước,</a:t>
              </a:r>
              <a:br/>
              <a:r>
                <a:rPr lang="vi-VN" sz="1500" dirty="0">
                  <a:solidFill>
                    <a:schemeClr val="dk1"/>
                  </a:solidFill>
                  <a:latin typeface="+mn-lt"/>
                  <a:ea typeface="+mn-ea"/>
                  <a:cs typeface="+mn-cs"/>
                </a:rPr>
                <a:t>kể cả hỏi lại khi thiếu</a:t>
              </a:r>
            </a:p>
          </p:txBody>
        </p:sp>
      </p:grpSp>
      <p:grpSp>
        <p:nvGrpSpPr>
          <p:cNvPr id="47" name="Group 47"/>
          <p:cNvGrpSpPr/>
          <p:nvPr/>
        </p:nvGrpSpPr>
        <p:grpSpPr>
          <a:xfrm>
            <a:off x="381000" y="3695700"/>
            <a:ext cx="3733800" cy="2362200"/>
            <a:chOff x="381000" y="3695700"/>
            <a:chExt cx="3733800" cy="2362200"/>
          </a:xfrm>
        </p:grpSpPr>
        <p:sp>
          <p:nvSpPr>
            <p:cNvPr id="39" name="Rectangle 39"/>
            <p:cNvSpPr/>
            <p:nvPr/>
          </p:nvSpPr>
          <p:spPr>
            <a:xfrm>
              <a:off x="381000" y="3695700"/>
              <a:ext cx="3733800" cy="2362200"/>
            </a:xfrm>
            <a:prstGeom prst="roundRect">
              <a:avLst>
                <a:gd name="adj" fmla="val 6452"/>
              </a:avLst>
            </a:prstGeom>
            <a:solidFill>
              <a:schemeClr val="lt1"/>
            </a:solidFill>
            <a:ln w="19050">
              <a:solidFill>
                <a:srgbClr val="C0392B"/>
              </a:solidFill>
            </a:ln>
          </p:spPr>
        </p:sp>
        <p:grpSp>
          <p:nvGrpSpPr>
            <p:cNvPr id="42" name="Group 42"/>
            <p:cNvGrpSpPr/>
            <p:nvPr/>
          </p:nvGrpSpPr>
          <p:grpSpPr>
            <a:xfrm>
              <a:off x="638175" y="3876675"/>
              <a:ext cx="171450" cy="171450"/>
              <a:chOff x="638175" y="3876675"/>
              <a:chExt cx="171450" cy="171450"/>
            </a:xfrm>
          </p:grpSpPr>
          <p:sp>
            <p:nvSpPr>
              <p:cNvPr id="40" name="Freeform 40"/>
              <p:cNvSpPr/>
              <p:nvPr/>
            </p:nvSpPr>
            <p:spPr>
              <a:xfrm>
                <a:off x="6381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0392B"/>
                </a:solidFill>
              </a:ln>
            </p:spPr>
          </p:sp>
          <p:sp>
            <p:nvSpPr>
              <p:cNvPr id="41" name="Freeform 41"/>
              <p:cNvSpPr/>
              <p:nvPr/>
            </p:nvSpPr>
            <p:spPr>
              <a:xfrm>
                <a:off x="704850" y="394335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C0392B"/>
                </a:solidFill>
              </a:ln>
            </p:spPr>
          </p:sp>
        </p:grpSp>
        <p:sp>
          <p:nvSpPr>
            <p:cNvPr id="43" name="TextBox 43"/>
            <p:cNvSpPr txBox="1"/>
            <p:nvPr/>
          </p:nvSpPr>
          <p:spPr>
            <a:xfrm>
              <a:off x="927354" y="3890010"/>
              <a:ext cx="1496751"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DESCRIPTION TỒI</a:t>
              </a:r>
            </a:p>
          </p:txBody>
        </p:sp>
        <p:sp>
          <p:nvSpPr>
            <p:cNvPr id="44" name="Rectangle 44"/>
            <p:cNvSpPr/>
            <p:nvPr/>
          </p:nvSpPr>
          <p:spPr>
            <a:xfrm>
              <a:off x="609600" y="4191000"/>
              <a:ext cx="3276600" cy="762000"/>
            </a:xfrm>
            <a:prstGeom prst="roundRect">
              <a:avLst>
                <a:gd name="adj" fmla="val 12500"/>
              </a:avLst>
            </a:prstGeom>
            <a:solidFill>
              <a:schemeClr val="lt2"/>
            </a:solidFill>
            <a:ln>
              <a:noFill/>
            </a:ln>
          </p:spPr>
        </p:sp>
        <p:sp>
          <p:nvSpPr>
            <p:cNvPr id="45" name="TextBox 45"/>
            <p:cNvSpPr txBox="1"/>
            <p:nvPr/>
          </p:nvSpPr>
          <p:spPr>
            <a:xfrm>
              <a:off x="754380" y="4333875"/>
              <a:ext cx="19297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Viết nội</a:t>
              </a:r>
              <a:br/>
              <a:r>
                <a:rPr lang="vi-VN" sz="1500" dirty="0">
                  <a:solidFill>
                    <a:schemeClr val="accent1"/>
                  </a:solidFill>
                  <a:latin typeface="Consolas"/>
                  <a:ea typeface="Consolas"/>
                  <a:cs typeface="Consolas"/>
                </a:rPr>
                <a:t>dung cho công ty.</a:t>
              </a:r>
            </a:p>
          </p:txBody>
        </p:sp>
        <p:sp>
          <p:nvSpPr>
            <p:cNvPr id="46" name="TextBox 46"/>
            <p:cNvSpPr txBox="1"/>
            <p:nvPr/>
          </p:nvSpPr>
          <p:spPr>
            <a:xfrm>
              <a:off x="601980" y="5229225"/>
              <a:ext cx="2367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Quá chung: gọi nhầm hoặc</a:t>
              </a:r>
              <a:br/>
              <a:r>
                <a:rPr lang="vi-VN" sz="1500" dirty="0">
                  <a:solidFill>
                    <a:schemeClr val="dk1"/>
                  </a:solidFill>
                  <a:latin typeface="+mn-lt"/>
                  <a:ea typeface="+mn-ea"/>
                  <a:cs typeface="+mn-cs"/>
                </a:rPr>
                <a:t>không bao giờ được gọi</a:t>
              </a:r>
            </a:p>
          </p:txBody>
        </p:sp>
      </p:grpSp>
      <p:grpSp>
        <p:nvGrpSpPr>
          <p:cNvPr id="56" name="Group 56"/>
          <p:cNvGrpSpPr/>
          <p:nvPr/>
        </p:nvGrpSpPr>
        <p:grpSpPr>
          <a:xfrm>
            <a:off x="4343400" y="3695700"/>
            <a:ext cx="7467600" cy="2362200"/>
            <a:chOff x="4343400" y="3695700"/>
            <a:chExt cx="7467600" cy="2362200"/>
          </a:xfrm>
        </p:grpSpPr>
        <p:sp>
          <p:nvSpPr>
            <p:cNvPr id="48" name="Rectangle 48"/>
            <p:cNvSpPr/>
            <p:nvPr/>
          </p:nvSpPr>
          <p:spPr>
            <a:xfrm>
              <a:off x="4343400" y="3695700"/>
              <a:ext cx="7467600" cy="2362200"/>
            </a:xfrm>
            <a:prstGeom prst="roundRect">
              <a:avLst>
                <a:gd name="adj" fmla="val 6452"/>
              </a:avLst>
            </a:prstGeom>
            <a:solidFill>
              <a:schemeClr val="lt1"/>
            </a:solidFill>
            <a:ln w="19050">
              <a:solidFill>
                <a:srgbClr val="2E8B57"/>
              </a:solidFill>
            </a:ln>
          </p:spPr>
        </p:sp>
        <p:grpSp>
          <p:nvGrpSpPr>
            <p:cNvPr id="51" name="Group 51"/>
            <p:cNvGrpSpPr/>
            <p:nvPr/>
          </p:nvGrpSpPr>
          <p:grpSpPr>
            <a:xfrm>
              <a:off x="4600575" y="3876675"/>
              <a:ext cx="171450" cy="171450"/>
              <a:chOff x="4600575" y="3876675"/>
              <a:chExt cx="171450" cy="171450"/>
            </a:xfrm>
          </p:grpSpPr>
          <p:sp>
            <p:nvSpPr>
              <p:cNvPr id="49" name="Freeform 49"/>
              <p:cNvSpPr/>
              <p:nvPr/>
            </p:nvSpPr>
            <p:spPr>
              <a:xfrm>
                <a:off x="46005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50" name="Freeform 50"/>
              <p:cNvSpPr/>
              <p:nvPr/>
            </p:nvSpPr>
            <p:spPr>
              <a:xfrm>
                <a:off x="4657725" y="394335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52" name="TextBox 52"/>
            <p:cNvSpPr txBox="1"/>
            <p:nvPr/>
          </p:nvSpPr>
          <p:spPr>
            <a:xfrm>
              <a:off x="4889754" y="3890010"/>
              <a:ext cx="1541556" cy="234696"/>
            </a:xfrm>
            <a:prstGeom prst="rect">
              <a:avLst/>
            </a:prstGeom>
            <a:noFill/>
            <a:ln>
              <a:noFill/>
            </a:ln>
          </p:spPr>
          <p:txBody>
            <a:bodyPr wrap="none" lIns="0" tIns="0" rIns="0" bIns="0" anchor="t" anchorCtr="0">
              <a:spAutoFit/>
            </a:bodyPr>
            <a:lstStyle/>
            <a:p>
              <a:pPr algn="l"/>
              <a:r>
                <a:rPr lang="vi-VN" sz="1200" b="1" spc="75" dirty="0">
                  <a:solidFill>
                    <a:srgbClr val="2E8B57"/>
                  </a:solidFill>
                  <a:latin typeface="+mn-lt"/>
                  <a:ea typeface="+mn-ea"/>
                  <a:cs typeface="+mn-cs"/>
                </a:rPr>
                <a:t>DESCRIPTION TỐT</a:t>
              </a:r>
            </a:p>
          </p:txBody>
        </p:sp>
        <p:sp>
          <p:nvSpPr>
            <p:cNvPr id="53" name="Rectangle 53"/>
            <p:cNvSpPr/>
            <p:nvPr/>
          </p:nvSpPr>
          <p:spPr>
            <a:xfrm>
              <a:off x="4572000" y="4191000"/>
              <a:ext cx="7010400" cy="1257300"/>
            </a:xfrm>
            <a:prstGeom prst="roundRect">
              <a:avLst>
                <a:gd name="adj" fmla="val 7576"/>
              </a:avLst>
            </a:prstGeom>
            <a:solidFill>
              <a:schemeClr val="lt2"/>
            </a:solidFill>
            <a:ln>
              <a:noFill/>
            </a:ln>
          </p:spPr>
        </p:sp>
        <p:sp>
          <p:nvSpPr>
            <p:cNvPr id="54" name="TextBox 54"/>
            <p:cNvSpPr txBox="1"/>
            <p:nvPr/>
          </p:nvSpPr>
          <p:spPr>
            <a:xfrm>
              <a:off x="4716780" y="4314825"/>
              <a:ext cx="6044565"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Viết bài mạng xã hội cho sản phẩm TPCN</a:t>
              </a:r>
              <a:br/>
              <a:r>
                <a:rPr lang="vi-VN" sz="1500" dirty="0">
                  <a:solidFill>
                    <a:schemeClr val="accent1"/>
                  </a:solidFill>
                  <a:latin typeface="Consolas"/>
                  <a:ea typeface="Consolas"/>
                  <a:cs typeface="Consolas"/>
                </a:rPr>
                <a:t>của Wir (Elasten, CH Alpha Plus, Lactobact Intima).</a:t>
              </a:r>
              <a:br/>
              <a:r>
                <a:rPr lang="vi-VN" sz="1500" dirty="0">
                  <a:solidFill>
                    <a:schemeClr val="accent1"/>
                  </a:solidFill>
                  <a:latin typeface="Consolas"/>
                  <a:ea typeface="Consolas"/>
                  <a:cs typeface="Consolas"/>
                </a:rPr>
                <a:t>Dùng khi cần bài Facebook, Zalo OA, kịch bản video</a:t>
              </a:r>
              <a:br/>
              <a:r>
                <a:rPr lang="vi-VN" sz="1500" dirty="0">
                  <a:solidFill>
                    <a:schemeClr val="accent1"/>
                  </a:solidFill>
                  <a:latin typeface="Consolas"/>
                  <a:ea typeface="Consolas"/>
                  <a:cs typeface="Consolas"/>
                </a:rPr>
                <a:t>ngắn. Không dùng cho Karima (thiết bị tiêm) và tin trả lời khách.</a:t>
              </a:r>
            </a:p>
          </p:txBody>
        </p:sp>
        <p:sp>
          <p:nvSpPr>
            <p:cNvPr id="55" name="TextBox 55"/>
            <p:cNvSpPr txBox="1"/>
            <p:nvPr/>
          </p:nvSpPr>
          <p:spPr>
            <a:xfrm>
              <a:off x="4564380" y="5610225"/>
              <a:ext cx="33442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Nêu rõ khi nào dùng, khi nào không</a:t>
              </a:r>
            </a:p>
          </p:txBody>
        </p:sp>
      </p:grpSp>
      <p:sp>
        <p:nvSpPr>
          <p:cNvPr id="57" name="TextBox 5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21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9606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Một skill là một file SKILL.md gồm 6 phần:</a:t>
            </a:r>
            <a:br/>
            <a:r>
              <a:rPr lang="vi-VN" sz="3150" b="1" dirty="0">
                <a:solidFill>
                  <a:schemeClr val="accent1"/>
                </a:solidFill>
                <a:latin typeface="+mn-lt"/>
                <a:ea typeface="+mn-ea"/>
                <a:cs typeface="+mn-cs"/>
              </a:rPr>
              <a:t>bước đầu kiểm đầu vào, bước cuối tự rà lại</a:t>
            </a:r>
          </a:p>
        </p:txBody>
      </p:sp>
      <p:grpSp>
        <p:nvGrpSpPr>
          <p:cNvPr id="37" name="Group 37"/>
          <p:cNvGrpSpPr/>
          <p:nvPr/>
        </p:nvGrpSpPr>
        <p:grpSpPr>
          <a:xfrm>
            <a:off x="381000" y="2114550"/>
            <a:ext cx="5334000" cy="3848100"/>
            <a:chOff x="381000" y="2114550"/>
            <a:chExt cx="5334000" cy="3848100"/>
          </a:xfrm>
        </p:grpSpPr>
        <p:sp>
          <p:nvSpPr>
            <p:cNvPr id="17" name="Rectangle 17"/>
            <p:cNvSpPr/>
            <p:nvPr/>
          </p:nvSpPr>
          <p:spPr>
            <a:xfrm>
              <a:off x="381000" y="2114550"/>
              <a:ext cx="5334000" cy="3848100"/>
            </a:xfrm>
            <a:prstGeom prst="roundRect">
              <a:avLst>
                <a:gd name="adj" fmla="val 3960"/>
              </a:avLst>
            </a:prstGeom>
            <a:solidFill>
              <a:schemeClr val="accent1"/>
            </a:solidFill>
            <a:ln>
              <a:noFill/>
            </a:ln>
          </p:spPr>
        </p:sp>
        <p:grpSp>
          <p:nvGrpSpPr>
            <p:cNvPr id="23" name="Group 23"/>
            <p:cNvGrpSpPr/>
            <p:nvPr/>
          </p:nvGrpSpPr>
          <p:grpSpPr>
            <a:xfrm>
              <a:off x="657225" y="2314575"/>
              <a:ext cx="133350" cy="171450"/>
              <a:chOff x="657225" y="2314575"/>
              <a:chExt cx="133350" cy="171450"/>
            </a:xfrm>
          </p:grpSpPr>
          <p:sp>
            <p:nvSpPr>
              <p:cNvPr id="18" name="Freeform 18"/>
              <p:cNvSpPr/>
              <p:nvPr/>
            </p:nvSpPr>
            <p:spPr>
              <a:xfrm>
                <a:off x="742950" y="23145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E3E9F1"/>
                </a:solidFill>
              </a:ln>
            </p:spPr>
          </p:sp>
          <p:sp>
            <p:nvSpPr>
              <p:cNvPr id="19" name="Freeform 19"/>
              <p:cNvSpPr/>
              <p:nvPr/>
            </p:nvSpPr>
            <p:spPr>
              <a:xfrm>
                <a:off x="657225" y="23145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E3E9F1"/>
                </a:solidFill>
              </a:ln>
            </p:spPr>
          </p:sp>
          <p:sp>
            <p:nvSpPr>
              <p:cNvPr id="20" name="Freeform 20"/>
              <p:cNvSpPr/>
              <p:nvPr/>
            </p:nvSpPr>
            <p:spPr>
              <a:xfrm>
                <a:off x="695325" y="2371725"/>
                <a:ext cx="9525" cy="9525"/>
              </a:xfrm>
              <a:custGeom>
                <a:avLst/>
                <a:gdLst/>
                <a:ahLst/>
                <a:cxnLst/>
                <a:rect l="l" t="t" r="r" b="b"/>
                <a:pathLst>
                  <a:path w="9525" h="9525">
                    <a:moveTo>
                      <a:pt x="0" y="0"/>
                    </a:moveTo>
                    <a:lnTo>
                      <a:pt x="9525" y="0"/>
                    </a:lnTo>
                  </a:path>
                </a:pathLst>
              </a:custGeom>
              <a:noFill/>
              <a:ln w="19050">
                <a:solidFill>
                  <a:srgbClr val="E3E9F1"/>
                </a:solidFill>
              </a:ln>
            </p:spPr>
          </p:sp>
          <p:sp>
            <p:nvSpPr>
              <p:cNvPr id="21" name="Freeform 21"/>
              <p:cNvSpPr/>
              <p:nvPr/>
            </p:nvSpPr>
            <p:spPr>
              <a:xfrm>
                <a:off x="695325" y="2409825"/>
                <a:ext cx="57150" cy="9525"/>
              </a:xfrm>
              <a:custGeom>
                <a:avLst/>
                <a:gdLst/>
                <a:ahLst/>
                <a:cxnLst/>
                <a:rect l="l" t="t" r="r" b="b"/>
                <a:pathLst>
                  <a:path w="57150" h="9525">
                    <a:moveTo>
                      <a:pt x="0" y="0"/>
                    </a:moveTo>
                    <a:lnTo>
                      <a:pt x="57150" y="0"/>
                    </a:lnTo>
                  </a:path>
                </a:pathLst>
              </a:custGeom>
              <a:noFill/>
              <a:ln w="19050">
                <a:solidFill>
                  <a:srgbClr val="E3E9F1"/>
                </a:solidFill>
              </a:ln>
            </p:spPr>
          </p:sp>
          <p:sp>
            <p:nvSpPr>
              <p:cNvPr id="22" name="Freeform 22"/>
              <p:cNvSpPr/>
              <p:nvPr/>
            </p:nvSpPr>
            <p:spPr>
              <a:xfrm>
                <a:off x="695325" y="2447925"/>
                <a:ext cx="57150" cy="9525"/>
              </a:xfrm>
              <a:custGeom>
                <a:avLst/>
                <a:gdLst/>
                <a:ahLst/>
                <a:cxnLst/>
                <a:rect l="l" t="t" r="r" b="b"/>
                <a:pathLst>
                  <a:path w="57150" h="9525">
                    <a:moveTo>
                      <a:pt x="0" y="0"/>
                    </a:moveTo>
                    <a:lnTo>
                      <a:pt x="57150" y="0"/>
                    </a:lnTo>
                  </a:path>
                </a:pathLst>
              </a:custGeom>
              <a:noFill/>
              <a:ln w="19050">
                <a:solidFill>
                  <a:srgbClr val="E3E9F1"/>
                </a:solidFill>
              </a:ln>
            </p:spPr>
          </p:sp>
        </p:grpSp>
        <p:sp>
          <p:nvSpPr>
            <p:cNvPr id="24" name="TextBox 24"/>
            <p:cNvSpPr txBox="1"/>
            <p:nvPr/>
          </p:nvSpPr>
          <p:spPr>
            <a:xfrm>
              <a:off x="927354" y="2327910"/>
              <a:ext cx="853410" cy="234696"/>
            </a:xfrm>
            <a:prstGeom prst="rect">
              <a:avLst/>
            </a:prstGeom>
            <a:noFill/>
            <a:ln>
              <a:noFill/>
            </a:ln>
          </p:spPr>
          <p:txBody>
            <a:bodyPr wrap="none" lIns="0" tIns="0" rIns="0" bIns="0" anchor="t" anchorCtr="0">
              <a:spAutoFit/>
            </a:bodyPr>
            <a:lstStyle/>
            <a:p>
              <a:pPr algn="l"/>
              <a:r>
                <a:rPr lang="vi-VN" sz="1200" b="1" spc="75" dirty="0">
                  <a:solidFill>
                    <a:srgbClr val="E3E9F1"/>
                  </a:solidFill>
                  <a:latin typeface="+mn-lt"/>
                  <a:ea typeface="+mn-ea"/>
                  <a:cs typeface="+mn-cs"/>
                </a:rPr>
                <a:t>SKILL.md</a:t>
              </a:r>
            </a:p>
          </p:txBody>
        </p:sp>
        <p:sp>
          <p:nvSpPr>
            <p:cNvPr id="25" name="Line 25"/>
            <p:cNvSpPr/>
            <p:nvPr/>
          </p:nvSpPr>
          <p:spPr>
            <a:xfrm>
              <a:off x="609600" y="2647950"/>
              <a:ext cx="4876800" cy="9525"/>
            </a:xfrm>
            <a:custGeom>
              <a:avLst/>
              <a:gdLst/>
              <a:ahLst/>
              <a:cxnLst/>
              <a:rect l="l" t="t" r="r" b="b"/>
              <a:pathLst>
                <a:path w="4876800" h="9525">
                  <a:moveTo>
                    <a:pt x="0" y="0"/>
                  </a:moveTo>
                  <a:lnTo>
                    <a:pt x="4876800" y="0"/>
                  </a:lnTo>
                </a:path>
              </a:pathLst>
            </a:custGeom>
            <a:noFill/>
            <a:ln w="9525">
              <a:solidFill>
                <a:schemeClr val="accent3"/>
              </a:solidFill>
            </a:ln>
          </p:spPr>
        </p:sp>
        <p:sp>
          <p:nvSpPr>
            <p:cNvPr id="26" name="TextBox 26"/>
            <p:cNvSpPr txBox="1"/>
            <p:nvPr/>
          </p:nvSpPr>
          <p:spPr>
            <a:xfrm>
              <a:off x="601980" y="280987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27" name="TextBox 27"/>
            <p:cNvSpPr txBox="1"/>
            <p:nvPr/>
          </p:nvSpPr>
          <p:spPr>
            <a:xfrm>
              <a:off x="601980" y="3095625"/>
              <a:ext cx="2014347"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name:</a:t>
              </a:r>
              <a:r>
                <a:rPr lang="vi-VN" sz="1500" dirty="0">
                  <a:solidFill>
                    <a:srgbClr val="E3E9F1"/>
                  </a:solidFill>
                  <a:latin typeface="Consolas"/>
                  <a:ea typeface="Consolas"/>
                  <a:cs typeface="Consolas"/>
                </a:rPr>
                <a:t> viet-bai-tpcn</a:t>
              </a:r>
            </a:p>
          </p:txBody>
        </p:sp>
        <p:sp>
          <p:nvSpPr>
            <p:cNvPr id="28" name="TextBox 28"/>
            <p:cNvSpPr txBox="1"/>
            <p:nvPr/>
          </p:nvSpPr>
          <p:spPr>
            <a:xfrm>
              <a:off x="601980" y="3381375"/>
              <a:ext cx="3222796"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description:</a:t>
              </a:r>
              <a:r>
                <a:rPr lang="vi-VN" sz="1500" dirty="0">
                  <a:solidFill>
                    <a:srgbClr val="E3E9F1"/>
                  </a:solidFill>
                  <a:latin typeface="Consolas"/>
                  <a:ea typeface="Consolas"/>
                  <a:cs typeface="Consolas"/>
                </a:rPr>
                <a:t> Viết bài mạng xã hội</a:t>
              </a:r>
            </a:p>
          </p:txBody>
        </p:sp>
        <p:sp>
          <p:nvSpPr>
            <p:cNvPr id="29" name="TextBox 29"/>
            <p:cNvSpPr txBox="1"/>
            <p:nvPr/>
          </p:nvSpPr>
          <p:spPr>
            <a:xfrm>
              <a:off x="811530" y="3667125"/>
              <a:ext cx="290082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cho sản phẩm TPCN… Dùng khi…</a:t>
              </a:r>
            </a:p>
          </p:txBody>
        </p:sp>
        <p:sp>
          <p:nvSpPr>
            <p:cNvPr id="30" name="TextBox 30"/>
            <p:cNvSpPr txBox="1"/>
            <p:nvPr/>
          </p:nvSpPr>
          <p:spPr>
            <a:xfrm>
              <a:off x="811530" y="3952875"/>
              <a:ext cx="158757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Không dùng cho…</a:t>
              </a:r>
            </a:p>
          </p:txBody>
        </p:sp>
        <p:sp>
          <p:nvSpPr>
            <p:cNvPr id="31" name="TextBox 31"/>
            <p:cNvSpPr txBox="1"/>
            <p:nvPr/>
          </p:nvSpPr>
          <p:spPr>
            <a:xfrm>
              <a:off x="601980" y="423862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32" name="TextBox 32"/>
            <p:cNvSpPr txBox="1"/>
            <p:nvPr/>
          </p:nvSpPr>
          <p:spPr>
            <a:xfrm>
              <a:off x="601980" y="4524375"/>
              <a:ext cx="2524187" cy="293370"/>
            </a:xfrm>
            <a:prstGeom prst="rect">
              <a:avLst/>
            </a:prstGeom>
            <a:noFill/>
            <a:ln>
              <a:noFill/>
            </a:ln>
          </p:spPr>
          <p:txBody>
            <a:bodyPr wrap="none" lIns="0" tIns="0" rIns="0" bIns="0" anchor="t" anchorCtr="0">
              <a:spAutoFit/>
            </a:bodyPr>
            <a:lstStyle/>
            <a:p>
              <a:pPr algn="l"/>
              <a:r>
                <a:rPr lang="vi-VN" sz="1500" b="1" dirty="0">
                  <a:solidFill>
                    <a:srgbClr val="E3E9F1"/>
                  </a:solidFill>
                  <a:latin typeface="Consolas"/>
                  <a:ea typeface="Consolas"/>
                  <a:cs typeface="Consolas"/>
                </a:rPr>
                <a:t># Viết bài sản phẩm TPCN</a:t>
              </a:r>
            </a:p>
          </p:txBody>
        </p:sp>
        <p:sp>
          <p:nvSpPr>
            <p:cNvPr id="33" name="TextBox 33"/>
            <p:cNvSpPr txBox="1"/>
            <p:nvPr/>
          </p:nvSpPr>
          <p:spPr>
            <a:xfrm>
              <a:off x="601980" y="4810125"/>
              <a:ext cx="148751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Khi nào dùng</a:t>
              </a:r>
            </a:p>
          </p:txBody>
        </p:sp>
        <p:sp>
          <p:nvSpPr>
            <p:cNvPr id="34" name="TextBox 34"/>
            <p:cNvSpPr txBox="1"/>
            <p:nvPr/>
          </p:nvSpPr>
          <p:spPr>
            <a:xfrm>
              <a:off x="601980" y="5095875"/>
              <a:ext cx="103441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vào</a:t>
              </a:r>
            </a:p>
          </p:txBody>
        </p:sp>
        <p:sp>
          <p:nvSpPr>
            <p:cNvPr id="35" name="TextBox 35"/>
            <p:cNvSpPr txBox="1"/>
            <p:nvPr/>
          </p:nvSpPr>
          <p:spPr>
            <a:xfrm>
              <a:off x="601980" y="5381625"/>
              <a:ext cx="1145014"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Các bước</a:t>
              </a:r>
            </a:p>
          </p:txBody>
        </p:sp>
        <p:sp>
          <p:nvSpPr>
            <p:cNvPr id="36" name="TextBox 36"/>
            <p:cNvSpPr txBox="1"/>
            <p:nvPr/>
          </p:nvSpPr>
          <p:spPr>
            <a:xfrm>
              <a:off x="601980" y="5667375"/>
              <a:ext cx="924001"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ra</a:t>
              </a:r>
            </a:p>
          </p:txBody>
        </p:sp>
      </p:grpSp>
      <p:grpSp>
        <p:nvGrpSpPr>
          <p:cNvPr id="62" name="Group 62"/>
          <p:cNvGrpSpPr/>
          <p:nvPr/>
        </p:nvGrpSpPr>
        <p:grpSpPr>
          <a:xfrm>
            <a:off x="6096000" y="2228850"/>
            <a:ext cx="4574096" cy="3550920"/>
            <a:chOff x="6096000" y="2228850"/>
            <a:chExt cx="4574096" cy="3550920"/>
          </a:xfrm>
        </p:grpSpPr>
        <p:sp>
          <p:nvSpPr>
            <p:cNvPr id="38" name="Ellipse 38"/>
            <p:cNvSpPr/>
            <p:nvPr/>
          </p:nvSpPr>
          <p:spPr>
            <a:xfrm>
              <a:off x="6096000" y="2228850"/>
              <a:ext cx="304800" cy="304800"/>
            </a:xfrm>
            <a:prstGeom prst="ellipse">
              <a:avLst/>
            </a:prstGeom>
            <a:solidFill>
              <a:srgbClr val="2E5E91"/>
            </a:solidFill>
            <a:ln>
              <a:noFill/>
            </a:ln>
          </p:spPr>
        </p:sp>
        <p:sp>
          <p:nvSpPr>
            <p:cNvPr id="39" name="TextBox 39"/>
            <p:cNvSpPr txBox="1"/>
            <p:nvPr/>
          </p:nvSpPr>
          <p:spPr>
            <a:xfrm>
              <a:off x="6182473" y="22860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40" name="TextBox 40"/>
            <p:cNvSpPr txBox="1"/>
            <p:nvPr/>
          </p:nvSpPr>
          <p:spPr>
            <a:xfrm>
              <a:off x="6544818" y="2269808"/>
              <a:ext cx="4088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Tên</a:t>
              </a:r>
            </a:p>
          </p:txBody>
        </p:sp>
        <p:sp>
          <p:nvSpPr>
            <p:cNvPr id="41" name="TextBox 41"/>
            <p:cNvSpPr txBox="1"/>
            <p:nvPr/>
          </p:nvSpPr>
          <p:spPr>
            <a:xfrm>
              <a:off x="6545580" y="2533650"/>
              <a:ext cx="3831717"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viết thường, không dấu, nối gạch ngang</a:t>
              </a:r>
            </a:p>
          </p:txBody>
        </p:sp>
        <p:sp>
          <p:nvSpPr>
            <p:cNvPr id="42" name="Ellipse 42"/>
            <p:cNvSpPr/>
            <p:nvPr/>
          </p:nvSpPr>
          <p:spPr>
            <a:xfrm>
              <a:off x="6096000" y="2819400"/>
              <a:ext cx="304800" cy="304800"/>
            </a:xfrm>
            <a:prstGeom prst="ellipse">
              <a:avLst/>
            </a:prstGeom>
            <a:solidFill>
              <a:srgbClr val="2E5E91"/>
            </a:solidFill>
            <a:ln>
              <a:noFill/>
            </a:ln>
          </p:spPr>
        </p:sp>
        <p:sp>
          <p:nvSpPr>
            <p:cNvPr id="43" name="TextBox 43"/>
            <p:cNvSpPr txBox="1"/>
            <p:nvPr/>
          </p:nvSpPr>
          <p:spPr>
            <a:xfrm>
              <a:off x="6182473" y="2876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4" name="TextBox 44"/>
            <p:cNvSpPr txBox="1"/>
            <p:nvPr/>
          </p:nvSpPr>
          <p:spPr>
            <a:xfrm>
              <a:off x="6544818" y="2860358"/>
              <a:ext cx="65539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Mô tả</a:t>
              </a:r>
            </a:p>
          </p:txBody>
        </p:sp>
        <p:sp>
          <p:nvSpPr>
            <p:cNvPr id="45" name="TextBox 45"/>
            <p:cNvSpPr txBox="1"/>
            <p:nvPr/>
          </p:nvSpPr>
          <p:spPr>
            <a:xfrm>
              <a:off x="6545580" y="3124200"/>
              <a:ext cx="782574"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một câu</a:t>
              </a:r>
            </a:p>
          </p:txBody>
        </p:sp>
        <p:sp>
          <p:nvSpPr>
            <p:cNvPr id="46" name="Ellipse 46"/>
            <p:cNvSpPr/>
            <p:nvPr/>
          </p:nvSpPr>
          <p:spPr>
            <a:xfrm>
              <a:off x="6096000" y="3409950"/>
              <a:ext cx="304800" cy="304800"/>
            </a:xfrm>
            <a:prstGeom prst="ellipse">
              <a:avLst/>
            </a:prstGeom>
            <a:solidFill>
              <a:srgbClr val="2E5E91"/>
            </a:solidFill>
            <a:ln>
              <a:noFill/>
            </a:ln>
          </p:spPr>
        </p:sp>
        <p:sp>
          <p:nvSpPr>
            <p:cNvPr id="47" name="TextBox 47"/>
            <p:cNvSpPr txBox="1"/>
            <p:nvPr/>
          </p:nvSpPr>
          <p:spPr>
            <a:xfrm>
              <a:off x="6182473" y="34671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8" name="TextBox 48"/>
            <p:cNvSpPr txBox="1"/>
            <p:nvPr/>
          </p:nvSpPr>
          <p:spPr>
            <a:xfrm>
              <a:off x="6544818" y="3450908"/>
              <a:ext cx="13888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Khi nào dùng</a:t>
              </a:r>
            </a:p>
          </p:txBody>
        </p:sp>
        <p:sp>
          <p:nvSpPr>
            <p:cNvPr id="49" name="TextBox 49"/>
            <p:cNvSpPr txBox="1"/>
            <p:nvPr/>
          </p:nvSpPr>
          <p:spPr>
            <a:xfrm>
              <a:off x="6545580" y="3714750"/>
              <a:ext cx="3670173"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 3 tình huống, và khi nào không dùng</a:t>
              </a:r>
            </a:p>
          </p:txBody>
        </p:sp>
        <p:sp>
          <p:nvSpPr>
            <p:cNvPr id="50" name="Ellipse 50"/>
            <p:cNvSpPr/>
            <p:nvPr/>
          </p:nvSpPr>
          <p:spPr>
            <a:xfrm>
              <a:off x="6096000" y="4000500"/>
              <a:ext cx="304800" cy="304800"/>
            </a:xfrm>
            <a:prstGeom prst="ellipse">
              <a:avLst/>
            </a:prstGeom>
            <a:solidFill>
              <a:srgbClr val="2E5E91"/>
            </a:solidFill>
            <a:ln>
              <a:noFill/>
            </a:ln>
          </p:spPr>
        </p:sp>
        <p:sp>
          <p:nvSpPr>
            <p:cNvPr id="51" name="TextBox 51"/>
            <p:cNvSpPr txBox="1"/>
            <p:nvPr/>
          </p:nvSpPr>
          <p:spPr>
            <a:xfrm>
              <a:off x="6182473" y="40576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52" name="TextBox 52"/>
            <p:cNvSpPr txBox="1"/>
            <p:nvPr/>
          </p:nvSpPr>
          <p:spPr>
            <a:xfrm>
              <a:off x="6544818" y="4041458"/>
              <a:ext cx="86431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vào</a:t>
              </a:r>
            </a:p>
          </p:txBody>
        </p:sp>
        <p:sp>
          <p:nvSpPr>
            <p:cNvPr id="53" name="TextBox 53"/>
            <p:cNvSpPr txBox="1"/>
            <p:nvPr/>
          </p:nvSpPr>
          <p:spPr>
            <a:xfrm>
              <a:off x="6545580" y="4305300"/>
              <a:ext cx="329660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mục bắt buộc và mục “có thì tốt”</a:t>
              </a:r>
            </a:p>
          </p:txBody>
        </p:sp>
        <p:sp>
          <p:nvSpPr>
            <p:cNvPr id="54" name="Ellipse 54"/>
            <p:cNvSpPr/>
            <p:nvPr/>
          </p:nvSpPr>
          <p:spPr>
            <a:xfrm>
              <a:off x="6096000" y="4591050"/>
              <a:ext cx="304800" cy="304800"/>
            </a:xfrm>
            <a:prstGeom prst="ellipse">
              <a:avLst/>
            </a:prstGeom>
            <a:solidFill>
              <a:schemeClr val="accent2"/>
            </a:solidFill>
            <a:ln>
              <a:noFill/>
            </a:ln>
          </p:spPr>
        </p:sp>
        <p:sp>
          <p:nvSpPr>
            <p:cNvPr id="55" name="TextBox 55"/>
            <p:cNvSpPr txBox="1"/>
            <p:nvPr/>
          </p:nvSpPr>
          <p:spPr>
            <a:xfrm>
              <a:off x="6182473" y="4648200"/>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5</a:t>
              </a:r>
            </a:p>
          </p:txBody>
        </p:sp>
        <p:sp>
          <p:nvSpPr>
            <p:cNvPr id="56" name="TextBox 56"/>
            <p:cNvSpPr txBox="1"/>
            <p:nvPr/>
          </p:nvSpPr>
          <p:spPr>
            <a:xfrm>
              <a:off x="6544818" y="4632008"/>
              <a:ext cx="9924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Các bước</a:t>
              </a:r>
            </a:p>
          </p:txBody>
        </p:sp>
        <p:sp>
          <p:nvSpPr>
            <p:cNvPr id="57" name="TextBox 57"/>
            <p:cNvSpPr txBox="1"/>
            <p:nvPr/>
          </p:nvSpPr>
          <p:spPr>
            <a:xfrm>
              <a:off x="6545580" y="4895850"/>
              <a:ext cx="412451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bước 1 kiểm đủ đầu vào; bước cuối tự rà lại</a:t>
              </a:r>
            </a:p>
          </p:txBody>
        </p:sp>
        <p:sp>
          <p:nvSpPr>
            <p:cNvPr id="58" name="Ellipse 58"/>
            <p:cNvSpPr/>
            <p:nvPr/>
          </p:nvSpPr>
          <p:spPr>
            <a:xfrm>
              <a:off x="6096000" y="5181600"/>
              <a:ext cx="304800" cy="304800"/>
            </a:xfrm>
            <a:prstGeom prst="ellipse">
              <a:avLst/>
            </a:prstGeom>
            <a:solidFill>
              <a:srgbClr val="2E5E91"/>
            </a:solidFill>
            <a:ln>
              <a:noFill/>
            </a:ln>
          </p:spPr>
        </p:sp>
        <p:sp>
          <p:nvSpPr>
            <p:cNvPr id="59" name="TextBox 59"/>
            <p:cNvSpPr txBox="1"/>
            <p:nvPr/>
          </p:nvSpPr>
          <p:spPr>
            <a:xfrm>
              <a:off x="6182473" y="52387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6</a:t>
              </a:r>
            </a:p>
          </p:txBody>
        </p:sp>
        <p:sp>
          <p:nvSpPr>
            <p:cNvPr id="60" name="TextBox 60"/>
            <p:cNvSpPr txBox="1"/>
            <p:nvPr/>
          </p:nvSpPr>
          <p:spPr>
            <a:xfrm>
              <a:off x="6544818" y="5222558"/>
              <a:ext cx="73616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ra</a:t>
              </a:r>
            </a:p>
          </p:txBody>
        </p:sp>
        <p:sp>
          <p:nvSpPr>
            <p:cNvPr id="61" name="TextBox 61"/>
            <p:cNvSpPr txBox="1"/>
            <p:nvPr/>
          </p:nvSpPr>
          <p:spPr>
            <a:xfrm>
              <a:off x="6545580" y="5486400"/>
              <a:ext cx="3246120"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kèm một ví dụ mẫu đã điền số liệu</a:t>
              </a:r>
            </a:p>
          </p:txBody>
        </p:sp>
      </p:grpSp>
      <p:sp>
        <p:nvSpPr>
          <p:cNvPr id="63" name="TextBox 6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4" name="TextBox 6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0502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Làm tay 5 lượt rồi đóng gói: mỗi lần phải dặn thêm</a:t>
            </a:r>
            <a:br/>
            <a:r>
              <a:rPr lang="vi-VN" sz="3150" b="1" dirty="0">
                <a:solidFill>
                  <a:schemeClr val="accent1"/>
                </a:solidFill>
                <a:latin typeface="+mn-lt"/>
                <a:ea typeface="+mn-ea"/>
                <a:cs typeface="+mn-cs"/>
              </a:rPr>
              <a:t>chính là một mục của skill</a:t>
            </a:r>
          </a:p>
        </p:txBody>
      </p:sp>
      <p:grpSp>
        <p:nvGrpSpPr>
          <p:cNvPr id="22" name="Group 22"/>
          <p:cNvGrpSpPr/>
          <p:nvPr/>
        </p:nvGrpSpPr>
        <p:grpSpPr>
          <a:xfrm>
            <a:off x="381000" y="2114550"/>
            <a:ext cx="10483406" cy="495300"/>
            <a:chOff x="381000" y="2114550"/>
            <a:chExt cx="10483406" cy="495300"/>
          </a:xfrm>
        </p:grpSpPr>
        <p:sp>
          <p:nvSpPr>
            <p:cNvPr id="17" name="Rectangle 17"/>
            <p:cNvSpPr/>
            <p:nvPr/>
          </p:nvSpPr>
          <p:spPr>
            <a:xfrm>
              <a:off x="381000" y="2114550"/>
              <a:ext cx="6286500" cy="495300"/>
            </a:xfrm>
            <a:prstGeom prst="roundRect">
              <a:avLst>
                <a:gd name="adj" fmla="val 50000"/>
              </a:avLst>
            </a:prstGeom>
            <a:solidFill>
              <a:schemeClr val="lt2"/>
            </a:solidFill>
            <a:ln>
              <a:noFill/>
            </a:ln>
          </p:spPr>
        </p:sp>
        <p:sp>
          <p:nvSpPr>
            <p:cNvPr id="18" name="TextBox 18"/>
            <p:cNvSpPr txBox="1"/>
            <p:nvPr/>
          </p:nvSpPr>
          <p:spPr>
            <a:xfrm>
              <a:off x="602742" y="22831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1</a:t>
              </a:r>
            </a:p>
          </p:txBody>
        </p:sp>
        <p:sp>
          <p:nvSpPr>
            <p:cNvPr id="19" name="TextBox 19"/>
            <p:cNvSpPr txBox="1"/>
            <p:nvPr/>
          </p:nvSpPr>
          <p:spPr>
            <a:xfrm>
              <a:off x="1325880" y="2266950"/>
              <a:ext cx="2950431"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“Tóm tắt giúp tôi tài liệu này”</a:t>
              </a:r>
            </a:p>
          </p:txBody>
        </p:sp>
        <p:sp>
          <p:nvSpPr>
            <p:cNvPr id="20" name="Line 20"/>
            <p:cNvSpPr/>
            <p:nvPr/>
          </p:nvSpPr>
          <p:spPr>
            <a:xfrm>
              <a:off x="6781800" y="2362200"/>
              <a:ext cx="457200" cy="1"/>
            </a:xfrm>
            <a:prstGeom prst="line">
              <a:avLst/>
            </a:prstGeom>
            <a:noFill/>
            <a:ln w="19050">
              <a:solidFill>
                <a:srgbClr val="5B6675"/>
              </a:solidFill>
              <a:tailEnd type="triangle" w="lg" len="lg"/>
            </a:ln>
          </p:spPr>
        </p:sp>
        <p:sp>
          <p:nvSpPr>
            <p:cNvPr id="21" name="TextBox 21"/>
            <p:cNvSpPr txBox="1"/>
            <p:nvPr/>
          </p:nvSpPr>
          <p:spPr>
            <a:xfrm>
              <a:off x="7345680" y="2266950"/>
              <a:ext cx="3518726"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kết quả chung chung → lý do cần skill</a:t>
              </a:r>
            </a:p>
          </p:txBody>
        </p:sp>
      </p:grpSp>
      <p:grpSp>
        <p:nvGrpSpPr>
          <p:cNvPr id="29" name="Group 29"/>
          <p:cNvGrpSpPr/>
          <p:nvPr/>
        </p:nvGrpSpPr>
        <p:grpSpPr>
          <a:xfrm>
            <a:off x="381000" y="2705100"/>
            <a:ext cx="11430000" cy="495300"/>
            <a:chOff x="381000" y="2705100"/>
            <a:chExt cx="11430000" cy="495300"/>
          </a:xfrm>
        </p:grpSpPr>
        <p:sp>
          <p:nvSpPr>
            <p:cNvPr id="23" name="Rectangle 23"/>
            <p:cNvSpPr/>
            <p:nvPr/>
          </p:nvSpPr>
          <p:spPr>
            <a:xfrm>
              <a:off x="381000" y="2705100"/>
              <a:ext cx="6286500" cy="495300"/>
            </a:xfrm>
            <a:prstGeom prst="roundRect">
              <a:avLst>
                <a:gd name="adj" fmla="val 50000"/>
              </a:avLst>
            </a:prstGeom>
            <a:solidFill>
              <a:schemeClr val="lt2"/>
            </a:solidFill>
            <a:ln>
              <a:noFill/>
            </a:ln>
          </p:spPr>
        </p:sp>
        <p:sp>
          <p:nvSpPr>
            <p:cNvPr id="24" name="TextBox 24"/>
            <p:cNvSpPr txBox="1"/>
            <p:nvPr/>
          </p:nvSpPr>
          <p:spPr>
            <a:xfrm>
              <a:off x="602742" y="28736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2</a:t>
              </a:r>
            </a:p>
          </p:txBody>
        </p:sp>
        <p:sp>
          <p:nvSpPr>
            <p:cNvPr id="25" name="TextBox 25"/>
            <p:cNvSpPr txBox="1"/>
            <p:nvPr/>
          </p:nvSpPr>
          <p:spPr>
            <a:xfrm>
              <a:off x="1325880" y="2857500"/>
              <a:ext cx="3576393"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“Liệt kê theo từng phần của tài liệu”</a:t>
              </a:r>
            </a:p>
          </p:txBody>
        </p:sp>
        <p:sp>
          <p:nvSpPr>
            <p:cNvPr id="26" name="Line 26"/>
            <p:cNvSpPr/>
            <p:nvPr/>
          </p:nvSpPr>
          <p:spPr>
            <a:xfrm>
              <a:off x="6781800" y="2952750"/>
              <a:ext cx="457200" cy="1"/>
            </a:xfrm>
            <a:prstGeom prst="line">
              <a:avLst/>
            </a:prstGeom>
            <a:noFill/>
            <a:ln w="19050">
              <a:solidFill>
                <a:srgbClr val="5B6675"/>
              </a:solidFill>
              <a:tailEnd type="triangle" w="lg" len="lg"/>
            </a:ln>
          </p:spPr>
        </p:sp>
        <p:sp>
          <p:nvSpPr>
            <p:cNvPr id="27" name="Rectangle 27"/>
            <p:cNvSpPr/>
            <p:nvPr/>
          </p:nvSpPr>
          <p:spPr>
            <a:xfrm>
              <a:off x="7353300" y="2724150"/>
              <a:ext cx="4457700" cy="457200"/>
            </a:xfrm>
            <a:prstGeom prst="roundRect">
              <a:avLst>
                <a:gd name="adj" fmla="val 25000"/>
              </a:avLst>
            </a:prstGeom>
            <a:solidFill>
              <a:srgbClr val="2E5E91"/>
            </a:solidFill>
            <a:ln>
              <a:noFill/>
            </a:ln>
          </p:spPr>
        </p:sp>
        <p:sp>
          <p:nvSpPr>
            <p:cNvPr id="28" name="TextBox 28"/>
            <p:cNvSpPr txBox="1"/>
            <p:nvPr/>
          </p:nvSpPr>
          <p:spPr>
            <a:xfrm>
              <a:off x="7536942" y="2864168"/>
              <a:ext cx="1535986"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Ý CHÍNH CHI TIẾT</a:t>
              </a:r>
            </a:p>
          </p:txBody>
        </p:sp>
      </p:grpSp>
      <p:grpSp>
        <p:nvGrpSpPr>
          <p:cNvPr id="36" name="Group 36"/>
          <p:cNvGrpSpPr/>
          <p:nvPr/>
        </p:nvGrpSpPr>
        <p:grpSpPr>
          <a:xfrm>
            <a:off x="381000" y="3295650"/>
            <a:ext cx="11430000" cy="495300"/>
            <a:chOff x="381000" y="3295650"/>
            <a:chExt cx="11430000" cy="495300"/>
          </a:xfrm>
        </p:grpSpPr>
        <p:sp>
          <p:nvSpPr>
            <p:cNvPr id="30" name="Rectangle 30"/>
            <p:cNvSpPr/>
            <p:nvPr/>
          </p:nvSpPr>
          <p:spPr>
            <a:xfrm>
              <a:off x="381000" y="3295650"/>
              <a:ext cx="6286500" cy="495300"/>
            </a:xfrm>
            <a:prstGeom prst="roundRect">
              <a:avLst>
                <a:gd name="adj" fmla="val 50000"/>
              </a:avLst>
            </a:prstGeom>
            <a:solidFill>
              <a:schemeClr val="lt2"/>
            </a:solidFill>
            <a:ln>
              <a:noFill/>
            </a:ln>
          </p:spPr>
        </p:sp>
        <p:sp>
          <p:nvSpPr>
            <p:cNvPr id="31" name="TextBox 31"/>
            <p:cNvSpPr txBox="1"/>
            <p:nvPr/>
          </p:nvSpPr>
          <p:spPr>
            <a:xfrm>
              <a:off x="602742" y="34642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3</a:t>
              </a:r>
            </a:p>
          </p:txBody>
        </p:sp>
        <p:sp>
          <p:nvSpPr>
            <p:cNvPr id="32" name="TextBox 32"/>
            <p:cNvSpPr txBox="1"/>
            <p:nvPr/>
          </p:nvSpPr>
          <p:spPr>
            <a:xfrm>
              <a:off x="1325880" y="3448050"/>
              <a:ext cx="4031654"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“Bóc mọi con số, mốc thời gian, cam kết”</a:t>
              </a:r>
            </a:p>
          </p:txBody>
        </p:sp>
        <p:sp>
          <p:nvSpPr>
            <p:cNvPr id="33" name="Line 33"/>
            <p:cNvSpPr/>
            <p:nvPr/>
          </p:nvSpPr>
          <p:spPr>
            <a:xfrm>
              <a:off x="6781800" y="3543300"/>
              <a:ext cx="457200" cy="1"/>
            </a:xfrm>
            <a:prstGeom prst="line">
              <a:avLst/>
            </a:prstGeom>
            <a:noFill/>
            <a:ln w="19050">
              <a:solidFill>
                <a:srgbClr val="5B6675"/>
              </a:solidFill>
              <a:tailEnd type="triangle" w="lg" len="lg"/>
            </a:ln>
          </p:spPr>
        </p:sp>
        <p:sp>
          <p:nvSpPr>
            <p:cNvPr id="34" name="Rectangle 34"/>
            <p:cNvSpPr/>
            <p:nvPr/>
          </p:nvSpPr>
          <p:spPr>
            <a:xfrm>
              <a:off x="7353300" y="3314700"/>
              <a:ext cx="4457700" cy="457200"/>
            </a:xfrm>
            <a:prstGeom prst="roundRect">
              <a:avLst>
                <a:gd name="adj" fmla="val 25000"/>
              </a:avLst>
            </a:prstGeom>
            <a:solidFill>
              <a:srgbClr val="2E5E91"/>
            </a:solidFill>
            <a:ln>
              <a:noFill/>
            </a:ln>
          </p:spPr>
        </p:sp>
        <p:sp>
          <p:nvSpPr>
            <p:cNvPr id="35" name="TextBox 35"/>
            <p:cNvSpPr txBox="1"/>
            <p:nvPr/>
          </p:nvSpPr>
          <p:spPr>
            <a:xfrm>
              <a:off x="7536942" y="3454718"/>
              <a:ext cx="2927200"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SỐ LIỆU, NGÀY THÁNG, HẠN CHÓT</a:t>
              </a:r>
            </a:p>
          </p:txBody>
        </p:sp>
      </p:grpSp>
      <p:grpSp>
        <p:nvGrpSpPr>
          <p:cNvPr id="43" name="Group 43"/>
          <p:cNvGrpSpPr/>
          <p:nvPr/>
        </p:nvGrpSpPr>
        <p:grpSpPr>
          <a:xfrm>
            <a:off x="381000" y="3886200"/>
            <a:ext cx="11430000" cy="495300"/>
            <a:chOff x="381000" y="3886200"/>
            <a:chExt cx="11430000" cy="495300"/>
          </a:xfrm>
        </p:grpSpPr>
        <p:sp>
          <p:nvSpPr>
            <p:cNvPr id="37" name="Rectangle 37"/>
            <p:cNvSpPr/>
            <p:nvPr/>
          </p:nvSpPr>
          <p:spPr>
            <a:xfrm>
              <a:off x="381000" y="3886200"/>
              <a:ext cx="6286500" cy="495300"/>
            </a:xfrm>
            <a:prstGeom prst="roundRect">
              <a:avLst>
                <a:gd name="adj" fmla="val 50000"/>
              </a:avLst>
            </a:prstGeom>
            <a:solidFill>
              <a:schemeClr val="lt2"/>
            </a:solidFill>
            <a:ln>
              <a:noFill/>
            </a:ln>
          </p:spPr>
        </p:sp>
        <p:sp>
          <p:nvSpPr>
            <p:cNvPr id="38" name="TextBox 38"/>
            <p:cNvSpPr txBox="1"/>
            <p:nvPr/>
          </p:nvSpPr>
          <p:spPr>
            <a:xfrm>
              <a:off x="602742" y="40547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4</a:t>
              </a:r>
            </a:p>
          </p:txBody>
        </p:sp>
        <p:sp>
          <p:nvSpPr>
            <p:cNvPr id="39" name="TextBox 39"/>
            <p:cNvSpPr txBox="1"/>
            <p:nvPr/>
          </p:nvSpPr>
          <p:spPr>
            <a:xfrm>
              <a:off x="1325880" y="4038600"/>
              <a:ext cx="5293262"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“Có câu nào vượt ranh giới pháp lý, mâu thuẫn không?”</a:t>
              </a:r>
            </a:p>
          </p:txBody>
        </p:sp>
        <p:sp>
          <p:nvSpPr>
            <p:cNvPr id="40" name="Line 40"/>
            <p:cNvSpPr/>
            <p:nvPr/>
          </p:nvSpPr>
          <p:spPr>
            <a:xfrm>
              <a:off x="6781800" y="4133850"/>
              <a:ext cx="457200" cy="1"/>
            </a:xfrm>
            <a:prstGeom prst="line">
              <a:avLst/>
            </a:prstGeom>
            <a:noFill/>
            <a:ln w="19050">
              <a:solidFill>
                <a:srgbClr val="5B6675"/>
              </a:solidFill>
              <a:tailEnd type="triangle" w="lg" len="lg"/>
            </a:ln>
          </p:spPr>
        </p:sp>
        <p:sp>
          <p:nvSpPr>
            <p:cNvPr id="41" name="Rectangle 41"/>
            <p:cNvSpPr/>
            <p:nvPr/>
          </p:nvSpPr>
          <p:spPr>
            <a:xfrm>
              <a:off x="7353300" y="3905250"/>
              <a:ext cx="4457700" cy="457200"/>
            </a:xfrm>
            <a:prstGeom prst="roundRect">
              <a:avLst>
                <a:gd name="adj" fmla="val 25000"/>
              </a:avLst>
            </a:prstGeom>
            <a:solidFill>
              <a:srgbClr val="2E5E91"/>
            </a:solidFill>
            <a:ln>
              <a:noFill/>
            </a:ln>
          </p:spPr>
        </p:sp>
        <p:sp>
          <p:nvSpPr>
            <p:cNvPr id="42" name="TextBox 42"/>
            <p:cNvSpPr txBox="1"/>
            <p:nvPr/>
          </p:nvSpPr>
          <p:spPr>
            <a:xfrm>
              <a:off x="7536942" y="4045268"/>
              <a:ext cx="2241674"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ĐIỂM CẦN LƯU Ý / RỦI RO</a:t>
              </a:r>
            </a:p>
          </p:txBody>
        </p:sp>
      </p:grpSp>
      <p:grpSp>
        <p:nvGrpSpPr>
          <p:cNvPr id="50" name="Group 50"/>
          <p:cNvGrpSpPr/>
          <p:nvPr/>
        </p:nvGrpSpPr>
        <p:grpSpPr>
          <a:xfrm>
            <a:off x="381000" y="4476750"/>
            <a:ext cx="11430000" cy="495300"/>
            <a:chOff x="381000" y="4476750"/>
            <a:chExt cx="11430000" cy="495300"/>
          </a:xfrm>
        </p:grpSpPr>
        <p:sp>
          <p:nvSpPr>
            <p:cNvPr id="44" name="Rectangle 44"/>
            <p:cNvSpPr/>
            <p:nvPr/>
          </p:nvSpPr>
          <p:spPr>
            <a:xfrm>
              <a:off x="381000" y="4476750"/>
              <a:ext cx="6286500" cy="495300"/>
            </a:xfrm>
            <a:prstGeom prst="roundRect">
              <a:avLst>
                <a:gd name="adj" fmla="val 50000"/>
              </a:avLst>
            </a:prstGeom>
            <a:solidFill>
              <a:schemeClr val="lt2"/>
            </a:solidFill>
            <a:ln>
              <a:noFill/>
            </a:ln>
          </p:spPr>
        </p:sp>
        <p:sp>
          <p:nvSpPr>
            <p:cNvPr id="45" name="TextBox 45"/>
            <p:cNvSpPr txBox="1"/>
            <p:nvPr/>
          </p:nvSpPr>
          <p:spPr>
            <a:xfrm>
              <a:off x="602742" y="46453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5</a:t>
              </a:r>
            </a:p>
          </p:txBody>
        </p:sp>
        <p:sp>
          <p:nvSpPr>
            <p:cNvPr id="46" name="TextBox 46"/>
            <p:cNvSpPr txBox="1"/>
            <p:nvPr/>
          </p:nvSpPr>
          <p:spPr>
            <a:xfrm>
              <a:off x="1325880" y="4629150"/>
              <a:ext cx="3970706"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“Chỗ nào bạn tự đoán? Rút 3–5 ý gửi sếp”</a:t>
              </a:r>
            </a:p>
          </p:txBody>
        </p:sp>
        <p:sp>
          <p:nvSpPr>
            <p:cNvPr id="47" name="Line 47"/>
            <p:cNvSpPr/>
            <p:nvPr/>
          </p:nvSpPr>
          <p:spPr>
            <a:xfrm>
              <a:off x="6781800" y="4724400"/>
              <a:ext cx="457200" cy="1"/>
            </a:xfrm>
            <a:prstGeom prst="line">
              <a:avLst/>
            </a:prstGeom>
            <a:noFill/>
            <a:ln w="19050">
              <a:solidFill>
                <a:srgbClr val="5B6675"/>
              </a:solidFill>
              <a:tailEnd type="triangle" w="lg" len="lg"/>
            </a:ln>
          </p:spPr>
        </p:sp>
        <p:sp>
          <p:nvSpPr>
            <p:cNvPr id="48" name="Rectangle 48"/>
            <p:cNvSpPr/>
            <p:nvPr/>
          </p:nvSpPr>
          <p:spPr>
            <a:xfrm>
              <a:off x="7353300" y="4495800"/>
              <a:ext cx="4457700" cy="457200"/>
            </a:xfrm>
            <a:prstGeom prst="roundRect">
              <a:avLst>
                <a:gd name="adj" fmla="val 25000"/>
              </a:avLst>
            </a:prstGeom>
            <a:solidFill>
              <a:srgbClr val="2E5E91"/>
            </a:solidFill>
            <a:ln>
              <a:noFill/>
            </a:ln>
          </p:spPr>
        </p:sp>
        <p:sp>
          <p:nvSpPr>
            <p:cNvPr id="49" name="TextBox 49"/>
            <p:cNvSpPr txBox="1"/>
            <p:nvPr/>
          </p:nvSpPr>
          <p:spPr>
            <a:xfrm>
              <a:off x="7536942" y="4635818"/>
              <a:ext cx="3401019"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QUY TẮC CHỐNG BỊA + TÓM TẮT NHANH</a:t>
              </a:r>
            </a:p>
          </p:txBody>
        </p:sp>
      </p:grpSp>
      <p:grpSp>
        <p:nvGrpSpPr>
          <p:cNvPr id="55" name="Group 55"/>
          <p:cNvGrpSpPr/>
          <p:nvPr/>
        </p:nvGrpSpPr>
        <p:grpSpPr>
          <a:xfrm>
            <a:off x="381000" y="5200650"/>
            <a:ext cx="11430000" cy="952500"/>
            <a:chOff x="381000" y="5200650"/>
            <a:chExt cx="11430000" cy="952500"/>
          </a:xfrm>
        </p:grpSpPr>
        <p:sp>
          <p:nvSpPr>
            <p:cNvPr id="51" name="Rectangle 51"/>
            <p:cNvSpPr/>
            <p:nvPr/>
          </p:nvSpPr>
          <p:spPr>
            <a:xfrm>
              <a:off x="381000" y="5200650"/>
              <a:ext cx="11430000" cy="952500"/>
            </a:xfrm>
            <a:prstGeom prst="roundRect">
              <a:avLst>
                <a:gd name="adj" fmla="val 16000"/>
              </a:avLst>
            </a:prstGeom>
            <a:solidFill>
              <a:srgbClr val="FCEBDD"/>
            </a:solidFill>
            <a:ln>
              <a:noFill/>
            </a:ln>
          </p:spPr>
        </p:sp>
        <p:sp>
          <p:nvSpPr>
            <p:cNvPr id="52" name="Freeform 52"/>
            <p:cNvSpPr/>
            <p:nvPr/>
          </p:nvSpPr>
          <p:spPr>
            <a:xfrm>
              <a:off x="676275" y="5391150"/>
              <a:ext cx="123825" cy="152400"/>
            </a:xfrm>
            <a:custGeom>
              <a:avLst/>
              <a:gdLst/>
              <a:ahLst/>
              <a:cxnLst/>
              <a:rect l="l" t="t" r="r" b="b"/>
              <a:pathLst>
                <a:path w="123825" h="152400">
                  <a:moveTo>
                    <a:pt x="0" y="0"/>
                  </a:moveTo>
                  <a:lnTo>
                    <a:pt x="0" y="152400"/>
                  </a:lnTo>
                  <a:lnTo>
                    <a:pt x="123825" y="76200"/>
                  </a:lnTo>
                  <a:lnTo>
                    <a:pt x="0" y="0"/>
                  </a:lnTo>
                </a:path>
              </a:pathLst>
            </a:custGeom>
            <a:noFill/>
            <a:ln w="19050">
              <a:solidFill>
                <a:schemeClr val="accent1"/>
              </a:solidFill>
            </a:ln>
          </p:spPr>
        </p:sp>
        <p:sp>
          <p:nvSpPr>
            <p:cNvPr id="53" name="TextBox 53"/>
            <p:cNvSpPr txBox="1"/>
            <p:nvPr/>
          </p:nvSpPr>
          <p:spPr>
            <a:xfrm>
              <a:off x="927354" y="5394960"/>
              <a:ext cx="480596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DEMO TRÊN TÀI LIỆU CH ALPHA PLUS CỦA WIR</a:t>
              </a:r>
            </a:p>
          </p:txBody>
        </p:sp>
        <p:sp>
          <p:nvSpPr>
            <p:cNvPr id="54" name="TextBox 54"/>
            <p:cNvSpPr txBox="1"/>
            <p:nvPr/>
          </p:nvSpPr>
          <p:spPr>
            <a:xfrm>
              <a:off x="601218" y="5727382"/>
              <a:ext cx="943813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ChatGPT bắt được cụm </a:t>
              </a:r>
              <a:r>
                <a:rPr lang="vi-VN" sz="1650" b="1" dirty="0">
                  <a:solidFill>
                    <a:srgbClr val="C0392B"/>
                  </a:solidFill>
                  <a:latin typeface="+mn-lt"/>
                  <a:ea typeface="+mn-ea"/>
                  <a:cs typeface="+mn-cs"/>
                </a:rPr>
                <a:t>“điều trị thoái hóa sụn khớp”</a:t>
              </a:r>
              <a:r>
                <a:rPr lang="vi-VN" sz="1650" dirty="0">
                  <a:solidFill>
                    <a:schemeClr val="dk1"/>
                  </a:solidFill>
                  <a:latin typeface="+mn-lt"/>
                  <a:ea typeface="+mn-ea"/>
                  <a:cs typeface="+mn-cs"/>
                </a:rPr>
                <a:t> — TPCN không được nói “điều trị”.</a:t>
              </a:r>
            </a:p>
          </p:txBody>
        </p:sp>
      </p:grpSp>
      <p:sp>
        <p:nvSpPr>
          <p:cNvPr id="56" name="TextBox 5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7" name="TextBox 57"/>
          <p:cNvSpPr txBox="1"/>
          <p:nvPr/>
        </p:nvSpPr>
        <p:spPr>
          <a:xfrm>
            <a:off x="7057034" y="6554152"/>
            <a:ext cx="409255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Nguồn: dữ liệu sản phẩm Wir — bộ “từ cấm” theo tầng pháp lý</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3"/>
                                        </p:tgtEl>
                                        <p:attrNameLst>
                                          <p:attrName>style.visibility</p:attrName>
                                        </p:attrNameLst>
                                      </p:cBhvr>
                                      <p:to>
                                        <p:strVal val="visible"/>
                                      </p:to>
                                    </p:set>
                                    <p:animEffect transition="in" filter="fade">
                                      <p:cBhvr>
                                        <p:cTn id="22" dur="400"/>
                                        <p:tgtEl>
                                          <p:spTgt spid="4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400"/>
                                        <p:tgtEl>
                                          <p:spTgt spid="5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fade">
                                      <p:cBhvr>
                                        <p:cTn id="32"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7142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Sai thì sửa skill, không sửa tay kết quả;</a:t>
            </a:r>
            <a:br/>
            <a:r>
              <a:rPr lang="vi-VN" sz="3150" b="1" dirty="0">
                <a:solidFill>
                  <a:schemeClr val="accent1"/>
                </a:solidFill>
                <a:latin typeface="+mn-lt"/>
                <a:ea typeface="+mn-ea"/>
                <a:cs typeface="+mn-cs"/>
              </a:rPr>
              <a:t>mỗi skill một việc và phải qua phép thử phiên mới</a:t>
            </a:r>
          </a:p>
        </p:txBody>
      </p:sp>
      <p:grpSp>
        <p:nvGrpSpPr>
          <p:cNvPr id="28" name="Group 28"/>
          <p:cNvGrpSpPr/>
          <p:nvPr/>
        </p:nvGrpSpPr>
        <p:grpSpPr>
          <a:xfrm>
            <a:off x="374142" y="2137410"/>
            <a:ext cx="2894076" cy="3448241"/>
            <a:chOff x="374142" y="2137410"/>
            <a:chExt cx="2894076" cy="3448241"/>
          </a:xfrm>
        </p:grpSpPr>
        <p:sp>
          <p:nvSpPr>
            <p:cNvPr id="17" name="TextBox 17"/>
            <p:cNvSpPr txBox="1"/>
            <p:nvPr/>
          </p:nvSpPr>
          <p:spPr>
            <a:xfrm>
              <a:off x="374904" y="2137410"/>
              <a:ext cx="124242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VÒNG CẢI TIẾN</a:t>
              </a:r>
            </a:p>
          </p:txBody>
        </p:sp>
        <p:sp>
          <p:nvSpPr>
            <p:cNvPr id="18" name="Freeform 18"/>
            <p:cNvSpPr/>
            <p:nvPr/>
          </p:nvSpPr>
          <p:spPr>
            <a:xfrm>
              <a:off x="2387918" y="2748915"/>
              <a:ext cx="603572" cy="970597"/>
            </a:xfrm>
            <a:custGeom>
              <a:avLst/>
              <a:gdLst/>
              <a:ahLst/>
              <a:cxnLst/>
              <a:rect l="l" t="t" r="r" b="b"/>
              <a:pathLst>
                <a:path w="603572" h="970597">
                  <a:moveTo>
                    <a:pt x="0" y="0"/>
                  </a:moveTo>
                  <a:cubicBezTo>
                    <a:pt x="377388" y="167876"/>
                    <a:pt x="603572" y="559852"/>
                    <a:pt x="560070" y="970597"/>
                  </a:cubicBezTo>
                </a:path>
              </a:pathLst>
            </a:custGeom>
            <a:noFill/>
            <a:ln w="28575">
              <a:solidFill>
                <a:srgbClr val="2E5E91"/>
              </a:solidFill>
              <a:tailEnd type="triangle" w="lg" len="lg"/>
            </a:ln>
          </p:spPr>
        </p:sp>
        <p:sp>
          <p:nvSpPr>
            <p:cNvPr id="19" name="Freeform 19"/>
            <p:cNvSpPr/>
            <p:nvPr/>
          </p:nvSpPr>
          <p:spPr>
            <a:xfrm>
              <a:off x="1440180" y="4390072"/>
              <a:ext cx="1120140" cy="242747"/>
            </a:xfrm>
            <a:custGeom>
              <a:avLst/>
              <a:gdLst/>
              <a:ahLst/>
              <a:cxnLst/>
              <a:rect l="l" t="t" r="r" b="b"/>
              <a:pathLst>
                <a:path w="1120140" h="242747">
                  <a:moveTo>
                    <a:pt x="1120140" y="0"/>
                  </a:moveTo>
                  <a:cubicBezTo>
                    <a:pt x="786214" y="242747"/>
                    <a:pt x="333926" y="242747"/>
                    <a:pt x="0" y="0"/>
                  </a:cubicBezTo>
                </a:path>
              </a:pathLst>
            </a:custGeom>
            <a:noFill/>
            <a:ln w="28575">
              <a:solidFill>
                <a:srgbClr val="2E5E91"/>
              </a:solidFill>
              <a:tailEnd type="triangle" w="lg" len="lg"/>
            </a:ln>
          </p:spPr>
        </p:sp>
        <p:sp>
          <p:nvSpPr>
            <p:cNvPr id="20" name="Freeform 20"/>
            <p:cNvSpPr/>
            <p:nvPr/>
          </p:nvSpPr>
          <p:spPr>
            <a:xfrm>
              <a:off x="1009010" y="2748915"/>
              <a:ext cx="603572" cy="970597"/>
            </a:xfrm>
            <a:custGeom>
              <a:avLst/>
              <a:gdLst/>
              <a:ahLst/>
              <a:cxnLst/>
              <a:rect l="l" t="t" r="r" b="b"/>
              <a:pathLst>
                <a:path w="603572" h="970597">
                  <a:moveTo>
                    <a:pt x="43502" y="970597"/>
                  </a:moveTo>
                  <a:cubicBezTo>
                    <a:pt x="0" y="559852"/>
                    <a:pt x="226184" y="167876"/>
                    <a:pt x="603572" y="0"/>
                  </a:cubicBezTo>
                </a:path>
              </a:pathLst>
            </a:custGeom>
            <a:noFill/>
            <a:ln w="28575">
              <a:solidFill>
                <a:srgbClr val="2E5E91"/>
              </a:solidFill>
              <a:tailEnd type="triangle" w="lg" len="lg"/>
            </a:ln>
          </p:spPr>
        </p:sp>
        <p:sp>
          <p:nvSpPr>
            <p:cNvPr id="21" name="Ellipse 21"/>
            <p:cNvSpPr/>
            <p:nvPr/>
          </p:nvSpPr>
          <p:spPr>
            <a:xfrm>
              <a:off x="1676400" y="2343150"/>
              <a:ext cx="647700" cy="647700"/>
            </a:xfrm>
            <a:prstGeom prst="ellipse">
              <a:avLst/>
            </a:prstGeom>
            <a:solidFill>
              <a:srgbClr val="2E5E91"/>
            </a:solidFill>
            <a:ln>
              <a:noFill/>
            </a:ln>
          </p:spPr>
        </p:sp>
        <p:sp>
          <p:nvSpPr>
            <p:cNvPr id="22" name="TextBox 22"/>
            <p:cNvSpPr txBox="1"/>
            <p:nvPr/>
          </p:nvSpPr>
          <p:spPr>
            <a:xfrm>
              <a:off x="1756100" y="2571750"/>
              <a:ext cx="48829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Chạy</a:t>
              </a:r>
            </a:p>
          </p:txBody>
        </p:sp>
        <p:sp>
          <p:nvSpPr>
            <p:cNvPr id="23" name="Ellipse 23"/>
            <p:cNvSpPr/>
            <p:nvPr/>
          </p:nvSpPr>
          <p:spPr>
            <a:xfrm>
              <a:off x="2501265" y="3771900"/>
              <a:ext cx="647700" cy="647700"/>
            </a:xfrm>
            <a:prstGeom prst="ellipse">
              <a:avLst/>
            </a:prstGeom>
            <a:solidFill>
              <a:srgbClr val="2E5E91"/>
            </a:solidFill>
            <a:ln>
              <a:noFill/>
            </a:ln>
          </p:spPr>
        </p:sp>
        <p:sp>
          <p:nvSpPr>
            <p:cNvPr id="24" name="TextBox 24"/>
            <p:cNvSpPr txBox="1"/>
            <p:nvPr/>
          </p:nvSpPr>
          <p:spPr>
            <a:xfrm>
              <a:off x="2666276" y="4000500"/>
              <a:ext cx="3176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Soi</a:t>
              </a:r>
            </a:p>
          </p:txBody>
        </p:sp>
        <p:sp>
          <p:nvSpPr>
            <p:cNvPr id="25" name="Ellipse 25"/>
            <p:cNvSpPr/>
            <p:nvPr/>
          </p:nvSpPr>
          <p:spPr>
            <a:xfrm>
              <a:off x="851535" y="3771900"/>
              <a:ext cx="647700" cy="647700"/>
            </a:xfrm>
            <a:prstGeom prst="ellipse">
              <a:avLst/>
            </a:prstGeom>
            <a:solidFill>
              <a:schemeClr val="accent2"/>
            </a:solidFill>
            <a:ln>
              <a:noFill/>
            </a:ln>
          </p:spPr>
        </p:sp>
        <p:sp>
          <p:nvSpPr>
            <p:cNvPr id="26" name="TextBox 26"/>
            <p:cNvSpPr txBox="1"/>
            <p:nvPr/>
          </p:nvSpPr>
          <p:spPr>
            <a:xfrm>
              <a:off x="989543" y="4000500"/>
              <a:ext cx="37168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Sửa</a:t>
              </a:r>
            </a:p>
          </p:txBody>
        </p:sp>
        <p:sp>
          <p:nvSpPr>
            <p:cNvPr id="27" name="TextBox 27"/>
            <p:cNvSpPr txBox="1"/>
            <p:nvPr/>
          </p:nvSpPr>
          <p:spPr>
            <a:xfrm>
              <a:off x="374142" y="4826318"/>
              <a:ext cx="2894076" cy="759333"/>
            </a:xfrm>
            <a:prstGeom prst="rect">
              <a:avLst/>
            </a:prstGeom>
            <a:noFill/>
            <a:ln>
              <a:noFill/>
            </a:ln>
          </p:spPr>
          <p:txBody>
            <a:bodyPr wrap="none" lIns="0" tIns="0" rIns="0" bIns="0" anchor="t" anchorCtr="0">
              <a:spAutoFit/>
            </a:bodyPr>
            <a:lstStyle/>
            <a:p>
              <a:pPr algn="l">
                <a:lnSpc>
                  <a:spcPts val="1950"/>
                </a:lnSpc>
              </a:pPr>
              <a:r>
                <a:rPr lang="vi-VN" sz="1350" dirty="0">
                  <a:solidFill>
                    <a:schemeClr val="dk1"/>
                  </a:solidFill>
                  <a:latin typeface="+mn-lt"/>
                  <a:ea typeface="+mn-ea"/>
                  <a:cs typeface="+mn-cs"/>
                </a:rPr>
                <a:t>Chạy trên 3 việc thật</a:t>
              </a:r>
              <a:br/>
              <a:r>
                <a:rPr lang="vi-VN" sz="1350" dirty="0">
                  <a:solidFill>
                    <a:schemeClr val="dk1"/>
                  </a:solidFill>
                  <a:latin typeface="+mn-lt"/>
                  <a:ea typeface="+mn-ea"/>
                  <a:cs typeface="+mn-cs"/>
                </a:rPr>
                <a:t>Ghi lại chỗ phải sửa tay</a:t>
              </a:r>
              <a:br/>
              <a:r>
                <a:rPr lang="vi-VN" sz="1350" dirty="0">
                  <a:solidFill>
                    <a:schemeClr val="dk1"/>
                  </a:solidFill>
                  <a:latin typeface="+mn-lt"/>
                  <a:ea typeface="+mn-ea"/>
                  <a:cs typeface="+mn-cs"/>
                </a:rPr>
                <a:t>Sửa ngược vào skill, ghi “Sửa lần N”</a:t>
              </a:r>
            </a:p>
          </p:txBody>
        </p:sp>
      </p:grpSp>
      <p:grpSp>
        <p:nvGrpSpPr>
          <p:cNvPr id="42" name="Group 42"/>
          <p:cNvGrpSpPr/>
          <p:nvPr/>
        </p:nvGrpSpPr>
        <p:grpSpPr>
          <a:xfrm>
            <a:off x="4314444" y="2137410"/>
            <a:ext cx="3332226" cy="3101340"/>
            <a:chOff x="4314444" y="2137410"/>
            <a:chExt cx="3332226" cy="3101340"/>
          </a:xfrm>
        </p:grpSpPr>
        <p:sp>
          <p:nvSpPr>
            <p:cNvPr id="29" name="TextBox 29"/>
            <p:cNvSpPr txBox="1"/>
            <p:nvPr/>
          </p:nvSpPr>
          <p:spPr>
            <a:xfrm>
              <a:off x="4375404" y="2137410"/>
              <a:ext cx="1815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MỘT SKILL MỘT VIỆC</a:t>
              </a:r>
            </a:p>
          </p:txBody>
        </p:sp>
        <p:sp>
          <p:nvSpPr>
            <p:cNvPr id="30" name="Rectangle 30"/>
            <p:cNvSpPr/>
            <p:nvPr/>
          </p:nvSpPr>
          <p:spPr>
            <a:xfrm>
              <a:off x="4381500" y="2571750"/>
              <a:ext cx="3048000" cy="457200"/>
            </a:xfrm>
            <a:prstGeom prst="roundRect">
              <a:avLst>
                <a:gd name="adj" fmla="val 50000"/>
              </a:avLst>
            </a:prstGeom>
            <a:solidFill>
              <a:schemeClr val="lt1"/>
            </a:solidFill>
            <a:ln w="19050">
              <a:solidFill>
                <a:srgbClr val="2E5E91"/>
              </a:solidFill>
            </a:ln>
          </p:spPr>
        </p:sp>
        <p:sp>
          <p:nvSpPr>
            <p:cNvPr id="31" name="TextBox 31"/>
            <p:cNvSpPr txBox="1"/>
            <p:nvPr/>
          </p:nvSpPr>
          <p:spPr>
            <a:xfrm>
              <a:off x="4905894" y="2688908"/>
              <a:ext cx="1999212" cy="322707"/>
            </a:xfrm>
            <a:prstGeom prst="rect">
              <a:avLst/>
            </a:prstGeom>
            <a:noFill/>
            <a:ln>
              <a:noFill/>
            </a:ln>
          </p:spPr>
          <p:txBody>
            <a:bodyPr wrap="none" lIns="0" tIns="0" rIns="0" bIns="0" anchor="t" anchorCtr="0">
              <a:spAutoFit/>
            </a:bodyPr>
            <a:lstStyle/>
            <a:p>
              <a:pPr algn="ctr"/>
              <a:r>
                <a:rPr lang="vi-VN" sz="1650" b="1" dirty="0">
                  <a:solidFill>
                    <a:srgbClr val="2E5E91"/>
                  </a:solidFill>
                  <a:latin typeface="Consolas"/>
                  <a:ea typeface="Consolas"/>
                  <a:cs typeface="Consolas"/>
                </a:rPr>
                <a:t>customer-insight</a:t>
              </a:r>
            </a:p>
          </p:txBody>
        </p:sp>
        <p:sp>
          <p:nvSpPr>
            <p:cNvPr id="32" name="Line 32"/>
            <p:cNvSpPr/>
            <p:nvPr/>
          </p:nvSpPr>
          <p:spPr>
            <a:xfrm>
              <a:off x="5905500" y="3086100"/>
              <a:ext cx="1" cy="400050"/>
            </a:xfrm>
            <a:prstGeom prst="line">
              <a:avLst/>
            </a:prstGeom>
            <a:noFill/>
            <a:ln w="19050">
              <a:solidFill>
                <a:srgbClr val="5B6675"/>
              </a:solidFill>
              <a:tailEnd type="triangle" w="lg" len="lg"/>
            </a:ln>
          </p:spPr>
        </p:sp>
        <p:sp>
          <p:nvSpPr>
            <p:cNvPr id="33" name="Rectangle 33"/>
            <p:cNvSpPr/>
            <p:nvPr/>
          </p:nvSpPr>
          <p:spPr>
            <a:xfrm>
              <a:off x="4381500" y="3562350"/>
              <a:ext cx="3048000" cy="457200"/>
            </a:xfrm>
            <a:prstGeom prst="roundRect">
              <a:avLst>
                <a:gd name="adj" fmla="val 50000"/>
              </a:avLst>
            </a:prstGeom>
            <a:solidFill>
              <a:schemeClr val="lt1"/>
            </a:solidFill>
            <a:ln w="19050">
              <a:solidFill>
                <a:srgbClr val="2E5E91"/>
              </a:solidFill>
            </a:ln>
          </p:spPr>
        </p:sp>
        <p:sp>
          <p:nvSpPr>
            <p:cNvPr id="34" name="TextBox 34"/>
            <p:cNvSpPr txBox="1"/>
            <p:nvPr/>
          </p:nvSpPr>
          <p:spPr>
            <a:xfrm>
              <a:off x="5028339" y="3679508"/>
              <a:ext cx="1754321" cy="322707"/>
            </a:xfrm>
            <a:prstGeom prst="rect">
              <a:avLst/>
            </a:prstGeom>
            <a:noFill/>
            <a:ln>
              <a:noFill/>
            </a:ln>
          </p:spPr>
          <p:txBody>
            <a:bodyPr wrap="none" lIns="0" tIns="0" rIns="0" bIns="0" anchor="t" anchorCtr="0">
              <a:spAutoFit/>
            </a:bodyPr>
            <a:lstStyle/>
            <a:p>
              <a:pPr algn="ctr"/>
              <a:r>
                <a:rPr lang="vi-VN" sz="1650" b="1" dirty="0">
                  <a:solidFill>
                    <a:srgbClr val="2E5E91"/>
                  </a:solidFill>
                  <a:latin typeface="Consolas"/>
                  <a:ea typeface="Consolas"/>
                  <a:cs typeface="Consolas"/>
                </a:rPr>
                <a:t>content-engine</a:t>
              </a:r>
            </a:p>
          </p:txBody>
        </p:sp>
        <p:sp>
          <p:nvSpPr>
            <p:cNvPr id="35" name="TextBox 35"/>
            <p:cNvSpPr txBox="1"/>
            <p:nvPr/>
          </p:nvSpPr>
          <p:spPr>
            <a:xfrm>
              <a:off x="4314444" y="4178618"/>
              <a:ext cx="3182112" cy="264033"/>
            </a:xfrm>
            <a:prstGeom prst="rect">
              <a:avLst/>
            </a:prstGeom>
            <a:noFill/>
            <a:ln>
              <a:noFill/>
            </a:ln>
          </p:spPr>
          <p:txBody>
            <a:bodyPr wrap="none" lIns="0" tIns="0" rIns="0" bIns="0" anchor="t" anchorCtr="0">
              <a:spAutoFit/>
            </a:bodyPr>
            <a:lstStyle/>
            <a:p>
              <a:pPr algn="ctr"/>
              <a:r>
                <a:rPr lang="vi-VN" sz="1350" dirty="0">
                  <a:solidFill>
                    <a:srgbClr val="5B6675"/>
                  </a:solidFill>
                  <a:latin typeface="+mn-lt"/>
                  <a:ea typeface="+mn-ea"/>
                  <a:cs typeface="+mn-cs"/>
                </a:rPr>
                <a:t>Đầu ra skill trước = đầu vào skill sau</a:t>
              </a:r>
            </a:p>
          </p:txBody>
        </p:sp>
        <p:sp>
          <p:nvSpPr>
            <p:cNvPr id="36" name="Rectangle 36"/>
            <p:cNvSpPr/>
            <p:nvPr/>
          </p:nvSpPr>
          <p:spPr>
            <a:xfrm>
              <a:off x="4381500" y="4552950"/>
              <a:ext cx="3048000" cy="685800"/>
            </a:xfrm>
            <a:prstGeom prst="roundRect">
              <a:avLst>
                <a:gd name="adj" fmla="val 16667"/>
              </a:avLst>
            </a:prstGeom>
            <a:solidFill>
              <a:srgbClr val="FCEBDD"/>
            </a:solidFill>
            <a:ln>
              <a:noFill/>
            </a:ln>
          </p:spPr>
        </p:sp>
        <p:grpSp>
          <p:nvGrpSpPr>
            <p:cNvPr id="40" name="Group 40"/>
            <p:cNvGrpSpPr/>
            <p:nvPr/>
          </p:nvGrpSpPr>
          <p:grpSpPr>
            <a:xfrm>
              <a:off x="4550619" y="4709593"/>
              <a:ext cx="176105" cy="151297"/>
              <a:chOff x="4550619" y="4709593"/>
              <a:chExt cx="176105" cy="151297"/>
            </a:xfrm>
          </p:grpSpPr>
          <p:sp>
            <p:nvSpPr>
              <p:cNvPr id="37" name="Freeform 37"/>
              <p:cNvSpPr/>
              <p:nvPr/>
            </p:nvSpPr>
            <p:spPr>
              <a:xfrm>
                <a:off x="4638675" y="476488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8" name="Freeform 38"/>
              <p:cNvSpPr/>
              <p:nvPr/>
            </p:nvSpPr>
            <p:spPr>
              <a:xfrm>
                <a:off x="4550619" y="470959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9" name="Freeform 39"/>
              <p:cNvSpPr/>
              <p:nvPr/>
            </p:nvSpPr>
            <p:spPr>
              <a:xfrm>
                <a:off x="4638675" y="482600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41" name="TextBox 41"/>
            <p:cNvSpPr txBox="1"/>
            <p:nvPr/>
          </p:nvSpPr>
          <p:spPr>
            <a:xfrm>
              <a:off x="4831080" y="4676775"/>
              <a:ext cx="28155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Còn </a:t>
              </a:r>
              <a:r>
                <a:rPr lang="vi-VN" sz="1500" b="1" dirty="0">
                  <a:solidFill>
                    <a:srgbClr val="C0392B"/>
                  </a:solidFill>
                  <a:latin typeface="+mn-lt"/>
                  <a:ea typeface="+mn-ea"/>
                  <a:cs typeface="+mn-cs"/>
                </a:rPr>
                <a:t>[CẦN ĐIỀN]</a:t>
              </a:r>
              <a:r>
                <a:rPr lang="vi-VN" sz="1500" dirty="0">
                  <a:solidFill>
                    <a:schemeClr val="dk1"/>
                  </a:solidFill>
                  <a:latin typeface="+mn-lt"/>
                  <a:ea typeface="+mn-ea"/>
                  <a:cs typeface="+mn-cs"/>
                </a:rPr>
                <a:t> thì không chạy</a:t>
              </a:r>
              <a:br/>
              <a:r>
                <a:rPr lang="vi-VN" sz="1500" dirty="0">
                  <a:solidFill>
                    <a:schemeClr val="dk1"/>
                  </a:solidFill>
                  <a:latin typeface="+mn-lt"/>
                  <a:ea typeface="+mn-ea"/>
                  <a:cs typeface="+mn-cs"/>
                </a:rPr>
                <a:t>sang skill sau</a:t>
              </a:r>
            </a:p>
          </p:txBody>
        </p:sp>
      </p:grpSp>
      <p:grpSp>
        <p:nvGrpSpPr>
          <p:cNvPr id="59" name="Group 59"/>
          <p:cNvGrpSpPr/>
          <p:nvPr/>
        </p:nvGrpSpPr>
        <p:grpSpPr>
          <a:xfrm>
            <a:off x="8185404" y="2137410"/>
            <a:ext cx="3625596" cy="2929890"/>
            <a:chOff x="8185404" y="2137410"/>
            <a:chExt cx="3625596" cy="2929890"/>
          </a:xfrm>
        </p:grpSpPr>
        <p:sp>
          <p:nvSpPr>
            <p:cNvPr id="43" name="TextBox 43"/>
            <p:cNvSpPr txBox="1"/>
            <p:nvPr/>
          </p:nvSpPr>
          <p:spPr>
            <a:xfrm>
              <a:off x="8185404" y="2137410"/>
              <a:ext cx="128723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PHÉP THỬ CUỐI</a:t>
              </a:r>
            </a:p>
          </p:txBody>
        </p:sp>
        <p:sp>
          <p:nvSpPr>
            <p:cNvPr id="44" name="Rectangle 44"/>
            <p:cNvSpPr/>
            <p:nvPr/>
          </p:nvSpPr>
          <p:spPr>
            <a:xfrm>
              <a:off x="8191500" y="2438400"/>
              <a:ext cx="3619500" cy="2628900"/>
            </a:xfrm>
            <a:prstGeom prst="roundRect">
              <a:avLst>
                <a:gd name="adj" fmla="val 5797"/>
              </a:avLst>
            </a:prstGeom>
            <a:solidFill>
              <a:schemeClr val="lt2"/>
            </a:solidFill>
            <a:ln>
              <a:noFill/>
            </a:ln>
          </p:spPr>
        </p:sp>
        <p:sp>
          <p:nvSpPr>
            <p:cNvPr id="45" name="Ellipse 45"/>
            <p:cNvSpPr/>
            <p:nvPr/>
          </p:nvSpPr>
          <p:spPr>
            <a:xfrm>
              <a:off x="8401050" y="2667000"/>
              <a:ext cx="266700" cy="266700"/>
            </a:xfrm>
            <a:prstGeom prst="ellipse">
              <a:avLst/>
            </a:prstGeom>
            <a:solidFill>
              <a:srgbClr val="2E5E91"/>
            </a:solidFill>
            <a:ln>
              <a:noFill/>
            </a:ln>
          </p:spPr>
        </p:sp>
        <p:sp>
          <p:nvSpPr>
            <p:cNvPr id="46" name="TextBox 46"/>
            <p:cNvSpPr txBox="1"/>
            <p:nvPr/>
          </p:nvSpPr>
          <p:spPr>
            <a:xfrm>
              <a:off x="8481658" y="2727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47" name="TextBox 47"/>
            <p:cNvSpPr txBox="1"/>
            <p:nvPr/>
          </p:nvSpPr>
          <p:spPr>
            <a:xfrm>
              <a:off x="8774430" y="2705100"/>
              <a:ext cx="123367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Mở phiên mới</a:t>
              </a:r>
            </a:p>
          </p:txBody>
        </p:sp>
        <p:sp>
          <p:nvSpPr>
            <p:cNvPr id="48" name="Ellipse 48"/>
            <p:cNvSpPr/>
            <p:nvPr/>
          </p:nvSpPr>
          <p:spPr>
            <a:xfrm>
              <a:off x="8401050" y="3124200"/>
              <a:ext cx="266700" cy="266700"/>
            </a:xfrm>
            <a:prstGeom prst="ellipse">
              <a:avLst/>
            </a:prstGeom>
            <a:solidFill>
              <a:srgbClr val="2E5E91"/>
            </a:solidFill>
            <a:ln>
              <a:noFill/>
            </a:ln>
          </p:spPr>
        </p:sp>
        <p:sp>
          <p:nvSpPr>
            <p:cNvPr id="49" name="TextBox 49"/>
            <p:cNvSpPr txBox="1"/>
            <p:nvPr/>
          </p:nvSpPr>
          <p:spPr>
            <a:xfrm>
              <a:off x="8481658" y="31851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50" name="TextBox 50"/>
            <p:cNvSpPr txBox="1"/>
            <p:nvPr/>
          </p:nvSpPr>
          <p:spPr>
            <a:xfrm>
              <a:off x="8774430" y="3162300"/>
              <a:ext cx="177824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gọi tên skill</a:t>
              </a:r>
            </a:p>
          </p:txBody>
        </p:sp>
        <p:sp>
          <p:nvSpPr>
            <p:cNvPr id="51" name="Ellipse 51"/>
            <p:cNvSpPr/>
            <p:nvPr/>
          </p:nvSpPr>
          <p:spPr>
            <a:xfrm>
              <a:off x="8401050" y="3581400"/>
              <a:ext cx="266700" cy="266700"/>
            </a:xfrm>
            <a:prstGeom prst="ellipse">
              <a:avLst/>
            </a:prstGeom>
            <a:solidFill>
              <a:srgbClr val="2E5E91"/>
            </a:solidFill>
            <a:ln>
              <a:noFill/>
            </a:ln>
          </p:spPr>
        </p:sp>
        <p:sp>
          <p:nvSpPr>
            <p:cNvPr id="52" name="TextBox 52"/>
            <p:cNvSpPr txBox="1"/>
            <p:nvPr/>
          </p:nvSpPr>
          <p:spPr>
            <a:xfrm>
              <a:off x="8481658" y="36423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3</a:t>
              </a:r>
            </a:p>
          </p:txBody>
        </p:sp>
        <p:sp>
          <p:nvSpPr>
            <p:cNvPr id="53" name="TextBox 53"/>
            <p:cNvSpPr txBox="1"/>
            <p:nvPr/>
          </p:nvSpPr>
          <p:spPr>
            <a:xfrm>
              <a:off x="8774430" y="3619500"/>
              <a:ext cx="259678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Giao yêu cầu chưa từng làm</a:t>
              </a:r>
            </a:p>
          </p:txBody>
        </p:sp>
        <p:sp>
          <p:nvSpPr>
            <p:cNvPr id="54" name="Line 54"/>
            <p:cNvSpPr/>
            <p:nvPr/>
          </p:nvSpPr>
          <p:spPr>
            <a:xfrm>
              <a:off x="8420100" y="4076700"/>
              <a:ext cx="3162300" cy="9525"/>
            </a:xfrm>
            <a:custGeom>
              <a:avLst/>
              <a:gdLst/>
              <a:ahLst/>
              <a:cxnLst/>
              <a:rect l="l" t="t" r="r" b="b"/>
              <a:pathLst>
                <a:path w="3162300" h="9525">
                  <a:moveTo>
                    <a:pt x="0" y="0"/>
                  </a:moveTo>
                  <a:lnTo>
                    <a:pt x="3162300" y="0"/>
                  </a:lnTo>
                </a:path>
              </a:pathLst>
            </a:custGeom>
            <a:noFill/>
            <a:ln w="9525">
              <a:solidFill>
                <a:schemeClr val="accent4"/>
              </a:solidFill>
            </a:ln>
          </p:spPr>
        </p:sp>
        <p:grpSp>
          <p:nvGrpSpPr>
            <p:cNvPr id="57" name="Group 57"/>
            <p:cNvGrpSpPr/>
            <p:nvPr/>
          </p:nvGrpSpPr>
          <p:grpSpPr>
            <a:xfrm>
              <a:off x="8451056" y="4317206"/>
              <a:ext cx="185737" cy="185737"/>
              <a:chOff x="8451056" y="4317206"/>
              <a:chExt cx="185737" cy="185737"/>
            </a:xfrm>
          </p:grpSpPr>
          <p:sp>
            <p:nvSpPr>
              <p:cNvPr id="55" name="Freeform 55"/>
              <p:cNvSpPr/>
              <p:nvPr/>
            </p:nvSpPr>
            <p:spPr>
              <a:xfrm>
                <a:off x="8451056" y="43172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56" name="Freeform 56"/>
              <p:cNvSpPr/>
              <p:nvPr/>
            </p:nvSpPr>
            <p:spPr>
              <a:xfrm>
                <a:off x="8512968" y="438943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58" name="TextBox 58"/>
            <p:cNvSpPr txBox="1"/>
            <p:nvPr/>
          </p:nvSpPr>
          <p:spPr>
            <a:xfrm>
              <a:off x="8774430" y="4314825"/>
              <a:ext cx="2695575" cy="560070"/>
            </a:xfrm>
            <a:prstGeom prst="rect">
              <a:avLst/>
            </a:prstGeom>
            <a:noFill/>
            <a:ln>
              <a:noFill/>
            </a:ln>
          </p:spPr>
          <p:txBody>
            <a:bodyPr wrap="none" lIns="0" tIns="0" rIns="0" bIns="0" anchor="t" anchorCtr="0">
              <a:spAutoFit/>
            </a:bodyPr>
            <a:lstStyle/>
            <a:p>
              <a:pPr algn="l">
                <a:lnSpc>
                  <a:spcPts val="2100"/>
                </a:lnSpc>
              </a:pPr>
              <a:r>
                <a:rPr lang="vi-VN" sz="1500" b="1" dirty="0">
                  <a:solidFill>
                    <a:srgbClr val="2E8B57"/>
                  </a:solidFill>
                  <a:latin typeface="+mn-lt"/>
                  <a:ea typeface="+mn-ea"/>
                  <a:cs typeface="+mn-cs"/>
                </a:rPr>
                <a:t>Skill tự được gọi và làm đúng</a:t>
              </a:r>
              <a:br/>
              <a:r>
                <a:rPr lang="vi-VN" sz="1500" b="1" dirty="0">
                  <a:solidFill>
                    <a:srgbClr val="2E8B57"/>
                  </a:solidFill>
                  <a:latin typeface="+mn-lt"/>
                  <a:ea typeface="+mn-ea"/>
                  <a:cs typeface="+mn-cs"/>
                </a:rPr>
                <a:t>→ đạt</a:t>
              </a:r>
            </a:p>
          </p:txBody>
        </p:sp>
      </p:grpSp>
      <p:sp>
        <p:nvSpPr>
          <p:cNvPr id="60" name="TextBox 6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1" name="TextBox 61"/>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2521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3: tạo skill tom-tat-tai-lieu,</a:t>
            </a:r>
            <a:br/>
            <a:r>
              <a:rPr lang="vi-VN" sz="3150" b="1" dirty="0">
                <a:solidFill>
                  <a:schemeClr val="accent1"/>
                </a:solidFill>
                <a:latin typeface="+mn-lt"/>
                <a:ea typeface="+mn-ea"/>
                <a:cs typeface="+mn-cs"/>
              </a:rPr>
              <a:t>rồi đóng gói một việc lặp lại của chính bạn</a:t>
            </a:r>
          </a:p>
        </p:txBody>
      </p:sp>
      <p:grpSp>
        <p:nvGrpSpPr>
          <p:cNvPr id="25" name="Group 25"/>
          <p:cNvGrpSpPr/>
          <p:nvPr/>
        </p:nvGrpSpPr>
        <p:grpSpPr>
          <a:xfrm>
            <a:off x="381000" y="2095500"/>
            <a:ext cx="6662697" cy="1047750"/>
            <a:chOff x="381000" y="2095500"/>
            <a:chExt cx="6662697" cy="1047750"/>
          </a:xfrm>
        </p:grpSpPr>
        <p:sp>
          <p:nvSpPr>
            <p:cNvPr id="17" name="Rectangle 17"/>
            <p:cNvSpPr/>
            <p:nvPr/>
          </p:nvSpPr>
          <p:spPr>
            <a:xfrm>
              <a:off x="381000" y="2095500"/>
              <a:ext cx="6572250" cy="1047750"/>
            </a:xfrm>
            <a:prstGeom prst="roundRect">
              <a:avLst>
                <a:gd name="adj" fmla="val 12727"/>
              </a:avLst>
            </a:prstGeom>
            <a:solidFill>
              <a:schemeClr val="lt1"/>
            </a:solidFill>
            <a:ln w="14288">
              <a:solidFill>
                <a:schemeClr val="accent4"/>
              </a:solidFill>
            </a:ln>
          </p:spPr>
        </p:sp>
        <p:sp>
          <p:nvSpPr>
            <p:cNvPr id="18" name="Ellipse 18"/>
            <p:cNvSpPr/>
            <p:nvPr/>
          </p:nvSpPr>
          <p:spPr>
            <a:xfrm>
              <a:off x="523875" y="2219325"/>
              <a:ext cx="285750" cy="285750"/>
            </a:xfrm>
            <a:prstGeom prst="ellipse">
              <a:avLst/>
            </a:prstGeom>
            <a:solidFill>
              <a:srgbClr val="2E5E91"/>
            </a:solidFill>
            <a:ln>
              <a:noFill/>
            </a:ln>
          </p:spPr>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293998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tom-tat-tai-lieu</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15'</a:t>
              </a:r>
            </a:p>
          </p:txBody>
        </p:sp>
        <p:sp>
          <p:nvSpPr>
            <p:cNvPr id="23" name="TextBox 23"/>
            <p:cNvSpPr txBox="1"/>
            <p:nvPr/>
          </p:nvSpPr>
          <p:spPr>
            <a:xfrm>
              <a:off x="926592" y="2578418"/>
              <a:ext cx="381762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Chạy trên tài liệu Lactobact Intima của Wir</a:t>
              </a:r>
            </a:p>
          </p:txBody>
        </p:sp>
        <p:sp>
          <p:nvSpPr>
            <p:cNvPr id="24" name="TextBox 24"/>
            <p:cNvSpPr txBox="1"/>
            <p:nvPr/>
          </p:nvSpPr>
          <p:spPr>
            <a:xfrm>
              <a:off x="926592" y="2826068"/>
              <a:ext cx="611710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bóc đúng 90% · 75% · 40–45% · 50% và chỉ ra cụm “điều trị”</a:t>
              </a:r>
            </a:p>
          </p:txBody>
        </p:sp>
      </p:grpSp>
      <p:grpSp>
        <p:nvGrpSpPr>
          <p:cNvPr id="33" name="Group 33"/>
          <p:cNvGrpSpPr/>
          <p:nvPr/>
        </p:nvGrpSpPr>
        <p:grpSpPr>
          <a:xfrm>
            <a:off x="381000" y="3238500"/>
            <a:ext cx="6572250" cy="781050"/>
            <a:chOff x="381000" y="3238500"/>
            <a:chExt cx="6572250" cy="781050"/>
          </a:xfrm>
        </p:grpSpPr>
        <p:sp>
          <p:nvSpPr>
            <p:cNvPr id="26" name="Rectangle 26"/>
            <p:cNvSpPr/>
            <p:nvPr/>
          </p:nvSpPr>
          <p:spPr>
            <a:xfrm>
              <a:off x="381000" y="3238500"/>
              <a:ext cx="6572250" cy="781050"/>
            </a:xfrm>
            <a:prstGeom prst="roundRect">
              <a:avLst>
                <a:gd name="adj" fmla="val 17073"/>
              </a:avLst>
            </a:prstGeom>
            <a:solidFill>
              <a:schemeClr val="lt1"/>
            </a:solidFill>
            <a:ln w="14288">
              <a:solidFill>
                <a:schemeClr val="accent4"/>
              </a:solidFill>
            </a:ln>
          </p:spPr>
        </p:sp>
        <p:sp>
          <p:nvSpPr>
            <p:cNvPr id="27" name="Ellipse 27"/>
            <p:cNvSpPr/>
            <p:nvPr/>
          </p:nvSpPr>
          <p:spPr>
            <a:xfrm>
              <a:off x="523875" y="3362325"/>
              <a:ext cx="285750" cy="285750"/>
            </a:xfrm>
            <a:prstGeom prst="ellipse">
              <a:avLst/>
            </a:prstGeom>
            <a:solidFill>
              <a:srgbClr val="2E5E91"/>
            </a:solidFill>
            <a:ln>
              <a:noFill/>
            </a:ln>
          </p:spPr>
        </p:sp>
        <p:sp>
          <p:nvSpPr>
            <p:cNvPr id="28" name="TextBox 28"/>
            <p:cNvSpPr txBox="1"/>
            <p:nvPr/>
          </p:nvSpPr>
          <p:spPr>
            <a:xfrm>
              <a:off x="600823" y="3409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TextBox 29"/>
            <p:cNvSpPr txBox="1"/>
            <p:nvPr/>
          </p:nvSpPr>
          <p:spPr>
            <a:xfrm>
              <a:off x="925068" y="3403282"/>
              <a:ext cx="3569279"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cho việc lặp lại của bạn</a:t>
              </a:r>
            </a:p>
          </p:txBody>
        </p:sp>
        <p:sp>
          <p:nvSpPr>
            <p:cNvPr id="30" name="Rectangle 30"/>
            <p:cNvSpPr/>
            <p:nvPr/>
          </p:nvSpPr>
          <p:spPr>
            <a:xfrm>
              <a:off x="6210300" y="3390900"/>
              <a:ext cx="552450" cy="266700"/>
            </a:xfrm>
            <a:prstGeom prst="roundRect">
              <a:avLst>
                <a:gd name="adj" fmla="val 50000"/>
              </a:avLst>
            </a:prstGeom>
            <a:solidFill>
              <a:srgbClr val="FCEBDD"/>
            </a:solidFill>
            <a:ln>
              <a:noFill/>
            </a:ln>
          </p:spPr>
        </p:sp>
        <p:sp>
          <p:nvSpPr>
            <p:cNvPr id="31" name="TextBox 31"/>
            <p:cNvSpPr txBox="1"/>
            <p:nvPr/>
          </p:nvSpPr>
          <p:spPr>
            <a:xfrm>
              <a:off x="6340492" y="3451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a:t>
              </a:r>
            </a:p>
          </p:txBody>
        </p:sp>
        <p:sp>
          <p:nvSpPr>
            <p:cNvPr id="32" name="TextBox 32"/>
            <p:cNvSpPr txBox="1"/>
            <p:nvPr/>
          </p:nvSpPr>
          <p:spPr>
            <a:xfrm>
              <a:off x="926592" y="3721418"/>
              <a:ext cx="261044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Chat tay 3–5 lượt rồi đóng gói</a:t>
              </a:r>
            </a:p>
          </p:txBody>
        </p:sp>
      </p:grpSp>
      <p:grpSp>
        <p:nvGrpSpPr>
          <p:cNvPr id="39" name="Group 39"/>
          <p:cNvGrpSpPr/>
          <p:nvPr/>
        </p:nvGrpSpPr>
        <p:grpSpPr>
          <a:xfrm>
            <a:off x="381000" y="4114800"/>
            <a:ext cx="6572250" cy="781050"/>
            <a:chOff x="381000" y="4114800"/>
            <a:chExt cx="6572250" cy="781050"/>
          </a:xfrm>
        </p:grpSpPr>
        <p:sp>
          <p:nvSpPr>
            <p:cNvPr id="34" name="Rectangle 34"/>
            <p:cNvSpPr/>
            <p:nvPr/>
          </p:nvSpPr>
          <p:spPr>
            <a:xfrm>
              <a:off x="381000" y="4114800"/>
              <a:ext cx="6572250" cy="781050"/>
            </a:xfrm>
            <a:prstGeom prst="roundRect">
              <a:avLst>
                <a:gd name="adj" fmla="val 17073"/>
              </a:avLst>
            </a:prstGeom>
            <a:solidFill>
              <a:schemeClr val="lt1"/>
            </a:solidFill>
            <a:ln w="14288">
              <a:solidFill>
                <a:schemeClr val="accent4"/>
              </a:solidFill>
            </a:ln>
          </p:spPr>
        </p:sp>
        <p:sp>
          <p:nvSpPr>
            <p:cNvPr id="35" name="Ellipse 35"/>
            <p:cNvSpPr/>
            <p:nvPr/>
          </p:nvSpPr>
          <p:spPr>
            <a:xfrm>
              <a:off x="523875" y="4238625"/>
              <a:ext cx="285750" cy="285750"/>
            </a:xfrm>
            <a:prstGeom prst="ellipse">
              <a:avLst/>
            </a:prstGeom>
            <a:solidFill>
              <a:srgbClr val="2E5E91"/>
            </a:solidFill>
            <a:ln>
              <a:noFill/>
            </a:ln>
          </p:spPr>
        </p:sp>
        <p:sp>
          <p:nvSpPr>
            <p:cNvPr id="36" name="TextBox 36"/>
            <p:cNvSpPr txBox="1"/>
            <p:nvPr/>
          </p:nvSpPr>
          <p:spPr>
            <a:xfrm>
              <a:off x="600823" y="4286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79582"/>
              <a:ext cx="289450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Bài về nhà: chạy thử 3 lần</a:t>
              </a:r>
            </a:p>
          </p:txBody>
        </p:sp>
        <p:sp>
          <p:nvSpPr>
            <p:cNvPr id="38" name="TextBox 38"/>
            <p:cNvSpPr txBox="1"/>
            <p:nvPr/>
          </p:nvSpPr>
          <p:spPr>
            <a:xfrm>
              <a:off x="926592" y="4597718"/>
              <a:ext cx="3673091"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Trên 3 việc khác nhau, sửa ngược vào skill</a:t>
              </a:r>
            </a:p>
          </p:txBody>
        </p:sp>
      </p:grpSp>
      <p:grpSp>
        <p:nvGrpSpPr>
          <p:cNvPr id="45" name="Group 45"/>
          <p:cNvGrpSpPr/>
          <p:nvPr/>
        </p:nvGrpSpPr>
        <p:grpSpPr>
          <a:xfrm>
            <a:off x="381000" y="4991100"/>
            <a:ext cx="6572250" cy="781050"/>
            <a:chOff x="381000" y="4991100"/>
            <a:chExt cx="6572250" cy="781050"/>
          </a:xfrm>
        </p:grpSpPr>
        <p:sp>
          <p:nvSpPr>
            <p:cNvPr id="40" name="Rectangle 40"/>
            <p:cNvSpPr/>
            <p:nvPr/>
          </p:nvSpPr>
          <p:spPr>
            <a:xfrm>
              <a:off x="381000" y="4991100"/>
              <a:ext cx="6572250" cy="781050"/>
            </a:xfrm>
            <a:prstGeom prst="roundRect">
              <a:avLst>
                <a:gd name="adj" fmla="val 17073"/>
              </a:avLst>
            </a:prstGeom>
            <a:solidFill>
              <a:schemeClr val="lt1"/>
            </a:solidFill>
            <a:ln w="14288">
              <a:solidFill>
                <a:schemeClr val="accent4"/>
              </a:solidFill>
            </a:ln>
          </p:spPr>
        </p:sp>
        <p:sp>
          <p:nvSpPr>
            <p:cNvPr id="41" name="Ellipse 41"/>
            <p:cNvSpPr/>
            <p:nvPr/>
          </p:nvSpPr>
          <p:spPr>
            <a:xfrm>
              <a:off x="523875" y="5114925"/>
              <a:ext cx="285750" cy="285750"/>
            </a:xfrm>
            <a:prstGeom prst="ellipse">
              <a:avLst/>
            </a:prstGeom>
            <a:solidFill>
              <a:srgbClr val="2E5E91"/>
            </a:solidFill>
            <a:ln>
              <a:noFill/>
            </a:ln>
          </p:spPr>
        </p:sp>
        <p:sp>
          <p:nvSpPr>
            <p:cNvPr id="42" name="TextBox 42"/>
            <p:cNvSpPr txBox="1"/>
            <p:nvPr/>
          </p:nvSpPr>
          <p:spPr>
            <a:xfrm>
              <a:off x="600823" y="5162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TextBox 43"/>
            <p:cNvSpPr txBox="1"/>
            <p:nvPr/>
          </p:nvSpPr>
          <p:spPr>
            <a:xfrm>
              <a:off x="925068" y="5155882"/>
              <a:ext cx="26363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Vẽ chuỗi skill của phòng</a:t>
              </a:r>
            </a:p>
          </p:txBody>
        </p:sp>
        <p:sp>
          <p:nvSpPr>
            <p:cNvPr id="44" name="TextBox 44"/>
            <p:cNvSpPr txBox="1"/>
            <p:nvPr/>
          </p:nvSpPr>
          <p:spPr>
            <a:xfrm>
              <a:off x="926592" y="5474018"/>
              <a:ext cx="323633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Đầu ra skill trước là đầu vào skill sau</a:t>
              </a:r>
            </a:p>
          </p:txBody>
        </p:sp>
      </p:grpSp>
      <p:grpSp>
        <p:nvGrpSpPr>
          <p:cNvPr id="57" name="Group 57"/>
          <p:cNvGrpSpPr/>
          <p:nvPr/>
        </p:nvGrpSpPr>
        <p:grpSpPr>
          <a:xfrm>
            <a:off x="7181850" y="2095500"/>
            <a:ext cx="4629150" cy="3676650"/>
            <a:chOff x="7181850" y="2095500"/>
            <a:chExt cx="4629150" cy="3676650"/>
          </a:xfrm>
        </p:grpSpPr>
        <p:sp>
          <p:nvSpPr>
            <p:cNvPr id="46" name="Rectangle 46"/>
            <p:cNvSpPr/>
            <p:nvPr/>
          </p:nvSpPr>
          <p:spPr>
            <a:xfrm>
              <a:off x="7181850" y="2095500"/>
              <a:ext cx="4629150" cy="3676650"/>
            </a:xfrm>
            <a:prstGeom prst="roundRect">
              <a:avLst>
                <a:gd name="adj" fmla="val 4145"/>
              </a:avLst>
            </a:prstGeom>
            <a:solidFill>
              <a:schemeClr val="lt2"/>
            </a:solidFill>
            <a:ln>
              <a:noFill/>
            </a:ln>
          </p:spPr>
        </p:sp>
        <p:grpSp>
          <p:nvGrpSpPr>
            <p:cNvPr id="50" name="Group 50"/>
            <p:cNvGrpSpPr/>
            <p:nvPr/>
          </p:nvGrpSpPr>
          <p:grpSpPr>
            <a:xfrm>
              <a:off x="7441406" y="2316956"/>
              <a:ext cx="185737" cy="185737"/>
              <a:chOff x="7441406" y="2316956"/>
              <a:chExt cx="185737" cy="185737"/>
            </a:xfrm>
          </p:grpSpPr>
          <p:sp>
            <p:nvSpPr>
              <p:cNvPr id="47" name="Freeform 47"/>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48" name="Freeform 48"/>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49" name="Freeform 49"/>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1" name="TextBox 51"/>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2" name="TextBox 52"/>
            <p:cNvSpPr txBox="1"/>
            <p:nvPr/>
          </p:nvSpPr>
          <p:spPr>
            <a:xfrm>
              <a:off x="7402830" y="2733675"/>
              <a:ext cx="3455670"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ChatGPT đọc phần nào để quyết định</a:t>
              </a:r>
              <a:br/>
              <a:r>
                <a:rPr lang="vi-VN" sz="1500" b="1" dirty="0">
                  <a:solidFill>
                    <a:schemeClr val="accent1"/>
                  </a:solidFill>
                  <a:latin typeface="+mn-lt"/>
                  <a:ea typeface="+mn-ea"/>
                  <a:cs typeface="+mn-cs"/>
                </a:rPr>
                <a:t>dùng skill?</a:t>
              </a:r>
            </a:p>
          </p:txBody>
        </p:sp>
        <p:sp>
          <p:nvSpPr>
            <p:cNvPr id="53" name="Line 53"/>
            <p:cNvSpPr/>
            <p:nvPr/>
          </p:nvSpPr>
          <p:spPr>
            <a:xfrm>
              <a:off x="7410450" y="36576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4" name="TextBox 54"/>
            <p:cNvSpPr txBox="1"/>
            <p:nvPr/>
          </p:nvSpPr>
          <p:spPr>
            <a:xfrm>
              <a:off x="7402830" y="3838575"/>
              <a:ext cx="263093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Bước 1 của mọi skill là gì?</a:t>
              </a:r>
            </a:p>
          </p:txBody>
        </p:sp>
        <p:sp>
          <p:nvSpPr>
            <p:cNvPr id="55" name="Line 55"/>
            <p:cNvSpPr/>
            <p:nvPr/>
          </p:nvSpPr>
          <p:spPr>
            <a:xfrm>
              <a:off x="7410450" y="45148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4695825"/>
              <a:ext cx="317158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ra kết quả sai, sửa ở đâu?</a:t>
              </a:r>
            </a:p>
          </p:txBody>
        </p:sp>
      </p:grpSp>
      <p:grpSp>
        <p:nvGrpSpPr>
          <p:cNvPr id="59" name="Group 59"/>
          <p:cNvGrpSpPr/>
          <p:nvPr/>
        </p:nvGrpSpPr>
        <p:grpSpPr>
          <a:xfrm>
            <a:off x="7402830" y="3267075"/>
            <a:ext cx="2501122" cy="293370"/>
            <a:chOff x="7402830" y="3267075"/>
            <a:chExt cx="2501122" cy="293370"/>
          </a:xfrm>
        </p:grpSpPr>
        <p:sp>
          <p:nvSpPr>
            <p:cNvPr id="58" name="TextBox 58"/>
            <p:cNvSpPr txBox="1"/>
            <p:nvPr/>
          </p:nvSpPr>
          <p:spPr>
            <a:xfrm>
              <a:off x="7402830" y="3267075"/>
              <a:ext cx="250112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Tên và dòng description</a:t>
              </a:r>
            </a:p>
          </p:txBody>
        </p:sp>
      </p:grpSp>
      <p:grpSp>
        <p:nvGrpSpPr>
          <p:cNvPr id="61" name="Group 61"/>
          <p:cNvGrpSpPr/>
          <p:nvPr/>
        </p:nvGrpSpPr>
        <p:grpSpPr>
          <a:xfrm>
            <a:off x="7402830" y="4124325"/>
            <a:ext cx="3804038" cy="293370"/>
            <a:chOff x="7402830" y="4124325"/>
            <a:chExt cx="3804038" cy="293370"/>
          </a:xfrm>
        </p:grpSpPr>
        <p:sp>
          <p:nvSpPr>
            <p:cNvPr id="60" name="TextBox 60"/>
            <p:cNvSpPr txBox="1"/>
            <p:nvPr/>
          </p:nvSpPr>
          <p:spPr>
            <a:xfrm>
              <a:off x="7402830" y="4124325"/>
              <a:ext cx="38040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Kiểm tra đủ đầu vào, thiếu thì hỏi lại</a:t>
              </a:r>
            </a:p>
          </p:txBody>
        </p:sp>
      </p:grpSp>
      <p:grpSp>
        <p:nvGrpSpPr>
          <p:cNvPr id="63" name="Group 63"/>
          <p:cNvGrpSpPr/>
          <p:nvPr/>
        </p:nvGrpSpPr>
        <p:grpSpPr>
          <a:xfrm>
            <a:off x="7402830" y="4981575"/>
            <a:ext cx="3915070" cy="293370"/>
            <a:chOff x="7402830" y="4981575"/>
            <a:chExt cx="3915070" cy="293370"/>
          </a:xfrm>
        </p:grpSpPr>
        <p:sp>
          <p:nvSpPr>
            <p:cNvPr id="62" name="TextBox 62"/>
            <p:cNvSpPr txBox="1"/>
            <p:nvPr/>
          </p:nvSpPr>
          <p:spPr>
            <a:xfrm>
              <a:off x="7402830" y="4981575"/>
              <a:ext cx="391507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Sửa trong skill, không sửa tay kết quả</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7946678" y="6554152"/>
            <a:ext cx="3202906"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Số liệu Lactobact Intima: tài liệu sản phẩm Wir</a:t>
            </a:r>
          </a:p>
        </p:txBody>
      </p:sp>
      <p:sp>
        <p:nvSpPr>
          <p:cNvPr id="66" name="TextBox 6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3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3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3"/>
                                        </p:tgtEl>
                                        <p:attrNameLst>
                                          <p:attrName>style.visibility</p:attrName>
                                        </p:attrNameLst>
                                      </p:cBhvr>
                                      <p:to>
                                        <p:strVal val="visible"/>
                                      </p:to>
                                    </p:set>
                                    <p:animEffect transition="in" filter="fade">
                                      <p:cBhvr>
                                        <p:cTn id="17" dur="3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1"/>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4</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4</a:t>
              </a:r>
            </a:p>
          </p:txBody>
        </p:sp>
        <p:sp>
          <p:nvSpPr>
            <p:cNvPr id="5" name="TextBox 5"/>
            <p:cNvSpPr txBox="1"/>
            <p:nvPr/>
          </p:nvSpPr>
          <p:spPr>
            <a:xfrm>
              <a:off x="514350" y="4208145"/>
              <a:ext cx="1596215"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Plugin</a:t>
              </a:r>
            </a:p>
          </p:txBody>
        </p:sp>
        <p:grpSp>
          <p:nvGrpSpPr>
            <p:cNvPr id="12" name="Group 12"/>
            <p:cNvGrpSpPr/>
            <p:nvPr/>
          </p:nvGrpSpPr>
          <p:grpSpPr>
            <a:xfrm>
              <a:off x="609600" y="5410200"/>
              <a:ext cx="457201" cy="457201"/>
              <a:chOff x="609600" y="5410200"/>
              <a:chExt cx="457201" cy="457201"/>
            </a:xfrm>
          </p:grpSpPr>
          <p:sp>
            <p:nvSpPr>
              <p:cNvPr id="6" name="Freeform 6"/>
              <p:cNvSpPr/>
              <p:nvPr/>
            </p:nvSpPr>
            <p:spPr>
              <a:xfrm>
                <a:off x="640465" y="5638800"/>
                <a:ext cx="197735" cy="197735"/>
              </a:xfrm>
              <a:custGeom>
                <a:avLst/>
                <a:gdLst/>
                <a:ahLst/>
                <a:cxnLst/>
                <a:rect l="l" t="t" r="r" b="b"/>
                <a:pathLst>
                  <a:path w="197735" h="197735">
                    <a:moveTo>
                      <a:pt x="70735" y="0"/>
                    </a:moveTo>
                    <a:lnTo>
                      <a:pt x="197735" y="127000"/>
                    </a:lnTo>
                    <a:lnTo>
                      <a:pt x="159635" y="165100"/>
                    </a:lnTo>
                    <a:cubicBezTo>
                      <a:pt x="137075" y="188405"/>
                      <a:pt x="103703" y="197735"/>
                      <a:pt x="72328" y="189510"/>
                    </a:cubicBezTo>
                    <a:cubicBezTo>
                      <a:pt x="40953" y="181285"/>
                      <a:pt x="16450" y="156782"/>
                      <a:pt x="8225" y="125407"/>
                    </a:cubicBezTo>
                    <a:cubicBezTo>
                      <a:pt x="0" y="94032"/>
                      <a:pt x="9330" y="60660"/>
                      <a:pt x="32635" y="38100"/>
                    </a:cubicBezTo>
                    <a:lnTo>
                      <a:pt x="70735" y="0"/>
                    </a:lnTo>
                  </a:path>
                </a:pathLst>
              </a:custGeom>
              <a:noFill/>
              <a:ln w="50800">
                <a:solidFill>
                  <a:srgbClr val="FFFFFF"/>
                </a:solidFill>
              </a:ln>
            </p:spPr>
          </p:sp>
          <p:sp>
            <p:nvSpPr>
              <p:cNvPr id="7" name="Freeform 7"/>
              <p:cNvSpPr/>
              <p:nvPr/>
            </p:nvSpPr>
            <p:spPr>
              <a:xfrm>
                <a:off x="838200" y="5441065"/>
                <a:ext cx="197735" cy="197735"/>
              </a:xfrm>
              <a:custGeom>
                <a:avLst/>
                <a:gdLst/>
                <a:ahLst/>
                <a:cxnLst/>
                <a:rect l="l" t="t" r="r" b="b"/>
                <a:pathLst>
                  <a:path w="197735" h="197735">
                    <a:moveTo>
                      <a:pt x="127000" y="197735"/>
                    </a:moveTo>
                    <a:lnTo>
                      <a:pt x="0" y="70735"/>
                    </a:lnTo>
                    <a:lnTo>
                      <a:pt x="38100" y="32635"/>
                    </a:lnTo>
                    <a:cubicBezTo>
                      <a:pt x="60660" y="9330"/>
                      <a:pt x="94032" y="0"/>
                      <a:pt x="125407" y="8225"/>
                    </a:cubicBezTo>
                    <a:cubicBezTo>
                      <a:pt x="156782" y="16450"/>
                      <a:pt x="181285" y="40953"/>
                      <a:pt x="189510" y="72328"/>
                    </a:cubicBezTo>
                    <a:cubicBezTo>
                      <a:pt x="197735" y="103703"/>
                      <a:pt x="188405" y="137075"/>
                      <a:pt x="165100" y="159635"/>
                    </a:cubicBezTo>
                    <a:lnTo>
                      <a:pt x="127000" y="197735"/>
                    </a:lnTo>
                  </a:path>
                </a:pathLst>
              </a:custGeom>
              <a:noFill/>
              <a:ln w="50800">
                <a:solidFill>
                  <a:srgbClr val="FFFFFF"/>
                </a:solidFill>
              </a:ln>
            </p:spPr>
          </p:sp>
          <p:sp>
            <p:nvSpPr>
              <p:cNvPr id="8" name="Freeform 8"/>
              <p:cNvSpPr/>
              <p:nvPr/>
            </p:nvSpPr>
            <p:spPr>
              <a:xfrm>
                <a:off x="609600" y="5803901"/>
                <a:ext cx="63500" cy="63500"/>
              </a:xfrm>
              <a:custGeom>
                <a:avLst/>
                <a:gdLst/>
                <a:ahLst/>
                <a:cxnLst/>
                <a:rect l="l" t="t" r="r" b="b"/>
                <a:pathLst>
                  <a:path w="63500" h="63500">
                    <a:moveTo>
                      <a:pt x="0" y="63500"/>
                    </a:moveTo>
                    <a:lnTo>
                      <a:pt x="63500" y="0"/>
                    </a:lnTo>
                  </a:path>
                </a:pathLst>
              </a:custGeom>
              <a:noFill/>
              <a:ln w="50800">
                <a:solidFill>
                  <a:srgbClr val="FFFFFF"/>
                </a:solidFill>
              </a:ln>
            </p:spPr>
          </p:sp>
          <p:sp>
            <p:nvSpPr>
              <p:cNvPr id="9" name="Freeform 9"/>
              <p:cNvSpPr/>
              <p:nvPr/>
            </p:nvSpPr>
            <p:spPr>
              <a:xfrm>
                <a:off x="1003301" y="5410200"/>
                <a:ext cx="63500" cy="63500"/>
              </a:xfrm>
              <a:custGeom>
                <a:avLst/>
                <a:gdLst/>
                <a:ahLst/>
                <a:cxnLst/>
                <a:rect l="l" t="t" r="r" b="b"/>
                <a:pathLst>
                  <a:path w="63500" h="63500">
                    <a:moveTo>
                      <a:pt x="0" y="63500"/>
                    </a:moveTo>
                    <a:lnTo>
                      <a:pt x="63500" y="0"/>
                    </a:lnTo>
                  </a:path>
                </a:pathLst>
              </a:custGeom>
              <a:noFill/>
              <a:ln w="50800">
                <a:solidFill>
                  <a:srgbClr val="FFFFFF"/>
                </a:solidFill>
              </a:ln>
            </p:spPr>
          </p:sp>
          <p:sp>
            <p:nvSpPr>
              <p:cNvPr id="10" name="Freeform 10"/>
              <p:cNvSpPr/>
              <p:nvPr/>
            </p:nvSpPr>
            <p:spPr>
              <a:xfrm>
                <a:off x="736600" y="5613400"/>
                <a:ext cx="50800" cy="50800"/>
              </a:xfrm>
              <a:custGeom>
                <a:avLst/>
                <a:gdLst/>
                <a:ahLst/>
                <a:cxnLst/>
                <a:rect l="l" t="t" r="r" b="b"/>
                <a:pathLst>
                  <a:path w="50800" h="50800">
                    <a:moveTo>
                      <a:pt x="50800" y="0"/>
                    </a:moveTo>
                    <a:lnTo>
                      <a:pt x="0" y="50800"/>
                    </a:lnTo>
                  </a:path>
                </a:pathLst>
              </a:custGeom>
              <a:noFill/>
              <a:ln w="50800">
                <a:solidFill>
                  <a:srgbClr val="FFFFFF"/>
                </a:solidFill>
              </a:ln>
            </p:spPr>
          </p:sp>
          <p:sp>
            <p:nvSpPr>
              <p:cNvPr id="11" name="Freeform 11"/>
              <p:cNvSpPr/>
              <p:nvPr/>
            </p:nvSpPr>
            <p:spPr>
              <a:xfrm>
                <a:off x="812800" y="5689600"/>
                <a:ext cx="50800" cy="50800"/>
              </a:xfrm>
              <a:custGeom>
                <a:avLst/>
                <a:gdLst/>
                <a:ahLst/>
                <a:cxnLst/>
                <a:rect l="l" t="t" r="r" b="b"/>
                <a:pathLst>
                  <a:path w="50800" h="50800">
                    <a:moveTo>
                      <a:pt x="50800" y="0"/>
                    </a:moveTo>
                    <a:lnTo>
                      <a:pt x="0" y="50800"/>
                    </a:lnTo>
                  </a:path>
                </a:pathLst>
              </a:custGeom>
              <a:noFill/>
              <a:ln w="50800">
                <a:solidFill>
                  <a:srgbClr val="FFFFFF"/>
                </a:solidFill>
              </a:ln>
            </p:spPr>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sp>
        <p:sp>
          <p:nvSpPr>
            <p:cNvPr id="15" name="Rectangle 15"/>
            <p:cNvSpPr/>
            <p:nvPr/>
          </p:nvSpPr>
          <p:spPr>
            <a:xfrm>
              <a:off x="7010400" y="304800"/>
              <a:ext cx="1143000" cy="114300"/>
            </a:xfrm>
            <a:prstGeom prst="roundRect">
              <a:avLst>
                <a:gd name="adj" fmla="val 25000"/>
              </a:avLst>
            </a:prstGeom>
            <a:solidFill>
              <a:srgbClr val="E3E9F1"/>
            </a:solidFill>
            <a:ln>
              <a:noFill/>
            </a:ln>
          </p:spPr>
        </p:sp>
        <p:sp>
          <p:nvSpPr>
            <p:cNvPr id="16" name="Rectangle 16"/>
            <p:cNvSpPr/>
            <p:nvPr/>
          </p:nvSpPr>
          <p:spPr>
            <a:xfrm>
              <a:off x="8229600" y="266700"/>
              <a:ext cx="1143000" cy="152400"/>
            </a:xfrm>
            <a:prstGeom prst="roundRect">
              <a:avLst>
                <a:gd name="adj" fmla="val 18750"/>
              </a:avLst>
            </a:prstGeom>
            <a:solidFill>
              <a:srgbClr val="E3E9F1"/>
            </a:solidFill>
            <a:ln>
              <a:noFill/>
            </a:ln>
          </p:spPr>
        </p:sp>
        <p:sp>
          <p:nvSpPr>
            <p:cNvPr id="17" name="Rectangle 17"/>
            <p:cNvSpPr/>
            <p:nvPr/>
          </p:nvSpPr>
          <p:spPr>
            <a:xfrm>
              <a:off x="9448800" y="228600"/>
              <a:ext cx="1143000" cy="190500"/>
            </a:xfrm>
            <a:prstGeom prst="roundRect">
              <a:avLst>
                <a:gd name="adj" fmla="val 15000"/>
              </a:avLst>
            </a:prstGeom>
            <a:solidFill>
              <a:schemeClr val="accent2"/>
            </a:solidFill>
            <a:ln>
              <a:noFill/>
            </a:ln>
          </p:spPr>
        </p:sp>
        <p:sp>
          <p:nvSpPr>
            <p:cNvPr id="18" name="Rectangle 18"/>
            <p:cNvSpPr/>
            <p:nvPr/>
          </p:nvSpPr>
          <p:spPr>
            <a:xfrm>
              <a:off x="10668000" y="190500"/>
              <a:ext cx="1143000" cy="228600"/>
            </a:xfrm>
            <a:prstGeom prst="roundRect">
              <a:avLst>
                <a:gd name="adj" fmla="val 12500"/>
              </a:avLst>
            </a:prstGeom>
            <a:solidFill>
              <a:srgbClr val="E3E9F1"/>
            </a:solidFill>
            <a:ln>
              <a:noFill/>
            </a:ln>
          </p:spPr>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2" name="TextBox 22"/>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599675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Cho ChatGPT tay chân,</a:t>
            </a:r>
            <a:br/>
            <a:r>
              <a:rPr lang="vi-VN" sz="3150" b="1" dirty="0">
                <a:solidFill>
                  <a:schemeClr val="accent1"/>
                </a:solidFill>
                <a:latin typeface="+mn-lt"/>
                <a:ea typeface="+mn-ea"/>
                <a:cs typeface="+mn-cs"/>
              </a:rPr>
              <a:t>đóng gói bộ công cụ của phòng</a:t>
            </a:r>
          </a:p>
        </p:txBody>
      </p:sp>
      <p:grpSp>
        <p:nvGrpSpPr>
          <p:cNvPr id="32" name="Group 32"/>
          <p:cNvGrpSpPr/>
          <p:nvPr/>
        </p:nvGrpSpPr>
        <p:grpSpPr>
          <a:xfrm>
            <a:off x="4944618" y="2400300"/>
            <a:ext cx="6933486" cy="1020889"/>
            <a:chOff x="4944618" y="2400300"/>
            <a:chExt cx="6933486" cy="1020889"/>
          </a:xfrm>
        </p:grpSpPr>
        <p:sp>
          <p:nvSpPr>
            <p:cNvPr id="26" name="Rectangle 26"/>
            <p:cNvSpPr/>
            <p:nvPr/>
          </p:nvSpPr>
          <p:spPr>
            <a:xfrm>
              <a:off x="4953000" y="2400300"/>
              <a:ext cx="6781800" cy="457200"/>
            </a:xfrm>
            <a:prstGeom prst="roundRect">
              <a:avLst>
                <a:gd name="adj" fmla="val 50000"/>
              </a:avLst>
            </a:prstGeom>
            <a:solidFill>
              <a:schemeClr val="lt2"/>
            </a:solidFill>
            <a:ln>
              <a:noFill/>
            </a:ln>
          </p:spPr>
        </p:sp>
        <p:grpSp>
          <p:nvGrpSpPr>
            <p:cNvPr id="29" name="Group 29"/>
            <p:cNvGrpSpPr/>
            <p:nvPr/>
          </p:nvGrpSpPr>
          <p:grpSpPr>
            <a:xfrm>
              <a:off x="5172075" y="2543177"/>
              <a:ext cx="171448" cy="171448"/>
              <a:chOff x="5172075" y="2543177"/>
              <a:chExt cx="171448" cy="171448"/>
            </a:xfrm>
          </p:grpSpPr>
          <p:sp>
            <p:nvSpPr>
              <p:cNvPr id="27" name="Freeform 27"/>
              <p:cNvSpPr/>
              <p:nvPr/>
            </p:nvSpPr>
            <p:spPr>
              <a:xfrm>
                <a:off x="5172075" y="2543177"/>
                <a:ext cx="171448" cy="171448"/>
              </a:xfrm>
              <a:custGeom>
                <a:avLst/>
                <a:gdLst/>
                <a:ahLst/>
                <a:cxnLst/>
                <a:rect l="l" t="t" r="r" b="b"/>
                <a:pathLst>
                  <a:path w="171448" h="171448">
                    <a:moveTo>
                      <a:pt x="129111" y="8028"/>
                    </a:moveTo>
                    <a:lnTo>
                      <a:pt x="163420" y="42337"/>
                    </a:lnTo>
                    <a:cubicBezTo>
                      <a:pt x="168560" y="47476"/>
                      <a:pt x="171448" y="54447"/>
                      <a:pt x="171448" y="61715"/>
                    </a:cubicBezTo>
                    <a:cubicBezTo>
                      <a:pt x="171448" y="68984"/>
                      <a:pt x="168560" y="75955"/>
                      <a:pt x="163420" y="81094"/>
                    </a:cubicBezTo>
                    <a:lnTo>
                      <a:pt x="138246" y="106269"/>
                    </a:lnTo>
                    <a:cubicBezTo>
                      <a:pt x="133107" y="111409"/>
                      <a:pt x="126136" y="114296"/>
                      <a:pt x="118867" y="114296"/>
                    </a:cubicBezTo>
                    <a:cubicBezTo>
                      <a:pt x="111599" y="114296"/>
                      <a:pt x="104628" y="111409"/>
                      <a:pt x="99489" y="106269"/>
                    </a:cubicBezTo>
                    <a:lnTo>
                      <a:pt x="96622" y="103402"/>
                    </a:lnTo>
                    <a:lnTo>
                      <a:pt x="34157" y="165867"/>
                    </a:lnTo>
                    <a:cubicBezTo>
                      <a:pt x="30992" y="169031"/>
                      <a:pt x="26814" y="170980"/>
                      <a:pt x="22355" y="171372"/>
                    </a:cubicBezTo>
                    <a:lnTo>
                      <a:pt x="20688" y="171448"/>
                    </a:lnTo>
                    <a:lnTo>
                      <a:pt x="9525" y="171448"/>
                    </a:lnTo>
                    <a:cubicBezTo>
                      <a:pt x="4696" y="171448"/>
                      <a:pt x="632" y="167833"/>
                      <a:pt x="67" y="163038"/>
                    </a:cubicBezTo>
                    <a:lnTo>
                      <a:pt x="0" y="161923"/>
                    </a:lnTo>
                    <a:lnTo>
                      <a:pt x="0" y="150760"/>
                    </a:lnTo>
                    <a:cubicBezTo>
                      <a:pt x="1" y="146287"/>
                      <a:pt x="1576" y="141958"/>
                      <a:pt x="4448" y="138530"/>
                    </a:cubicBezTo>
                    <a:lnTo>
                      <a:pt x="5582" y="137292"/>
                    </a:lnTo>
                    <a:lnTo>
                      <a:pt x="9525" y="133348"/>
                    </a:lnTo>
                    <a:lnTo>
                      <a:pt x="28575" y="133348"/>
                    </a:lnTo>
                    <a:lnTo>
                      <a:pt x="28575" y="114298"/>
                    </a:lnTo>
                    <a:lnTo>
                      <a:pt x="47625" y="114298"/>
                    </a:lnTo>
                    <a:lnTo>
                      <a:pt x="47625" y="95248"/>
                    </a:lnTo>
                    <a:lnTo>
                      <a:pt x="68047" y="74827"/>
                    </a:lnTo>
                    <a:lnTo>
                      <a:pt x="65180" y="71960"/>
                    </a:lnTo>
                    <a:cubicBezTo>
                      <a:pt x="60040" y="66820"/>
                      <a:pt x="57152" y="59849"/>
                      <a:pt x="57152" y="52581"/>
                    </a:cubicBezTo>
                    <a:cubicBezTo>
                      <a:pt x="57152" y="45312"/>
                      <a:pt x="60040" y="38342"/>
                      <a:pt x="65180" y="33202"/>
                    </a:cubicBezTo>
                    <a:lnTo>
                      <a:pt x="90354" y="8028"/>
                    </a:lnTo>
                    <a:cubicBezTo>
                      <a:pt x="95493" y="2888"/>
                      <a:pt x="102464" y="0"/>
                      <a:pt x="109733" y="0"/>
                    </a:cubicBezTo>
                    <a:cubicBezTo>
                      <a:pt x="117001" y="0"/>
                      <a:pt x="123972" y="2888"/>
                      <a:pt x="129111" y="8028"/>
                    </a:cubicBezTo>
                  </a:path>
                </a:pathLst>
              </a:custGeom>
              <a:noFill/>
              <a:ln w="19050">
                <a:solidFill>
                  <a:schemeClr val="accent1"/>
                </a:solidFill>
              </a:ln>
            </p:spPr>
          </p:sp>
          <p:sp>
            <p:nvSpPr>
              <p:cNvPr id="28" name="Freeform 28"/>
              <p:cNvSpPr/>
              <p:nvPr/>
            </p:nvSpPr>
            <p:spPr>
              <a:xfrm>
                <a:off x="5286375" y="2600325"/>
                <a:ext cx="9525" cy="9525"/>
              </a:xfrm>
              <a:custGeom>
                <a:avLst/>
                <a:gdLst/>
                <a:ahLst/>
                <a:cxnLst/>
                <a:rect l="l" t="t" r="r" b="b"/>
                <a:pathLst>
                  <a:path w="9525" h="9525">
                    <a:moveTo>
                      <a:pt x="0" y="0"/>
                    </a:moveTo>
                    <a:lnTo>
                      <a:pt x="95" y="0"/>
                    </a:lnTo>
                  </a:path>
                </a:pathLst>
              </a:custGeom>
              <a:noFill/>
              <a:ln w="19050">
                <a:solidFill>
                  <a:schemeClr val="accent1"/>
                </a:solidFill>
              </a:ln>
            </p:spPr>
          </p:sp>
        </p:grpSp>
        <p:sp>
          <p:nvSpPr>
            <p:cNvPr id="30" name="TextBox 30"/>
            <p:cNvSpPr txBox="1"/>
            <p:nvPr/>
          </p:nvSpPr>
          <p:spPr>
            <a:xfrm>
              <a:off x="5478018" y="2526982"/>
              <a:ext cx="640008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Cấp thẻ ra vào, chìa khóa tủ hồ sơ — bàn giao thùng đồ nghề</a:t>
              </a:r>
            </a:p>
          </p:txBody>
        </p:sp>
        <p:sp>
          <p:nvSpPr>
            <p:cNvPr id="31" name="TextBox 31"/>
            <p:cNvSpPr txBox="1"/>
            <p:nvPr/>
          </p:nvSpPr>
          <p:spPr>
            <a:xfrm>
              <a:off x="4944618" y="3098482"/>
              <a:ext cx="645655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ChatGPT chỉ làm việc trên những gì bạn dán vào khung chat.</a:t>
              </a:r>
            </a:p>
          </p:txBody>
        </p:sp>
      </p:grpSp>
      <p:grpSp>
        <p:nvGrpSpPr>
          <p:cNvPr id="46" name="Group 46"/>
          <p:cNvGrpSpPr/>
          <p:nvPr/>
        </p:nvGrpSpPr>
        <p:grpSpPr>
          <a:xfrm>
            <a:off x="4946904" y="3718560"/>
            <a:ext cx="7031527" cy="2350579"/>
            <a:chOff x="4946904" y="3718560"/>
            <a:chExt cx="7031527" cy="2350579"/>
          </a:xfrm>
        </p:grpSpPr>
        <p:sp>
          <p:nvSpPr>
            <p:cNvPr id="33" name="TextBox 33"/>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4" name="Ellipse 34"/>
            <p:cNvSpPr/>
            <p:nvPr/>
          </p:nvSpPr>
          <p:spPr>
            <a:xfrm>
              <a:off x="4962525" y="4038600"/>
              <a:ext cx="285750" cy="285750"/>
            </a:xfrm>
            <a:prstGeom prst="ellipse">
              <a:avLst/>
            </a:prstGeom>
            <a:solidFill>
              <a:schemeClr val="accent1"/>
            </a:solidFill>
            <a:ln>
              <a:noFill/>
            </a:ln>
          </p:spPr>
        </p:sp>
        <p:sp>
          <p:nvSpPr>
            <p:cNvPr id="35" name="TextBox 35"/>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6" name="TextBox 36"/>
            <p:cNvSpPr txBox="1"/>
            <p:nvPr/>
          </p:nvSpPr>
          <p:spPr>
            <a:xfrm>
              <a:off x="5382768" y="4070032"/>
              <a:ext cx="530790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Nối Gmail, Google Drive; đọc hiểu màn hình cấp quyền</a:t>
              </a:r>
              <a:br/>
              <a:r>
                <a:rPr lang="vi-VN" sz="1650" dirty="0">
                  <a:solidFill>
                    <a:schemeClr val="dk1"/>
                  </a:solidFill>
                  <a:latin typeface="+mn-lt"/>
                  <a:ea typeface="+mn-ea"/>
                  <a:cs typeface="+mn-cs"/>
                </a:rPr>
                <a:t>và gỡ được quyền</a:t>
              </a:r>
            </a:p>
          </p:txBody>
        </p:sp>
        <p:sp>
          <p:nvSpPr>
            <p:cNvPr id="37" name="Ellipse 37"/>
            <p:cNvSpPr/>
            <p:nvPr/>
          </p:nvSpPr>
          <p:spPr>
            <a:xfrm>
              <a:off x="4962525" y="4800600"/>
              <a:ext cx="285750" cy="285750"/>
            </a:xfrm>
            <a:prstGeom prst="ellipse">
              <a:avLst/>
            </a:prstGeom>
            <a:solidFill>
              <a:schemeClr val="accent1"/>
            </a:solidFill>
            <a:ln>
              <a:noFill/>
            </a:ln>
          </p:spPr>
        </p:sp>
        <p:sp>
          <p:nvSpPr>
            <p:cNvPr id="38" name="TextBox 38"/>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9" name="TextBox 39"/>
            <p:cNvSpPr txBox="1"/>
            <p:nvPr/>
          </p:nvSpPr>
          <p:spPr>
            <a:xfrm>
              <a:off x="5382768" y="4832032"/>
              <a:ext cx="47229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3 mức quyền đọc, ghi, gửi ra ngoài</a:t>
              </a:r>
            </a:p>
          </p:txBody>
        </p:sp>
        <p:sp>
          <p:nvSpPr>
            <p:cNvPr id="40" name="Ellipse 40"/>
            <p:cNvSpPr/>
            <p:nvPr/>
          </p:nvSpPr>
          <p:spPr>
            <a:xfrm>
              <a:off x="4962525" y="5257800"/>
              <a:ext cx="285750" cy="285750"/>
            </a:xfrm>
            <a:prstGeom prst="ellipse">
              <a:avLst/>
            </a:prstGeom>
            <a:solidFill>
              <a:schemeClr val="accent1"/>
            </a:solidFill>
            <a:ln>
              <a:noFill/>
            </a:ln>
          </p:spPr>
        </p:sp>
        <p:sp>
          <p:nvSpPr>
            <p:cNvPr id="41" name="TextBox 41"/>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2" name="TextBox 42"/>
            <p:cNvSpPr txBox="1"/>
            <p:nvPr/>
          </p:nvSpPr>
          <p:spPr>
            <a:xfrm>
              <a:off x="5382768" y="5289232"/>
              <a:ext cx="628869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Thiết kế luồng tự động có 2 lớp phanh: người duyệt, hẹn giờ</a:t>
              </a:r>
            </a:p>
          </p:txBody>
        </p:sp>
        <p:sp>
          <p:nvSpPr>
            <p:cNvPr id="43" name="Ellipse 43"/>
            <p:cNvSpPr/>
            <p:nvPr/>
          </p:nvSpPr>
          <p:spPr>
            <a:xfrm>
              <a:off x="4962525" y="5715000"/>
              <a:ext cx="285750" cy="285750"/>
            </a:xfrm>
            <a:prstGeom prst="ellipse">
              <a:avLst/>
            </a:prstGeom>
            <a:solidFill>
              <a:schemeClr val="accent1"/>
            </a:solidFill>
            <a:ln>
              <a:noFill/>
            </a:ln>
          </p:spPr>
        </p:sp>
        <p:sp>
          <p:nvSpPr>
            <p:cNvPr id="44" name="TextBox 44"/>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5382768" y="5746432"/>
              <a:ext cx="659566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skill, file, app thành plugin của phòng, kèm Playbook</a:t>
              </a:r>
            </a:p>
          </p:txBody>
        </p:sp>
      </p:grpSp>
      <p:sp>
        <p:nvSpPr>
          <p:cNvPr id="47" name="TextBox 47"/>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8" name="TextBox 4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67696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dạy ChatGPT làm đúng,</a:t>
            </a:r>
            <a:br/>
            <a:r>
              <a:rPr lang="vi-VN" sz="3150" b="1" dirty="0">
                <a:solidFill>
                  <a:schemeClr val="accent1"/>
                </a:solidFill>
                <a:latin typeface="+mn-lt"/>
                <a:ea typeface="+mn-ea"/>
                <a:cs typeface="+mn-cs"/>
              </a:rPr>
              <a:t>Plugin cho ChatGPT với tới dữ liệu thật</a:t>
            </a:r>
          </a:p>
        </p:txBody>
      </p:sp>
      <p:grpSp>
        <p:nvGrpSpPr>
          <p:cNvPr id="40" name="Group 40"/>
          <p:cNvGrpSpPr/>
          <p:nvPr/>
        </p:nvGrpSpPr>
        <p:grpSpPr>
          <a:xfrm>
            <a:off x="381000" y="2114550"/>
            <a:ext cx="5524500" cy="2857500"/>
            <a:chOff x="381000" y="2114550"/>
            <a:chExt cx="5524500" cy="2857500"/>
          </a:xfrm>
        </p:grpSpPr>
        <p:sp>
          <p:nvSpPr>
            <p:cNvPr id="17" name="Rectangle 17"/>
            <p:cNvSpPr/>
            <p:nvPr/>
          </p:nvSpPr>
          <p:spPr>
            <a:xfrm>
              <a:off x="381000" y="2114550"/>
              <a:ext cx="5524500" cy="2857500"/>
            </a:xfrm>
            <a:prstGeom prst="roundRect">
              <a:avLst>
                <a:gd name="adj" fmla="val 6000"/>
              </a:avLst>
            </a:prstGeom>
            <a:solidFill>
              <a:schemeClr val="lt1"/>
            </a:solidFill>
            <a:ln w="14288">
              <a:solidFill>
                <a:schemeClr val="accent4"/>
              </a:solidFill>
            </a:ln>
          </p:spPr>
        </p:sp>
        <p:sp>
          <p:nvSpPr>
            <p:cNvPr id="18" name="Ellipse 18"/>
            <p:cNvSpPr/>
            <p:nvPr/>
          </p:nvSpPr>
          <p:spPr>
            <a:xfrm>
              <a:off x="647700" y="2381250"/>
              <a:ext cx="533400" cy="533400"/>
            </a:xfrm>
            <a:prstGeom prst="ellipse">
              <a:avLst/>
            </a:prstGeom>
            <a:solidFill>
              <a:schemeClr val="lt2"/>
            </a:solidFill>
            <a:ln>
              <a:noFill/>
            </a:ln>
          </p:spPr>
        </p:sp>
        <p:grpSp>
          <p:nvGrpSpPr>
            <p:cNvPr id="25" name="Group 25"/>
            <p:cNvGrpSpPr/>
            <p:nvPr/>
          </p:nvGrpSpPr>
          <p:grpSpPr>
            <a:xfrm>
              <a:off x="785812" y="2519362"/>
              <a:ext cx="257176" cy="257176"/>
              <a:chOff x="785812" y="2519362"/>
              <a:chExt cx="257176" cy="257176"/>
            </a:xfrm>
          </p:grpSpPr>
          <p:sp>
            <p:nvSpPr>
              <p:cNvPr id="19" name="Freeform 19"/>
              <p:cNvSpPr/>
              <p:nvPr/>
            </p:nvSpPr>
            <p:spPr>
              <a:xfrm>
                <a:off x="803174" y="2647950"/>
                <a:ext cx="111226" cy="111226"/>
              </a:xfrm>
              <a:custGeom>
                <a:avLst/>
                <a:gdLst/>
                <a:ahLst/>
                <a:cxnLst/>
                <a:rect l="l" t="t" r="r" b="b"/>
                <a:pathLst>
                  <a:path w="111226" h="111226">
                    <a:moveTo>
                      <a:pt x="39788" y="0"/>
                    </a:moveTo>
                    <a:lnTo>
                      <a:pt x="111226" y="71438"/>
                    </a:lnTo>
                    <a:lnTo>
                      <a:pt x="89795" y="92869"/>
                    </a:lnTo>
                    <a:cubicBezTo>
                      <a:pt x="77105" y="105978"/>
                      <a:pt x="58333" y="111226"/>
                      <a:pt x="40684" y="106599"/>
                    </a:cubicBezTo>
                    <a:cubicBezTo>
                      <a:pt x="23036" y="101973"/>
                      <a:pt x="9253" y="88190"/>
                      <a:pt x="4627" y="70541"/>
                    </a:cubicBezTo>
                    <a:cubicBezTo>
                      <a:pt x="0" y="52893"/>
                      <a:pt x="5248" y="34121"/>
                      <a:pt x="18357" y="21431"/>
                    </a:cubicBezTo>
                    <a:lnTo>
                      <a:pt x="39788" y="0"/>
                    </a:lnTo>
                  </a:path>
                </a:pathLst>
              </a:custGeom>
              <a:noFill/>
              <a:ln w="28575">
                <a:solidFill>
                  <a:schemeClr val="accent1"/>
                </a:solidFill>
              </a:ln>
            </p:spPr>
          </p:sp>
          <p:sp>
            <p:nvSpPr>
              <p:cNvPr id="20" name="Freeform 20"/>
              <p:cNvSpPr/>
              <p:nvPr/>
            </p:nvSpPr>
            <p:spPr>
              <a:xfrm>
                <a:off x="914400" y="2536724"/>
                <a:ext cx="111226" cy="111226"/>
              </a:xfrm>
              <a:custGeom>
                <a:avLst/>
                <a:gdLst/>
                <a:ahLst/>
                <a:cxnLst/>
                <a:rect l="l" t="t" r="r" b="b"/>
                <a:pathLst>
                  <a:path w="111226" h="111226">
                    <a:moveTo>
                      <a:pt x="71438" y="111226"/>
                    </a:moveTo>
                    <a:lnTo>
                      <a:pt x="0" y="39788"/>
                    </a:lnTo>
                    <a:lnTo>
                      <a:pt x="21431" y="18357"/>
                    </a:lnTo>
                    <a:cubicBezTo>
                      <a:pt x="34121" y="5248"/>
                      <a:pt x="52893" y="0"/>
                      <a:pt x="70541" y="4627"/>
                    </a:cubicBezTo>
                    <a:cubicBezTo>
                      <a:pt x="88190" y="9253"/>
                      <a:pt x="101973" y="23036"/>
                      <a:pt x="106599" y="40684"/>
                    </a:cubicBezTo>
                    <a:cubicBezTo>
                      <a:pt x="111226" y="58333"/>
                      <a:pt x="105978" y="77105"/>
                      <a:pt x="92869" y="89795"/>
                    </a:cubicBezTo>
                    <a:lnTo>
                      <a:pt x="71438" y="111226"/>
                    </a:lnTo>
                  </a:path>
                </a:pathLst>
              </a:custGeom>
              <a:noFill/>
              <a:ln w="28575">
                <a:solidFill>
                  <a:schemeClr val="accent1"/>
                </a:solidFill>
              </a:ln>
            </p:spPr>
          </p:sp>
          <p:sp>
            <p:nvSpPr>
              <p:cNvPr id="21" name="Freeform 21"/>
              <p:cNvSpPr/>
              <p:nvPr/>
            </p:nvSpPr>
            <p:spPr>
              <a:xfrm>
                <a:off x="785812" y="2740819"/>
                <a:ext cx="35719" cy="35719"/>
              </a:xfrm>
              <a:custGeom>
                <a:avLst/>
                <a:gdLst/>
                <a:ahLst/>
                <a:cxnLst/>
                <a:rect l="l" t="t" r="r" b="b"/>
                <a:pathLst>
                  <a:path w="35719" h="35719">
                    <a:moveTo>
                      <a:pt x="0" y="35719"/>
                    </a:moveTo>
                    <a:lnTo>
                      <a:pt x="35719" y="0"/>
                    </a:lnTo>
                  </a:path>
                </a:pathLst>
              </a:custGeom>
              <a:noFill/>
              <a:ln w="28575">
                <a:solidFill>
                  <a:schemeClr val="accent1"/>
                </a:solidFill>
              </a:ln>
            </p:spPr>
          </p:sp>
          <p:sp>
            <p:nvSpPr>
              <p:cNvPr id="22" name="Freeform 22"/>
              <p:cNvSpPr/>
              <p:nvPr/>
            </p:nvSpPr>
            <p:spPr>
              <a:xfrm>
                <a:off x="1007269" y="2519362"/>
                <a:ext cx="35719" cy="35719"/>
              </a:xfrm>
              <a:custGeom>
                <a:avLst/>
                <a:gdLst/>
                <a:ahLst/>
                <a:cxnLst/>
                <a:rect l="l" t="t" r="r" b="b"/>
                <a:pathLst>
                  <a:path w="35719" h="35719">
                    <a:moveTo>
                      <a:pt x="0" y="35719"/>
                    </a:moveTo>
                    <a:lnTo>
                      <a:pt x="35719" y="0"/>
                    </a:lnTo>
                  </a:path>
                </a:pathLst>
              </a:custGeom>
              <a:noFill/>
              <a:ln w="28575">
                <a:solidFill>
                  <a:schemeClr val="accent1"/>
                </a:solidFill>
              </a:ln>
            </p:spPr>
          </p:sp>
          <p:sp>
            <p:nvSpPr>
              <p:cNvPr id="23" name="Freeform 23"/>
              <p:cNvSpPr/>
              <p:nvPr/>
            </p:nvSpPr>
            <p:spPr>
              <a:xfrm>
                <a:off x="857250" y="2633662"/>
                <a:ext cx="28575" cy="28575"/>
              </a:xfrm>
              <a:custGeom>
                <a:avLst/>
                <a:gdLst/>
                <a:ahLst/>
                <a:cxnLst/>
                <a:rect l="l" t="t" r="r" b="b"/>
                <a:pathLst>
                  <a:path w="28575" h="28575">
                    <a:moveTo>
                      <a:pt x="28575" y="0"/>
                    </a:moveTo>
                    <a:lnTo>
                      <a:pt x="0" y="28575"/>
                    </a:lnTo>
                  </a:path>
                </a:pathLst>
              </a:custGeom>
              <a:noFill/>
              <a:ln w="28575">
                <a:solidFill>
                  <a:schemeClr val="accent1"/>
                </a:solidFill>
              </a:ln>
            </p:spPr>
          </p:sp>
          <p:sp>
            <p:nvSpPr>
              <p:cNvPr id="24" name="Freeform 24"/>
              <p:cNvSpPr/>
              <p:nvPr/>
            </p:nvSpPr>
            <p:spPr>
              <a:xfrm>
                <a:off x="900112" y="2676525"/>
                <a:ext cx="28575" cy="28575"/>
              </a:xfrm>
              <a:custGeom>
                <a:avLst/>
                <a:gdLst/>
                <a:ahLst/>
                <a:cxnLst/>
                <a:rect l="l" t="t" r="r" b="b"/>
                <a:pathLst>
                  <a:path w="28575" h="28575">
                    <a:moveTo>
                      <a:pt x="28575" y="0"/>
                    </a:moveTo>
                    <a:lnTo>
                      <a:pt x="0" y="28575"/>
                    </a:lnTo>
                  </a:path>
                </a:pathLst>
              </a:custGeom>
              <a:noFill/>
              <a:ln w="28575">
                <a:solidFill>
                  <a:schemeClr val="accent1"/>
                </a:solidFill>
              </a:ln>
            </p:spPr>
          </p:sp>
        </p:grpSp>
        <p:sp>
          <p:nvSpPr>
            <p:cNvPr id="26" name="TextBox 26"/>
            <p:cNvSpPr txBox="1"/>
            <p:nvPr/>
          </p:nvSpPr>
          <p:spPr>
            <a:xfrm>
              <a:off x="13228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có sẵn</a:t>
              </a:r>
            </a:p>
          </p:txBody>
        </p:sp>
        <p:sp>
          <p:nvSpPr>
            <p:cNvPr id="27" name="TextBox 27"/>
            <p:cNvSpPr txBox="1"/>
            <p:nvPr/>
          </p:nvSpPr>
          <p:spPr>
            <a:xfrm>
              <a:off x="677418" y="3117532"/>
              <a:ext cx="327526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Kết nối do nhà cung cấp làm sẵn,</a:t>
              </a:r>
              <a:br/>
              <a:r>
                <a:rPr lang="vi-VN" sz="1650" dirty="0">
                  <a:solidFill>
                    <a:schemeClr val="dk1"/>
                  </a:solidFill>
                  <a:latin typeface="+mn-lt"/>
                  <a:ea typeface="+mn-ea"/>
                  <a:cs typeface="+mn-cs"/>
                </a:rPr>
                <a:t>bấm Connect là dùng</a:t>
              </a:r>
            </a:p>
          </p:txBody>
        </p:sp>
        <p:sp>
          <p:nvSpPr>
            <p:cNvPr id="28" name="Rectangle 28"/>
            <p:cNvSpPr/>
            <p:nvPr/>
          </p:nvSpPr>
          <p:spPr>
            <a:xfrm>
              <a:off x="685800" y="3924300"/>
              <a:ext cx="762000" cy="323850"/>
            </a:xfrm>
            <a:prstGeom prst="roundRect">
              <a:avLst>
                <a:gd name="adj" fmla="val 50000"/>
              </a:avLst>
            </a:prstGeom>
            <a:solidFill>
              <a:schemeClr val="lt2"/>
            </a:solidFill>
            <a:ln>
              <a:noFill/>
            </a:ln>
          </p:spPr>
        </p:sp>
        <p:sp>
          <p:nvSpPr>
            <p:cNvPr id="29" name="TextBox 29"/>
            <p:cNvSpPr txBox="1"/>
            <p:nvPr/>
          </p:nvSpPr>
          <p:spPr>
            <a:xfrm>
              <a:off x="823536" y="3997642"/>
              <a:ext cx="486527"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Gmail</a:t>
              </a:r>
            </a:p>
          </p:txBody>
        </p:sp>
        <p:sp>
          <p:nvSpPr>
            <p:cNvPr id="30" name="Rectangle 30"/>
            <p:cNvSpPr/>
            <p:nvPr/>
          </p:nvSpPr>
          <p:spPr>
            <a:xfrm>
              <a:off x="1524000" y="3924300"/>
              <a:ext cx="1371600" cy="323850"/>
            </a:xfrm>
            <a:prstGeom prst="roundRect">
              <a:avLst>
                <a:gd name="adj" fmla="val 50000"/>
              </a:avLst>
            </a:prstGeom>
            <a:solidFill>
              <a:schemeClr val="lt2"/>
            </a:solidFill>
            <a:ln>
              <a:noFill/>
            </a:ln>
          </p:spPr>
        </p:sp>
        <p:sp>
          <p:nvSpPr>
            <p:cNvPr id="31" name="TextBox 31"/>
            <p:cNvSpPr txBox="1"/>
            <p:nvPr/>
          </p:nvSpPr>
          <p:spPr>
            <a:xfrm>
              <a:off x="1639038" y="3997642"/>
              <a:ext cx="1141524"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Google Drive</a:t>
              </a:r>
            </a:p>
          </p:txBody>
        </p:sp>
        <p:sp>
          <p:nvSpPr>
            <p:cNvPr id="32" name="Rectangle 32"/>
            <p:cNvSpPr/>
            <p:nvPr/>
          </p:nvSpPr>
          <p:spPr>
            <a:xfrm>
              <a:off x="2971800" y="3924300"/>
              <a:ext cx="1066800" cy="323850"/>
            </a:xfrm>
            <a:prstGeom prst="roundRect">
              <a:avLst>
                <a:gd name="adj" fmla="val 50000"/>
              </a:avLst>
            </a:prstGeom>
            <a:solidFill>
              <a:schemeClr val="lt2"/>
            </a:solidFill>
            <a:ln>
              <a:noFill/>
            </a:ln>
          </p:spPr>
        </p:sp>
        <p:sp>
          <p:nvSpPr>
            <p:cNvPr id="33" name="TextBox 33"/>
            <p:cNvSpPr txBox="1"/>
            <p:nvPr/>
          </p:nvSpPr>
          <p:spPr>
            <a:xfrm>
              <a:off x="3099581" y="3997642"/>
              <a:ext cx="811238"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Calendar</a:t>
              </a:r>
            </a:p>
          </p:txBody>
        </p:sp>
        <p:sp>
          <p:nvSpPr>
            <p:cNvPr id="34" name="Rectangle 34"/>
            <p:cNvSpPr/>
            <p:nvPr/>
          </p:nvSpPr>
          <p:spPr>
            <a:xfrm>
              <a:off x="685800" y="4343400"/>
              <a:ext cx="876300" cy="323850"/>
            </a:xfrm>
            <a:prstGeom prst="roundRect">
              <a:avLst>
                <a:gd name="adj" fmla="val 50000"/>
              </a:avLst>
            </a:prstGeom>
            <a:solidFill>
              <a:schemeClr val="lt2"/>
            </a:solidFill>
            <a:ln>
              <a:noFill/>
            </a:ln>
          </p:spPr>
        </p:sp>
        <p:sp>
          <p:nvSpPr>
            <p:cNvPr id="35" name="TextBox 35"/>
            <p:cNvSpPr txBox="1"/>
            <p:nvPr/>
          </p:nvSpPr>
          <p:spPr>
            <a:xfrm>
              <a:off x="823340" y="4416742"/>
              <a:ext cx="601219"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Notion</a:t>
              </a:r>
            </a:p>
          </p:txBody>
        </p:sp>
        <p:sp>
          <p:nvSpPr>
            <p:cNvPr id="36" name="Rectangle 36"/>
            <p:cNvSpPr/>
            <p:nvPr/>
          </p:nvSpPr>
          <p:spPr>
            <a:xfrm>
              <a:off x="1638300" y="4343400"/>
              <a:ext cx="762000" cy="323850"/>
            </a:xfrm>
            <a:prstGeom prst="roundRect">
              <a:avLst>
                <a:gd name="adj" fmla="val 50000"/>
              </a:avLst>
            </a:prstGeom>
            <a:solidFill>
              <a:schemeClr val="lt2"/>
            </a:solidFill>
            <a:ln>
              <a:noFill/>
            </a:ln>
          </p:spPr>
        </p:sp>
        <p:sp>
          <p:nvSpPr>
            <p:cNvPr id="37" name="TextBox 37"/>
            <p:cNvSpPr txBox="1"/>
            <p:nvPr/>
          </p:nvSpPr>
          <p:spPr>
            <a:xfrm>
              <a:off x="1771212" y="4416742"/>
              <a:ext cx="496176"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Slack</a:t>
              </a:r>
            </a:p>
          </p:txBody>
        </p:sp>
        <p:sp>
          <p:nvSpPr>
            <p:cNvPr id="38" name="Rectangle 38"/>
            <p:cNvSpPr/>
            <p:nvPr/>
          </p:nvSpPr>
          <p:spPr>
            <a:xfrm>
              <a:off x="2476500" y="4343400"/>
              <a:ext cx="1257300" cy="323850"/>
            </a:xfrm>
            <a:prstGeom prst="roundRect">
              <a:avLst>
                <a:gd name="adj" fmla="val 50000"/>
              </a:avLst>
            </a:prstGeom>
            <a:solidFill>
              <a:schemeClr val="lt2"/>
            </a:solidFill>
            <a:ln>
              <a:noFill/>
            </a:ln>
          </p:spPr>
        </p:sp>
        <p:sp>
          <p:nvSpPr>
            <p:cNvPr id="39" name="TextBox 39"/>
            <p:cNvSpPr txBox="1"/>
            <p:nvPr/>
          </p:nvSpPr>
          <p:spPr>
            <a:xfrm>
              <a:off x="2591709" y="4416742"/>
              <a:ext cx="1026883"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SharePoint</a:t>
              </a:r>
            </a:p>
          </p:txBody>
        </p:sp>
      </p:grpSp>
      <p:grpSp>
        <p:nvGrpSpPr>
          <p:cNvPr id="60" name="Group 60"/>
          <p:cNvGrpSpPr/>
          <p:nvPr/>
        </p:nvGrpSpPr>
        <p:grpSpPr>
          <a:xfrm>
            <a:off x="6286500" y="2114550"/>
            <a:ext cx="5524500" cy="2857500"/>
            <a:chOff x="6286500" y="2114550"/>
            <a:chExt cx="5524500" cy="2857500"/>
          </a:xfrm>
        </p:grpSpPr>
        <p:sp>
          <p:nvSpPr>
            <p:cNvPr id="41" name="Rectangle 41"/>
            <p:cNvSpPr/>
            <p:nvPr/>
          </p:nvSpPr>
          <p:spPr>
            <a:xfrm>
              <a:off x="6286500" y="2114550"/>
              <a:ext cx="5524500" cy="2857500"/>
            </a:xfrm>
            <a:prstGeom prst="roundRect">
              <a:avLst>
                <a:gd name="adj" fmla="val 6000"/>
              </a:avLst>
            </a:prstGeom>
            <a:solidFill>
              <a:schemeClr val="lt1"/>
            </a:solidFill>
            <a:ln w="19050">
              <a:solidFill>
                <a:schemeClr val="accent1"/>
              </a:solidFill>
            </a:ln>
          </p:spPr>
        </p:sp>
        <p:sp>
          <p:nvSpPr>
            <p:cNvPr id="42" name="Ellipse 42"/>
            <p:cNvSpPr/>
            <p:nvPr/>
          </p:nvSpPr>
          <p:spPr>
            <a:xfrm>
              <a:off x="6553200" y="2381250"/>
              <a:ext cx="533400" cy="533400"/>
            </a:xfrm>
            <a:prstGeom prst="ellipse">
              <a:avLst/>
            </a:prstGeom>
            <a:solidFill>
              <a:schemeClr val="lt2"/>
            </a:solidFill>
            <a:ln>
              <a:noFill/>
            </a:ln>
          </p:spPr>
        </p:sp>
        <p:grpSp>
          <p:nvGrpSpPr>
            <p:cNvPr id="48" name="Group 48"/>
            <p:cNvGrpSpPr/>
            <p:nvPr/>
          </p:nvGrpSpPr>
          <p:grpSpPr>
            <a:xfrm>
              <a:off x="6705600" y="2519362"/>
              <a:ext cx="228600" cy="257176"/>
              <a:chOff x="6705600" y="2519362"/>
              <a:chExt cx="228600" cy="257176"/>
            </a:xfrm>
          </p:grpSpPr>
          <p:sp>
            <p:nvSpPr>
              <p:cNvPr id="43" name="Freeform 43"/>
              <p:cNvSpPr/>
              <p:nvPr/>
            </p:nvSpPr>
            <p:spPr>
              <a:xfrm>
                <a:off x="6705600" y="2519362"/>
                <a:ext cx="228600" cy="257175"/>
              </a:xfrm>
              <a:custGeom>
                <a:avLst/>
                <a:gdLst/>
                <a:ahLst/>
                <a:cxnLst/>
                <a:rect l="l" t="t" r="r" b="b"/>
                <a:pathLst>
                  <a:path w="228600" h="257175">
                    <a:moveTo>
                      <a:pt x="114300" y="0"/>
                    </a:moveTo>
                    <a:lnTo>
                      <a:pt x="228600" y="64294"/>
                    </a:lnTo>
                    <a:lnTo>
                      <a:pt x="228600" y="192881"/>
                    </a:lnTo>
                    <a:lnTo>
                      <a:pt x="114300" y="257175"/>
                    </a:lnTo>
                    <a:lnTo>
                      <a:pt x="0" y="192881"/>
                    </a:lnTo>
                    <a:lnTo>
                      <a:pt x="0" y="64294"/>
                    </a:lnTo>
                    <a:lnTo>
                      <a:pt x="114300" y="0"/>
                    </a:lnTo>
                  </a:path>
                </a:pathLst>
              </a:custGeom>
              <a:noFill/>
              <a:ln w="28575">
                <a:solidFill>
                  <a:schemeClr val="accent1"/>
                </a:solidFill>
              </a:ln>
            </p:spPr>
          </p:sp>
          <p:sp>
            <p:nvSpPr>
              <p:cNvPr id="44" name="Freeform 44"/>
              <p:cNvSpPr/>
              <p:nvPr/>
            </p:nvSpPr>
            <p:spPr>
              <a:xfrm>
                <a:off x="6819900" y="2583656"/>
                <a:ext cx="114300" cy="64294"/>
              </a:xfrm>
              <a:custGeom>
                <a:avLst/>
                <a:gdLst/>
                <a:ahLst/>
                <a:cxnLst/>
                <a:rect l="l" t="t" r="r" b="b"/>
                <a:pathLst>
                  <a:path w="114300" h="64294">
                    <a:moveTo>
                      <a:pt x="0" y="64294"/>
                    </a:moveTo>
                    <a:lnTo>
                      <a:pt x="114300" y="0"/>
                    </a:lnTo>
                  </a:path>
                </a:pathLst>
              </a:custGeom>
              <a:noFill/>
              <a:ln w="28575">
                <a:solidFill>
                  <a:schemeClr val="accent1"/>
                </a:solidFill>
              </a:ln>
            </p:spPr>
          </p:sp>
          <p:sp>
            <p:nvSpPr>
              <p:cNvPr id="45" name="Freeform 45"/>
              <p:cNvSpPr/>
              <p:nvPr/>
            </p:nvSpPr>
            <p:spPr>
              <a:xfrm>
                <a:off x="6819900" y="2647950"/>
                <a:ext cx="9525" cy="128588"/>
              </a:xfrm>
              <a:custGeom>
                <a:avLst/>
                <a:gdLst/>
                <a:ahLst/>
                <a:cxnLst/>
                <a:rect l="l" t="t" r="r" b="b"/>
                <a:pathLst>
                  <a:path w="9525" h="128588">
                    <a:moveTo>
                      <a:pt x="0" y="0"/>
                    </a:moveTo>
                    <a:lnTo>
                      <a:pt x="0" y="128588"/>
                    </a:lnTo>
                  </a:path>
                </a:pathLst>
              </a:custGeom>
              <a:noFill/>
              <a:ln w="28575">
                <a:solidFill>
                  <a:schemeClr val="accent1"/>
                </a:solidFill>
              </a:ln>
            </p:spPr>
          </p:sp>
          <p:sp>
            <p:nvSpPr>
              <p:cNvPr id="46" name="Freeform 46"/>
              <p:cNvSpPr/>
              <p:nvPr/>
            </p:nvSpPr>
            <p:spPr>
              <a:xfrm>
                <a:off x="6705600" y="2583656"/>
                <a:ext cx="114300" cy="64294"/>
              </a:xfrm>
              <a:custGeom>
                <a:avLst/>
                <a:gdLst/>
                <a:ahLst/>
                <a:cxnLst/>
                <a:rect l="l" t="t" r="r" b="b"/>
                <a:pathLst>
                  <a:path w="114300" h="64294">
                    <a:moveTo>
                      <a:pt x="114300" y="64294"/>
                    </a:moveTo>
                    <a:lnTo>
                      <a:pt x="0" y="0"/>
                    </a:lnTo>
                  </a:path>
                </a:pathLst>
              </a:custGeom>
              <a:noFill/>
              <a:ln w="28575">
                <a:solidFill>
                  <a:schemeClr val="accent1"/>
                </a:solidFill>
              </a:ln>
            </p:spPr>
          </p:sp>
          <p:sp>
            <p:nvSpPr>
              <p:cNvPr id="47" name="Freeform 47"/>
              <p:cNvSpPr/>
              <p:nvPr/>
            </p:nvSpPr>
            <p:spPr>
              <a:xfrm>
                <a:off x="6762750" y="2551509"/>
                <a:ext cx="114300" cy="64294"/>
              </a:xfrm>
              <a:custGeom>
                <a:avLst/>
                <a:gdLst/>
                <a:ahLst/>
                <a:cxnLst/>
                <a:rect l="l" t="t" r="r" b="b"/>
                <a:pathLst>
                  <a:path w="114300" h="64294">
                    <a:moveTo>
                      <a:pt x="114300" y="0"/>
                    </a:moveTo>
                    <a:lnTo>
                      <a:pt x="0" y="64294"/>
                    </a:lnTo>
                  </a:path>
                </a:pathLst>
              </a:custGeom>
              <a:noFill/>
              <a:ln w="28575">
                <a:solidFill>
                  <a:schemeClr val="accent1"/>
                </a:solidFill>
              </a:ln>
            </p:spPr>
          </p:sp>
        </p:grpSp>
        <p:sp>
          <p:nvSpPr>
            <p:cNvPr id="49" name="TextBox 49"/>
            <p:cNvSpPr txBox="1"/>
            <p:nvPr/>
          </p:nvSpPr>
          <p:spPr>
            <a:xfrm>
              <a:off x="72283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tự tạo</a:t>
              </a:r>
            </a:p>
          </p:txBody>
        </p:sp>
        <p:sp>
          <p:nvSpPr>
            <p:cNvPr id="50" name="TextBox 50"/>
            <p:cNvSpPr txBox="1"/>
            <p:nvPr/>
          </p:nvSpPr>
          <p:spPr>
            <a:xfrm>
              <a:off x="6582918" y="3117532"/>
              <a:ext cx="312858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Gói Skill + File tham chiếu + App</a:t>
              </a:r>
              <a:br/>
              <a:r>
                <a:rPr lang="vi-VN" sz="1650" dirty="0">
                  <a:solidFill>
                    <a:schemeClr val="dk1"/>
                  </a:solidFill>
                  <a:latin typeface="+mn-lt"/>
                  <a:ea typeface="+mn-ea"/>
                  <a:cs typeface="+mn-cs"/>
                </a:rPr>
                <a:t>cho một quy trình trọn vẹn</a:t>
              </a:r>
            </a:p>
          </p:txBody>
        </p:sp>
        <p:sp>
          <p:nvSpPr>
            <p:cNvPr id="51" name="Rectangle 51"/>
            <p:cNvSpPr/>
            <p:nvPr/>
          </p:nvSpPr>
          <p:spPr>
            <a:xfrm>
              <a:off x="6591300" y="3867150"/>
              <a:ext cx="1047750" cy="419100"/>
            </a:xfrm>
            <a:prstGeom prst="roundRect">
              <a:avLst>
                <a:gd name="adj" fmla="val 27273"/>
              </a:avLst>
            </a:prstGeom>
            <a:solidFill>
              <a:srgbClr val="2E5E91"/>
            </a:solidFill>
            <a:ln>
              <a:noFill/>
            </a:ln>
          </p:spPr>
        </p:sp>
        <p:sp>
          <p:nvSpPr>
            <p:cNvPr id="52" name="TextBox 52"/>
            <p:cNvSpPr txBox="1"/>
            <p:nvPr/>
          </p:nvSpPr>
          <p:spPr>
            <a:xfrm>
              <a:off x="6893128" y="39814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53" name="TextBox 53"/>
            <p:cNvSpPr txBox="1"/>
            <p:nvPr/>
          </p:nvSpPr>
          <p:spPr>
            <a:xfrm>
              <a:off x="770574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4" name="Rectangle 54"/>
            <p:cNvSpPr/>
            <p:nvPr/>
          </p:nvSpPr>
          <p:spPr>
            <a:xfrm>
              <a:off x="7962900" y="3867150"/>
              <a:ext cx="1714500" cy="419100"/>
            </a:xfrm>
            <a:prstGeom prst="roundRect">
              <a:avLst>
                <a:gd name="adj" fmla="val 27273"/>
              </a:avLst>
            </a:prstGeom>
            <a:solidFill>
              <a:schemeClr val="accent3"/>
            </a:solidFill>
            <a:ln>
              <a:noFill/>
            </a:ln>
          </p:spPr>
        </p:sp>
        <p:sp>
          <p:nvSpPr>
            <p:cNvPr id="55" name="TextBox 55"/>
            <p:cNvSpPr txBox="1"/>
            <p:nvPr/>
          </p:nvSpPr>
          <p:spPr>
            <a:xfrm>
              <a:off x="8045911" y="3981450"/>
              <a:ext cx="15484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File tham chiếu</a:t>
              </a:r>
            </a:p>
          </p:txBody>
        </p:sp>
        <p:sp>
          <p:nvSpPr>
            <p:cNvPr id="56" name="TextBox 56"/>
            <p:cNvSpPr txBox="1"/>
            <p:nvPr/>
          </p:nvSpPr>
          <p:spPr>
            <a:xfrm>
              <a:off x="974409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7" name="Rectangle 57"/>
            <p:cNvSpPr/>
            <p:nvPr/>
          </p:nvSpPr>
          <p:spPr>
            <a:xfrm>
              <a:off x="10001250" y="3867150"/>
              <a:ext cx="1047750" cy="419100"/>
            </a:xfrm>
            <a:prstGeom prst="roundRect">
              <a:avLst>
                <a:gd name="adj" fmla="val 27273"/>
              </a:avLst>
            </a:prstGeom>
            <a:solidFill>
              <a:schemeClr val="accent1"/>
            </a:solidFill>
            <a:ln>
              <a:noFill/>
            </a:ln>
          </p:spPr>
        </p:sp>
        <p:sp>
          <p:nvSpPr>
            <p:cNvPr id="58" name="TextBox 58"/>
            <p:cNvSpPr txBox="1"/>
            <p:nvPr/>
          </p:nvSpPr>
          <p:spPr>
            <a:xfrm>
              <a:off x="10339283" y="3981450"/>
              <a:ext cx="3716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App</a:t>
              </a:r>
            </a:p>
          </p:txBody>
        </p:sp>
        <p:sp>
          <p:nvSpPr>
            <p:cNvPr id="59" name="TextBox 59"/>
            <p:cNvSpPr txBox="1"/>
            <p:nvPr/>
          </p:nvSpPr>
          <p:spPr>
            <a:xfrm>
              <a:off x="6583680" y="4543425"/>
              <a:ext cx="476326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Ví dụ: “Plugin Marketing Wir”, “Plugin Sale Wir”</a:t>
              </a:r>
            </a:p>
          </p:txBody>
        </p:sp>
      </p:grpSp>
      <p:grpSp>
        <p:nvGrpSpPr>
          <p:cNvPr id="66" name="Group 66"/>
          <p:cNvGrpSpPr/>
          <p:nvPr/>
        </p:nvGrpSpPr>
        <p:grpSpPr>
          <a:xfrm>
            <a:off x="419100" y="5486402"/>
            <a:ext cx="8293948" cy="367282"/>
            <a:chOff x="419100" y="5486402"/>
            <a:chExt cx="8293948" cy="367282"/>
          </a:xfrm>
        </p:grpSpPr>
        <p:grpSp>
          <p:nvGrpSpPr>
            <p:cNvPr id="63" name="Group 63"/>
            <p:cNvGrpSpPr/>
            <p:nvPr/>
          </p:nvGrpSpPr>
          <p:grpSpPr>
            <a:xfrm>
              <a:off x="419100" y="5486402"/>
              <a:ext cx="228597" cy="228597"/>
              <a:chOff x="419100" y="5486402"/>
              <a:chExt cx="228597" cy="228597"/>
            </a:xfrm>
          </p:grpSpPr>
          <p:sp>
            <p:nvSpPr>
              <p:cNvPr id="61" name="Freeform 61"/>
              <p:cNvSpPr/>
              <p:nvPr/>
            </p:nvSpPr>
            <p:spPr>
              <a:xfrm>
                <a:off x="419100" y="5486402"/>
                <a:ext cx="228597" cy="228597"/>
              </a:xfrm>
              <a:custGeom>
                <a:avLst/>
                <a:gdLst/>
                <a:ahLst/>
                <a:cxnLst/>
                <a:rect l="l" t="t" r="r" b="b"/>
                <a:pathLst>
                  <a:path w="228597" h="228597">
                    <a:moveTo>
                      <a:pt x="172148" y="10704"/>
                    </a:moveTo>
                    <a:lnTo>
                      <a:pt x="217893" y="56449"/>
                    </a:lnTo>
                    <a:cubicBezTo>
                      <a:pt x="224747" y="63301"/>
                      <a:pt x="228597" y="72596"/>
                      <a:pt x="228597" y="82287"/>
                    </a:cubicBezTo>
                    <a:cubicBezTo>
                      <a:pt x="228597" y="91978"/>
                      <a:pt x="224747" y="101273"/>
                      <a:pt x="217893" y="108125"/>
                    </a:cubicBezTo>
                    <a:lnTo>
                      <a:pt x="184327" y="141691"/>
                    </a:lnTo>
                    <a:cubicBezTo>
                      <a:pt x="177475" y="148544"/>
                      <a:pt x="168181" y="152395"/>
                      <a:pt x="158489" y="152395"/>
                    </a:cubicBezTo>
                    <a:cubicBezTo>
                      <a:pt x="148798" y="152395"/>
                      <a:pt x="139503" y="148544"/>
                      <a:pt x="132651" y="141691"/>
                    </a:cubicBezTo>
                    <a:lnTo>
                      <a:pt x="128828" y="137868"/>
                    </a:lnTo>
                    <a:lnTo>
                      <a:pt x="45542" y="221155"/>
                    </a:lnTo>
                    <a:cubicBezTo>
                      <a:pt x="41322" y="225374"/>
                      <a:pt x="35751" y="227973"/>
                      <a:pt x="29807" y="228495"/>
                    </a:cubicBezTo>
                    <a:lnTo>
                      <a:pt x="27584" y="228597"/>
                    </a:lnTo>
                    <a:lnTo>
                      <a:pt x="12700" y="228597"/>
                    </a:lnTo>
                    <a:cubicBezTo>
                      <a:pt x="6261" y="228596"/>
                      <a:pt x="842" y="223777"/>
                      <a:pt x="89" y="217383"/>
                    </a:cubicBezTo>
                    <a:lnTo>
                      <a:pt x="0" y="215897"/>
                    </a:lnTo>
                    <a:lnTo>
                      <a:pt x="0" y="201013"/>
                    </a:lnTo>
                    <a:cubicBezTo>
                      <a:pt x="1" y="195049"/>
                      <a:pt x="2101" y="189277"/>
                      <a:pt x="5931" y="184706"/>
                    </a:cubicBezTo>
                    <a:lnTo>
                      <a:pt x="7442" y="183055"/>
                    </a:lnTo>
                    <a:lnTo>
                      <a:pt x="12700" y="177797"/>
                    </a:lnTo>
                    <a:lnTo>
                      <a:pt x="38100" y="177797"/>
                    </a:lnTo>
                    <a:lnTo>
                      <a:pt x="38100" y="152397"/>
                    </a:lnTo>
                    <a:lnTo>
                      <a:pt x="63500" y="152397"/>
                    </a:lnTo>
                    <a:lnTo>
                      <a:pt x="63500" y="126997"/>
                    </a:lnTo>
                    <a:lnTo>
                      <a:pt x="90729" y="99769"/>
                    </a:lnTo>
                    <a:lnTo>
                      <a:pt x="86906" y="95946"/>
                    </a:lnTo>
                    <a:cubicBezTo>
                      <a:pt x="80053" y="89093"/>
                      <a:pt x="76202" y="79799"/>
                      <a:pt x="76202" y="70108"/>
                    </a:cubicBezTo>
                    <a:cubicBezTo>
                      <a:pt x="76202" y="60416"/>
                      <a:pt x="80053" y="51122"/>
                      <a:pt x="86906" y="44270"/>
                    </a:cubicBezTo>
                    <a:lnTo>
                      <a:pt x="120472" y="10704"/>
                    </a:lnTo>
                    <a:cubicBezTo>
                      <a:pt x="127324" y="3850"/>
                      <a:pt x="136619" y="0"/>
                      <a:pt x="146310" y="0"/>
                    </a:cubicBezTo>
                    <a:cubicBezTo>
                      <a:pt x="156001" y="0"/>
                      <a:pt x="165296" y="3850"/>
                      <a:pt x="172148" y="10704"/>
                    </a:cubicBezTo>
                  </a:path>
                </a:pathLst>
              </a:custGeom>
              <a:noFill/>
              <a:ln w="25400">
                <a:solidFill>
                  <a:schemeClr val="accent2"/>
                </a:solidFill>
              </a:ln>
            </p:spPr>
          </p:sp>
          <p:sp>
            <p:nvSpPr>
              <p:cNvPr id="62" name="Freeform 62"/>
              <p:cNvSpPr/>
              <p:nvPr/>
            </p:nvSpPr>
            <p:spPr>
              <a:xfrm>
                <a:off x="571500" y="5562600"/>
                <a:ext cx="9525" cy="9525"/>
              </a:xfrm>
              <a:custGeom>
                <a:avLst/>
                <a:gdLst/>
                <a:ahLst/>
                <a:cxnLst/>
                <a:rect l="l" t="t" r="r" b="b"/>
                <a:pathLst>
                  <a:path w="9525" h="9525">
                    <a:moveTo>
                      <a:pt x="0" y="0"/>
                    </a:moveTo>
                    <a:lnTo>
                      <a:pt x="127" y="0"/>
                    </a:lnTo>
                  </a:path>
                </a:pathLst>
              </a:custGeom>
              <a:noFill/>
              <a:ln w="25400">
                <a:solidFill>
                  <a:schemeClr val="accent2"/>
                </a:solidFill>
              </a:ln>
            </p:spPr>
          </p:sp>
        </p:grpSp>
        <p:sp>
          <p:nvSpPr>
            <p:cNvPr id="64" name="TextBox 64"/>
            <p:cNvSpPr txBox="1"/>
            <p:nvPr/>
          </p:nvSpPr>
          <p:spPr>
            <a:xfrm>
              <a:off x="810006" y="5501640"/>
              <a:ext cx="7903042"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“Cấp chìa nào thì mở được tủ đó, nên phải cấp đúng và cấp vừa đủ.”</a:t>
              </a:r>
            </a:p>
          </p:txBody>
        </p:sp>
      </p:grpSp>
      <p:sp>
        <p:nvSpPr>
          <p:cNvPr id="67" name="TextBox 6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92086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Mở quyền từng nấc đọc → ghi → gửi;</a:t>
            </a:r>
            <a:br/>
            <a:r>
              <a:rPr lang="vi-VN" sz="3150" b="1" dirty="0">
                <a:solidFill>
                  <a:schemeClr val="accent1"/>
                </a:solidFill>
                <a:latin typeface="+mn-lt"/>
                <a:ea typeface="+mn-ea"/>
                <a:cs typeface="+mn-cs"/>
              </a:rPr>
              <a:t>Gmail luôn để mức Always ask</a:t>
            </a:r>
          </a:p>
        </p:txBody>
      </p:sp>
      <p:grpSp>
        <p:nvGrpSpPr>
          <p:cNvPr id="24" name="Group 24"/>
          <p:cNvGrpSpPr/>
          <p:nvPr/>
        </p:nvGrpSpPr>
        <p:grpSpPr>
          <a:xfrm>
            <a:off x="381000" y="2686050"/>
            <a:ext cx="3619500" cy="1428750"/>
            <a:chOff x="381000" y="2686050"/>
            <a:chExt cx="3619500" cy="1428750"/>
          </a:xfrm>
        </p:grpSpPr>
        <p:sp>
          <p:nvSpPr>
            <p:cNvPr id="17" name="Rectangle 17"/>
            <p:cNvSpPr/>
            <p:nvPr/>
          </p:nvSpPr>
          <p:spPr>
            <a:xfrm>
              <a:off x="381000" y="2686050"/>
              <a:ext cx="3619500" cy="1428750"/>
            </a:xfrm>
            <a:prstGeom prst="roundRect">
              <a:avLst>
                <a:gd name="adj" fmla="val 10667"/>
              </a:avLst>
            </a:prstGeom>
            <a:solidFill>
              <a:schemeClr val="lt2"/>
            </a:solidFill>
            <a:ln>
              <a:noFill/>
            </a:ln>
          </p:spPr>
        </p:sp>
        <p:grpSp>
          <p:nvGrpSpPr>
            <p:cNvPr id="20" name="Group 20"/>
            <p:cNvGrpSpPr/>
            <p:nvPr/>
          </p:nvGrpSpPr>
          <p:grpSpPr>
            <a:xfrm>
              <a:off x="642938" y="2924175"/>
              <a:ext cx="200026" cy="133350"/>
              <a:chOff x="642938" y="2924175"/>
              <a:chExt cx="200026" cy="133350"/>
            </a:xfrm>
          </p:grpSpPr>
          <p:sp>
            <p:nvSpPr>
              <p:cNvPr id="18" name="Freeform 18"/>
              <p:cNvSpPr/>
              <p:nvPr/>
            </p:nvSpPr>
            <p:spPr>
              <a:xfrm>
                <a:off x="720725" y="2968625"/>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chemeClr val="accent1"/>
                </a:solidFill>
              </a:ln>
            </p:spPr>
          </p:sp>
          <p:sp>
            <p:nvSpPr>
              <p:cNvPr id="19" name="Freeform 19"/>
              <p:cNvSpPr/>
              <p:nvPr/>
            </p:nvSpPr>
            <p:spPr>
              <a:xfrm>
                <a:off x="642938" y="2924175"/>
                <a:ext cx="200026" cy="133350"/>
              </a:xfrm>
              <a:custGeom>
                <a:avLst/>
                <a:gdLst/>
                <a:ahLst/>
                <a:cxnLst/>
                <a:rect l="l" t="t" r="r" b="b"/>
                <a:pathLst>
                  <a:path w="200026" h="133350">
                    <a:moveTo>
                      <a:pt x="200026" y="66675"/>
                    </a:moveTo>
                    <a:cubicBezTo>
                      <a:pt x="173355" y="111125"/>
                      <a:pt x="140018" y="133350"/>
                      <a:pt x="100013" y="133350"/>
                    </a:cubicBezTo>
                    <a:cubicBezTo>
                      <a:pt x="60008" y="133350"/>
                      <a:pt x="26670" y="111125"/>
                      <a:pt x="0" y="66675"/>
                    </a:cubicBezTo>
                    <a:cubicBezTo>
                      <a:pt x="26670" y="22225"/>
                      <a:pt x="60008" y="0"/>
                      <a:pt x="100013" y="0"/>
                    </a:cubicBezTo>
                    <a:cubicBezTo>
                      <a:pt x="140018" y="0"/>
                      <a:pt x="173355" y="22225"/>
                      <a:pt x="200026" y="66675"/>
                    </a:cubicBezTo>
                  </a:path>
                </a:pathLst>
              </a:custGeom>
              <a:noFill/>
              <a:ln w="22225">
                <a:solidFill>
                  <a:schemeClr val="accent1"/>
                </a:solidFill>
              </a:ln>
            </p:spPr>
          </p:sp>
        </p:grpSp>
        <p:sp>
          <p:nvSpPr>
            <p:cNvPr id="21" name="TextBox 21"/>
            <p:cNvSpPr txBox="1"/>
            <p:nvPr/>
          </p:nvSpPr>
          <p:spPr>
            <a:xfrm>
              <a:off x="962406" y="2872740"/>
              <a:ext cx="44602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Đọc</a:t>
              </a:r>
            </a:p>
          </p:txBody>
        </p:sp>
        <p:sp>
          <p:nvSpPr>
            <p:cNvPr id="22" name="TextBox 22"/>
            <p:cNvSpPr txBox="1"/>
            <p:nvPr/>
          </p:nvSpPr>
          <p:spPr>
            <a:xfrm>
              <a:off x="601980" y="3228975"/>
              <a:ext cx="17391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Xem thư, xem file</a:t>
              </a:r>
            </a:p>
          </p:txBody>
        </p:sp>
        <p:sp>
          <p:nvSpPr>
            <p:cNvPr id="23" name="TextBox 23"/>
            <p:cNvSpPr txBox="1"/>
            <p:nvPr/>
          </p:nvSpPr>
          <p:spPr>
            <a:xfrm>
              <a:off x="602742" y="3530918"/>
              <a:ext cx="193395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Rủi ro: lộ thông tin nếu</a:t>
              </a:r>
              <a:br/>
              <a:r>
                <a:rPr lang="vi-VN" sz="1350" dirty="0">
                  <a:solidFill>
                    <a:srgbClr val="5B6675"/>
                  </a:solidFill>
                  <a:latin typeface="+mn-lt"/>
                  <a:ea typeface="+mn-ea"/>
                  <a:cs typeface="+mn-cs"/>
                </a:rPr>
                <a:t>nối nhầm tài khoản</a:t>
              </a:r>
            </a:p>
          </p:txBody>
        </p:sp>
      </p:grpSp>
      <p:grpSp>
        <p:nvGrpSpPr>
          <p:cNvPr id="32" name="Group 32"/>
          <p:cNvGrpSpPr/>
          <p:nvPr/>
        </p:nvGrpSpPr>
        <p:grpSpPr>
          <a:xfrm>
            <a:off x="4191000" y="2400300"/>
            <a:ext cx="3619500" cy="1714500"/>
            <a:chOff x="4191000" y="2400300"/>
            <a:chExt cx="3619500" cy="1714500"/>
          </a:xfrm>
        </p:grpSpPr>
        <p:sp>
          <p:nvSpPr>
            <p:cNvPr id="25" name="Rectangle 25"/>
            <p:cNvSpPr/>
            <p:nvPr/>
          </p:nvSpPr>
          <p:spPr>
            <a:xfrm>
              <a:off x="4191000" y="2400300"/>
              <a:ext cx="3619500" cy="1714500"/>
            </a:xfrm>
            <a:prstGeom prst="roundRect">
              <a:avLst>
                <a:gd name="adj" fmla="val 8889"/>
              </a:avLst>
            </a:prstGeom>
            <a:solidFill>
              <a:schemeClr val="lt2"/>
            </a:solidFill>
            <a:ln>
              <a:noFill/>
            </a:ln>
          </p:spPr>
        </p:sp>
        <p:grpSp>
          <p:nvGrpSpPr>
            <p:cNvPr id="28" name="Group 28"/>
            <p:cNvGrpSpPr/>
            <p:nvPr/>
          </p:nvGrpSpPr>
          <p:grpSpPr>
            <a:xfrm>
              <a:off x="4464050" y="2620594"/>
              <a:ext cx="173406" cy="173406"/>
              <a:chOff x="4464050" y="2620594"/>
              <a:chExt cx="173406" cy="173406"/>
            </a:xfrm>
          </p:grpSpPr>
          <p:sp>
            <p:nvSpPr>
              <p:cNvPr id="26" name="Freeform 26"/>
              <p:cNvSpPr/>
              <p:nvPr/>
            </p:nvSpPr>
            <p:spPr>
              <a:xfrm>
                <a:off x="4464050" y="2620594"/>
                <a:ext cx="173406" cy="173406"/>
              </a:xfrm>
              <a:custGeom>
                <a:avLst/>
                <a:gdLst/>
                <a:ahLst/>
                <a:cxnLst/>
                <a:rect l="l" t="t" r="r" b="b"/>
                <a:pathLst>
                  <a:path w="173406" h="173406">
                    <a:moveTo>
                      <a:pt x="0" y="173406"/>
                    </a:moveTo>
                    <a:lnTo>
                      <a:pt x="44450" y="173406"/>
                    </a:lnTo>
                    <a:lnTo>
                      <a:pt x="161132" y="56725"/>
                    </a:lnTo>
                    <a:cubicBezTo>
                      <a:pt x="173406" y="44450"/>
                      <a:pt x="173406" y="24549"/>
                      <a:pt x="161132" y="12275"/>
                    </a:cubicBezTo>
                    <a:cubicBezTo>
                      <a:pt x="148857" y="0"/>
                      <a:pt x="128956" y="0"/>
                      <a:pt x="116682" y="12275"/>
                    </a:cubicBezTo>
                    <a:lnTo>
                      <a:pt x="0" y="128956"/>
                    </a:lnTo>
                    <a:lnTo>
                      <a:pt x="0" y="173406"/>
                    </a:lnTo>
                  </a:path>
                </a:pathLst>
              </a:custGeom>
              <a:noFill/>
              <a:ln w="22225">
                <a:solidFill>
                  <a:schemeClr val="accent1"/>
                </a:solidFill>
              </a:ln>
            </p:spPr>
          </p:sp>
          <p:sp>
            <p:nvSpPr>
              <p:cNvPr id="27" name="Freeform 27"/>
              <p:cNvSpPr/>
              <p:nvPr/>
            </p:nvSpPr>
            <p:spPr>
              <a:xfrm>
                <a:off x="4569619" y="2643981"/>
                <a:ext cx="44450" cy="44450"/>
              </a:xfrm>
              <a:custGeom>
                <a:avLst/>
                <a:gdLst/>
                <a:ahLst/>
                <a:cxnLst/>
                <a:rect l="l" t="t" r="r" b="b"/>
                <a:pathLst>
                  <a:path w="44450" h="44450">
                    <a:moveTo>
                      <a:pt x="0" y="0"/>
                    </a:moveTo>
                    <a:lnTo>
                      <a:pt x="44450" y="44450"/>
                    </a:lnTo>
                  </a:path>
                </a:pathLst>
              </a:custGeom>
              <a:noFill/>
              <a:ln w="22225">
                <a:solidFill>
                  <a:schemeClr val="accent1"/>
                </a:solidFill>
              </a:ln>
            </p:spPr>
          </p:sp>
        </p:grpSp>
        <p:sp>
          <p:nvSpPr>
            <p:cNvPr id="29" name="TextBox 29"/>
            <p:cNvSpPr txBox="1"/>
            <p:nvPr/>
          </p:nvSpPr>
          <p:spPr>
            <a:xfrm>
              <a:off x="4772406" y="2586990"/>
              <a:ext cx="381213"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Ghi</a:t>
              </a:r>
            </a:p>
          </p:txBody>
        </p:sp>
        <p:sp>
          <p:nvSpPr>
            <p:cNvPr id="30" name="TextBox 30"/>
            <p:cNvSpPr txBox="1"/>
            <p:nvPr/>
          </p:nvSpPr>
          <p:spPr>
            <a:xfrm>
              <a:off x="4411980" y="2943225"/>
              <a:ext cx="260725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Tạo thư nháp, tạo/sửa file</a:t>
              </a:r>
            </a:p>
          </p:txBody>
        </p:sp>
        <p:sp>
          <p:nvSpPr>
            <p:cNvPr id="31" name="TextBox 31"/>
            <p:cNvSpPr txBox="1"/>
            <p:nvPr/>
          </p:nvSpPr>
          <p:spPr>
            <a:xfrm>
              <a:off x="4412742" y="3245168"/>
              <a:ext cx="1910074"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Rủi ro: ghi đè file gốc</a:t>
              </a:r>
            </a:p>
          </p:txBody>
        </p:sp>
      </p:grpSp>
      <p:grpSp>
        <p:nvGrpSpPr>
          <p:cNvPr id="40" name="Group 40"/>
          <p:cNvGrpSpPr/>
          <p:nvPr/>
        </p:nvGrpSpPr>
        <p:grpSpPr>
          <a:xfrm>
            <a:off x="8001000" y="2114550"/>
            <a:ext cx="3810000" cy="2000250"/>
            <a:chOff x="8001000" y="2114550"/>
            <a:chExt cx="3810000" cy="2000250"/>
          </a:xfrm>
        </p:grpSpPr>
        <p:sp>
          <p:nvSpPr>
            <p:cNvPr id="33" name="Rectangle 33"/>
            <p:cNvSpPr/>
            <p:nvPr/>
          </p:nvSpPr>
          <p:spPr>
            <a:xfrm>
              <a:off x="8001000" y="2114550"/>
              <a:ext cx="3810000" cy="2000250"/>
            </a:xfrm>
            <a:prstGeom prst="roundRect">
              <a:avLst>
                <a:gd name="adj" fmla="val 7619"/>
              </a:avLst>
            </a:prstGeom>
            <a:solidFill>
              <a:schemeClr val="lt1"/>
            </a:solidFill>
            <a:ln w="19050">
              <a:solidFill>
                <a:srgbClr val="C0392B"/>
              </a:solidFill>
            </a:ln>
          </p:spPr>
        </p:sp>
        <p:grpSp>
          <p:nvGrpSpPr>
            <p:cNvPr id="36" name="Group 36"/>
            <p:cNvGrpSpPr/>
            <p:nvPr/>
          </p:nvGrpSpPr>
          <p:grpSpPr>
            <a:xfrm>
              <a:off x="8259372" y="2319338"/>
              <a:ext cx="203591" cy="203591"/>
              <a:chOff x="8259372" y="2319338"/>
              <a:chExt cx="203591" cy="203591"/>
            </a:xfrm>
          </p:grpSpPr>
          <p:sp>
            <p:nvSpPr>
              <p:cNvPr id="34" name="Freeform 34"/>
              <p:cNvSpPr/>
              <p:nvPr/>
            </p:nvSpPr>
            <p:spPr>
              <a:xfrm>
                <a:off x="8340725" y="2319338"/>
                <a:ext cx="122238" cy="122238"/>
              </a:xfrm>
              <a:custGeom>
                <a:avLst/>
                <a:gdLst/>
                <a:ahLst/>
                <a:cxnLst/>
                <a:rect l="l" t="t" r="r" b="b"/>
                <a:pathLst>
                  <a:path w="122238" h="122238">
                    <a:moveTo>
                      <a:pt x="0" y="122238"/>
                    </a:moveTo>
                    <a:lnTo>
                      <a:pt x="122238" y="0"/>
                    </a:lnTo>
                  </a:path>
                </a:pathLst>
              </a:custGeom>
              <a:noFill/>
              <a:ln w="22225">
                <a:solidFill>
                  <a:srgbClr val="C0392B"/>
                </a:solidFill>
              </a:ln>
            </p:spPr>
          </p:sp>
          <p:sp>
            <p:nvSpPr>
              <p:cNvPr id="35" name="Freeform 35"/>
              <p:cNvSpPr/>
              <p:nvPr/>
            </p:nvSpPr>
            <p:spPr>
              <a:xfrm>
                <a:off x="8259372" y="2319338"/>
                <a:ext cx="203591" cy="203591"/>
              </a:xfrm>
              <a:custGeom>
                <a:avLst/>
                <a:gdLst/>
                <a:ahLst/>
                <a:cxnLst/>
                <a:rect l="l" t="t" r="r" b="b"/>
                <a:pathLst>
                  <a:path w="203591" h="203591">
                    <a:moveTo>
                      <a:pt x="203591" y="0"/>
                    </a:moveTo>
                    <a:lnTo>
                      <a:pt x="131360" y="200026"/>
                    </a:lnTo>
                    <a:cubicBezTo>
                      <a:pt x="130364" y="202198"/>
                      <a:pt x="128193" y="203591"/>
                      <a:pt x="125804" y="203591"/>
                    </a:cubicBezTo>
                    <a:cubicBezTo>
                      <a:pt x="123414" y="203591"/>
                      <a:pt x="121243" y="202198"/>
                      <a:pt x="120247" y="200026"/>
                    </a:cubicBezTo>
                    <a:lnTo>
                      <a:pt x="81353" y="122238"/>
                    </a:lnTo>
                    <a:lnTo>
                      <a:pt x="3566" y="83344"/>
                    </a:lnTo>
                    <a:cubicBezTo>
                      <a:pt x="1393" y="82348"/>
                      <a:pt x="0" y="80178"/>
                      <a:pt x="0" y="77788"/>
                    </a:cubicBezTo>
                    <a:cubicBezTo>
                      <a:pt x="0" y="75398"/>
                      <a:pt x="1393" y="73227"/>
                      <a:pt x="3566" y="72231"/>
                    </a:cubicBezTo>
                    <a:lnTo>
                      <a:pt x="203591" y="0"/>
                    </a:lnTo>
                  </a:path>
                </a:pathLst>
              </a:custGeom>
              <a:noFill/>
              <a:ln w="22225">
                <a:solidFill>
                  <a:srgbClr val="C0392B"/>
                </a:solidFill>
              </a:ln>
            </p:spPr>
          </p:sp>
        </p:grpSp>
        <p:sp>
          <p:nvSpPr>
            <p:cNvPr id="37" name="TextBox 37"/>
            <p:cNvSpPr txBox="1"/>
            <p:nvPr/>
          </p:nvSpPr>
          <p:spPr>
            <a:xfrm>
              <a:off x="8582406" y="2301240"/>
              <a:ext cx="1451171"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Gửi ra ngoài</a:t>
              </a:r>
            </a:p>
          </p:txBody>
        </p:sp>
        <p:sp>
          <p:nvSpPr>
            <p:cNvPr id="38" name="TextBox 38"/>
            <p:cNvSpPr txBox="1"/>
            <p:nvPr/>
          </p:nvSpPr>
          <p:spPr>
            <a:xfrm>
              <a:off x="8221980" y="2657475"/>
              <a:ext cx="181919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Gửi email, đăng bài</a:t>
              </a:r>
            </a:p>
          </p:txBody>
        </p:sp>
        <p:sp>
          <p:nvSpPr>
            <p:cNvPr id="39" name="TextBox 39"/>
            <p:cNvSpPr txBox="1"/>
            <p:nvPr/>
          </p:nvSpPr>
          <p:spPr>
            <a:xfrm>
              <a:off x="8222742" y="2959418"/>
              <a:ext cx="2367492"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Rủi ro: không rút lại được</a:t>
              </a:r>
            </a:p>
          </p:txBody>
        </p:sp>
      </p:grpSp>
      <p:grpSp>
        <p:nvGrpSpPr>
          <p:cNvPr id="54" name="Group 54"/>
          <p:cNvGrpSpPr/>
          <p:nvPr/>
        </p:nvGrpSpPr>
        <p:grpSpPr>
          <a:xfrm>
            <a:off x="374904" y="4271010"/>
            <a:ext cx="11436096" cy="1409891"/>
            <a:chOff x="374904" y="4271010"/>
            <a:chExt cx="11436096" cy="1409891"/>
          </a:xfrm>
        </p:grpSpPr>
        <p:sp>
          <p:nvSpPr>
            <p:cNvPr id="41" name="TextBox 41"/>
            <p:cNvSpPr txBox="1"/>
            <p:nvPr/>
          </p:nvSpPr>
          <p:spPr>
            <a:xfrm>
              <a:off x="374904" y="4271010"/>
              <a:ext cx="566196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MỨC QUYỀN CHO MỖI APP · SETTINGS → PLUGINS → PERMISSIONS</a:t>
              </a:r>
            </a:p>
          </p:txBody>
        </p:sp>
        <p:sp>
          <p:nvSpPr>
            <p:cNvPr id="42" name="Rectangle 42"/>
            <p:cNvSpPr/>
            <p:nvPr/>
          </p:nvSpPr>
          <p:spPr>
            <a:xfrm>
              <a:off x="381000" y="4533900"/>
              <a:ext cx="2781300" cy="1104900"/>
            </a:xfrm>
            <a:prstGeom prst="roundRect">
              <a:avLst>
                <a:gd name="adj" fmla="val 12069"/>
              </a:avLst>
            </a:prstGeom>
            <a:solidFill>
              <a:srgbClr val="FCEBDD"/>
            </a:solidFill>
            <a:ln w="28575">
              <a:solidFill>
                <a:schemeClr val="accent2"/>
              </a:solidFill>
            </a:ln>
          </p:spPr>
        </p:sp>
        <p:sp>
          <p:nvSpPr>
            <p:cNvPr id="43" name="TextBox 43"/>
            <p:cNvSpPr txBox="1"/>
            <p:nvPr/>
          </p:nvSpPr>
          <p:spPr>
            <a:xfrm>
              <a:off x="563880" y="4676775"/>
              <a:ext cx="11247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Always ask</a:t>
              </a:r>
            </a:p>
          </p:txBody>
        </p:sp>
        <p:sp>
          <p:nvSpPr>
            <p:cNvPr id="44" name="TextBox 44"/>
            <p:cNvSpPr txBox="1"/>
            <p:nvPr/>
          </p:nvSpPr>
          <p:spPr>
            <a:xfrm>
              <a:off x="564642" y="4959668"/>
              <a:ext cx="2300002"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Hỏi trước mọi hành động</a:t>
              </a:r>
              <a:br/>
              <a:r>
                <a:rPr lang="vi-VN" sz="1350" b="1" dirty="0">
                  <a:solidFill>
                    <a:schemeClr val="accent1"/>
                  </a:solidFill>
                  <a:latin typeface="+mn-lt"/>
                  <a:ea typeface="+mn-ea"/>
                  <a:cs typeface="+mn-cs"/>
                </a:rPr>
                <a:t>Mặc định cho Gmail khi học</a:t>
              </a:r>
            </a:p>
          </p:txBody>
        </p:sp>
        <p:sp>
          <p:nvSpPr>
            <p:cNvPr id="45" name="Rectangle 45"/>
            <p:cNvSpPr/>
            <p:nvPr/>
          </p:nvSpPr>
          <p:spPr>
            <a:xfrm>
              <a:off x="3257550" y="4533900"/>
              <a:ext cx="2781300" cy="1104900"/>
            </a:xfrm>
            <a:prstGeom prst="roundRect">
              <a:avLst>
                <a:gd name="adj" fmla="val 12069"/>
              </a:avLst>
            </a:prstGeom>
            <a:solidFill>
              <a:schemeClr val="lt1"/>
            </a:solidFill>
            <a:ln w="14288">
              <a:solidFill>
                <a:schemeClr val="accent4"/>
              </a:solidFill>
            </a:ln>
          </p:spPr>
        </p:sp>
        <p:sp>
          <p:nvSpPr>
            <p:cNvPr id="46" name="TextBox 46"/>
            <p:cNvSpPr txBox="1"/>
            <p:nvPr/>
          </p:nvSpPr>
          <p:spPr>
            <a:xfrm>
              <a:off x="3440430" y="4676775"/>
              <a:ext cx="10713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read</a:t>
              </a:r>
            </a:p>
          </p:txBody>
        </p:sp>
        <p:sp>
          <p:nvSpPr>
            <p:cNvPr id="47" name="TextBox 47"/>
            <p:cNvSpPr txBox="1"/>
            <p:nvPr/>
          </p:nvSpPr>
          <p:spPr>
            <a:xfrm>
              <a:off x="3441192" y="4959668"/>
              <a:ext cx="240999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Tự đọc; ghi hoặc gửi thì hỏi</a:t>
              </a:r>
            </a:p>
          </p:txBody>
        </p:sp>
        <p:sp>
          <p:nvSpPr>
            <p:cNvPr id="48" name="Rectangle 48"/>
            <p:cNvSpPr/>
            <p:nvPr/>
          </p:nvSpPr>
          <p:spPr>
            <a:xfrm>
              <a:off x="6134100" y="4533900"/>
              <a:ext cx="2781300" cy="1104900"/>
            </a:xfrm>
            <a:prstGeom prst="roundRect">
              <a:avLst>
                <a:gd name="adj" fmla="val 12069"/>
              </a:avLst>
            </a:prstGeom>
            <a:solidFill>
              <a:schemeClr val="lt1"/>
            </a:solidFill>
            <a:ln w="14288">
              <a:solidFill>
                <a:schemeClr val="accent4"/>
              </a:solidFill>
            </a:ln>
          </p:spPr>
        </p:sp>
        <p:sp>
          <p:nvSpPr>
            <p:cNvPr id="49" name="TextBox 49"/>
            <p:cNvSpPr txBox="1"/>
            <p:nvPr/>
          </p:nvSpPr>
          <p:spPr>
            <a:xfrm>
              <a:off x="6316980" y="4676775"/>
              <a:ext cx="14744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low-risk</a:t>
              </a:r>
            </a:p>
          </p:txBody>
        </p:sp>
        <p:sp>
          <p:nvSpPr>
            <p:cNvPr id="50" name="TextBox 50"/>
            <p:cNvSpPr txBox="1"/>
            <p:nvPr/>
          </p:nvSpPr>
          <p:spPr>
            <a:xfrm>
              <a:off x="6317742" y="4959668"/>
              <a:ext cx="1968246"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Tự làm việc rủi ro thấp,</a:t>
              </a:r>
              <a:br/>
              <a:r>
                <a:rPr lang="vi-VN" sz="1350" dirty="0">
                  <a:solidFill>
                    <a:schemeClr val="dk1"/>
                  </a:solidFill>
                  <a:latin typeface="+mn-lt"/>
                  <a:ea typeface="+mn-ea"/>
                  <a:cs typeface="+mn-cs"/>
                </a:rPr>
                <a:t>việc rủi ro cao thì hỏi</a:t>
              </a:r>
            </a:p>
          </p:txBody>
        </p:sp>
        <p:sp>
          <p:nvSpPr>
            <p:cNvPr id="51" name="Rectangle 51"/>
            <p:cNvSpPr/>
            <p:nvPr/>
          </p:nvSpPr>
          <p:spPr>
            <a:xfrm>
              <a:off x="9010650" y="4533900"/>
              <a:ext cx="2800350" cy="1104900"/>
            </a:xfrm>
            <a:prstGeom prst="roundRect">
              <a:avLst>
                <a:gd name="adj" fmla="val 12069"/>
              </a:avLst>
            </a:prstGeom>
            <a:solidFill>
              <a:schemeClr val="lt1"/>
            </a:solidFill>
            <a:ln w="14288">
              <a:solidFill>
                <a:srgbClr val="C0392B"/>
              </a:solidFill>
            </a:ln>
          </p:spPr>
        </p:sp>
        <p:sp>
          <p:nvSpPr>
            <p:cNvPr id="52" name="TextBox 52"/>
            <p:cNvSpPr txBox="1"/>
            <p:nvPr/>
          </p:nvSpPr>
          <p:spPr>
            <a:xfrm>
              <a:off x="9193530" y="4676775"/>
              <a:ext cx="847994" cy="293370"/>
            </a:xfrm>
            <a:prstGeom prst="rect">
              <a:avLst/>
            </a:prstGeom>
            <a:noFill/>
            <a:ln>
              <a:noFill/>
            </a:ln>
          </p:spPr>
          <p:txBody>
            <a:bodyPr wrap="none" lIns="0" tIns="0" rIns="0" bIns="0" anchor="t" anchorCtr="0">
              <a:spAutoFit/>
            </a:bodyPr>
            <a:lstStyle/>
            <a:p>
              <a:pPr algn="l"/>
              <a:r>
                <a:rPr lang="vi-VN" sz="1500" b="1" strike="sngStrike" dirty="0">
                  <a:solidFill>
                    <a:srgbClr val="C0392B"/>
                  </a:solidFill>
                  <a:latin typeface="+mn-lt"/>
                  <a:ea typeface="+mn-ea"/>
                  <a:cs typeface="+mn-cs"/>
                </a:rPr>
                <a:t>Allow all</a:t>
              </a:r>
            </a:p>
          </p:txBody>
        </p:sp>
        <p:sp>
          <p:nvSpPr>
            <p:cNvPr id="53" name="TextBox 53"/>
            <p:cNvSpPr txBox="1"/>
            <p:nvPr/>
          </p:nvSpPr>
          <p:spPr>
            <a:xfrm>
              <a:off x="9194292" y="4959668"/>
              <a:ext cx="1813941" cy="7212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Làm hết, không hỏi —</a:t>
              </a:r>
              <a:br/>
              <a:r>
                <a:rPr lang="vi-VN" sz="1350" dirty="0">
                  <a:solidFill>
                    <a:schemeClr val="dk1"/>
                  </a:solidFill>
                  <a:latin typeface="+mn-lt"/>
                  <a:ea typeface="+mn-ea"/>
                  <a:cs typeface="+mn-cs"/>
                </a:rPr>
                <a:t>không dùng cho Gmail,</a:t>
              </a:r>
              <a:br/>
              <a:r>
                <a:rPr lang="vi-VN" sz="1350" dirty="0">
                  <a:solidFill>
                    <a:schemeClr val="dk1"/>
                  </a:solidFill>
                  <a:latin typeface="+mn-lt"/>
                  <a:ea typeface="+mn-ea"/>
                  <a:cs typeface="+mn-cs"/>
                </a:rPr>
                <a:t>kênh gửi ra ngoài</a:t>
              </a:r>
            </a:p>
          </p:txBody>
        </p:sp>
      </p:grpSp>
      <p:grpSp>
        <p:nvGrpSpPr>
          <p:cNvPr id="61" name="Group 61"/>
          <p:cNvGrpSpPr/>
          <p:nvPr/>
        </p:nvGrpSpPr>
        <p:grpSpPr>
          <a:xfrm>
            <a:off x="420478" y="5853112"/>
            <a:ext cx="9471286" cy="339853"/>
            <a:chOff x="420478" y="5853112"/>
            <a:chExt cx="9471286" cy="339853"/>
          </a:xfrm>
        </p:grpSpPr>
        <p:grpSp>
          <p:nvGrpSpPr>
            <p:cNvPr id="59" name="Group 59"/>
            <p:cNvGrpSpPr/>
            <p:nvPr/>
          </p:nvGrpSpPr>
          <p:grpSpPr>
            <a:xfrm>
              <a:off x="420478" y="5853112"/>
              <a:ext cx="198647" cy="238130"/>
              <a:chOff x="420478" y="5853112"/>
              <a:chExt cx="198647" cy="238130"/>
            </a:xfrm>
          </p:grpSpPr>
          <p:sp>
            <p:nvSpPr>
              <p:cNvPr id="55" name="Freeform 55"/>
              <p:cNvSpPr/>
              <p:nvPr/>
            </p:nvSpPr>
            <p:spPr>
              <a:xfrm>
                <a:off x="476250" y="587692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rgbClr val="C0392B"/>
                </a:solidFill>
              </a:ln>
            </p:spPr>
          </p:sp>
          <p:sp>
            <p:nvSpPr>
              <p:cNvPr id="56" name="Freeform 56"/>
              <p:cNvSpPr/>
              <p:nvPr/>
            </p:nvSpPr>
            <p:spPr>
              <a:xfrm>
                <a:off x="511969" y="585311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rgbClr val="C0392B"/>
                </a:solidFill>
              </a:ln>
            </p:spPr>
          </p:sp>
          <p:sp>
            <p:nvSpPr>
              <p:cNvPr id="57" name="Freeform 57"/>
              <p:cNvSpPr/>
              <p:nvPr/>
            </p:nvSpPr>
            <p:spPr>
              <a:xfrm>
                <a:off x="547688" y="587692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rgbClr val="C0392B"/>
                </a:solidFill>
              </a:ln>
            </p:spPr>
          </p:sp>
          <p:sp>
            <p:nvSpPr>
              <p:cNvPr id="58" name="Freeform 58"/>
              <p:cNvSpPr/>
              <p:nvPr/>
            </p:nvSpPr>
            <p:spPr>
              <a:xfrm>
                <a:off x="420478" y="590073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rgbClr val="C0392B"/>
                </a:solidFill>
              </a:ln>
            </p:spPr>
          </p:sp>
        </p:grpSp>
        <p:sp>
          <p:nvSpPr>
            <p:cNvPr id="60" name="TextBox 60"/>
            <p:cNvSpPr txBox="1"/>
            <p:nvPr/>
          </p:nvSpPr>
          <p:spPr>
            <a:xfrm>
              <a:off x="772668" y="5870258"/>
              <a:ext cx="91190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Khi ChatGPT hỏi duyệt: </a:t>
              </a:r>
              <a:r>
                <a:rPr lang="vi-VN" sz="1650" b="1" dirty="0">
                  <a:solidFill>
                    <a:srgbClr val="C0392B"/>
                  </a:solidFill>
                  <a:latin typeface="+mn-lt"/>
                  <a:ea typeface="+mn-ea"/>
                  <a:cs typeface="+mn-cs"/>
                </a:rPr>
                <a:t>không bấm “Always allow”</a:t>
              </a:r>
              <a:r>
                <a:rPr lang="vi-VN" sz="1650" dirty="0">
                  <a:solidFill>
                    <a:schemeClr val="dk1"/>
                  </a:solidFill>
                  <a:latin typeface="+mn-lt"/>
                  <a:ea typeface="+mn-ea"/>
                  <a:cs typeface="+mn-cs"/>
                </a:rPr>
                <a:t> — bấm là bỏ luôn chốt người duyệt.</a:t>
              </a:r>
            </a:p>
          </p:txBody>
        </p:sp>
      </p:grpSp>
      <p:sp>
        <p:nvSpPr>
          <p:cNvPr id="62" name="TextBox 62"/>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3" name="TextBox 63"/>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wipe(up)">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wipe(up)">
                                      <p:cBhvr>
                                        <p:cTn id="17" dur="400"/>
                                        <p:tgtEl>
                                          <p:spTgt spid="4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4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03738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Nối tài khoản cá nhân, đọc hết quyền trước khi đồng ý,</a:t>
            </a:r>
            <a:br/>
            <a:r>
              <a:rPr lang="vi-VN" sz="3150" b="1" dirty="0">
                <a:solidFill>
                  <a:schemeClr val="accent1"/>
                </a:solidFill>
                <a:latin typeface="+mn-lt"/>
                <a:ea typeface="+mn-ea"/>
                <a:cs typeface="+mn-cs"/>
              </a:rPr>
              <a:t>gỡ quyền ngay tối hôm đó</a:t>
            </a:r>
          </a:p>
        </p:txBody>
      </p:sp>
      <p:grpSp>
        <p:nvGrpSpPr>
          <p:cNvPr id="18" name="Group 18"/>
          <p:cNvGrpSpPr/>
          <p:nvPr/>
        </p:nvGrpSpPr>
        <p:grpSpPr>
          <a:xfrm>
            <a:off x="533400" y="2257425"/>
            <a:ext cx="11125200" cy="9525"/>
            <a:chOff x="533400" y="2257425"/>
            <a:chExt cx="11125200" cy="9525"/>
          </a:xfrm>
        </p:grpSpPr>
        <p:sp>
          <p:nvSpPr>
            <p:cNvPr id="17" name="Line 17"/>
            <p:cNvSpPr/>
            <p:nvPr/>
          </p:nvSpPr>
          <p:spPr>
            <a:xfrm>
              <a:off x="533400" y="2257425"/>
              <a:ext cx="11125200" cy="9525"/>
            </a:xfrm>
            <a:custGeom>
              <a:avLst/>
              <a:gdLst/>
              <a:ahLst/>
              <a:cxnLst/>
              <a:rect l="l" t="t" r="r" b="b"/>
              <a:pathLst>
                <a:path w="11125200" h="9525">
                  <a:moveTo>
                    <a:pt x="0" y="0"/>
                  </a:moveTo>
                  <a:lnTo>
                    <a:pt x="11125200" y="0"/>
                  </a:lnTo>
                </a:path>
              </a:pathLst>
            </a:custGeom>
            <a:noFill/>
            <a:ln w="19050">
              <a:solidFill>
                <a:schemeClr val="accent4"/>
              </a:solidFill>
            </a:ln>
          </p:spPr>
        </p:sp>
      </p:grpSp>
      <p:grpSp>
        <p:nvGrpSpPr>
          <p:cNvPr id="32" name="Group 32"/>
          <p:cNvGrpSpPr/>
          <p:nvPr/>
        </p:nvGrpSpPr>
        <p:grpSpPr>
          <a:xfrm>
            <a:off x="381000" y="2114550"/>
            <a:ext cx="3657600" cy="3771900"/>
            <a:chOff x="381000" y="2114550"/>
            <a:chExt cx="3657600" cy="3771900"/>
          </a:xfrm>
        </p:grpSpPr>
        <p:sp>
          <p:nvSpPr>
            <p:cNvPr id="19" name="Ellipse 19"/>
            <p:cNvSpPr/>
            <p:nvPr/>
          </p:nvSpPr>
          <p:spPr>
            <a:xfrm>
              <a:off x="438150" y="2162175"/>
              <a:ext cx="190500" cy="190500"/>
            </a:xfrm>
            <a:prstGeom prst="ellipse">
              <a:avLst/>
            </a:prstGeom>
            <a:solidFill>
              <a:schemeClr val="accent1"/>
            </a:solidFill>
            <a:ln>
              <a:noFill/>
            </a:ln>
          </p:spPr>
        </p:sp>
        <p:sp>
          <p:nvSpPr>
            <p:cNvPr id="20" name="Rectangle 20"/>
            <p:cNvSpPr/>
            <p:nvPr/>
          </p:nvSpPr>
          <p:spPr>
            <a:xfrm>
              <a:off x="723900" y="2114550"/>
              <a:ext cx="1600200" cy="285750"/>
            </a:xfrm>
            <a:prstGeom prst="rect">
              <a:avLst/>
            </a:prstGeom>
            <a:solidFill>
              <a:schemeClr val="lt1"/>
            </a:solidFill>
            <a:ln>
              <a:noFill/>
            </a:ln>
          </p:spPr>
        </p:sp>
        <p:sp>
          <p:nvSpPr>
            <p:cNvPr id="21" name="TextBox 21"/>
            <p:cNvSpPr txBox="1"/>
            <p:nvPr/>
          </p:nvSpPr>
          <p:spPr>
            <a:xfrm>
              <a:off x="752856" y="2139315"/>
              <a:ext cx="1591095"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Trước khi nối</a:t>
              </a:r>
            </a:p>
          </p:txBody>
        </p:sp>
        <p:sp>
          <p:nvSpPr>
            <p:cNvPr id="22" name="Rectangle 22"/>
            <p:cNvSpPr/>
            <p:nvPr/>
          </p:nvSpPr>
          <p:spPr>
            <a:xfrm>
              <a:off x="381000" y="2552700"/>
              <a:ext cx="3657600" cy="3333750"/>
            </a:xfrm>
            <a:prstGeom prst="roundRect">
              <a:avLst>
                <a:gd name="adj" fmla="val 4571"/>
              </a:avLst>
            </a:prstGeom>
            <a:solidFill>
              <a:schemeClr val="lt2"/>
            </a:solidFill>
            <a:ln>
              <a:noFill/>
            </a:ln>
          </p:spPr>
        </p:sp>
        <p:sp>
          <p:nvSpPr>
            <p:cNvPr id="23" name="Rectangle 23"/>
            <p:cNvSpPr/>
            <p:nvPr/>
          </p:nvSpPr>
          <p:spPr>
            <a:xfrm>
              <a:off x="609600" y="2800350"/>
              <a:ext cx="190500" cy="190500"/>
            </a:xfrm>
            <a:prstGeom prst="roundRect">
              <a:avLst>
                <a:gd name="adj" fmla="val 25000"/>
              </a:avLst>
            </a:prstGeom>
            <a:solidFill>
              <a:schemeClr val="lt1"/>
            </a:solidFill>
            <a:ln w="19050">
              <a:solidFill>
                <a:schemeClr val="accent1"/>
              </a:solidFill>
            </a:ln>
          </p:spPr>
        </p:sp>
        <p:sp>
          <p:nvSpPr>
            <p:cNvPr id="24" name="TextBox 24"/>
            <p:cNvSpPr txBox="1"/>
            <p:nvPr/>
          </p:nvSpPr>
          <p:spPr>
            <a:xfrm>
              <a:off x="944880" y="2800350"/>
              <a:ext cx="22917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Đăng xuất Google công ty</a:t>
              </a:r>
              <a:br/>
              <a:r>
                <a:rPr lang="vi-VN" sz="1500" dirty="0">
                  <a:solidFill>
                    <a:schemeClr val="dk1"/>
                  </a:solidFill>
                  <a:latin typeface="+mn-lt"/>
                  <a:ea typeface="+mn-ea"/>
                  <a:cs typeface="+mn-cs"/>
                </a:rPr>
                <a:t>trên trình duyệt</a:t>
              </a:r>
            </a:p>
          </p:txBody>
        </p:sp>
        <p:sp>
          <p:nvSpPr>
            <p:cNvPr id="25" name="Rectangle 25"/>
            <p:cNvSpPr/>
            <p:nvPr/>
          </p:nvSpPr>
          <p:spPr>
            <a:xfrm>
              <a:off x="533400" y="3448050"/>
              <a:ext cx="3352800" cy="742950"/>
            </a:xfrm>
            <a:prstGeom prst="roundRect">
              <a:avLst>
                <a:gd name="adj" fmla="val 15385"/>
              </a:avLst>
            </a:prstGeom>
            <a:solidFill>
              <a:schemeClr val="lt1"/>
            </a:solidFill>
            <a:ln w="19050">
              <a:solidFill>
                <a:srgbClr val="C0392B"/>
              </a:solidFill>
            </a:ln>
          </p:spPr>
        </p:sp>
        <p:grpSp>
          <p:nvGrpSpPr>
            <p:cNvPr id="28" name="Group 28"/>
            <p:cNvGrpSpPr/>
            <p:nvPr/>
          </p:nvGrpSpPr>
          <p:grpSpPr>
            <a:xfrm>
              <a:off x="635794" y="3626644"/>
              <a:ext cx="157163" cy="157163"/>
              <a:chOff x="635794" y="3626644"/>
              <a:chExt cx="157163" cy="157163"/>
            </a:xfrm>
          </p:grpSpPr>
          <p:sp>
            <p:nvSpPr>
              <p:cNvPr id="26" name="Freeform 26"/>
              <p:cNvSpPr/>
              <p:nvPr/>
            </p:nvSpPr>
            <p:spPr>
              <a:xfrm>
                <a:off x="635794" y="362664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27" name="Freeform 27"/>
              <p:cNvSpPr/>
              <p:nvPr/>
            </p:nvSpPr>
            <p:spPr>
              <a:xfrm>
                <a:off x="659368" y="3650218"/>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29" name="TextBox 29"/>
            <p:cNvSpPr txBox="1"/>
            <p:nvPr/>
          </p:nvSpPr>
          <p:spPr>
            <a:xfrm>
              <a:off x="944880" y="3600450"/>
              <a:ext cx="2795588"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C0392B"/>
                  </a:solidFill>
                  <a:latin typeface="+mn-lt"/>
                  <a:ea typeface="+mn-ea"/>
                  <a:cs typeface="+mn-cs"/>
                </a:rPr>
                <a:t>Không nối hộp thư công ty</a:t>
              </a:r>
              <a:br/>
              <a:r>
                <a:rPr lang="vi-VN" sz="1500" b="1" dirty="0">
                  <a:solidFill>
                    <a:srgbClr val="C0392B"/>
                  </a:solidFill>
                  <a:latin typeface="+mn-lt"/>
                  <a:ea typeface="+mn-ea"/>
                  <a:cs typeface="+mn-cs"/>
                </a:rPr>
                <a:t>khi đang học (quy định cứng)</a:t>
              </a:r>
            </a:p>
          </p:txBody>
        </p:sp>
        <p:sp>
          <p:nvSpPr>
            <p:cNvPr id="30" name="Rectangle 30"/>
            <p:cNvSpPr/>
            <p:nvPr/>
          </p:nvSpPr>
          <p:spPr>
            <a:xfrm>
              <a:off x="609600" y="4400550"/>
              <a:ext cx="190500" cy="190500"/>
            </a:xfrm>
            <a:prstGeom prst="roundRect">
              <a:avLst>
                <a:gd name="adj" fmla="val 25000"/>
              </a:avLst>
            </a:prstGeom>
            <a:solidFill>
              <a:schemeClr val="lt1"/>
            </a:solidFill>
            <a:ln w="19050">
              <a:solidFill>
                <a:schemeClr val="accent1"/>
              </a:solidFill>
            </a:ln>
          </p:spPr>
        </p:sp>
        <p:sp>
          <p:nvSpPr>
            <p:cNvPr id="31" name="TextBox 31"/>
            <p:cNvSpPr txBox="1"/>
            <p:nvPr/>
          </p:nvSpPr>
          <p:spPr>
            <a:xfrm>
              <a:off x="944880" y="4400550"/>
              <a:ext cx="23583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Đã nối nhiều tài khoản thì</a:t>
              </a:r>
              <a:br/>
              <a:r>
                <a:rPr lang="vi-VN" sz="1500" dirty="0">
                  <a:solidFill>
                    <a:schemeClr val="dk1"/>
                  </a:solidFill>
                  <a:latin typeface="+mn-lt"/>
                  <a:ea typeface="+mn-ea"/>
                  <a:cs typeface="+mn-cs"/>
                </a:rPr>
                <a:t>kiểm tra kỹ</a:t>
              </a:r>
            </a:p>
          </p:txBody>
        </p:sp>
      </p:grpSp>
      <p:grpSp>
        <p:nvGrpSpPr>
          <p:cNvPr id="43" name="Group 43"/>
          <p:cNvGrpSpPr/>
          <p:nvPr/>
        </p:nvGrpSpPr>
        <p:grpSpPr>
          <a:xfrm>
            <a:off x="4267200" y="2114550"/>
            <a:ext cx="3657600" cy="3771900"/>
            <a:chOff x="4267200" y="2114550"/>
            <a:chExt cx="3657600" cy="3771900"/>
          </a:xfrm>
        </p:grpSpPr>
        <p:sp>
          <p:nvSpPr>
            <p:cNvPr id="33" name="Ellipse 33"/>
            <p:cNvSpPr/>
            <p:nvPr/>
          </p:nvSpPr>
          <p:spPr>
            <a:xfrm>
              <a:off x="4324350" y="2162175"/>
              <a:ext cx="190500" cy="190500"/>
            </a:xfrm>
            <a:prstGeom prst="ellipse">
              <a:avLst/>
            </a:prstGeom>
            <a:solidFill>
              <a:schemeClr val="accent1"/>
            </a:solidFill>
            <a:ln>
              <a:noFill/>
            </a:ln>
          </p:spPr>
        </p:sp>
        <p:sp>
          <p:nvSpPr>
            <p:cNvPr id="34" name="Rectangle 34"/>
            <p:cNvSpPr/>
            <p:nvPr/>
          </p:nvSpPr>
          <p:spPr>
            <a:xfrm>
              <a:off x="4610100" y="2114550"/>
              <a:ext cx="1676400" cy="285750"/>
            </a:xfrm>
            <a:prstGeom prst="rect">
              <a:avLst/>
            </a:prstGeom>
            <a:solidFill>
              <a:schemeClr val="lt1"/>
            </a:solidFill>
            <a:ln>
              <a:noFill/>
            </a:ln>
          </p:spPr>
        </p:sp>
        <p:sp>
          <p:nvSpPr>
            <p:cNvPr id="35" name="TextBox 35"/>
            <p:cNvSpPr txBox="1"/>
            <p:nvPr/>
          </p:nvSpPr>
          <p:spPr>
            <a:xfrm>
              <a:off x="4639056" y="2139315"/>
              <a:ext cx="165503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Khi cấp quyền</a:t>
              </a:r>
            </a:p>
          </p:txBody>
        </p:sp>
        <p:sp>
          <p:nvSpPr>
            <p:cNvPr id="36" name="Rectangle 36"/>
            <p:cNvSpPr/>
            <p:nvPr/>
          </p:nvSpPr>
          <p:spPr>
            <a:xfrm>
              <a:off x="4267200" y="2552700"/>
              <a:ext cx="3657600" cy="3333750"/>
            </a:xfrm>
            <a:prstGeom prst="roundRect">
              <a:avLst>
                <a:gd name="adj" fmla="val 4571"/>
              </a:avLst>
            </a:prstGeom>
            <a:solidFill>
              <a:schemeClr val="lt2"/>
            </a:solidFill>
            <a:ln>
              <a:noFill/>
            </a:ln>
          </p:spPr>
        </p:sp>
        <p:sp>
          <p:nvSpPr>
            <p:cNvPr id="37" name="Rectangle 37"/>
            <p:cNvSpPr/>
            <p:nvPr/>
          </p:nvSpPr>
          <p:spPr>
            <a:xfrm>
              <a:off x="4495800" y="2800350"/>
              <a:ext cx="190500" cy="190500"/>
            </a:xfrm>
            <a:prstGeom prst="roundRect">
              <a:avLst>
                <a:gd name="adj" fmla="val 25000"/>
              </a:avLst>
            </a:prstGeom>
            <a:solidFill>
              <a:schemeClr val="lt1"/>
            </a:solidFill>
            <a:ln w="19050">
              <a:solidFill>
                <a:schemeClr val="accent1"/>
              </a:solidFill>
            </a:ln>
          </p:spPr>
        </p:sp>
        <p:sp>
          <p:nvSpPr>
            <p:cNvPr id="38" name="TextBox 38"/>
            <p:cNvSpPr txBox="1"/>
            <p:nvPr/>
          </p:nvSpPr>
          <p:spPr>
            <a:xfrm>
              <a:off x="4831080" y="2800350"/>
              <a:ext cx="23747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Đọc hết danh sách quyền</a:t>
              </a:r>
            </a:p>
          </p:txBody>
        </p:sp>
        <p:sp>
          <p:nvSpPr>
            <p:cNvPr id="39" name="Rectangle 39"/>
            <p:cNvSpPr/>
            <p:nvPr/>
          </p:nvSpPr>
          <p:spPr>
            <a:xfrm>
              <a:off x="4495800" y="3295650"/>
              <a:ext cx="190500" cy="190500"/>
            </a:xfrm>
            <a:prstGeom prst="roundRect">
              <a:avLst>
                <a:gd name="adj" fmla="val 25000"/>
              </a:avLst>
            </a:prstGeom>
            <a:solidFill>
              <a:schemeClr val="lt1"/>
            </a:solidFill>
            <a:ln w="19050">
              <a:solidFill>
                <a:schemeClr val="accent1"/>
              </a:solidFill>
            </a:ln>
          </p:spPr>
        </p:sp>
        <p:sp>
          <p:nvSpPr>
            <p:cNvPr id="40" name="TextBox 40"/>
            <p:cNvSpPr txBox="1"/>
            <p:nvPr/>
          </p:nvSpPr>
          <p:spPr>
            <a:xfrm>
              <a:off x="4831080" y="3295650"/>
              <a:ext cx="25298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Quyền Gmail gộp đọc, soạn,</a:t>
              </a:r>
              <a:br/>
              <a:r>
                <a:rPr lang="vi-VN" sz="1500" dirty="0">
                  <a:solidFill>
                    <a:schemeClr val="dk1"/>
                  </a:solidFill>
                  <a:latin typeface="+mn-lt"/>
                  <a:ea typeface="+mn-ea"/>
                  <a:cs typeface="+mn-cs"/>
                </a:rPr>
                <a:t>gửi → chặn gửi bằng</a:t>
              </a:r>
              <a:br/>
              <a:r>
                <a:rPr lang="vi-VN" sz="1500" b="1" dirty="0">
                  <a:solidFill>
                    <a:schemeClr val="accent1"/>
                  </a:solidFill>
                  <a:latin typeface="+mn-lt"/>
                  <a:ea typeface="+mn-ea"/>
                  <a:cs typeface="+mn-cs"/>
                </a:rPr>
                <a:t>Always ask</a:t>
              </a:r>
            </a:p>
          </p:txBody>
        </p:sp>
        <p:sp>
          <p:nvSpPr>
            <p:cNvPr id="41" name="Rectangle 41"/>
            <p:cNvSpPr/>
            <p:nvPr/>
          </p:nvSpPr>
          <p:spPr>
            <a:xfrm>
              <a:off x="4495800" y="4286250"/>
              <a:ext cx="190500" cy="190500"/>
            </a:xfrm>
            <a:prstGeom prst="roundRect">
              <a:avLst>
                <a:gd name="adj" fmla="val 25000"/>
              </a:avLst>
            </a:prstGeom>
            <a:solidFill>
              <a:schemeClr val="lt1"/>
            </a:solidFill>
            <a:ln w="19050">
              <a:solidFill>
                <a:schemeClr val="accent1"/>
              </a:solidFill>
            </a:ln>
          </p:spPr>
        </p:sp>
        <p:sp>
          <p:nvSpPr>
            <p:cNvPr id="42" name="TextBox 42"/>
            <p:cNvSpPr txBox="1"/>
            <p:nvPr/>
          </p:nvSpPr>
          <p:spPr>
            <a:xfrm>
              <a:off x="4831080" y="4286250"/>
              <a:ext cx="2339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Thấy “ứng dụng chưa được</a:t>
              </a:r>
              <a:br/>
              <a:r>
                <a:rPr lang="vi-VN" sz="1500" dirty="0">
                  <a:solidFill>
                    <a:schemeClr val="dk1"/>
                  </a:solidFill>
                  <a:latin typeface="+mn-lt"/>
                  <a:ea typeface="+mn-ea"/>
                  <a:cs typeface="+mn-cs"/>
                </a:rPr>
                <a:t>xác minh” thì dừng, gọi</a:t>
              </a:r>
              <a:br/>
              <a:r>
                <a:rPr lang="vi-VN" sz="1500" dirty="0">
                  <a:solidFill>
                    <a:schemeClr val="dk1"/>
                  </a:solidFill>
                  <a:latin typeface="+mn-lt"/>
                  <a:ea typeface="+mn-ea"/>
                  <a:cs typeface="+mn-cs"/>
                </a:rPr>
                <a:t>giảng viên</a:t>
              </a:r>
            </a:p>
          </p:txBody>
        </p:sp>
      </p:grpSp>
      <p:grpSp>
        <p:nvGrpSpPr>
          <p:cNvPr id="52" name="Group 52"/>
          <p:cNvGrpSpPr/>
          <p:nvPr/>
        </p:nvGrpSpPr>
        <p:grpSpPr>
          <a:xfrm>
            <a:off x="8153400" y="2114550"/>
            <a:ext cx="3657600" cy="3771900"/>
            <a:chOff x="8153400" y="2114550"/>
            <a:chExt cx="3657600" cy="3771900"/>
          </a:xfrm>
        </p:grpSpPr>
        <p:sp>
          <p:nvSpPr>
            <p:cNvPr id="44" name="Ellipse 44"/>
            <p:cNvSpPr/>
            <p:nvPr/>
          </p:nvSpPr>
          <p:spPr>
            <a:xfrm>
              <a:off x="8210550" y="2162175"/>
              <a:ext cx="190500" cy="190500"/>
            </a:xfrm>
            <a:prstGeom prst="ellipse">
              <a:avLst/>
            </a:prstGeom>
            <a:solidFill>
              <a:schemeClr val="accent2"/>
            </a:solidFill>
            <a:ln>
              <a:noFill/>
            </a:ln>
          </p:spPr>
        </p:sp>
        <p:sp>
          <p:nvSpPr>
            <p:cNvPr id="45" name="Rectangle 45"/>
            <p:cNvSpPr/>
            <p:nvPr/>
          </p:nvSpPr>
          <p:spPr>
            <a:xfrm>
              <a:off x="8496300" y="2114550"/>
              <a:ext cx="1562100" cy="285750"/>
            </a:xfrm>
            <a:prstGeom prst="rect">
              <a:avLst/>
            </a:prstGeom>
            <a:solidFill>
              <a:schemeClr val="lt1"/>
            </a:solidFill>
            <a:ln>
              <a:noFill/>
            </a:ln>
          </p:spPr>
        </p:sp>
        <p:sp>
          <p:nvSpPr>
            <p:cNvPr id="46" name="TextBox 46"/>
            <p:cNvSpPr txBox="1"/>
            <p:nvPr/>
          </p:nvSpPr>
          <p:spPr>
            <a:xfrm>
              <a:off x="8525256" y="2139315"/>
              <a:ext cx="1515139"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Sau buổi học</a:t>
              </a:r>
            </a:p>
          </p:txBody>
        </p:sp>
        <p:sp>
          <p:nvSpPr>
            <p:cNvPr id="47" name="Rectangle 47"/>
            <p:cNvSpPr/>
            <p:nvPr/>
          </p:nvSpPr>
          <p:spPr>
            <a:xfrm>
              <a:off x="8153400" y="2552700"/>
              <a:ext cx="3657600" cy="3333750"/>
            </a:xfrm>
            <a:prstGeom prst="roundRect">
              <a:avLst>
                <a:gd name="adj" fmla="val 4571"/>
              </a:avLst>
            </a:prstGeom>
            <a:solidFill>
              <a:schemeClr val="lt2"/>
            </a:solidFill>
            <a:ln>
              <a:noFill/>
            </a:ln>
          </p:spPr>
        </p:sp>
        <p:sp>
          <p:nvSpPr>
            <p:cNvPr id="48" name="Rectangle 48"/>
            <p:cNvSpPr/>
            <p:nvPr/>
          </p:nvSpPr>
          <p:spPr>
            <a:xfrm>
              <a:off x="8382000" y="2800350"/>
              <a:ext cx="190500" cy="190500"/>
            </a:xfrm>
            <a:prstGeom prst="roundRect">
              <a:avLst>
                <a:gd name="adj" fmla="val 25000"/>
              </a:avLst>
            </a:prstGeom>
            <a:solidFill>
              <a:schemeClr val="lt1"/>
            </a:solidFill>
            <a:ln w="19050">
              <a:solidFill>
                <a:schemeClr val="accent1"/>
              </a:solidFill>
            </a:ln>
          </p:spPr>
        </p:sp>
        <p:sp>
          <p:nvSpPr>
            <p:cNvPr id="49" name="TextBox 49"/>
            <p:cNvSpPr txBox="1"/>
            <p:nvPr/>
          </p:nvSpPr>
          <p:spPr>
            <a:xfrm>
              <a:off x="8717280" y="2800350"/>
              <a:ext cx="26441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Vào myaccount.google.com/</a:t>
              </a:r>
              <a:br/>
              <a:r>
                <a:rPr lang="vi-VN" sz="1500" dirty="0">
                  <a:solidFill>
                    <a:schemeClr val="dk1"/>
                  </a:solidFill>
                  <a:latin typeface="+mn-lt"/>
                  <a:ea typeface="+mn-ea"/>
                  <a:cs typeface="+mn-cs"/>
                </a:rPr>
                <a:t>linkedapps → ChatGPT/OpenAI</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Remove access</a:t>
              </a:r>
            </a:p>
          </p:txBody>
        </p:sp>
        <p:sp>
          <p:nvSpPr>
            <p:cNvPr id="50" name="Rectangle 50"/>
            <p:cNvSpPr/>
            <p:nvPr/>
          </p:nvSpPr>
          <p:spPr>
            <a:xfrm>
              <a:off x="8382000" y="3790950"/>
              <a:ext cx="190500" cy="190500"/>
            </a:xfrm>
            <a:prstGeom prst="roundRect">
              <a:avLst>
                <a:gd name="adj" fmla="val 25000"/>
              </a:avLst>
            </a:prstGeom>
            <a:solidFill>
              <a:schemeClr val="lt1"/>
            </a:solidFill>
            <a:ln w="19050">
              <a:solidFill>
                <a:schemeClr val="accent1"/>
              </a:solidFill>
            </a:ln>
          </p:spPr>
        </p:sp>
        <p:sp>
          <p:nvSpPr>
            <p:cNvPr id="51" name="TextBox 51"/>
            <p:cNvSpPr txBox="1"/>
            <p:nvPr/>
          </p:nvSpPr>
          <p:spPr>
            <a:xfrm>
              <a:off x="8717280" y="3790950"/>
              <a:ext cx="25584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ChatGPT: Settings → Plugins</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ngắt kết nối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26028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tự động việc lặp lại, quy tắc rõ, sai sửa được —</a:t>
            </a:r>
            <a:br/>
            <a:r>
              <a:rPr lang="vi-VN" sz="3150" b="1" dirty="0">
                <a:solidFill>
                  <a:schemeClr val="accent1"/>
                </a:solidFill>
                <a:latin typeface="+mn-lt"/>
                <a:ea typeface="+mn-ea"/>
                <a:cs typeface="+mn-cs"/>
              </a:rPr>
              <a:t>và luôn giữ hai lớp phanh</a:t>
            </a:r>
          </a:p>
        </p:txBody>
      </p:sp>
      <p:grpSp>
        <p:nvGrpSpPr>
          <p:cNvPr id="31" name="Group 31"/>
          <p:cNvGrpSpPr/>
          <p:nvPr/>
        </p:nvGrpSpPr>
        <p:grpSpPr>
          <a:xfrm>
            <a:off x="381000" y="2114550"/>
            <a:ext cx="3810000" cy="1428750"/>
            <a:chOff x="381000" y="2114550"/>
            <a:chExt cx="3810000" cy="1428750"/>
          </a:xfrm>
        </p:grpSpPr>
        <p:sp>
          <p:nvSpPr>
            <p:cNvPr id="17" name="Rectangle 17"/>
            <p:cNvSpPr/>
            <p:nvPr/>
          </p:nvSpPr>
          <p:spPr>
            <a:xfrm>
              <a:off x="381000" y="2114550"/>
              <a:ext cx="3810000" cy="1428750"/>
            </a:xfrm>
            <a:prstGeom prst="roundRect">
              <a:avLst>
                <a:gd name="adj" fmla="val 10667"/>
              </a:avLst>
            </a:prstGeom>
            <a:solidFill>
              <a:schemeClr val="lt2"/>
            </a:solidFill>
            <a:ln>
              <a:noFill/>
            </a:ln>
          </p:spPr>
        </p:sp>
        <p:sp>
          <p:nvSpPr>
            <p:cNvPr id="18" name="TextBox 18"/>
            <p:cNvSpPr txBox="1"/>
            <p:nvPr/>
          </p:nvSpPr>
          <p:spPr>
            <a:xfrm>
              <a:off x="603504" y="2270760"/>
              <a:ext cx="146090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CHỈ TỰ ĐỘNG KHI</a:t>
              </a:r>
            </a:p>
          </p:txBody>
        </p:sp>
        <p:grpSp>
          <p:nvGrpSpPr>
            <p:cNvPr id="21" name="Group 21"/>
            <p:cNvGrpSpPr/>
            <p:nvPr/>
          </p:nvGrpSpPr>
          <p:grpSpPr>
            <a:xfrm>
              <a:off x="635794" y="2626519"/>
              <a:ext cx="157163" cy="157163"/>
              <a:chOff x="635794" y="2626519"/>
              <a:chExt cx="157163" cy="157163"/>
            </a:xfrm>
          </p:grpSpPr>
          <p:sp>
            <p:nvSpPr>
              <p:cNvPr id="19" name="Freeform 19"/>
              <p:cNvSpPr/>
              <p:nvPr/>
            </p:nvSpPr>
            <p:spPr>
              <a:xfrm>
                <a:off x="635794" y="26265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0" name="Freeform 20"/>
              <p:cNvSpPr/>
              <p:nvPr/>
            </p:nvSpPr>
            <p:spPr>
              <a:xfrm>
                <a:off x="688181" y="26876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22" name="TextBox 22"/>
            <p:cNvSpPr txBox="1"/>
            <p:nvPr/>
          </p:nvSpPr>
          <p:spPr>
            <a:xfrm>
              <a:off x="906780" y="2609850"/>
              <a:ext cx="183903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lặp lại đều đặn</a:t>
              </a:r>
            </a:p>
          </p:txBody>
        </p:sp>
        <p:grpSp>
          <p:nvGrpSpPr>
            <p:cNvPr id="25" name="Group 25"/>
            <p:cNvGrpSpPr/>
            <p:nvPr/>
          </p:nvGrpSpPr>
          <p:grpSpPr>
            <a:xfrm>
              <a:off x="635794" y="2931319"/>
              <a:ext cx="157163" cy="157163"/>
              <a:chOff x="635794" y="2931319"/>
              <a:chExt cx="157163" cy="157163"/>
            </a:xfrm>
          </p:grpSpPr>
          <p:sp>
            <p:nvSpPr>
              <p:cNvPr id="23" name="Freeform 23"/>
              <p:cNvSpPr/>
              <p:nvPr/>
            </p:nvSpPr>
            <p:spPr>
              <a:xfrm>
                <a:off x="635794" y="29313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4" name="Freeform 24"/>
              <p:cNvSpPr/>
              <p:nvPr/>
            </p:nvSpPr>
            <p:spPr>
              <a:xfrm>
                <a:off x="688181" y="29924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26" name="TextBox 26"/>
            <p:cNvSpPr txBox="1"/>
            <p:nvPr/>
          </p:nvSpPr>
          <p:spPr>
            <a:xfrm>
              <a:off x="906780" y="2914650"/>
              <a:ext cx="15774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tắc rõ ràng</a:t>
              </a:r>
            </a:p>
          </p:txBody>
        </p:sp>
        <p:grpSp>
          <p:nvGrpSpPr>
            <p:cNvPr id="29" name="Group 29"/>
            <p:cNvGrpSpPr/>
            <p:nvPr/>
          </p:nvGrpSpPr>
          <p:grpSpPr>
            <a:xfrm>
              <a:off x="635794" y="3236119"/>
              <a:ext cx="157163" cy="157163"/>
              <a:chOff x="635794" y="3236119"/>
              <a:chExt cx="157163" cy="157163"/>
            </a:xfrm>
          </p:grpSpPr>
          <p:sp>
            <p:nvSpPr>
              <p:cNvPr id="27" name="Freeform 27"/>
              <p:cNvSpPr/>
              <p:nvPr/>
            </p:nvSpPr>
            <p:spPr>
              <a:xfrm>
                <a:off x="635794" y="32361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8" name="Freeform 28"/>
              <p:cNvSpPr/>
              <p:nvPr/>
            </p:nvSpPr>
            <p:spPr>
              <a:xfrm>
                <a:off x="688181" y="32972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30" name="TextBox 30"/>
            <p:cNvSpPr txBox="1"/>
            <p:nvPr/>
          </p:nvSpPr>
          <p:spPr>
            <a:xfrm>
              <a:off x="906780" y="3219450"/>
              <a:ext cx="203155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Làm sai thì sửa được</a:t>
              </a:r>
            </a:p>
          </p:txBody>
        </p:sp>
      </p:grpSp>
      <p:grpSp>
        <p:nvGrpSpPr>
          <p:cNvPr id="46" name="Group 46"/>
          <p:cNvGrpSpPr/>
          <p:nvPr/>
        </p:nvGrpSpPr>
        <p:grpSpPr>
          <a:xfrm>
            <a:off x="381000" y="3695700"/>
            <a:ext cx="3810000" cy="1428750"/>
            <a:chOff x="381000" y="3695700"/>
            <a:chExt cx="3810000" cy="1428750"/>
          </a:xfrm>
        </p:grpSpPr>
        <p:sp>
          <p:nvSpPr>
            <p:cNvPr id="32" name="Rectangle 32"/>
            <p:cNvSpPr/>
            <p:nvPr/>
          </p:nvSpPr>
          <p:spPr>
            <a:xfrm>
              <a:off x="381000" y="3695700"/>
              <a:ext cx="3810000" cy="1428750"/>
            </a:xfrm>
            <a:prstGeom prst="roundRect">
              <a:avLst>
                <a:gd name="adj" fmla="val 10667"/>
              </a:avLst>
            </a:prstGeom>
            <a:solidFill>
              <a:schemeClr val="lt1"/>
            </a:solidFill>
            <a:ln w="14288">
              <a:solidFill>
                <a:srgbClr val="C0392B"/>
              </a:solidFill>
            </a:ln>
          </p:spPr>
        </p:sp>
        <p:sp>
          <p:nvSpPr>
            <p:cNvPr id="33" name="TextBox 33"/>
            <p:cNvSpPr txBox="1"/>
            <p:nvPr/>
          </p:nvSpPr>
          <p:spPr>
            <a:xfrm>
              <a:off x="603504" y="3851910"/>
              <a:ext cx="1332037"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KHÔNG TỰ ĐỘNG</a:t>
              </a:r>
            </a:p>
          </p:txBody>
        </p:sp>
        <p:grpSp>
          <p:nvGrpSpPr>
            <p:cNvPr id="36" name="Group 36"/>
            <p:cNvGrpSpPr/>
            <p:nvPr/>
          </p:nvGrpSpPr>
          <p:grpSpPr>
            <a:xfrm>
              <a:off x="635794" y="4207669"/>
              <a:ext cx="157163" cy="157163"/>
              <a:chOff x="635794" y="4207669"/>
              <a:chExt cx="157163" cy="157163"/>
            </a:xfrm>
          </p:grpSpPr>
          <p:sp>
            <p:nvSpPr>
              <p:cNvPr id="34" name="Freeform 34"/>
              <p:cNvSpPr/>
              <p:nvPr/>
            </p:nvSpPr>
            <p:spPr>
              <a:xfrm>
                <a:off x="635794" y="42076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35" name="Freeform 35"/>
              <p:cNvSpPr/>
              <p:nvPr/>
            </p:nvSpPr>
            <p:spPr>
              <a:xfrm>
                <a:off x="659368" y="42312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37" name="TextBox 37"/>
            <p:cNvSpPr txBox="1"/>
            <p:nvPr/>
          </p:nvSpPr>
          <p:spPr>
            <a:xfrm>
              <a:off x="906780" y="4191000"/>
              <a:ext cx="171785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dính tới tiền</a:t>
              </a:r>
            </a:p>
          </p:txBody>
        </p:sp>
        <p:grpSp>
          <p:nvGrpSpPr>
            <p:cNvPr id="40" name="Group 40"/>
            <p:cNvGrpSpPr/>
            <p:nvPr/>
          </p:nvGrpSpPr>
          <p:grpSpPr>
            <a:xfrm>
              <a:off x="635794" y="4512469"/>
              <a:ext cx="157163" cy="157163"/>
              <a:chOff x="635794" y="4512469"/>
              <a:chExt cx="157163" cy="157163"/>
            </a:xfrm>
          </p:grpSpPr>
          <p:sp>
            <p:nvSpPr>
              <p:cNvPr id="38" name="Freeform 38"/>
              <p:cNvSpPr/>
              <p:nvPr/>
            </p:nvSpPr>
            <p:spPr>
              <a:xfrm>
                <a:off x="635794" y="45124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39" name="Freeform 39"/>
              <p:cNvSpPr/>
              <p:nvPr/>
            </p:nvSpPr>
            <p:spPr>
              <a:xfrm>
                <a:off x="659368" y="45360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41" name="TextBox 41"/>
            <p:cNvSpPr txBox="1"/>
            <p:nvPr/>
          </p:nvSpPr>
          <p:spPr>
            <a:xfrm>
              <a:off x="906780" y="4495800"/>
              <a:ext cx="174872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Cam kết với khách</a:t>
              </a:r>
            </a:p>
          </p:txBody>
        </p:sp>
        <p:grpSp>
          <p:nvGrpSpPr>
            <p:cNvPr id="44" name="Group 44"/>
            <p:cNvGrpSpPr/>
            <p:nvPr/>
          </p:nvGrpSpPr>
          <p:grpSpPr>
            <a:xfrm>
              <a:off x="635794" y="4817269"/>
              <a:ext cx="157163" cy="157163"/>
              <a:chOff x="635794" y="4817269"/>
              <a:chExt cx="157163" cy="157163"/>
            </a:xfrm>
          </p:grpSpPr>
          <p:sp>
            <p:nvSpPr>
              <p:cNvPr id="42" name="Freeform 42"/>
              <p:cNvSpPr/>
              <p:nvPr/>
            </p:nvSpPr>
            <p:spPr>
              <a:xfrm>
                <a:off x="635794" y="48172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43" name="Freeform 43"/>
              <p:cNvSpPr/>
              <p:nvPr/>
            </p:nvSpPr>
            <p:spPr>
              <a:xfrm>
                <a:off x="659368" y="48408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45" name="TextBox 45"/>
            <p:cNvSpPr txBox="1"/>
            <p:nvPr/>
          </p:nvSpPr>
          <p:spPr>
            <a:xfrm>
              <a:off x="906780" y="4800600"/>
              <a:ext cx="185973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trình còn loạn</a:t>
              </a:r>
            </a:p>
          </p:txBody>
        </p:sp>
      </p:grpSp>
      <p:grpSp>
        <p:nvGrpSpPr>
          <p:cNvPr id="48" name="Group 48"/>
          <p:cNvGrpSpPr/>
          <p:nvPr/>
        </p:nvGrpSpPr>
        <p:grpSpPr>
          <a:xfrm>
            <a:off x="4470654" y="2156460"/>
            <a:ext cx="1897868" cy="234696"/>
            <a:chOff x="4470654" y="2156460"/>
            <a:chExt cx="1897868" cy="234696"/>
          </a:xfrm>
        </p:grpSpPr>
        <p:sp>
          <p:nvSpPr>
            <p:cNvPr id="47" name="TextBox 47"/>
            <p:cNvSpPr txBox="1"/>
            <p:nvPr/>
          </p:nvSpPr>
          <p:spPr>
            <a:xfrm>
              <a:off x="4470654" y="2156460"/>
              <a:ext cx="1897868"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LUỒNG TỰ ĐỘNG 3 LỚP</a:t>
              </a:r>
            </a:p>
          </p:txBody>
        </p:sp>
      </p:grpSp>
      <p:grpSp>
        <p:nvGrpSpPr>
          <p:cNvPr id="51" name="Group 51"/>
          <p:cNvGrpSpPr/>
          <p:nvPr/>
        </p:nvGrpSpPr>
        <p:grpSpPr>
          <a:xfrm>
            <a:off x="4476750" y="2438400"/>
            <a:ext cx="2286000" cy="571500"/>
            <a:chOff x="4476750" y="2438400"/>
            <a:chExt cx="2286000" cy="571500"/>
          </a:xfrm>
        </p:grpSpPr>
        <p:sp>
          <p:nvSpPr>
            <p:cNvPr id="49" name="Freeform 49"/>
            <p:cNvSpPr/>
            <p:nvPr/>
          </p:nvSpPr>
          <p:spPr>
            <a:xfrm>
              <a:off x="4476750" y="2438400"/>
              <a:ext cx="2286000" cy="571500"/>
            </a:xfrm>
            <a:prstGeom prst="homePlate">
              <a:avLst/>
            </a:prstGeom>
            <a:solidFill>
              <a:schemeClr val="accent1"/>
            </a:solidFill>
            <a:ln>
              <a:noFill/>
            </a:ln>
          </p:spPr>
        </p:sp>
        <p:sp>
          <p:nvSpPr>
            <p:cNvPr id="50" name="TextBox 50"/>
            <p:cNvSpPr txBox="1"/>
            <p:nvPr/>
          </p:nvSpPr>
          <p:spPr>
            <a:xfrm>
              <a:off x="4677918" y="2622232"/>
              <a:ext cx="1120697"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Kích hoạt</a:t>
              </a:r>
            </a:p>
          </p:txBody>
        </p:sp>
      </p:grpSp>
      <p:grpSp>
        <p:nvGrpSpPr>
          <p:cNvPr id="54" name="Group 54"/>
          <p:cNvGrpSpPr/>
          <p:nvPr/>
        </p:nvGrpSpPr>
        <p:grpSpPr>
          <a:xfrm>
            <a:off x="6877050" y="2438400"/>
            <a:ext cx="2286000" cy="571500"/>
            <a:chOff x="6877050" y="2438400"/>
            <a:chExt cx="2286000" cy="571500"/>
          </a:xfrm>
        </p:grpSpPr>
        <p:sp>
          <p:nvSpPr>
            <p:cNvPr id="52" name="Freeform 52"/>
            <p:cNvSpPr/>
            <p:nvPr/>
          </p:nvSpPr>
          <p:spPr>
            <a:xfrm>
              <a:off x="6877050" y="2438400"/>
              <a:ext cx="2286000" cy="571500"/>
            </a:xfrm>
            <a:prstGeom prst="chevron">
              <a:avLst/>
            </a:prstGeom>
            <a:solidFill>
              <a:schemeClr val="accent1"/>
            </a:solidFill>
            <a:ln>
              <a:noFill/>
            </a:ln>
          </p:spPr>
        </p:sp>
        <p:sp>
          <p:nvSpPr>
            <p:cNvPr id="53" name="TextBox 53"/>
            <p:cNvSpPr txBox="1"/>
            <p:nvPr/>
          </p:nvSpPr>
          <p:spPr>
            <a:xfrm>
              <a:off x="7344918" y="2622232"/>
              <a:ext cx="54895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Xử lý</a:t>
              </a:r>
            </a:p>
          </p:txBody>
        </p:sp>
      </p:grpSp>
      <p:grpSp>
        <p:nvGrpSpPr>
          <p:cNvPr id="57" name="Group 57"/>
          <p:cNvGrpSpPr/>
          <p:nvPr/>
        </p:nvGrpSpPr>
        <p:grpSpPr>
          <a:xfrm>
            <a:off x="9525000" y="2438400"/>
            <a:ext cx="2286000" cy="571500"/>
            <a:chOff x="9525000" y="2438400"/>
            <a:chExt cx="2286000" cy="571500"/>
          </a:xfrm>
        </p:grpSpPr>
        <p:sp>
          <p:nvSpPr>
            <p:cNvPr id="55" name="Freeform 55"/>
            <p:cNvSpPr/>
            <p:nvPr/>
          </p:nvSpPr>
          <p:spPr>
            <a:xfrm>
              <a:off x="9525000" y="2438400"/>
              <a:ext cx="2286000" cy="571500"/>
            </a:xfrm>
            <a:prstGeom prst="chevron">
              <a:avLst/>
            </a:prstGeom>
            <a:solidFill>
              <a:schemeClr val="accent1"/>
            </a:solidFill>
            <a:ln>
              <a:noFill/>
            </a:ln>
          </p:spPr>
        </p:sp>
        <p:sp>
          <p:nvSpPr>
            <p:cNvPr id="56" name="TextBox 56"/>
            <p:cNvSpPr txBox="1"/>
            <p:nvPr/>
          </p:nvSpPr>
          <p:spPr>
            <a:xfrm>
              <a:off x="9992868" y="2622232"/>
              <a:ext cx="73616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Đưa ra</a:t>
              </a:r>
            </a:p>
          </p:txBody>
        </p:sp>
      </p:grpSp>
      <p:grpSp>
        <p:nvGrpSpPr>
          <p:cNvPr id="65" name="Group 65"/>
          <p:cNvGrpSpPr/>
          <p:nvPr/>
        </p:nvGrpSpPr>
        <p:grpSpPr>
          <a:xfrm>
            <a:off x="8864566" y="2514600"/>
            <a:ext cx="958918" cy="790956"/>
            <a:chOff x="8864566" y="2514600"/>
            <a:chExt cx="958918" cy="790956"/>
          </a:xfrm>
        </p:grpSpPr>
        <p:sp>
          <p:nvSpPr>
            <p:cNvPr id="58" name="Ellipse 58"/>
            <p:cNvSpPr/>
            <p:nvPr/>
          </p:nvSpPr>
          <p:spPr>
            <a:xfrm>
              <a:off x="9134475" y="2514600"/>
              <a:ext cx="419100" cy="419100"/>
            </a:xfrm>
            <a:prstGeom prst="ellipse">
              <a:avLst/>
            </a:prstGeom>
            <a:solidFill>
              <a:schemeClr val="accent2"/>
            </a:solidFill>
            <a:ln w="28575">
              <a:solidFill>
                <a:srgbClr val="FFFFFF"/>
              </a:solidFill>
            </a:ln>
          </p:spPr>
        </p:sp>
        <p:grpSp>
          <p:nvGrpSpPr>
            <p:cNvPr id="63" name="Group 63"/>
            <p:cNvGrpSpPr/>
            <p:nvPr/>
          </p:nvGrpSpPr>
          <p:grpSpPr>
            <a:xfrm>
              <a:off x="9268200" y="2636838"/>
              <a:ext cx="145675" cy="174628"/>
              <a:chOff x="9268200" y="2636838"/>
              <a:chExt cx="145675" cy="174628"/>
            </a:xfrm>
          </p:grpSpPr>
          <p:sp>
            <p:nvSpPr>
              <p:cNvPr id="59" name="Freeform 59"/>
              <p:cNvSpPr/>
              <p:nvPr/>
            </p:nvSpPr>
            <p:spPr>
              <a:xfrm>
                <a:off x="9309100" y="2654300"/>
                <a:ext cx="26194" cy="78581"/>
              </a:xfrm>
              <a:custGeom>
                <a:avLst/>
                <a:gdLst/>
                <a:ahLst/>
                <a:cxnLst/>
                <a:rect l="l" t="t" r="r" b="b"/>
                <a:pathLst>
                  <a:path w="26194" h="78581">
                    <a:moveTo>
                      <a:pt x="0" y="78581"/>
                    </a:moveTo>
                    <a:lnTo>
                      <a:pt x="0" y="13097"/>
                    </a:lnTo>
                    <a:cubicBezTo>
                      <a:pt x="0" y="5864"/>
                      <a:pt x="5864" y="0"/>
                      <a:pt x="13097" y="0"/>
                    </a:cubicBezTo>
                    <a:cubicBezTo>
                      <a:pt x="20330" y="0"/>
                      <a:pt x="26194" y="5864"/>
                      <a:pt x="26194" y="13097"/>
                    </a:cubicBezTo>
                    <a:lnTo>
                      <a:pt x="26194" y="69850"/>
                    </a:lnTo>
                  </a:path>
                </a:pathLst>
              </a:custGeom>
              <a:noFill/>
              <a:ln w="17463">
                <a:solidFill>
                  <a:schemeClr val="dk1"/>
                </a:solidFill>
              </a:ln>
            </p:spPr>
          </p:sp>
          <p:sp>
            <p:nvSpPr>
              <p:cNvPr id="60" name="Freeform 60"/>
              <p:cNvSpPr/>
              <p:nvPr/>
            </p:nvSpPr>
            <p:spPr>
              <a:xfrm>
                <a:off x="9335294" y="2636838"/>
                <a:ext cx="26194" cy="87313"/>
              </a:xfrm>
              <a:custGeom>
                <a:avLst/>
                <a:gdLst/>
                <a:ahLst/>
                <a:cxnLst/>
                <a:rect l="l" t="t" r="r" b="b"/>
                <a:pathLst>
                  <a:path w="26194" h="87313">
                    <a:moveTo>
                      <a:pt x="0" y="30559"/>
                    </a:moveTo>
                    <a:lnTo>
                      <a:pt x="0" y="13097"/>
                    </a:lnTo>
                    <a:cubicBezTo>
                      <a:pt x="0" y="5864"/>
                      <a:pt x="5864" y="0"/>
                      <a:pt x="13097" y="0"/>
                    </a:cubicBezTo>
                    <a:cubicBezTo>
                      <a:pt x="20330" y="0"/>
                      <a:pt x="26194" y="5864"/>
                      <a:pt x="26194" y="13097"/>
                    </a:cubicBezTo>
                    <a:lnTo>
                      <a:pt x="26194" y="87313"/>
                    </a:lnTo>
                  </a:path>
                </a:pathLst>
              </a:custGeom>
              <a:noFill/>
              <a:ln w="17463">
                <a:solidFill>
                  <a:schemeClr val="dk1"/>
                </a:solidFill>
              </a:ln>
            </p:spPr>
          </p:sp>
          <p:sp>
            <p:nvSpPr>
              <p:cNvPr id="61" name="Freeform 61"/>
              <p:cNvSpPr/>
              <p:nvPr/>
            </p:nvSpPr>
            <p:spPr>
              <a:xfrm>
                <a:off x="9361488" y="2654300"/>
                <a:ext cx="26194" cy="69850"/>
              </a:xfrm>
              <a:custGeom>
                <a:avLst/>
                <a:gdLst/>
                <a:ahLst/>
                <a:cxnLst/>
                <a:rect l="l" t="t" r="r" b="b"/>
                <a:pathLst>
                  <a:path w="26194" h="69850">
                    <a:moveTo>
                      <a:pt x="0" y="13097"/>
                    </a:moveTo>
                    <a:cubicBezTo>
                      <a:pt x="0" y="5864"/>
                      <a:pt x="5864" y="0"/>
                      <a:pt x="13097" y="0"/>
                    </a:cubicBezTo>
                    <a:cubicBezTo>
                      <a:pt x="20330" y="0"/>
                      <a:pt x="26194" y="5864"/>
                      <a:pt x="26194" y="13097"/>
                    </a:cubicBezTo>
                    <a:lnTo>
                      <a:pt x="26194" y="69850"/>
                    </a:lnTo>
                  </a:path>
                </a:pathLst>
              </a:custGeom>
              <a:noFill/>
              <a:ln w="17463">
                <a:solidFill>
                  <a:schemeClr val="dk1"/>
                </a:solidFill>
              </a:ln>
            </p:spPr>
          </p:sp>
          <p:sp>
            <p:nvSpPr>
              <p:cNvPr id="62" name="Freeform 62"/>
              <p:cNvSpPr/>
              <p:nvPr/>
            </p:nvSpPr>
            <p:spPr>
              <a:xfrm>
                <a:off x="9268200" y="2671763"/>
                <a:ext cx="145675" cy="139703"/>
              </a:xfrm>
              <a:custGeom>
                <a:avLst/>
                <a:gdLst/>
                <a:ahLst/>
                <a:cxnLst/>
                <a:rect l="l" t="t" r="r" b="b"/>
                <a:pathLst>
                  <a:path w="145675" h="139703">
                    <a:moveTo>
                      <a:pt x="119481" y="13097"/>
                    </a:moveTo>
                    <a:cubicBezTo>
                      <a:pt x="119481" y="5864"/>
                      <a:pt x="125345" y="0"/>
                      <a:pt x="132578" y="0"/>
                    </a:cubicBezTo>
                    <a:cubicBezTo>
                      <a:pt x="139811" y="0"/>
                      <a:pt x="145675" y="5864"/>
                      <a:pt x="145675" y="13097"/>
                    </a:cubicBezTo>
                    <a:lnTo>
                      <a:pt x="145675" y="87313"/>
                    </a:lnTo>
                    <a:cubicBezTo>
                      <a:pt x="145675" y="116245"/>
                      <a:pt x="122220" y="139700"/>
                      <a:pt x="93287" y="139700"/>
                    </a:cubicBezTo>
                    <a:lnTo>
                      <a:pt x="75825" y="139700"/>
                    </a:lnTo>
                    <a:lnTo>
                      <a:pt x="77641" y="139700"/>
                    </a:lnTo>
                    <a:cubicBezTo>
                      <a:pt x="60017" y="139703"/>
                      <a:pt x="43573" y="130844"/>
                      <a:pt x="33880" y="116126"/>
                    </a:cubicBezTo>
                    <a:cubicBezTo>
                      <a:pt x="33307" y="115254"/>
                      <a:pt x="32737" y="114381"/>
                      <a:pt x="32169" y="113506"/>
                    </a:cubicBezTo>
                    <a:cubicBezTo>
                      <a:pt x="29444" y="109324"/>
                      <a:pt x="19884" y="92656"/>
                      <a:pt x="3478" y="63494"/>
                    </a:cubicBezTo>
                    <a:cubicBezTo>
                      <a:pt x="0" y="57312"/>
                      <a:pt x="2075" y="49486"/>
                      <a:pt x="8158" y="45839"/>
                    </a:cubicBezTo>
                    <a:cubicBezTo>
                      <a:pt x="14569" y="41992"/>
                      <a:pt x="22775" y="43000"/>
                      <a:pt x="28065" y="48284"/>
                    </a:cubicBezTo>
                    <a:lnTo>
                      <a:pt x="40900" y="61119"/>
                    </a:lnTo>
                  </a:path>
                </a:pathLst>
              </a:custGeom>
              <a:noFill/>
              <a:ln w="17463">
                <a:solidFill>
                  <a:schemeClr val="dk1"/>
                </a:solidFill>
              </a:ln>
            </p:spPr>
          </p:sp>
        </p:grpSp>
        <p:sp>
          <p:nvSpPr>
            <p:cNvPr id="64" name="TextBox 64"/>
            <p:cNvSpPr txBox="1"/>
            <p:nvPr/>
          </p:nvSpPr>
          <p:spPr>
            <a:xfrm>
              <a:off x="8864566" y="3070860"/>
              <a:ext cx="958918"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Người duyệt</a:t>
              </a:r>
            </a:p>
          </p:txBody>
        </p:sp>
      </p:grpSp>
      <p:grpSp>
        <p:nvGrpSpPr>
          <p:cNvPr id="69" name="Group 69"/>
          <p:cNvGrpSpPr/>
          <p:nvPr/>
        </p:nvGrpSpPr>
        <p:grpSpPr>
          <a:xfrm>
            <a:off x="4476750" y="3352800"/>
            <a:ext cx="7334250" cy="1179195"/>
            <a:chOff x="4476750" y="3352800"/>
            <a:chExt cx="7334250" cy="1179195"/>
          </a:xfrm>
        </p:grpSpPr>
        <p:sp>
          <p:nvSpPr>
            <p:cNvPr id="66" name="Rectangle 66"/>
            <p:cNvSpPr/>
            <p:nvPr/>
          </p:nvSpPr>
          <p:spPr>
            <a:xfrm>
              <a:off x="4476750" y="3352800"/>
              <a:ext cx="7334250" cy="1162050"/>
            </a:xfrm>
            <a:prstGeom prst="roundRect">
              <a:avLst>
                <a:gd name="adj" fmla="val 11475"/>
              </a:avLst>
            </a:prstGeom>
            <a:solidFill>
              <a:schemeClr val="lt2"/>
            </a:solidFill>
            <a:ln>
              <a:noFill/>
            </a:ln>
          </p:spPr>
        </p:sp>
        <p:sp>
          <p:nvSpPr>
            <p:cNvPr id="67" name="TextBox 67"/>
            <p:cNvSpPr txBox="1"/>
            <p:nvPr/>
          </p:nvSpPr>
          <p:spPr>
            <a:xfrm>
              <a:off x="4699254" y="3489960"/>
              <a:ext cx="241718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DỤ WIR · BÁO CÁO TUẦN</a:t>
              </a:r>
            </a:p>
          </p:txBody>
        </p:sp>
        <p:sp>
          <p:nvSpPr>
            <p:cNvPr id="68" name="TextBox 68"/>
            <p:cNvSpPr txBox="1"/>
            <p:nvPr/>
          </p:nvSpPr>
          <p:spPr>
            <a:xfrm>
              <a:off x="4697730" y="3743325"/>
              <a:ext cx="5562124"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07:00 thứ Hai: đọc file đơn hàng tuần trên Drive → lập bảng</a:t>
              </a:r>
              <a:br/>
              <a:r>
                <a:rPr lang="vi-VN" sz="1500" dirty="0">
                  <a:solidFill>
                    <a:schemeClr val="dk1"/>
                  </a:solidFill>
                  <a:latin typeface="+mn-lt"/>
                  <a:ea typeface="+mn-ea"/>
                  <a:cs typeface="+mn-cs"/>
                </a:rPr>
                <a:t>doanh thu theo sản phẩm, đánh dấu cảnh báo → </a:t>
              </a:r>
              <a:r>
                <a:rPr lang="vi-VN" sz="1500" b="1" dirty="0">
                  <a:solidFill>
                    <a:schemeClr val="accent1"/>
                  </a:solidFill>
                  <a:latin typeface="+mn-lt"/>
                  <a:ea typeface="+mn-ea"/>
                  <a:cs typeface="+mn-cs"/>
                </a:rPr>
                <a:t>Trưởng phòng</a:t>
              </a:r>
              <a:br/>
              <a:r>
                <a:rPr lang="vi-VN" sz="1500" b="1" dirty="0">
                  <a:solidFill>
                    <a:schemeClr val="accent1"/>
                  </a:solidFill>
                  <a:latin typeface="+mn-lt"/>
                  <a:ea typeface="+mn-ea"/>
                  <a:cs typeface="+mn-cs"/>
                </a:rPr>
                <a:t>duyệt</a:t>
              </a:r>
              <a:r>
                <a:rPr lang="vi-VN" sz="1500" dirty="0">
                  <a:solidFill>
                    <a:schemeClr val="dk1"/>
                  </a:solidFill>
                  <a:latin typeface="+mn-lt"/>
                  <a:ea typeface="+mn-ea"/>
                  <a:cs typeface="+mn-cs"/>
                </a:rPr>
                <a:t> → gửi Ban giám đốc</a:t>
              </a:r>
            </a:p>
          </p:txBody>
        </p:sp>
      </p:grpSp>
      <p:grpSp>
        <p:nvGrpSpPr>
          <p:cNvPr id="81" name="Group 81"/>
          <p:cNvGrpSpPr/>
          <p:nvPr/>
        </p:nvGrpSpPr>
        <p:grpSpPr>
          <a:xfrm>
            <a:off x="4476750" y="4667250"/>
            <a:ext cx="5294227" cy="760095"/>
            <a:chOff x="4476750" y="4667250"/>
            <a:chExt cx="5294227" cy="760095"/>
          </a:xfrm>
        </p:grpSpPr>
        <p:sp>
          <p:nvSpPr>
            <p:cNvPr id="70" name="Rectangle 70"/>
            <p:cNvSpPr/>
            <p:nvPr/>
          </p:nvSpPr>
          <p:spPr>
            <a:xfrm>
              <a:off x="4476750" y="4667250"/>
              <a:ext cx="2095500" cy="323850"/>
            </a:xfrm>
            <a:prstGeom prst="roundRect">
              <a:avLst>
                <a:gd name="adj" fmla="val 50000"/>
              </a:avLst>
            </a:prstGeom>
            <a:solidFill>
              <a:srgbClr val="FCEBDD"/>
            </a:solidFill>
            <a:ln>
              <a:noFill/>
            </a:ln>
          </p:spPr>
        </p:sp>
        <p:sp>
          <p:nvSpPr>
            <p:cNvPr id="71" name="TextBox 71"/>
            <p:cNvSpPr txBox="1"/>
            <p:nvPr/>
          </p:nvSpPr>
          <p:spPr>
            <a:xfrm>
              <a:off x="4622292" y="4740592"/>
              <a:ext cx="1994036"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1 · Người duyệt</a:t>
              </a:r>
            </a:p>
          </p:txBody>
        </p:sp>
        <p:sp>
          <p:nvSpPr>
            <p:cNvPr id="72" name="Rectangle 72"/>
            <p:cNvSpPr/>
            <p:nvPr/>
          </p:nvSpPr>
          <p:spPr>
            <a:xfrm>
              <a:off x="6667500" y="4667250"/>
              <a:ext cx="3009900" cy="323850"/>
            </a:xfrm>
            <a:prstGeom prst="roundRect">
              <a:avLst>
                <a:gd name="adj" fmla="val 50000"/>
              </a:avLst>
            </a:prstGeom>
            <a:solidFill>
              <a:srgbClr val="FCEBDD"/>
            </a:solidFill>
            <a:ln>
              <a:noFill/>
            </a:ln>
          </p:spPr>
        </p:sp>
        <p:sp>
          <p:nvSpPr>
            <p:cNvPr id="73" name="TextBox 73"/>
            <p:cNvSpPr txBox="1"/>
            <p:nvPr/>
          </p:nvSpPr>
          <p:spPr>
            <a:xfrm>
              <a:off x="6813042" y="4740592"/>
              <a:ext cx="2957935"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2 · Hẹn giờ để còn kịp hủy</a:t>
              </a:r>
            </a:p>
          </p:txBody>
        </p:sp>
        <p:grpSp>
          <p:nvGrpSpPr>
            <p:cNvPr id="79" name="Group 79"/>
            <p:cNvGrpSpPr/>
            <p:nvPr/>
          </p:nvGrpSpPr>
          <p:grpSpPr>
            <a:xfrm>
              <a:off x="4520406" y="5150644"/>
              <a:ext cx="122238" cy="157163"/>
              <a:chOff x="4520406" y="5150644"/>
              <a:chExt cx="122238" cy="157163"/>
            </a:xfrm>
          </p:grpSpPr>
          <p:sp>
            <p:nvSpPr>
              <p:cNvPr id="74" name="Freeform 74"/>
              <p:cNvSpPr/>
              <p:nvPr/>
            </p:nvSpPr>
            <p:spPr>
              <a:xfrm>
                <a:off x="4598988" y="51506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1"/>
                </a:solidFill>
              </a:ln>
            </p:spPr>
          </p:sp>
          <p:sp>
            <p:nvSpPr>
              <p:cNvPr id="75" name="Freeform 75"/>
              <p:cNvSpPr/>
              <p:nvPr/>
            </p:nvSpPr>
            <p:spPr>
              <a:xfrm>
                <a:off x="4520406" y="51506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1"/>
                </a:solidFill>
              </a:ln>
            </p:spPr>
          </p:sp>
          <p:sp>
            <p:nvSpPr>
              <p:cNvPr id="76" name="Freeform 76"/>
              <p:cNvSpPr/>
              <p:nvPr/>
            </p:nvSpPr>
            <p:spPr>
              <a:xfrm>
                <a:off x="4555331" y="5203031"/>
                <a:ext cx="9525" cy="9525"/>
              </a:xfrm>
              <a:custGeom>
                <a:avLst/>
                <a:gdLst/>
                <a:ahLst/>
                <a:cxnLst/>
                <a:rect l="l" t="t" r="r" b="b"/>
                <a:pathLst>
                  <a:path w="9525" h="9525">
                    <a:moveTo>
                      <a:pt x="0" y="0"/>
                    </a:moveTo>
                    <a:lnTo>
                      <a:pt x="8731" y="0"/>
                    </a:lnTo>
                  </a:path>
                </a:pathLst>
              </a:custGeom>
              <a:noFill/>
              <a:ln w="17463">
                <a:solidFill>
                  <a:schemeClr val="accent1"/>
                </a:solidFill>
              </a:ln>
            </p:spPr>
          </p:sp>
          <p:sp>
            <p:nvSpPr>
              <p:cNvPr id="77" name="Freeform 77"/>
              <p:cNvSpPr/>
              <p:nvPr/>
            </p:nvSpPr>
            <p:spPr>
              <a:xfrm>
                <a:off x="4555331" y="5237956"/>
                <a:ext cx="52388" cy="9525"/>
              </a:xfrm>
              <a:custGeom>
                <a:avLst/>
                <a:gdLst/>
                <a:ahLst/>
                <a:cxnLst/>
                <a:rect l="l" t="t" r="r" b="b"/>
                <a:pathLst>
                  <a:path w="52388" h="9525">
                    <a:moveTo>
                      <a:pt x="0" y="0"/>
                    </a:moveTo>
                    <a:lnTo>
                      <a:pt x="52388" y="0"/>
                    </a:lnTo>
                  </a:path>
                </a:pathLst>
              </a:custGeom>
              <a:noFill/>
              <a:ln w="17463">
                <a:solidFill>
                  <a:schemeClr val="accent1"/>
                </a:solidFill>
              </a:ln>
            </p:spPr>
          </p:sp>
          <p:sp>
            <p:nvSpPr>
              <p:cNvPr id="78" name="Freeform 78"/>
              <p:cNvSpPr/>
              <p:nvPr/>
            </p:nvSpPr>
            <p:spPr>
              <a:xfrm>
                <a:off x="4555331" y="5272881"/>
                <a:ext cx="52388" cy="9525"/>
              </a:xfrm>
              <a:custGeom>
                <a:avLst/>
                <a:gdLst/>
                <a:ahLst/>
                <a:cxnLst/>
                <a:rect l="l" t="t" r="r" b="b"/>
                <a:pathLst>
                  <a:path w="52388" h="9525">
                    <a:moveTo>
                      <a:pt x="0" y="0"/>
                    </a:moveTo>
                    <a:lnTo>
                      <a:pt x="52388" y="0"/>
                    </a:lnTo>
                  </a:path>
                </a:pathLst>
              </a:custGeom>
              <a:noFill/>
              <a:ln w="17463">
                <a:solidFill>
                  <a:schemeClr val="accent1"/>
                </a:solidFill>
              </a:ln>
            </p:spPr>
          </p:sp>
        </p:grpSp>
        <p:sp>
          <p:nvSpPr>
            <p:cNvPr id="80" name="TextBox 80"/>
            <p:cNvSpPr txBox="1"/>
            <p:nvPr/>
          </p:nvSpPr>
          <p:spPr>
            <a:xfrm>
              <a:off x="4773930" y="5133975"/>
              <a:ext cx="346564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Ghi log: lúc chạy, kết quả, ai duyệt</a:t>
              </a:r>
            </a:p>
          </p:txBody>
        </p:sp>
      </p:grpSp>
      <p:grpSp>
        <p:nvGrpSpPr>
          <p:cNvPr id="89" name="Group 89"/>
          <p:cNvGrpSpPr/>
          <p:nvPr/>
        </p:nvGrpSpPr>
        <p:grpSpPr>
          <a:xfrm>
            <a:off x="374904" y="5619750"/>
            <a:ext cx="11219335" cy="346901"/>
            <a:chOff x="374904" y="5619750"/>
            <a:chExt cx="11219335" cy="346901"/>
          </a:xfrm>
        </p:grpSpPr>
        <p:sp>
          <p:nvSpPr>
            <p:cNvPr id="82" name="TextBox 82"/>
            <p:cNvSpPr txBox="1"/>
            <p:nvPr/>
          </p:nvSpPr>
          <p:spPr>
            <a:xfrm>
              <a:off x="374904" y="5718810"/>
              <a:ext cx="72140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CÔNG CỤ</a:t>
              </a:r>
            </a:p>
          </p:txBody>
        </p:sp>
        <p:sp>
          <p:nvSpPr>
            <p:cNvPr id="83" name="Rectangle 83"/>
            <p:cNvSpPr/>
            <p:nvPr/>
          </p:nvSpPr>
          <p:spPr>
            <a:xfrm>
              <a:off x="1238250" y="5619750"/>
              <a:ext cx="2400300" cy="342900"/>
            </a:xfrm>
            <a:prstGeom prst="roundRect">
              <a:avLst>
                <a:gd name="adj" fmla="val 50000"/>
              </a:avLst>
            </a:prstGeom>
            <a:solidFill>
              <a:schemeClr val="lt1"/>
            </a:solidFill>
            <a:ln w="14288">
              <a:solidFill>
                <a:schemeClr val="accent4"/>
              </a:solidFill>
            </a:ln>
          </p:spPr>
        </p:sp>
        <p:sp>
          <p:nvSpPr>
            <p:cNvPr id="84" name="TextBox 84"/>
            <p:cNvSpPr txBox="1"/>
            <p:nvPr/>
          </p:nvSpPr>
          <p:spPr>
            <a:xfrm>
              <a:off x="1383792" y="5702618"/>
              <a:ext cx="241135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Scheduled task</a:t>
              </a:r>
              <a:r>
                <a:rPr lang="vi-VN" sz="1350" dirty="0">
                  <a:solidFill>
                    <a:schemeClr val="dk1"/>
                  </a:solidFill>
                  <a:latin typeface="+mn-lt"/>
                  <a:ea typeface="+mn-ea"/>
                  <a:cs typeface="+mn-cs"/>
                </a:rPr>
                <a:t> · theo lịch</a:t>
              </a:r>
            </a:p>
          </p:txBody>
        </p:sp>
        <p:sp>
          <p:nvSpPr>
            <p:cNvPr id="85" name="Rectangle 85"/>
            <p:cNvSpPr/>
            <p:nvPr/>
          </p:nvSpPr>
          <p:spPr>
            <a:xfrm>
              <a:off x="3733800" y="5619750"/>
              <a:ext cx="3543300" cy="342900"/>
            </a:xfrm>
            <a:prstGeom prst="roundRect">
              <a:avLst>
                <a:gd name="adj" fmla="val 50000"/>
              </a:avLst>
            </a:prstGeom>
            <a:solidFill>
              <a:schemeClr val="lt1"/>
            </a:solidFill>
            <a:ln w="14288">
              <a:solidFill>
                <a:schemeClr val="accent4"/>
              </a:solidFill>
            </a:ln>
          </p:spPr>
        </p:sp>
        <p:sp>
          <p:nvSpPr>
            <p:cNvPr id="86" name="TextBox 86"/>
            <p:cNvSpPr txBox="1"/>
            <p:nvPr/>
          </p:nvSpPr>
          <p:spPr>
            <a:xfrm>
              <a:off x="3879342" y="5702618"/>
              <a:ext cx="35901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Task theo sự kiện</a:t>
              </a:r>
              <a:r>
                <a:rPr lang="vi-VN" sz="1350" dirty="0">
                  <a:solidFill>
                    <a:schemeClr val="dk1"/>
                  </a:solidFill>
                  <a:latin typeface="+mn-lt"/>
                  <a:ea typeface="+mn-ea"/>
                  <a:cs typeface="+mn-cs"/>
                </a:rPr>
                <a:t> · thư Gmail mới, Slack</a:t>
              </a:r>
            </a:p>
          </p:txBody>
        </p:sp>
        <p:sp>
          <p:nvSpPr>
            <p:cNvPr id="87" name="Rectangle 87"/>
            <p:cNvSpPr/>
            <p:nvPr/>
          </p:nvSpPr>
          <p:spPr>
            <a:xfrm>
              <a:off x="7372350" y="5619750"/>
              <a:ext cx="4191000" cy="342900"/>
            </a:xfrm>
            <a:prstGeom prst="roundRect">
              <a:avLst>
                <a:gd name="adj" fmla="val 50000"/>
              </a:avLst>
            </a:prstGeom>
            <a:solidFill>
              <a:schemeClr val="lt1"/>
            </a:solidFill>
            <a:ln w="14288">
              <a:solidFill>
                <a:schemeClr val="accent4"/>
              </a:solidFill>
            </a:ln>
          </p:spPr>
        </p:sp>
        <p:sp>
          <p:nvSpPr>
            <p:cNvPr id="88" name="TextBox 88"/>
            <p:cNvSpPr txBox="1"/>
            <p:nvPr/>
          </p:nvSpPr>
          <p:spPr>
            <a:xfrm>
              <a:off x="7517892" y="5702618"/>
              <a:ext cx="407634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ChatGPT Work</a:t>
              </a:r>
              <a:r>
                <a:rPr lang="vi-VN" sz="1350" dirty="0">
                  <a:solidFill>
                    <a:schemeClr val="dk1"/>
                  </a:solidFill>
                  <a:latin typeface="+mn-lt"/>
                  <a:ea typeface="+mn-ea"/>
                  <a:cs typeface="+mn-cs"/>
                </a:rPr>
                <a:t> · giao trọn mục tiêu nhiều bước</a:t>
              </a:r>
            </a:p>
          </p:txBody>
        </p:sp>
      </p:grpSp>
      <p:sp>
        <p:nvSpPr>
          <p:cNvPr id="90" name="TextBox 9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91" name="TextBox 91"/>
          <p:cNvSpPr txBox="1"/>
          <p:nvPr/>
        </p:nvSpPr>
        <p:spPr>
          <a:xfrm>
            <a:off x="8040407" y="6554152"/>
            <a:ext cx="310917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minh hoạ trên dữ liệu demo đơn hàng Wir</a:t>
            </a:r>
          </a:p>
        </p:txBody>
      </p:sp>
      <p:sp>
        <p:nvSpPr>
          <p:cNvPr id="92" name="TextBox 9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55907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Plugin tự tạo là thùng đồ nghề bàn giao:</a:t>
            </a:r>
            <a:br/>
            <a:r>
              <a:rPr lang="vi-VN" sz="3150" b="1" dirty="0">
                <a:solidFill>
                  <a:schemeClr val="accent1"/>
                </a:solidFill>
                <a:latin typeface="+mn-lt"/>
                <a:ea typeface="+mn-ea"/>
                <a:cs typeface="+mn-cs"/>
              </a:rPr>
              <a:t>Skill + File tham chiếu + App, kèm Playbook</a:t>
            </a:r>
          </a:p>
        </p:txBody>
      </p:sp>
      <p:grpSp>
        <p:nvGrpSpPr>
          <p:cNvPr id="26" name="Group 26"/>
          <p:cNvGrpSpPr/>
          <p:nvPr/>
        </p:nvGrpSpPr>
        <p:grpSpPr>
          <a:xfrm>
            <a:off x="381000" y="2114550"/>
            <a:ext cx="5334000" cy="3619500"/>
            <a:chOff x="381000" y="2114550"/>
            <a:chExt cx="5334000" cy="3619500"/>
          </a:xfrm>
        </p:grpSpPr>
        <p:sp>
          <p:nvSpPr>
            <p:cNvPr id="17" name="Rectangle 17"/>
            <p:cNvSpPr/>
            <p:nvPr/>
          </p:nvSpPr>
          <p:spPr>
            <a:xfrm>
              <a:off x="381000" y="2114550"/>
              <a:ext cx="5334000" cy="3619500"/>
            </a:xfrm>
            <a:prstGeom prst="roundRect">
              <a:avLst>
                <a:gd name="adj" fmla="val 4211"/>
              </a:avLst>
            </a:prstGeom>
            <a:solidFill>
              <a:schemeClr val="lt2"/>
            </a:solidFill>
            <a:ln>
              <a:noFill/>
            </a:ln>
          </p:spPr>
        </p:sp>
        <p:grpSp>
          <p:nvGrpSpPr>
            <p:cNvPr id="23" name="Group 23"/>
            <p:cNvGrpSpPr/>
            <p:nvPr/>
          </p:nvGrpSpPr>
          <p:grpSpPr>
            <a:xfrm>
              <a:off x="638175" y="2314575"/>
              <a:ext cx="171450" cy="171450"/>
              <a:chOff x="638175" y="2314575"/>
              <a:chExt cx="171450" cy="171450"/>
            </a:xfrm>
          </p:grpSpPr>
          <p:sp>
            <p:nvSpPr>
              <p:cNvPr id="18" name="Freeform 18"/>
              <p:cNvSpPr/>
              <p:nvPr/>
            </p:nvSpPr>
            <p:spPr>
              <a:xfrm>
                <a:off x="704850" y="231457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19" name="Freeform 19"/>
              <p:cNvSpPr/>
              <p:nvPr/>
            </p:nvSpPr>
            <p:spPr>
              <a:xfrm>
                <a:off x="63817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20" name="Freeform 20"/>
              <p:cNvSpPr/>
              <p:nvPr/>
            </p:nvSpPr>
            <p:spPr>
              <a:xfrm>
                <a:off x="77152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21" name="Freeform 21"/>
              <p:cNvSpPr/>
              <p:nvPr/>
            </p:nvSpPr>
            <p:spPr>
              <a:xfrm>
                <a:off x="676275" y="2409825"/>
                <a:ext cx="95250" cy="38100"/>
              </a:xfrm>
              <a:custGeom>
                <a:avLst/>
                <a:gdLst/>
                <a:ahLst/>
                <a:cxnLst/>
                <a:rect l="l" t="t" r="r" b="b"/>
                <a:pathLst>
                  <a:path w="95250" h="38100">
                    <a:moveTo>
                      <a:pt x="0" y="38100"/>
                    </a:moveTo>
                    <a:lnTo>
                      <a:pt x="47625" y="0"/>
                    </a:lnTo>
                    <a:lnTo>
                      <a:pt x="95250" y="38100"/>
                    </a:lnTo>
                  </a:path>
                </a:pathLst>
              </a:custGeom>
              <a:noFill/>
              <a:ln w="19050">
                <a:solidFill>
                  <a:schemeClr val="accent1"/>
                </a:solidFill>
              </a:ln>
            </p:spPr>
          </p:sp>
          <p:sp>
            <p:nvSpPr>
              <p:cNvPr id="22" name="Freeform 22"/>
              <p:cNvSpPr/>
              <p:nvPr/>
            </p:nvSpPr>
            <p:spPr>
              <a:xfrm>
                <a:off x="723900" y="2352675"/>
                <a:ext cx="9525" cy="57150"/>
              </a:xfrm>
              <a:custGeom>
                <a:avLst/>
                <a:gdLst/>
                <a:ahLst/>
                <a:cxnLst/>
                <a:rect l="l" t="t" r="r" b="b"/>
                <a:pathLst>
                  <a:path w="9525" h="57150">
                    <a:moveTo>
                      <a:pt x="0" y="0"/>
                    </a:moveTo>
                    <a:lnTo>
                      <a:pt x="0" y="57150"/>
                    </a:lnTo>
                  </a:path>
                </a:pathLst>
              </a:custGeom>
              <a:noFill/>
              <a:ln w="19050">
                <a:solidFill>
                  <a:schemeClr val="accent1"/>
                </a:solidFill>
              </a:ln>
            </p:spPr>
          </p:sp>
        </p:grpSp>
        <p:sp>
          <p:nvSpPr>
            <p:cNvPr id="24" name="TextBox 24"/>
            <p:cNvSpPr txBox="1"/>
            <p:nvPr/>
          </p:nvSpPr>
          <p:spPr>
            <a:xfrm>
              <a:off x="927354" y="2327910"/>
              <a:ext cx="293650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CẤU TRÚC MỘT PLUGIN CỦA PHÒNG</a:t>
              </a:r>
            </a:p>
          </p:txBody>
        </p:sp>
        <p:sp>
          <p:nvSpPr>
            <p:cNvPr id="25" name="TextBox 25"/>
            <p:cNvSpPr txBox="1"/>
            <p:nvPr/>
          </p:nvSpPr>
          <p:spPr>
            <a:xfrm>
              <a:off x="601980" y="2695575"/>
              <a:ext cx="2735580" cy="2960370"/>
            </a:xfrm>
            <a:prstGeom prst="rect">
              <a:avLst/>
            </a:prstGeom>
            <a:noFill/>
            <a:ln>
              <a:noFill/>
            </a:ln>
          </p:spPr>
          <p:txBody>
            <a:bodyPr wrap="none" lIns="0" tIns="0" rIns="0" bIns="0" anchor="t" anchorCtr="0">
              <a:spAutoFit/>
            </a:bodyPr>
            <a:lstStyle/>
            <a:p>
              <a:pPr algn="l">
                <a:lnSpc>
                  <a:spcPts val="2100"/>
                </a:lnSpc>
              </a:pPr>
              <a:r>
                <a:rPr lang="vi-VN" sz="1500" b="1" dirty="0">
                  <a:solidFill>
                    <a:schemeClr val="accent1"/>
                  </a:solidFill>
                  <a:latin typeface="Consolas"/>
                  <a:ea typeface="Consolas"/>
                  <a:cs typeface="Consolas"/>
                </a:rPr>
                <a:t>Plugin: Sale Wir</a:t>
              </a:r>
              <a:br/>
              <a:r>
                <a:rPr lang="vi-VN" sz="1500" b="1" dirty="0">
                  <a:solidFill>
                    <a:srgbClr val="2E5E91"/>
                  </a:solidFill>
                  <a:latin typeface="Consolas"/>
                  <a:ea typeface="Consolas"/>
                  <a:cs typeface="Consolas"/>
                </a:rPr>
                <a:t>├─ Skills</a:t>
              </a:r>
              <a:br/>
              <a:r>
                <a:rPr lang="vi-VN" sz="1500" dirty="0">
                  <a:solidFill>
                    <a:schemeClr val="dk1"/>
                  </a:solidFill>
                  <a:latin typeface="Consolas"/>
                  <a:ea typeface="Consolas"/>
                  <a:cs typeface="Consolas"/>
                </a:rPr>
                <a:t>│ cham-diem-lead</a:t>
              </a:r>
              <a:br/>
              <a:r>
                <a:rPr lang="vi-VN" sz="1500" dirty="0">
                  <a:solidFill>
                    <a:schemeClr val="dk1"/>
                  </a:solidFill>
                  <a:latin typeface="Consolas"/>
                  <a:ea typeface="Consolas"/>
                  <a:cs typeface="Consolas"/>
                </a:rPr>
                <a:t>│ soan-tiep-can-sale</a:t>
              </a:r>
              <a:br/>
              <a:r>
                <a:rPr lang="vi-VN" sz="1500" dirty="0">
                  <a:solidFill>
                    <a:schemeClr val="dk1"/>
                  </a:solidFill>
                  <a:latin typeface="Consolas"/>
                  <a:ea typeface="Consolas"/>
                  <a:cs typeface="Consolas"/>
                </a:rPr>
                <a:t>│ xu-ly-tu-choi-sale</a:t>
              </a:r>
              <a:br/>
              <a:r>
                <a:rPr lang="vi-VN" sz="1500" dirty="0">
                  <a:solidFill>
                    <a:schemeClr val="dk1"/>
                  </a:solidFill>
                  <a:latin typeface="Consolas"/>
                  <a:ea typeface="Consolas"/>
                  <a:cs typeface="Consolas"/>
                </a:rPr>
                <a:t>│ tom-tat-tai-lieu</a:t>
              </a:r>
              <a:br/>
              <a:r>
                <a:rPr lang="vi-VN" sz="1500" b="1" dirty="0">
                  <a:solidFill>
                    <a:schemeClr val="accent3"/>
                  </a:solidFill>
                  <a:latin typeface="Consolas"/>
                  <a:ea typeface="Consolas"/>
                  <a:cs typeface="Consolas"/>
                </a:rPr>
                <a:t>├─ File tham chiếu</a:t>
              </a:r>
              <a:br/>
              <a:r>
                <a:rPr lang="vi-VN" sz="1500" dirty="0">
                  <a:solidFill>
                    <a:schemeClr val="dk1"/>
                  </a:solidFill>
                  <a:latin typeface="Consolas"/>
                  <a:ea typeface="Consolas"/>
                  <a:cs typeface="Consolas"/>
                </a:rPr>
                <a:t>│ du-lieu-san-pham-wir.md</a:t>
              </a:r>
              <a:br/>
              <a:r>
                <a:rPr lang="vi-VN" sz="1500" dirty="0">
                  <a:solidFill>
                    <a:schemeClr val="dk1"/>
                  </a:solidFill>
                  <a:latin typeface="Consolas"/>
                  <a:ea typeface="Consolas"/>
                  <a:cs typeface="Consolas"/>
                </a:rPr>
                <a:t>│ chinh-sach-gia-si.md</a:t>
              </a:r>
              <a:br/>
              <a:r>
                <a:rPr lang="vi-VN" sz="1500" dirty="0">
                  <a:solidFill>
                    <a:schemeClr val="dk1"/>
                  </a:solidFill>
                  <a:latin typeface="Consolas"/>
                  <a:ea typeface="Consolas"/>
                  <a:cs typeface="Consolas"/>
                </a:rPr>
                <a:t>│ playbook.md</a:t>
              </a:r>
              <a:br/>
              <a:r>
                <a:rPr lang="vi-VN" sz="1500" b="1" dirty="0">
                  <a:solidFill>
                    <a:schemeClr val="accent1"/>
                  </a:solidFill>
                  <a:latin typeface="Consolas"/>
                  <a:ea typeface="Consolas"/>
                  <a:cs typeface="Consolas"/>
                </a:rPr>
                <a:t>└─ Apps: Google Drive, Gmail</a:t>
              </a:r>
            </a:p>
          </p:txBody>
        </p:sp>
      </p:grpSp>
      <p:grpSp>
        <p:nvGrpSpPr>
          <p:cNvPr id="41" name="Group 41"/>
          <p:cNvGrpSpPr/>
          <p:nvPr/>
        </p:nvGrpSpPr>
        <p:grpSpPr>
          <a:xfrm>
            <a:off x="6096000" y="2114550"/>
            <a:ext cx="5715000" cy="1333500"/>
            <a:chOff x="6096000" y="2114550"/>
            <a:chExt cx="5715000" cy="1333500"/>
          </a:xfrm>
        </p:grpSpPr>
        <p:sp>
          <p:nvSpPr>
            <p:cNvPr id="27" name="Rectangle 27"/>
            <p:cNvSpPr/>
            <p:nvPr/>
          </p:nvSpPr>
          <p:spPr>
            <a:xfrm>
              <a:off x="6096000" y="2114550"/>
              <a:ext cx="5715000" cy="1333500"/>
            </a:xfrm>
            <a:prstGeom prst="roundRect">
              <a:avLst>
                <a:gd name="adj" fmla="val 11429"/>
              </a:avLst>
            </a:prstGeom>
            <a:solidFill>
              <a:schemeClr val="lt1"/>
            </a:solidFill>
            <a:ln w="14288">
              <a:solidFill>
                <a:schemeClr val="accent4"/>
              </a:solidFill>
            </a:ln>
          </p:spPr>
        </p:sp>
        <p:grpSp>
          <p:nvGrpSpPr>
            <p:cNvPr id="33" name="Group 33"/>
            <p:cNvGrpSpPr/>
            <p:nvPr/>
          </p:nvGrpSpPr>
          <p:grpSpPr>
            <a:xfrm>
              <a:off x="6362700" y="2314575"/>
              <a:ext cx="152400" cy="171450"/>
              <a:chOff x="6362700" y="2314575"/>
              <a:chExt cx="152400" cy="171450"/>
            </a:xfrm>
          </p:grpSpPr>
          <p:sp>
            <p:nvSpPr>
              <p:cNvPr id="28" name="Freeform 28"/>
              <p:cNvSpPr/>
              <p:nvPr/>
            </p:nvSpPr>
            <p:spPr>
              <a:xfrm>
                <a:off x="6362700" y="231457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sp>
          <p:sp>
            <p:nvSpPr>
              <p:cNvPr id="29" name="Freeform 29"/>
              <p:cNvSpPr/>
              <p:nvPr/>
            </p:nvSpPr>
            <p:spPr>
              <a:xfrm>
                <a:off x="6438900" y="2357438"/>
                <a:ext cx="76200" cy="42862"/>
              </a:xfrm>
              <a:custGeom>
                <a:avLst/>
                <a:gdLst/>
                <a:ahLst/>
                <a:cxnLst/>
                <a:rect l="l" t="t" r="r" b="b"/>
                <a:pathLst>
                  <a:path w="76200" h="42862">
                    <a:moveTo>
                      <a:pt x="0" y="42862"/>
                    </a:moveTo>
                    <a:lnTo>
                      <a:pt x="76200" y="0"/>
                    </a:lnTo>
                  </a:path>
                </a:pathLst>
              </a:custGeom>
              <a:noFill/>
              <a:ln w="19050">
                <a:solidFill>
                  <a:schemeClr val="accent1"/>
                </a:solidFill>
              </a:ln>
            </p:spPr>
          </p:sp>
          <p:sp>
            <p:nvSpPr>
              <p:cNvPr id="30" name="Freeform 30"/>
              <p:cNvSpPr/>
              <p:nvPr/>
            </p:nvSpPr>
            <p:spPr>
              <a:xfrm>
                <a:off x="6438900" y="2400300"/>
                <a:ext cx="9525" cy="85725"/>
              </a:xfrm>
              <a:custGeom>
                <a:avLst/>
                <a:gdLst/>
                <a:ahLst/>
                <a:cxnLst/>
                <a:rect l="l" t="t" r="r" b="b"/>
                <a:pathLst>
                  <a:path w="9525" h="85725">
                    <a:moveTo>
                      <a:pt x="0" y="0"/>
                    </a:moveTo>
                    <a:lnTo>
                      <a:pt x="0" y="85725"/>
                    </a:lnTo>
                  </a:path>
                </a:pathLst>
              </a:custGeom>
              <a:noFill/>
              <a:ln w="19050">
                <a:solidFill>
                  <a:schemeClr val="accent1"/>
                </a:solidFill>
              </a:ln>
            </p:spPr>
          </p:sp>
          <p:sp>
            <p:nvSpPr>
              <p:cNvPr id="31" name="Freeform 31"/>
              <p:cNvSpPr/>
              <p:nvPr/>
            </p:nvSpPr>
            <p:spPr>
              <a:xfrm>
                <a:off x="6362700" y="2357438"/>
                <a:ext cx="76200" cy="42862"/>
              </a:xfrm>
              <a:custGeom>
                <a:avLst/>
                <a:gdLst/>
                <a:ahLst/>
                <a:cxnLst/>
                <a:rect l="l" t="t" r="r" b="b"/>
                <a:pathLst>
                  <a:path w="76200" h="42862">
                    <a:moveTo>
                      <a:pt x="76200" y="42862"/>
                    </a:moveTo>
                    <a:lnTo>
                      <a:pt x="0" y="0"/>
                    </a:lnTo>
                  </a:path>
                </a:pathLst>
              </a:custGeom>
              <a:noFill/>
              <a:ln w="19050">
                <a:solidFill>
                  <a:schemeClr val="accent1"/>
                </a:solidFill>
              </a:ln>
            </p:spPr>
          </p:sp>
          <p:sp>
            <p:nvSpPr>
              <p:cNvPr id="32" name="Freeform 32"/>
              <p:cNvSpPr/>
              <p:nvPr/>
            </p:nvSpPr>
            <p:spPr>
              <a:xfrm>
                <a:off x="6400800" y="2336006"/>
                <a:ext cx="76200" cy="42862"/>
              </a:xfrm>
              <a:custGeom>
                <a:avLst/>
                <a:gdLst/>
                <a:ahLst/>
                <a:cxnLst/>
                <a:rect l="l" t="t" r="r" b="b"/>
                <a:pathLst>
                  <a:path w="76200" h="42862">
                    <a:moveTo>
                      <a:pt x="76200" y="0"/>
                    </a:moveTo>
                    <a:lnTo>
                      <a:pt x="0" y="42862"/>
                    </a:lnTo>
                  </a:path>
                </a:pathLst>
              </a:custGeom>
              <a:noFill/>
              <a:ln w="19050">
                <a:solidFill>
                  <a:schemeClr val="accent1"/>
                </a:solidFill>
              </a:ln>
            </p:spPr>
          </p:sp>
        </p:grpSp>
        <p:sp>
          <p:nvSpPr>
            <p:cNvPr id="34" name="TextBox 34"/>
            <p:cNvSpPr txBox="1"/>
            <p:nvPr/>
          </p:nvSpPr>
          <p:spPr>
            <a:xfrm>
              <a:off x="6642354" y="2327910"/>
              <a:ext cx="190512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TẠO KHÔNG CẦN CODE</a:t>
              </a:r>
            </a:p>
          </p:txBody>
        </p:sp>
        <p:sp>
          <p:nvSpPr>
            <p:cNvPr id="35" name="Ellipse 35"/>
            <p:cNvSpPr/>
            <p:nvPr/>
          </p:nvSpPr>
          <p:spPr>
            <a:xfrm>
              <a:off x="6334125" y="2695575"/>
              <a:ext cx="247650" cy="247650"/>
            </a:xfrm>
            <a:prstGeom prst="ellipse">
              <a:avLst/>
            </a:prstGeom>
            <a:solidFill>
              <a:schemeClr val="accent1"/>
            </a:solidFill>
            <a:ln>
              <a:noFill/>
            </a:ln>
          </p:spPr>
        </p:sp>
        <p:sp>
          <p:nvSpPr>
            <p:cNvPr id="36" name="TextBox 36"/>
            <p:cNvSpPr txBox="1"/>
            <p:nvPr/>
          </p:nvSpPr>
          <p:spPr>
            <a:xfrm>
              <a:off x="6405208" y="274701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37" name="TextBox 37"/>
            <p:cNvSpPr txBox="1"/>
            <p:nvPr/>
          </p:nvSpPr>
          <p:spPr>
            <a:xfrm>
              <a:off x="6678930" y="2724150"/>
              <a:ext cx="362928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Cài Plugin Creator từ danh mục plugin</a:t>
              </a:r>
            </a:p>
          </p:txBody>
        </p:sp>
        <p:sp>
          <p:nvSpPr>
            <p:cNvPr id="38" name="Ellipse 38"/>
            <p:cNvSpPr/>
            <p:nvPr/>
          </p:nvSpPr>
          <p:spPr>
            <a:xfrm>
              <a:off x="6334125" y="3057525"/>
              <a:ext cx="247650" cy="247650"/>
            </a:xfrm>
            <a:prstGeom prst="ellipse">
              <a:avLst/>
            </a:prstGeom>
            <a:solidFill>
              <a:schemeClr val="accent1"/>
            </a:solidFill>
            <a:ln>
              <a:noFill/>
            </a:ln>
          </p:spPr>
        </p:sp>
        <p:sp>
          <p:nvSpPr>
            <p:cNvPr id="39" name="TextBox 39"/>
            <p:cNvSpPr txBox="1"/>
            <p:nvPr/>
          </p:nvSpPr>
          <p:spPr>
            <a:xfrm>
              <a:off x="6405208" y="3108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40" name="TextBox 40"/>
            <p:cNvSpPr txBox="1"/>
            <p:nvPr/>
          </p:nvSpPr>
          <p:spPr>
            <a:xfrm>
              <a:off x="6678930" y="3086100"/>
              <a:ext cx="423095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Gõ </a:t>
              </a:r>
              <a:r>
                <a:rPr lang="vi-VN" sz="1500" b="1" dirty="0">
                  <a:solidFill>
                    <a:schemeClr val="accent1"/>
                  </a:solidFill>
                  <a:latin typeface="Consolas"/>
                  <a:ea typeface="Consolas"/>
                  <a:cs typeface="Consolas"/>
                </a:rPr>
                <a:t>@plugin-creator</a:t>
              </a:r>
              <a:r>
                <a:rPr lang="vi-VN" sz="1500" dirty="0">
                  <a:solidFill>
                    <a:schemeClr val="dk1"/>
                  </a:solidFill>
                  <a:latin typeface="+mn-lt"/>
                  <a:ea typeface="+mn-ea"/>
                  <a:cs typeface="+mn-cs"/>
                </a:rPr>
                <a:t>, mô tả plugin muốn tạo</a:t>
              </a:r>
            </a:p>
          </p:txBody>
        </p:sp>
      </p:grpSp>
      <p:grpSp>
        <p:nvGrpSpPr>
          <p:cNvPr id="50" name="Group 50"/>
          <p:cNvGrpSpPr/>
          <p:nvPr/>
        </p:nvGrpSpPr>
        <p:grpSpPr>
          <a:xfrm>
            <a:off x="6096000" y="3600450"/>
            <a:ext cx="5715000" cy="2133600"/>
            <a:chOff x="6096000" y="3600450"/>
            <a:chExt cx="5715000" cy="2133600"/>
          </a:xfrm>
        </p:grpSpPr>
        <p:sp>
          <p:nvSpPr>
            <p:cNvPr id="42" name="Rectangle 42"/>
            <p:cNvSpPr/>
            <p:nvPr/>
          </p:nvSpPr>
          <p:spPr>
            <a:xfrm>
              <a:off x="6096000" y="3600450"/>
              <a:ext cx="5715000" cy="2133600"/>
            </a:xfrm>
            <a:prstGeom prst="roundRect">
              <a:avLst>
                <a:gd name="adj" fmla="val 7143"/>
              </a:avLst>
            </a:prstGeom>
            <a:solidFill>
              <a:schemeClr val="lt1"/>
            </a:solidFill>
            <a:ln w="19050">
              <a:solidFill>
                <a:schemeClr val="accent1"/>
              </a:solidFill>
            </a:ln>
          </p:spPr>
        </p:sp>
        <p:grpSp>
          <p:nvGrpSpPr>
            <p:cNvPr id="46" name="Group 46"/>
            <p:cNvGrpSpPr/>
            <p:nvPr/>
          </p:nvGrpSpPr>
          <p:grpSpPr>
            <a:xfrm>
              <a:off x="6372225" y="3810000"/>
              <a:ext cx="133350" cy="152400"/>
              <a:chOff x="6372225" y="3810000"/>
              <a:chExt cx="133350" cy="152400"/>
            </a:xfrm>
          </p:grpSpPr>
          <p:sp>
            <p:nvSpPr>
              <p:cNvPr id="43" name="Freeform 43"/>
              <p:cNvSpPr/>
              <p:nvPr/>
            </p:nvSpPr>
            <p:spPr>
              <a:xfrm>
                <a:off x="6372225" y="3810000"/>
                <a:ext cx="133350" cy="152400"/>
              </a:xfrm>
              <a:custGeom>
                <a:avLst/>
                <a:gdLst/>
                <a:ahLst/>
                <a:cxnLst/>
                <a:rect l="l" t="t" r="r" b="b"/>
                <a:pathLst>
                  <a:path w="133350" h="152400">
                    <a:moveTo>
                      <a:pt x="133350" y="0"/>
                    </a:moveTo>
                    <a:lnTo>
                      <a:pt x="133350" y="152400"/>
                    </a:lnTo>
                    <a:lnTo>
                      <a:pt x="19050" y="152400"/>
                    </a:lnTo>
                    <a:cubicBezTo>
                      <a:pt x="8529" y="152400"/>
                      <a:pt x="0" y="143871"/>
                      <a:pt x="0" y="133350"/>
                    </a:cubicBezTo>
                    <a:lnTo>
                      <a:pt x="0" y="19050"/>
                    </a:lnTo>
                    <a:cubicBezTo>
                      <a:pt x="0" y="8529"/>
                      <a:pt x="8529" y="0"/>
                      <a:pt x="19050" y="0"/>
                    </a:cubicBezTo>
                    <a:lnTo>
                      <a:pt x="133350" y="0"/>
                    </a:lnTo>
                  </a:path>
                </a:pathLst>
              </a:custGeom>
              <a:noFill/>
              <a:ln w="19050">
                <a:solidFill>
                  <a:schemeClr val="accent1"/>
                </a:solidFill>
              </a:ln>
            </p:spPr>
          </p:sp>
          <p:sp>
            <p:nvSpPr>
              <p:cNvPr id="44" name="Freeform 44"/>
              <p:cNvSpPr/>
              <p:nvPr/>
            </p:nvSpPr>
            <p:spPr>
              <a:xfrm>
                <a:off x="6372225" y="3924300"/>
                <a:ext cx="133350" cy="19050"/>
              </a:xfrm>
              <a:custGeom>
                <a:avLst/>
                <a:gdLst/>
                <a:ahLst/>
                <a:cxnLst/>
                <a:rect l="l" t="t" r="r" b="b"/>
                <a:pathLst>
                  <a:path w="133350" h="19050">
                    <a:moveTo>
                      <a:pt x="133350" y="0"/>
                    </a:moveTo>
                    <a:lnTo>
                      <a:pt x="19050" y="0"/>
                    </a:lnTo>
                    <a:cubicBezTo>
                      <a:pt x="8529" y="0"/>
                      <a:pt x="0" y="8529"/>
                      <a:pt x="0" y="19050"/>
                    </a:cubicBezTo>
                  </a:path>
                </a:pathLst>
              </a:custGeom>
              <a:noFill/>
              <a:ln w="19050">
                <a:solidFill>
                  <a:schemeClr val="accent1"/>
                </a:solidFill>
              </a:ln>
            </p:spPr>
          </p:sp>
          <p:sp>
            <p:nvSpPr>
              <p:cNvPr id="45" name="Freeform 45"/>
              <p:cNvSpPr/>
              <p:nvPr/>
            </p:nvSpPr>
            <p:spPr>
              <a:xfrm>
                <a:off x="6410325" y="3848100"/>
                <a:ext cx="57150" cy="9525"/>
              </a:xfrm>
              <a:custGeom>
                <a:avLst/>
                <a:gdLst/>
                <a:ahLst/>
                <a:cxnLst/>
                <a:rect l="l" t="t" r="r" b="b"/>
                <a:pathLst>
                  <a:path w="57150" h="9525">
                    <a:moveTo>
                      <a:pt x="0" y="0"/>
                    </a:moveTo>
                    <a:lnTo>
                      <a:pt x="57150" y="0"/>
                    </a:lnTo>
                  </a:path>
                </a:pathLst>
              </a:custGeom>
              <a:noFill/>
              <a:ln w="19050">
                <a:solidFill>
                  <a:schemeClr val="accent1"/>
                </a:solidFill>
              </a:ln>
            </p:spPr>
          </p:sp>
        </p:grpSp>
        <p:sp>
          <p:nvSpPr>
            <p:cNvPr id="47" name="TextBox 47"/>
            <p:cNvSpPr txBox="1"/>
            <p:nvPr/>
          </p:nvSpPr>
          <p:spPr>
            <a:xfrm>
              <a:off x="6642354" y="3813810"/>
              <a:ext cx="310847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PLAYBOOK 7 MỤC · CHO NGƯỜI ĐỌC</a:t>
              </a:r>
            </a:p>
          </p:txBody>
        </p:sp>
        <p:sp>
          <p:nvSpPr>
            <p:cNvPr id="48" name="TextBox 48"/>
            <p:cNvSpPr txBox="1"/>
            <p:nvPr/>
          </p:nvSpPr>
          <p:spPr>
            <a:xfrm>
              <a:off x="6316980" y="4181475"/>
              <a:ext cx="2068354" cy="126492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1</a:t>
              </a:r>
              <a:r>
                <a:rPr lang="vi-VN" sz="1500" dirty="0">
                  <a:solidFill>
                    <a:schemeClr val="dk1"/>
                  </a:solidFill>
                  <a:latin typeface="+mn-lt"/>
                  <a:ea typeface="+mn-ea"/>
                  <a:cs typeface="+mn-cs"/>
                </a:rPr>
                <a:t> Mục đích</a:t>
              </a:r>
              <a:br/>
              <a:r>
                <a:rPr lang="vi-VN" sz="1500" b="1" dirty="0">
                  <a:solidFill>
                    <a:schemeClr val="accent1"/>
                  </a:solidFill>
                  <a:latin typeface="+mn-lt"/>
                  <a:ea typeface="+mn-ea"/>
                  <a:cs typeface="+mn-cs"/>
                </a:rPr>
                <a:t>2</a:t>
              </a:r>
              <a:r>
                <a:rPr lang="vi-VN" sz="1500" dirty="0">
                  <a:solidFill>
                    <a:schemeClr val="dk1"/>
                  </a:solidFill>
                  <a:latin typeface="+mn-lt"/>
                  <a:ea typeface="+mn-ea"/>
                  <a:cs typeface="+mn-cs"/>
                </a:rPr>
                <a:t> Ai dùng</a:t>
              </a:r>
              <a:br/>
              <a:r>
                <a:rPr lang="vi-VN" sz="1500" b="1" dirty="0">
                  <a:solidFill>
                    <a:schemeClr val="accent1"/>
                  </a:solidFill>
                  <a:latin typeface="+mn-lt"/>
                  <a:ea typeface="+mn-ea"/>
                  <a:cs typeface="+mn-cs"/>
                </a:rPr>
                <a:t>3</a:t>
              </a:r>
              <a:r>
                <a:rPr lang="vi-VN" sz="1500" dirty="0">
                  <a:solidFill>
                    <a:schemeClr val="dk1"/>
                  </a:solidFill>
                  <a:latin typeface="+mn-lt"/>
                  <a:ea typeface="+mn-ea"/>
                  <a:cs typeface="+mn-cs"/>
                </a:rPr>
                <a:t> Quy trình từng bước</a:t>
              </a:r>
              <a:br/>
              <a:r>
                <a:rPr lang="vi-VN" sz="1500" b="1" dirty="0">
                  <a:solidFill>
                    <a:schemeClr val="accent1"/>
                  </a:solidFill>
                  <a:latin typeface="+mn-lt"/>
                  <a:ea typeface="+mn-ea"/>
                  <a:cs typeface="+mn-cs"/>
                </a:rPr>
                <a:t>4</a:t>
              </a:r>
              <a:r>
                <a:rPr lang="vi-VN" sz="1500" dirty="0">
                  <a:solidFill>
                    <a:schemeClr val="dk1"/>
                  </a:solidFill>
                  <a:latin typeface="+mn-lt"/>
                  <a:ea typeface="+mn-ea"/>
                  <a:cs typeface="+mn-cs"/>
                </a:rPr>
                <a:t> Tiêu chuẩn đầu ra</a:t>
              </a:r>
            </a:p>
          </p:txBody>
        </p:sp>
        <p:sp>
          <p:nvSpPr>
            <p:cNvPr id="49" name="TextBox 49"/>
            <p:cNvSpPr txBox="1"/>
            <p:nvPr/>
          </p:nvSpPr>
          <p:spPr>
            <a:xfrm>
              <a:off x="9174480" y="4181475"/>
              <a:ext cx="1525429" cy="94107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5</a:t>
              </a:r>
              <a:r>
                <a:rPr lang="vi-VN" sz="1500" dirty="0">
                  <a:solidFill>
                    <a:schemeClr val="dk1"/>
                  </a:solidFill>
                  <a:latin typeface="+mn-lt"/>
                  <a:ea typeface="+mn-ea"/>
                  <a:cs typeface="+mn-cs"/>
                </a:rPr>
                <a:t> Ranh giới</a:t>
              </a:r>
              <a:br/>
              <a:r>
                <a:rPr lang="vi-VN" sz="1500" b="1" dirty="0">
                  <a:solidFill>
                    <a:schemeClr val="accent1"/>
                  </a:solidFill>
                  <a:latin typeface="+mn-lt"/>
                  <a:ea typeface="+mn-ea"/>
                  <a:cs typeface="+mn-cs"/>
                </a:rPr>
                <a:t>6</a:t>
              </a:r>
              <a:r>
                <a:rPr lang="vi-VN" sz="1500" dirty="0">
                  <a:solidFill>
                    <a:schemeClr val="dk1"/>
                  </a:solidFill>
                  <a:latin typeface="+mn-lt"/>
                  <a:ea typeface="+mn-ea"/>
                  <a:cs typeface="+mn-cs"/>
                </a:rPr>
                <a:t> Chỉ số đo</a:t>
              </a:r>
              <a:br/>
              <a:r>
                <a:rPr lang="vi-VN" sz="1500" b="1" dirty="0">
                  <a:solidFill>
                    <a:schemeClr val="accent1"/>
                  </a:solidFill>
                  <a:latin typeface="+mn-lt"/>
                  <a:ea typeface="+mn-ea"/>
                  <a:cs typeface="+mn-cs"/>
                </a:rPr>
                <a:t>7</a:t>
              </a:r>
              <a:r>
                <a:rPr lang="vi-VN" sz="1500" dirty="0">
                  <a:solidFill>
                    <a:schemeClr val="dk1"/>
                  </a:solidFill>
                  <a:latin typeface="+mn-lt"/>
                  <a:ea typeface="+mn-ea"/>
                  <a:cs typeface="+mn-cs"/>
                </a:rPr>
                <a:t> Xử lý khi ra sai</a:t>
              </a:r>
            </a:p>
          </p:txBody>
        </p:sp>
      </p:grpSp>
      <p:grpSp>
        <p:nvGrpSpPr>
          <p:cNvPr id="53" name="Group 53"/>
          <p:cNvGrpSpPr/>
          <p:nvPr/>
        </p:nvGrpSpPr>
        <p:grpSpPr>
          <a:xfrm>
            <a:off x="381000" y="5905500"/>
            <a:ext cx="6970447" cy="414909"/>
            <a:chOff x="381000" y="5905500"/>
            <a:chExt cx="6970447" cy="414909"/>
          </a:xfrm>
        </p:grpSpPr>
        <p:sp>
          <p:nvSpPr>
            <p:cNvPr id="51" name="Rectangle 51"/>
            <p:cNvSpPr/>
            <p:nvPr/>
          </p:nvSpPr>
          <p:spPr>
            <a:xfrm>
              <a:off x="381000" y="5905500"/>
              <a:ext cx="57150" cy="361950"/>
            </a:xfrm>
            <a:prstGeom prst="roundRect">
              <a:avLst>
                <a:gd name="adj" fmla="val 50000"/>
              </a:avLst>
            </a:prstGeom>
            <a:solidFill>
              <a:schemeClr val="accent2"/>
            </a:solidFill>
            <a:ln>
              <a:noFill/>
            </a:ln>
          </p:spPr>
        </p:sp>
        <p:sp>
          <p:nvSpPr>
            <p:cNvPr id="52" name="TextBox 52"/>
            <p:cNvSpPr txBox="1"/>
            <p:nvPr/>
          </p:nvSpPr>
          <p:spPr>
            <a:xfrm>
              <a:off x="581406" y="5968365"/>
              <a:ext cx="6770041"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“Skill là thứ ChatGPT đọc. Playbook là thứ con người đọc.”</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8366303" y="6554152"/>
            <a:ext cx="2783281"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Tên skill lấy từ thư viện skill mẫu của Wir</a:t>
            </a:r>
          </a:p>
        </p:txBody>
      </p:sp>
      <p:sp>
        <p:nvSpPr>
          <p:cNvPr id="56" name="TextBox 5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31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16339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4: nối Gmail an toàn, rồi đóng gói plugin</a:t>
            </a:r>
            <a:br/>
            <a:r>
              <a:rPr lang="vi-VN" sz="3150" b="1" dirty="0">
                <a:solidFill>
                  <a:schemeClr val="accent1"/>
                </a:solidFill>
                <a:latin typeface="+mn-lt"/>
                <a:ea typeface="+mn-ea"/>
                <a:cs typeface="+mn-cs"/>
              </a:rPr>
              <a:t>mà đồng nghiệp chạy được không cần hỏi</a:t>
            </a:r>
          </a:p>
        </p:txBody>
      </p:sp>
      <p:grpSp>
        <p:nvGrpSpPr>
          <p:cNvPr id="32" name="Group 32"/>
          <p:cNvGrpSpPr/>
          <p:nvPr/>
        </p:nvGrpSpPr>
        <p:grpSpPr>
          <a:xfrm>
            <a:off x="381000" y="2095500"/>
            <a:ext cx="6572250" cy="1960245"/>
            <a:chOff x="381000" y="2095500"/>
            <a:chExt cx="6572250" cy="1960245"/>
          </a:xfrm>
        </p:grpSpPr>
        <p:sp>
          <p:nvSpPr>
            <p:cNvPr id="17" name="Rectangle 17"/>
            <p:cNvSpPr/>
            <p:nvPr/>
          </p:nvSpPr>
          <p:spPr>
            <a:xfrm>
              <a:off x="381000" y="2095500"/>
              <a:ext cx="6572250" cy="1885950"/>
            </a:xfrm>
            <a:prstGeom prst="roundRect">
              <a:avLst>
                <a:gd name="adj" fmla="val 8081"/>
              </a:avLst>
            </a:prstGeom>
            <a:solidFill>
              <a:schemeClr val="lt1"/>
            </a:solidFill>
            <a:ln w="14288">
              <a:solidFill>
                <a:schemeClr val="accent4"/>
              </a:solidFill>
            </a:ln>
          </p:spPr>
        </p:sp>
        <p:grpSp>
          <p:nvGrpSpPr>
            <p:cNvPr id="24" name="Group 24"/>
            <p:cNvGrpSpPr/>
            <p:nvPr/>
          </p:nvGrpSpPr>
          <p:grpSpPr>
            <a:xfrm>
              <a:off x="638175" y="2276475"/>
              <a:ext cx="171449" cy="171449"/>
              <a:chOff x="638175" y="2276475"/>
              <a:chExt cx="171449" cy="171449"/>
            </a:xfrm>
          </p:grpSpPr>
          <p:sp>
            <p:nvSpPr>
              <p:cNvPr id="18" name="Freeform 18"/>
              <p:cNvSpPr/>
              <p:nvPr/>
            </p:nvSpPr>
            <p:spPr>
              <a:xfrm>
                <a:off x="649749" y="2362200"/>
                <a:ext cx="74151" cy="74151"/>
              </a:xfrm>
              <a:custGeom>
                <a:avLst/>
                <a:gdLst/>
                <a:ahLst/>
                <a:cxnLst/>
                <a:rect l="l" t="t" r="r" b="b"/>
                <a:pathLst>
                  <a:path w="74151" h="74151">
                    <a:moveTo>
                      <a:pt x="26526" y="0"/>
                    </a:moveTo>
                    <a:lnTo>
                      <a:pt x="74151" y="47625"/>
                    </a:lnTo>
                    <a:lnTo>
                      <a:pt x="59863" y="61912"/>
                    </a:lnTo>
                    <a:cubicBezTo>
                      <a:pt x="51403" y="70652"/>
                      <a:pt x="38889" y="74151"/>
                      <a:pt x="27123" y="71066"/>
                    </a:cubicBezTo>
                    <a:cubicBezTo>
                      <a:pt x="15357" y="67982"/>
                      <a:pt x="6169" y="58793"/>
                      <a:pt x="3084" y="47028"/>
                    </a:cubicBezTo>
                    <a:cubicBezTo>
                      <a:pt x="0" y="35262"/>
                      <a:pt x="3499" y="22747"/>
                      <a:pt x="12238" y="14288"/>
                    </a:cubicBezTo>
                    <a:lnTo>
                      <a:pt x="26526" y="0"/>
                    </a:lnTo>
                  </a:path>
                </a:pathLst>
              </a:custGeom>
              <a:noFill/>
              <a:ln w="19050">
                <a:solidFill>
                  <a:schemeClr val="accent1"/>
                </a:solidFill>
              </a:ln>
            </p:spPr>
          </p:sp>
          <p:sp>
            <p:nvSpPr>
              <p:cNvPr id="19" name="Freeform 19"/>
              <p:cNvSpPr/>
              <p:nvPr/>
            </p:nvSpPr>
            <p:spPr>
              <a:xfrm>
                <a:off x="723900" y="2288049"/>
                <a:ext cx="74151" cy="74151"/>
              </a:xfrm>
              <a:custGeom>
                <a:avLst/>
                <a:gdLst/>
                <a:ahLst/>
                <a:cxnLst/>
                <a:rect l="l" t="t" r="r" b="b"/>
                <a:pathLst>
                  <a:path w="74151" h="74151">
                    <a:moveTo>
                      <a:pt x="47625" y="74151"/>
                    </a:moveTo>
                    <a:lnTo>
                      <a:pt x="0" y="26526"/>
                    </a:lnTo>
                    <a:lnTo>
                      <a:pt x="14288" y="12238"/>
                    </a:lnTo>
                    <a:cubicBezTo>
                      <a:pt x="22747" y="3499"/>
                      <a:pt x="35262" y="0"/>
                      <a:pt x="47028" y="3084"/>
                    </a:cubicBezTo>
                    <a:cubicBezTo>
                      <a:pt x="58793" y="6169"/>
                      <a:pt x="67982" y="15357"/>
                      <a:pt x="71066" y="27123"/>
                    </a:cubicBezTo>
                    <a:cubicBezTo>
                      <a:pt x="74151" y="38889"/>
                      <a:pt x="70652" y="51403"/>
                      <a:pt x="61912" y="59863"/>
                    </a:cubicBezTo>
                    <a:lnTo>
                      <a:pt x="47625" y="74151"/>
                    </a:lnTo>
                  </a:path>
                </a:pathLst>
              </a:custGeom>
              <a:noFill/>
              <a:ln w="19050">
                <a:solidFill>
                  <a:schemeClr val="accent1"/>
                </a:solidFill>
              </a:ln>
            </p:spPr>
          </p:sp>
          <p:sp>
            <p:nvSpPr>
              <p:cNvPr id="20" name="Freeform 20"/>
              <p:cNvSpPr/>
              <p:nvPr/>
            </p:nvSpPr>
            <p:spPr>
              <a:xfrm>
                <a:off x="638175" y="2424112"/>
                <a:ext cx="23812" cy="23812"/>
              </a:xfrm>
              <a:custGeom>
                <a:avLst/>
                <a:gdLst/>
                <a:ahLst/>
                <a:cxnLst/>
                <a:rect l="l" t="t" r="r" b="b"/>
                <a:pathLst>
                  <a:path w="23812" h="23812">
                    <a:moveTo>
                      <a:pt x="0" y="23812"/>
                    </a:moveTo>
                    <a:lnTo>
                      <a:pt x="23812" y="0"/>
                    </a:lnTo>
                  </a:path>
                </a:pathLst>
              </a:custGeom>
              <a:noFill/>
              <a:ln w="19050">
                <a:solidFill>
                  <a:schemeClr val="accent1"/>
                </a:solidFill>
              </a:ln>
            </p:spPr>
          </p:sp>
          <p:sp>
            <p:nvSpPr>
              <p:cNvPr id="21" name="Freeform 21"/>
              <p:cNvSpPr/>
              <p:nvPr/>
            </p:nvSpPr>
            <p:spPr>
              <a:xfrm>
                <a:off x="785812" y="2276475"/>
                <a:ext cx="23812" cy="23812"/>
              </a:xfrm>
              <a:custGeom>
                <a:avLst/>
                <a:gdLst/>
                <a:ahLst/>
                <a:cxnLst/>
                <a:rect l="l" t="t" r="r" b="b"/>
                <a:pathLst>
                  <a:path w="23812" h="23812">
                    <a:moveTo>
                      <a:pt x="0" y="23812"/>
                    </a:moveTo>
                    <a:lnTo>
                      <a:pt x="23812" y="0"/>
                    </a:lnTo>
                  </a:path>
                </a:pathLst>
              </a:custGeom>
              <a:noFill/>
              <a:ln w="19050">
                <a:solidFill>
                  <a:schemeClr val="accent1"/>
                </a:solidFill>
              </a:ln>
            </p:spPr>
          </p:sp>
          <p:sp>
            <p:nvSpPr>
              <p:cNvPr id="22" name="Freeform 22"/>
              <p:cNvSpPr/>
              <p:nvPr/>
            </p:nvSpPr>
            <p:spPr>
              <a:xfrm>
                <a:off x="685800" y="2352675"/>
                <a:ext cx="19050" cy="19050"/>
              </a:xfrm>
              <a:custGeom>
                <a:avLst/>
                <a:gdLst/>
                <a:ahLst/>
                <a:cxnLst/>
                <a:rect l="l" t="t" r="r" b="b"/>
                <a:pathLst>
                  <a:path w="19050" h="19050">
                    <a:moveTo>
                      <a:pt x="19050" y="0"/>
                    </a:moveTo>
                    <a:lnTo>
                      <a:pt x="0" y="19050"/>
                    </a:lnTo>
                  </a:path>
                </a:pathLst>
              </a:custGeom>
              <a:noFill/>
              <a:ln w="19050">
                <a:solidFill>
                  <a:schemeClr val="accent1"/>
                </a:solidFill>
              </a:ln>
            </p:spPr>
          </p:sp>
          <p:sp>
            <p:nvSpPr>
              <p:cNvPr id="23" name="Freeform 23"/>
              <p:cNvSpPr/>
              <p:nvPr/>
            </p:nvSpPr>
            <p:spPr>
              <a:xfrm>
                <a:off x="714375" y="2381250"/>
                <a:ext cx="19050" cy="19050"/>
              </a:xfrm>
              <a:custGeom>
                <a:avLst/>
                <a:gdLst/>
                <a:ahLst/>
                <a:cxnLst/>
                <a:rect l="l" t="t" r="r" b="b"/>
                <a:pathLst>
                  <a:path w="19050" h="19050">
                    <a:moveTo>
                      <a:pt x="19050" y="0"/>
                    </a:moveTo>
                    <a:lnTo>
                      <a:pt x="0" y="19050"/>
                    </a:lnTo>
                  </a:path>
                </a:pathLst>
              </a:custGeom>
              <a:noFill/>
              <a:ln w="19050">
                <a:solidFill>
                  <a:schemeClr val="accent1"/>
                </a:solidFill>
              </a:ln>
            </p:spPr>
          </p:sp>
        </p:grpSp>
        <p:sp>
          <p:nvSpPr>
            <p:cNvPr id="25" name="TextBox 25"/>
            <p:cNvSpPr txBox="1"/>
            <p:nvPr/>
          </p:nvSpPr>
          <p:spPr>
            <a:xfrm>
              <a:off x="927354" y="2289810"/>
              <a:ext cx="1743822"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4A · PLUGIN CÓ SẴN</a:t>
              </a:r>
            </a:p>
          </p:txBody>
        </p:sp>
        <p:sp>
          <p:nvSpPr>
            <p:cNvPr id="26" name="Ellipse 26"/>
            <p:cNvSpPr/>
            <p:nvPr/>
          </p:nvSpPr>
          <p:spPr>
            <a:xfrm>
              <a:off x="685800" y="2647950"/>
              <a:ext cx="76200" cy="76200"/>
            </a:xfrm>
            <a:prstGeom prst="ellipse">
              <a:avLst/>
            </a:prstGeom>
            <a:solidFill>
              <a:schemeClr val="accent1"/>
            </a:solidFill>
            <a:ln>
              <a:noFill/>
            </a:ln>
          </p:spPr>
        </p:sp>
        <p:sp>
          <p:nvSpPr>
            <p:cNvPr id="27" name="TextBox 27"/>
            <p:cNvSpPr txBox="1"/>
            <p:nvPr/>
          </p:nvSpPr>
          <p:spPr>
            <a:xfrm>
              <a:off x="868680" y="2590800"/>
              <a:ext cx="41219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Phân loại 20 email gần nhất, soạn thư nháp</a:t>
              </a:r>
            </a:p>
          </p:txBody>
        </p:sp>
        <p:sp>
          <p:nvSpPr>
            <p:cNvPr id="28" name="Ellipse 28"/>
            <p:cNvSpPr/>
            <p:nvPr/>
          </p:nvSpPr>
          <p:spPr>
            <a:xfrm>
              <a:off x="685800" y="2933700"/>
              <a:ext cx="76200" cy="76200"/>
            </a:xfrm>
            <a:prstGeom prst="ellipse">
              <a:avLst/>
            </a:prstGeom>
            <a:solidFill>
              <a:schemeClr val="accent1"/>
            </a:solidFill>
            <a:ln>
              <a:noFill/>
            </a:ln>
          </p:spPr>
        </p:sp>
        <p:sp>
          <p:nvSpPr>
            <p:cNvPr id="29" name="TextBox 29"/>
            <p:cNvSpPr txBox="1"/>
            <p:nvPr/>
          </p:nvSpPr>
          <p:spPr>
            <a:xfrm>
              <a:off x="868680" y="2876550"/>
              <a:ext cx="50539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Đọc file đơn hàng trên Drive, ghi bản tóm tắt ngược lên</a:t>
              </a:r>
              <a:br/>
              <a:r>
                <a:rPr lang="vi-VN" sz="1500" dirty="0">
                  <a:solidFill>
                    <a:schemeClr val="dk1"/>
                  </a:solidFill>
                  <a:latin typeface="+mn-lt"/>
                  <a:ea typeface="+mn-ea"/>
                  <a:cs typeface="+mn-cs"/>
                </a:rPr>
                <a:t>Drive (đối chiếu tổng 147.300.000 đ)</a:t>
              </a:r>
            </a:p>
          </p:txBody>
        </p:sp>
        <p:sp>
          <p:nvSpPr>
            <p:cNvPr id="30" name="Line 30"/>
            <p:cNvSpPr/>
            <p:nvPr/>
          </p:nvSpPr>
          <p:spPr>
            <a:xfrm>
              <a:off x="609600" y="3448050"/>
              <a:ext cx="6115050" cy="9525"/>
            </a:xfrm>
            <a:custGeom>
              <a:avLst/>
              <a:gdLst/>
              <a:ahLst/>
              <a:cxnLst/>
              <a:rect l="l" t="t" r="r" b="b"/>
              <a:pathLst>
                <a:path w="6115050" h="9525">
                  <a:moveTo>
                    <a:pt x="0" y="0"/>
                  </a:moveTo>
                  <a:lnTo>
                    <a:pt x="6115050" y="0"/>
                  </a:lnTo>
                </a:path>
              </a:pathLst>
            </a:custGeom>
            <a:noFill/>
            <a:ln w="9525">
              <a:solidFill>
                <a:schemeClr val="accent4"/>
              </a:solidFill>
            </a:ln>
          </p:spPr>
        </p:sp>
        <p:sp>
          <p:nvSpPr>
            <p:cNvPr id="31" name="TextBox 31"/>
            <p:cNvSpPr txBox="1"/>
            <p:nvPr/>
          </p:nvSpPr>
          <p:spPr>
            <a:xfrm>
              <a:off x="601980" y="3533775"/>
              <a:ext cx="472916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đúng tài khoản cá nhân · thư nháp chưa gửi</a:t>
              </a:r>
            </a:p>
            <a:p>
              <a:pPr marL="161925" indent="-161925" algn="l">
                <a:lnSpc>
                  <a:spcPts val="1800"/>
                </a:lnSpc>
                <a:buClr>
                  <a:schemeClr val="dk1"/>
                </a:buClr>
                <a:buSzTx/>
                <a:buFontTx/>
                <a:buChar char="•"/>
              </a:pPr>
              <a:r>
                <a:rPr lang="vi-VN" sz="1500" dirty="0">
                  <a:solidFill>
                    <a:schemeClr val="dk1"/>
                  </a:solidFill>
                  <a:latin typeface="+mn-lt"/>
                  <a:ea typeface="+mn-ea"/>
                  <a:cs typeface="+mn-cs"/>
                </a:rPr>
                <a:t>file gốc còn nguyên · đã gỡ quyền</a:t>
              </a:r>
            </a:p>
          </p:txBody>
        </p:sp>
      </p:grpSp>
      <p:grpSp>
        <p:nvGrpSpPr>
          <p:cNvPr id="47" name="Group 47"/>
          <p:cNvGrpSpPr/>
          <p:nvPr/>
        </p:nvGrpSpPr>
        <p:grpSpPr>
          <a:xfrm>
            <a:off x="381000" y="4095750"/>
            <a:ext cx="6572250" cy="1714500"/>
            <a:chOff x="381000" y="4095750"/>
            <a:chExt cx="6572250" cy="1714500"/>
          </a:xfrm>
        </p:grpSpPr>
        <p:sp>
          <p:nvSpPr>
            <p:cNvPr id="33" name="Rectangle 33"/>
            <p:cNvSpPr/>
            <p:nvPr/>
          </p:nvSpPr>
          <p:spPr>
            <a:xfrm>
              <a:off x="381000" y="4095750"/>
              <a:ext cx="6572250" cy="1714500"/>
            </a:xfrm>
            <a:prstGeom prst="roundRect">
              <a:avLst>
                <a:gd name="adj" fmla="val 8889"/>
              </a:avLst>
            </a:prstGeom>
            <a:solidFill>
              <a:schemeClr val="lt1"/>
            </a:solidFill>
            <a:ln w="14288">
              <a:solidFill>
                <a:schemeClr val="accent4"/>
              </a:solidFill>
            </a:ln>
          </p:spPr>
        </p:sp>
        <p:grpSp>
          <p:nvGrpSpPr>
            <p:cNvPr id="39" name="Group 39"/>
            <p:cNvGrpSpPr/>
            <p:nvPr/>
          </p:nvGrpSpPr>
          <p:grpSpPr>
            <a:xfrm>
              <a:off x="647700" y="4276725"/>
              <a:ext cx="152400" cy="171450"/>
              <a:chOff x="647700" y="4276725"/>
              <a:chExt cx="152400" cy="171450"/>
            </a:xfrm>
          </p:grpSpPr>
          <p:sp>
            <p:nvSpPr>
              <p:cNvPr id="34" name="Freeform 34"/>
              <p:cNvSpPr/>
              <p:nvPr/>
            </p:nvSpPr>
            <p:spPr>
              <a:xfrm>
                <a:off x="647700" y="427672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sp>
          <p:sp>
            <p:nvSpPr>
              <p:cNvPr id="35" name="Freeform 35"/>
              <p:cNvSpPr/>
              <p:nvPr/>
            </p:nvSpPr>
            <p:spPr>
              <a:xfrm>
                <a:off x="723900" y="4319588"/>
                <a:ext cx="76200" cy="42862"/>
              </a:xfrm>
              <a:custGeom>
                <a:avLst/>
                <a:gdLst/>
                <a:ahLst/>
                <a:cxnLst/>
                <a:rect l="l" t="t" r="r" b="b"/>
                <a:pathLst>
                  <a:path w="76200" h="42862">
                    <a:moveTo>
                      <a:pt x="0" y="42862"/>
                    </a:moveTo>
                    <a:lnTo>
                      <a:pt x="76200" y="0"/>
                    </a:lnTo>
                  </a:path>
                </a:pathLst>
              </a:custGeom>
              <a:noFill/>
              <a:ln w="19050">
                <a:solidFill>
                  <a:schemeClr val="accent1"/>
                </a:solidFill>
              </a:ln>
            </p:spPr>
          </p:sp>
          <p:sp>
            <p:nvSpPr>
              <p:cNvPr id="36" name="Freeform 36"/>
              <p:cNvSpPr/>
              <p:nvPr/>
            </p:nvSpPr>
            <p:spPr>
              <a:xfrm>
                <a:off x="723900" y="4362450"/>
                <a:ext cx="9525" cy="85725"/>
              </a:xfrm>
              <a:custGeom>
                <a:avLst/>
                <a:gdLst/>
                <a:ahLst/>
                <a:cxnLst/>
                <a:rect l="l" t="t" r="r" b="b"/>
                <a:pathLst>
                  <a:path w="9525" h="85725">
                    <a:moveTo>
                      <a:pt x="0" y="0"/>
                    </a:moveTo>
                    <a:lnTo>
                      <a:pt x="0" y="85725"/>
                    </a:lnTo>
                  </a:path>
                </a:pathLst>
              </a:custGeom>
              <a:noFill/>
              <a:ln w="19050">
                <a:solidFill>
                  <a:schemeClr val="accent1"/>
                </a:solidFill>
              </a:ln>
            </p:spPr>
          </p:sp>
          <p:sp>
            <p:nvSpPr>
              <p:cNvPr id="37" name="Freeform 37"/>
              <p:cNvSpPr/>
              <p:nvPr/>
            </p:nvSpPr>
            <p:spPr>
              <a:xfrm>
                <a:off x="647700" y="4319588"/>
                <a:ext cx="76200" cy="42862"/>
              </a:xfrm>
              <a:custGeom>
                <a:avLst/>
                <a:gdLst/>
                <a:ahLst/>
                <a:cxnLst/>
                <a:rect l="l" t="t" r="r" b="b"/>
                <a:pathLst>
                  <a:path w="76200" h="42862">
                    <a:moveTo>
                      <a:pt x="76200" y="42862"/>
                    </a:moveTo>
                    <a:lnTo>
                      <a:pt x="0" y="0"/>
                    </a:lnTo>
                  </a:path>
                </a:pathLst>
              </a:custGeom>
              <a:noFill/>
              <a:ln w="19050">
                <a:solidFill>
                  <a:schemeClr val="accent1"/>
                </a:solidFill>
              </a:ln>
            </p:spPr>
          </p:sp>
          <p:sp>
            <p:nvSpPr>
              <p:cNvPr id="38" name="Freeform 38"/>
              <p:cNvSpPr/>
              <p:nvPr/>
            </p:nvSpPr>
            <p:spPr>
              <a:xfrm>
                <a:off x="685800" y="4298156"/>
                <a:ext cx="76200" cy="42862"/>
              </a:xfrm>
              <a:custGeom>
                <a:avLst/>
                <a:gdLst/>
                <a:ahLst/>
                <a:cxnLst/>
                <a:rect l="l" t="t" r="r" b="b"/>
                <a:pathLst>
                  <a:path w="76200" h="42862">
                    <a:moveTo>
                      <a:pt x="76200" y="0"/>
                    </a:moveTo>
                    <a:lnTo>
                      <a:pt x="0" y="42862"/>
                    </a:lnTo>
                  </a:path>
                </a:pathLst>
              </a:custGeom>
              <a:noFill/>
              <a:ln w="19050">
                <a:solidFill>
                  <a:schemeClr val="accent1"/>
                </a:solidFill>
              </a:ln>
            </p:spPr>
          </p:sp>
        </p:grpSp>
        <p:sp>
          <p:nvSpPr>
            <p:cNvPr id="40" name="TextBox 40"/>
            <p:cNvSpPr txBox="1"/>
            <p:nvPr/>
          </p:nvSpPr>
          <p:spPr>
            <a:xfrm>
              <a:off x="927354" y="4290060"/>
              <a:ext cx="177966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4B · PLUGIN TỰ TẠO</a:t>
              </a:r>
            </a:p>
          </p:txBody>
        </p:sp>
        <p:sp>
          <p:nvSpPr>
            <p:cNvPr id="41" name="Ellipse 41"/>
            <p:cNvSpPr/>
            <p:nvPr/>
          </p:nvSpPr>
          <p:spPr>
            <a:xfrm>
              <a:off x="685800" y="4648200"/>
              <a:ext cx="76200" cy="76200"/>
            </a:xfrm>
            <a:prstGeom prst="ellipse">
              <a:avLst/>
            </a:prstGeom>
            <a:solidFill>
              <a:schemeClr val="accent1"/>
            </a:solidFill>
            <a:ln>
              <a:noFill/>
            </a:ln>
          </p:spPr>
        </p:sp>
        <p:sp>
          <p:nvSpPr>
            <p:cNvPr id="42" name="TextBox 42"/>
            <p:cNvSpPr txBox="1"/>
            <p:nvPr/>
          </p:nvSpPr>
          <p:spPr>
            <a:xfrm>
              <a:off x="868680" y="4591050"/>
              <a:ext cx="375975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Gộp ≥ 2 skill + 1 file tham chiếu + 1 app</a:t>
              </a:r>
            </a:p>
          </p:txBody>
        </p:sp>
        <p:sp>
          <p:nvSpPr>
            <p:cNvPr id="43" name="Ellipse 43"/>
            <p:cNvSpPr/>
            <p:nvPr/>
          </p:nvSpPr>
          <p:spPr>
            <a:xfrm>
              <a:off x="685800" y="4933950"/>
              <a:ext cx="76200" cy="76200"/>
            </a:xfrm>
            <a:prstGeom prst="ellipse">
              <a:avLst/>
            </a:prstGeom>
            <a:solidFill>
              <a:schemeClr val="accent1"/>
            </a:solidFill>
            <a:ln>
              <a:noFill/>
            </a:ln>
          </p:spPr>
        </p:sp>
        <p:sp>
          <p:nvSpPr>
            <p:cNvPr id="44" name="TextBox 44"/>
            <p:cNvSpPr txBox="1"/>
            <p:nvPr/>
          </p:nvSpPr>
          <p:spPr>
            <a:xfrm>
              <a:off x="868680" y="4876800"/>
              <a:ext cx="597810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Playbook 7 mục · 2 phép thử ngoài bối cảnh · demo 5 phút</a:t>
              </a:r>
            </a:p>
          </p:txBody>
        </p:sp>
        <p:sp>
          <p:nvSpPr>
            <p:cNvPr id="45" name="Line 45"/>
            <p:cNvSpPr/>
            <p:nvPr/>
          </p:nvSpPr>
          <p:spPr>
            <a:xfrm>
              <a:off x="609600" y="5257800"/>
              <a:ext cx="6115050" cy="9525"/>
            </a:xfrm>
            <a:custGeom>
              <a:avLst/>
              <a:gdLst/>
              <a:ahLst/>
              <a:cxnLst/>
              <a:rect l="l" t="t" r="r" b="b"/>
              <a:pathLst>
                <a:path w="6115050" h="9525">
                  <a:moveTo>
                    <a:pt x="0" y="0"/>
                  </a:moveTo>
                  <a:lnTo>
                    <a:pt x="6115050" y="0"/>
                  </a:lnTo>
                </a:path>
              </a:pathLst>
            </a:custGeom>
            <a:noFill/>
            <a:ln w="9525">
              <a:solidFill>
                <a:schemeClr val="accent4"/>
              </a:solidFill>
            </a:ln>
          </p:spPr>
        </p:sp>
        <p:sp>
          <p:nvSpPr>
            <p:cNvPr id="46" name="TextBox 46"/>
            <p:cNvSpPr txBox="1"/>
            <p:nvPr/>
          </p:nvSpPr>
          <p:spPr>
            <a:xfrm>
              <a:off x="601980" y="5400675"/>
              <a:ext cx="463613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người khác chạy được không phải hỏi lại</a:t>
              </a:r>
            </a:p>
          </p:txBody>
        </p:sp>
      </p:grpSp>
      <p:grpSp>
        <p:nvGrpSpPr>
          <p:cNvPr id="59" name="Group 59"/>
          <p:cNvGrpSpPr/>
          <p:nvPr/>
        </p:nvGrpSpPr>
        <p:grpSpPr>
          <a:xfrm>
            <a:off x="7181850" y="2095500"/>
            <a:ext cx="4629150" cy="3714750"/>
            <a:chOff x="7181850" y="2095500"/>
            <a:chExt cx="4629150" cy="3714750"/>
          </a:xfrm>
        </p:grpSpPr>
        <p:sp>
          <p:nvSpPr>
            <p:cNvPr id="48" name="Rectangle 48"/>
            <p:cNvSpPr/>
            <p:nvPr/>
          </p:nvSpPr>
          <p:spPr>
            <a:xfrm>
              <a:off x="7181850" y="2095500"/>
              <a:ext cx="4629150" cy="3714750"/>
            </a:xfrm>
            <a:prstGeom prst="roundRect">
              <a:avLst>
                <a:gd name="adj" fmla="val 4103"/>
              </a:avLst>
            </a:prstGeom>
            <a:solidFill>
              <a:schemeClr val="lt2"/>
            </a:solidFill>
            <a:ln>
              <a:noFill/>
            </a:ln>
          </p:spPr>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14625"/>
              <a:ext cx="3265646"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3 mức quyền theo thứ tự? Mức nào</a:t>
              </a:r>
              <a:br/>
              <a:r>
                <a:rPr lang="vi-VN" sz="1500" b="1" dirty="0">
                  <a:solidFill>
                    <a:schemeClr val="accent1"/>
                  </a:solidFill>
                  <a:latin typeface="+mn-lt"/>
                  <a:ea typeface="+mn-ea"/>
                  <a:cs typeface="+mn-cs"/>
                </a:rPr>
                <a:t>không rút lại được?</a:t>
              </a:r>
            </a:p>
          </p:txBody>
        </p:sp>
        <p:sp>
          <p:nvSpPr>
            <p:cNvPr id="55" name="Line 55"/>
            <p:cNvSpPr/>
            <p:nvPr/>
          </p:nvSpPr>
          <p:spPr>
            <a:xfrm>
              <a:off x="7410450" y="37147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3876675"/>
              <a:ext cx="3277216"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Hai lớp phanh của luồng tự động?</a:t>
              </a:r>
            </a:p>
          </p:txBody>
        </p:sp>
        <p:sp>
          <p:nvSpPr>
            <p:cNvPr id="57" name="Line 57"/>
            <p:cNvSpPr/>
            <p:nvPr/>
          </p:nvSpPr>
          <p:spPr>
            <a:xfrm>
              <a:off x="7410450" y="46101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8" name="TextBox 58"/>
            <p:cNvSpPr txBox="1"/>
            <p:nvPr/>
          </p:nvSpPr>
          <p:spPr>
            <a:xfrm>
              <a:off x="7402830" y="4772025"/>
              <a:ext cx="2435542"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Gmail đặt mức quyền nào?</a:t>
              </a:r>
              <a:br/>
              <a:r>
                <a:rPr lang="vi-VN" sz="1500" b="1" dirty="0">
                  <a:solidFill>
                    <a:schemeClr val="accent1"/>
                  </a:solidFill>
                  <a:latin typeface="+mn-lt"/>
                  <a:ea typeface="+mn-ea"/>
                  <a:cs typeface="+mn-cs"/>
                </a:rPr>
                <a:t>Nút nào không bấm?</a:t>
              </a:r>
            </a:p>
          </p:txBody>
        </p:sp>
      </p:grpSp>
      <p:grpSp>
        <p:nvGrpSpPr>
          <p:cNvPr id="61" name="Group 61"/>
          <p:cNvGrpSpPr/>
          <p:nvPr/>
        </p:nvGrpSpPr>
        <p:grpSpPr>
          <a:xfrm>
            <a:off x="7402830" y="3286125"/>
            <a:ext cx="2744512" cy="293370"/>
            <a:chOff x="7402830" y="3286125"/>
            <a:chExt cx="2744512" cy="293370"/>
          </a:xfrm>
        </p:grpSpPr>
        <p:sp>
          <p:nvSpPr>
            <p:cNvPr id="60" name="TextBox 60"/>
            <p:cNvSpPr txBox="1"/>
            <p:nvPr/>
          </p:nvSpPr>
          <p:spPr>
            <a:xfrm>
              <a:off x="7402830" y="3286125"/>
              <a:ext cx="274451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Đọc, ghi, gửi; gửi ra ngoài</a:t>
              </a:r>
            </a:p>
          </p:txBody>
        </p:sp>
      </p:grpSp>
      <p:grpSp>
        <p:nvGrpSpPr>
          <p:cNvPr id="63" name="Group 63"/>
          <p:cNvGrpSpPr/>
          <p:nvPr/>
        </p:nvGrpSpPr>
        <p:grpSpPr>
          <a:xfrm>
            <a:off x="7402830" y="4181475"/>
            <a:ext cx="2339813" cy="293370"/>
            <a:chOff x="7402830" y="4181475"/>
            <a:chExt cx="2339813" cy="293370"/>
          </a:xfrm>
        </p:grpSpPr>
        <p:sp>
          <p:nvSpPr>
            <p:cNvPr id="62" name="TextBox 62"/>
            <p:cNvSpPr txBox="1"/>
            <p:nvPr/>
          </p:nvSpPr>
          <p:spPr>
            <a:xfrm>
              <a:off x="7402830" y="4181475"/>
              <a:ext cx="2339813"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Người duyệt và hẹn giờ</a:t>
              </a:r>
            </a:p>
          </p:txBody>
        </p:sp>
      </p:grpSp>
      <p:grpSp>
        <p:nvGrpSpPr>
          <p:cNvPr id="65" name="Group 65"/>
          <p:cNvGrpSpPr/>
          <p:nvPr/>
        </p:nvGrpSpPr>
        <p:grpSpPr>
          <a:xfrm>
            <a:off x="7402830" y="5324475"/>
            <a:ext cx="3690054" cy="293370"/>
            <a:chOff x="7402830" y="5324475"/>
            <a:chExt cx="3690054" cy="293370"/>
          </a:xfrm>
        </p:grpSpPr>
        <p:sp>
          <p:nvSpPr>
            <p:cNvPr id="64" name="TextBox 64"/>
            <p:cNvSpPr txBox="1"/>
            <p:nvPr/>
          </p:nvSpPr>
          <p:spPr>
            <a:xfrm>
              <a:off x="7402830" y="5324475"/>
              <a:ext cx="3690054"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Always ask; không bấm Always allow</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8973145" y="6554152"/>
            <a:ext cx="2176439"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(file đơn hàng)</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820345" cy="234696"/>
            <a:chOff x="381000" y="346710"/>
            <a:chExt cx="2820345" cy="234696"/>
          </a:xfrm>
        </p:grpSpPr>
        <p:sp>
          <p:nvSpPr>
            <p:cNvPr id="2" name="Rectangle 2"/>
            <p:cNvSpPr/>
            <p:nvPr/>
          </p:nvSpPr>
          <p:spPr>
            <a:xfrm>
              <a:off x="381000" y="361950"/>
              <a:ext cx="114300" cy="114300"/>
            </a:xfrm>
            <a:prstGeom prst="roundRect">
              <a:avLst>
                <a:gd name="adj" fmla="val 25000"/>
              </a:avLst>
            </a:prstGeom>
            <a:solidFill>
              <a:srgbClr val="64748B"/>
            </a:solidFill>
            <a:ln>
              <a:noFill/>
            </a:ln>
          </p:spPr>
        </p:sp>
        <p:sp>
          <p:nvSpPr>
            <p:cNvPr id="3" name="TextBox 3"/>
            <p:cNvSpPr txBox="1"/>
            <p:nvPr/>
          </p:nvSpPr>
          <p:spPr>
            <a:xfrm>
              <a:off x="584454" y="346710"/>
              <a:ext cx="261689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NÂNG CAO · AI TỰ THAO TÁC</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chemeClr val="accent2"/>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6" name="TextBox 16"/>
          <p:cNvSpPr txBox="1"/>
          <p:nvPr/>
        </p:nvSpPr>
        <p:spPr>
          <a:xfrm>
            <a:off x="364998" y="879158"/>
            <a:ext cx="818102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Phần nâng cao: AI bắt đầu tự cầm chuột,</a:t>
            </a:r>
            <a:br/>
            <a:r>
              <a:rPr lang="vi-VN" sz="3150" b="1" dirty="0">
                <a:solidFill>
                  <a:schemeClr val="accent1"/>
                </a:solidFill>
                <a:latin typeface="+mn-lt"/>
                <a:ea typeface="+mn-ea"/>
                <a:cs typeface="+mn-cs"/>
              </a:rPr>
              <a:t>càng tự chủ thì phanh càng phải chắc</a:t>
            </a:r>
          </a:p>
        </p:txBody>
      </p:sp>
      <p:grpSp>
        <p:nvGrpSpPr>
          <p:cNvPr id="19" name="Group 19"/>
          <p:cNvGrpSpPr/>
          <p:nvPr/>
        </p:nvGrpSpPr>
        <p:grpSpPr>
          <a:xfrm>
            <a:off x="8763000" y="1485900"/>
            <a:ext cx="3048000" cy="324231"/>
            <a:chOff x="8763000" y="1485900"/>
            <a:chExt cx="3048000" cy="324231"/>
          </a:xfrm>
        </p:grpSpPr>
        <p:sp>
          <p:nvSpPr>
            <p:cNvPr id="17" name="Rectangle 17"/>
            <p:cNvSpPr/>
            <p:nvPr/>
          </p:nvSpPr>
          <p:spPr>
            <a:xfrm>
              <a:off x="8763000" y="1485900"/>
              <a:ext cx="3048000" cy="323850"/>
            </a:xfrm>
            <a:prstGeom prst="roundRect">
              <a:avLst>
                <a:gd name="adj" fmla="val 50000"/>
              </a:avLst>
            </a:prstGeom>
            <a:solidFill>
              <a:schemeClr val="lt2"/>
            </a:solidFill>
            <a:ln w="14288">
              <a:solidFill>
                <a:srgbClr val="64748B"/>
              </a:solidFill>
            </a:ln>
          </p:spPr>
        </p:sp>
        <p:sp>
          <p:nvSpPr>
            <p:cNvPr id="18" name="TextBox 18"/>
            <p:cNvSpPr txBox="1"/>
            <p:nvPr/>
          </p:nvSpPr>
          <p:spPr>
            <a:xfrm>
              <a:off x="9106997" y="1575435"/>
              <a:ext cx="2360005" cy="234696"/>
            </a:xfrm>
            <a:prstGeom prst="rect">
              <a:avLst/>
            </a:prstGeom>
            <a:noFill/>
            <a:ln>
              <a:noFill/>
            </a:ln>
          </p:spPr>
          <p:txBody>
            <a:bodyPr wrap="none" lIns="0" tIns="0" rIns="0" bIns="0" anchor="t" anchorCtr="0">
              <a:spAutoFit/>
            </a:bodyPr>
            <a:lstStyle/>
            <a:p>
              <a:pPr algn="ctr"/>
              <a:r>
                <a:rPr lang="vi-VN" sz="1200" b="1" dirty="0">
                  <a:solidFill>
                    <a:srgbClr val="5B6675"/>
                  </a:solidFill>
                  <a:latin typeface="+mn-lt"/>
                  <a:ea typeface="+mn-ea"/>
                  <a:cs typeface="+mn-cs"/>
                </a:rPr>
                <a:t>GIỚI THIỆU, KHÔNG THỰC HÀNH</a:t>
              </a:r>
            </a:p>
          </p:txBody>
        </p:sp>
      </p:grpSp>
      <p:grpSp>
        <p:nvGrpSpPr>
          <p:cNvPr id="32" name="Group 32"/>
          <p:cNvGrpSpPr/>
          <p:nvPr/>
        </p:nvGrpSpPr>
        <p:grpSpPr>
          <a:xfrm>
            <a:off x="381000" y="2857500"/>
            <a:ext cx="3657600" cy="3143250"/>
            <a:chOff x="381000" y="2857500"/>
            <a:chExt cx="3657600" cy="3143250"/>
          </a:xfrm>
        </p:grpSpPr>
        <p:sp>
          <p:nvSpPr>
            <p:cNvPr id="20" name="Rectangle 20"/>
            <p:cNvSpPr/>
            <p:nvPr/>
          </p:nvSpPr>
          <p:spPr>
            <a:xfrm>
              <a:off x="381000" y="2857500"/>
              <a:ext cx="3657600" cy="3143250"/>
            </a:xfrm>
            <a:prstGeom prst="roundRect">
              <a:avLst>
                <a:gd name="adj" fmla="val 4848"/>
              </a:avLst>
            </a:prstGeom>
            <a:solidFill>
              <a:schemeClr val="lt1"/>
            </a:solidFill>
            <a:ln w="14288">
              <a:solidFill>
                <a:schemeClr val="accent4"/>
              </a:solidFill>
            </a:ln>
          </p:spPr>
        </p:sp>
        <p:sp>
          <p:nvSpPr>
            <p:cNvPr id="21" name="Rectangle 21"/>
            <p:cNvSpPr/>
            <p:nvPr/>
          </p:nvSpPr>
          <p:spPr>
            <a:xfrm>
              <a:off x="495300" y="2971800"/>
              <a:ext cx="3429000" cy="495300"/>
            </a:xfrm>
            <a:prstGeom prst="roundRect">
              <a:avLst>
                <a:gd name="adj" fmla="val 23077"/>
              </a:avLst>
            </a:prstGeom>
            <a:solidFill>
              <a:srgbClr val="64748B"/>
            </a:solidFill>
            <a:ln>
              <a:noFill/>
            </a:ln>
          </p:spPr>
        </p:sp>
        <p:grpSp>
          <p:nvGrpSpPr>
            <p:cNvPr id="25" name="Group 25"/>
            <p:cNvGrpSpPr/>
            <p:nvPr/>
          </p:nvGrpSpPr>
          <p:grpSpPr>
            <a:xfrm>
              <a:off x="685800" y="3143250"/>
              <a:ext cx="152400" cy="152400"/>
              <a:chOff x="685800" y="3143250"/>
              <a:chExt cx="152400" cy="152400"/>
            </a:xfrm>
          </p:grpSpPr>
          <p:sp>
            <p:nvSpPr>
              <p:cNvPr id="22" name="Freeform 22"/>
              <p:cNvSpPr/>
              <p:nvPr/>
            </p:nvSpPr>
            <p:spPr>
              <a:xfrm>
                <a:off x="685800" y="3181350"/>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23" name="Freeform 23"/>
              <p:cNvSpPr/>
              <p:nvPr/>
            </p:nvSpPr>
            <p:spPr>
              <a:xfrm>
                <a:off x="685800" y="3143250"/>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FFFFFF"/>
                </a:solidFill>
              </a:ln>
            </p:spPr>
          </p:sp>
          <p:sp>
            <p:nvSpPr>
              <p:cNvPr id="24" name="Freeform 24"/>
              <p:cNvSpPr/>
              <p:nvPr/>
            </p:nvSpPr>
            <p:spPr>
              <a:xfrm>
                <a:off x="723900" y="3143250"/>
                <a:ext cx="9525" cy="38100"/>
              </a:xfrm>
              <a:custGeom>
                <a:avLst/>
                <a:gdLst/>
                <a:ahLst/>
                <a:cxnLst/>
                <a:rect l="l" t="t" r="r" b="b"/>
                <a:pathLst>
                  <a:path w="9525" h="38100">
                    <a:moveTo>
                      <a:pt x="0" y="0"/>
                    </a:moveTo>
                    <a:lnTo>
                      <a:pt x="0" y="38100"/>
                    </a:lnTo>
                  </a:path>
                </a:pathLst>
              </a:custGeom>
              <a:noFill/>
              <a:ln w="19050">
                <a:solidFill>
                  <a:srgbClr val="FFFFFF"/>
                </a:solidFill>
              </a:ln>
            </p:spPr>
          </p:sp>
        </p:grpSp>
        <p:sp>
          <p:nvSpPr>
            <p:cNvPr id="26" name="TextBox 26"/>
            <p:cNvSpPr txBox="1"/>
            <p:nvPr/>
          </p:nvSpPr>
          <p:spPr>
            <a:xfrm>
              <a:off x="981456" y="3101340"/>
              <a:ext cx="232904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Browser extension</a:t>
              </a:r>
            </a:p>
          </p:txBody>
        </p:sp>
        <p:sp>
          <p:nvSpPr>
            <p:cNvPr id="27" name="TextBox 27"/>
            <p:cNvSpPr txBox="1"/>
            <p:nvPr/>
          </p:nvSpPr>
          <p:spPr>
            <a:xfrm>
              <a:off x="601980" y="3648075"/>
              <a:ext cx="26441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Thao tác trên trang web bạn</a:t>
              </a:r>
              <a:br/>
              <a:r>
                <a:rPr lang="vi-VN" sz="1500" dirty="0">
                  <a:solidFill>
                    <a:schemeClr val="dk1"/>
                  </a:solidFill>
                  <a:latin typeface="+mn-lt"/>
                  <a:ea typeface="+mn-ea"/>
                  <a:cs typeface="+mn-cs"/>
                </a:rPr>
                <a:t>đang đăng nhập sẵn</a:t>
              </a:r>
            </a:p>
          </p:txBody>
        </p:sp>
        <p:sp>
          <p:nvSpPr>
            <p:cNvPr id="28" name="TextBox 28"/>
            <p:cNvSpPr txBox="1"/>
            <p:nvPr/>
          </p:nvSpPr>
          <p:spPr>
            <a:xfrm>
              <a:off x="602742" y="4254818"/>
              <a:ext cx="3300472"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nhờ đồng nghiệp lướt web giúp</a:t>
              </a:r>
            </a:p>
          </p:txBody>
        </p:sp>
        <p:sp>
          <p:nvSpPr>
            <p:cNvPr id="29" name="Rectangle 29"/>
            <p:cNvSpPr/>
            <p:nvPr/>
          </p:nvSpPr>
          <p:spPr>
            <a:xfrm>
              <a:off x="609600" y="4591050"/>
              <a:ext cx="1771650" cy="285750"/>
            </a:xfrm>
            <a:prstGeom prst="roundRect">
              <a:avLst>
                <a:gd name="adj" fmla="val 50000"/>
              </a:avLst>
            </a:prstGeom>
            <a:solidFill>
              <a:srgbClr val="FCEBDD"/>
            </a:solidFill>
            <a:ln>
              <a:noFill/>
            </a:ln>
          </p:spPr>
        </p:sp>
        <p:sp>
          <p:nvSpPr>
            <p:cNvPr id="30" name="TextBox 30"/>
            <p:cNvSpPr txBox="1"/>
            <p:nvPr/>
          </p:nvSpPr>
          <p:spPr>
            <a:xfrm>
              <a:off x="755904" y="4661535"/>
              <a:ext cx="1527924" cy="234696"/>
            </a:xfrm>
            <a:prstGeom prst="rect">
              <a:avLst/>
            </a:prstGeom>
            <a:noFill/>
            <a:ln>
              <a:noFill/>
            </a:ln>
          </p:spPr>
          <p:txBody>
            <a:bodyPr wrap="none" lIns="0" tIns="0" rIns="0" bIns="0" anchor="t" anchorCtr="0">
              <a:spAutoFit/>
            </a:bodyPr>
            <a:lstStyle/>
            <a:p>
              <a:pPr algn="l"/>
              <a:r>
                <a:rPr lang="vi-VN" sz="1200" b="1" dirty="0">
                  <a:solidFill>
                    <a:schemeClr val="accent1"/>
                  </a:solidFill>
                  <a:latin typeface="+mn-lt"/>
                  <a:ea typeface="+mn-ea"/>
                  <a:cs typeface="+mn-cs"/>
                </a:rPr>
                <a:t>Rủi ro: trung bình</a:t>
              </a:r>
            </a:p>
          </p:txBody>
        </p:sp>
        <p:sp>
          <p:nvSpPr>
            <p:cNvPr id="31" name="TextBox 31"/>
            <p:cNvSpPr txBox="1"/>
            <p:nvPr/>
          </p:nvSpPr>
          <p:spPr>
            <a:xfrm>
              <a:off x="602742" y="5054918"/>
              <a:ext cx="303080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chỉ Allow once / Allow for site;</a:t>
              </a:r>
              <a:br/>
              <a:r>
                <a:rPr lang="vi-VN" sz="1350" dirty="0">
                  <a:solidFill>
                    <a:schemeClr val="dk1"/>
                  </a:solidFill>
                  <a:latin typeface="+mn-lt"/>
                  <a:ea typeface="+mn-ea"/>
                  <a:cs typeface="+mn-cs"/>
                </a:rPr>
                <a:t>trang web có thể cài lệnh ẩn</a:t>
              </a:r>
            </a:p>
          </p:txBody>
        </p:sp>
      </p:grpSp>
      <p:grpSp>
        <p:nvGrpSpPr>
          <p:cNvPr id="42" name="Group 42"/>
          <p:cNvGrpSpPr/>
          <p:nvPr/>
        </p:nvGrpSpPr>
        <p:grpSpPr>
          <a:xfrm>
            <a:off x="4267200" y="2495550"/>
            <a:ext cx="3657600" cy="3143250"/>
            <a:chOff x="4267200" y="2495550"/>
            <a:chExt cx="3657600" cy="3143250"/>
          </a:xfrm>
        </p:grpSpPr>
        <p:sp>
          <p:nvSpPr>
            <p:cNvPr id="33" name="Rectangle 33"/>
            <p:cNvSpPr/>
            <p:nvPr/>
          </p:nvSpPr>
          <p:spPr>
            <a:xfrm>
              <a:off x="4267200" y="2495550"/>
              <a:ext cx="3657600" cy="3143250"/>
            </a:xfrm>
            <a:prstGeom prst="roundRect">
              <a:avLst>
                <a:gd name="adj" fmla="val 4848"/>
              </a:avLst>
            </a:prstGeom>
            <a:solidFill>
              <a:schemeClr val="lt1"/>
            </a:solidFill>
            <a:ln w="14288">
              <a:solidFill>
                <a:schemeClr val="accent4"/>
              </a:solidFill>
            </a:ln>
          </p:spPr>
        </p:sp>
        <p:sp>
          <p:nvSpPr>
            <p:cNvPr id="34" name="Rectangle 34"/>
            <p:cNvSpPr/>
            <p:nvPr/>
          </p:nvSpPr>
          <p:spPr>
            <a:xfrm>
              <a:off x="4381500" y="2609850"/>
              <a:ext cx="3429000" cy="495300"/>
            </a:xfrm>
            <a:prstGeom prst="roundRect">
              <a:avLst>
                <a:gd name="adj" fmla="val 23077"/>
              </a:avLst>
            </a:prstGeom>
            <a:solidFill>
              <a:srgbClr val="64748B"/>
            </a:solidFill>
            <a:ln>
              <a:noFill/>
            </a:ln>
          </p:spPr>
        </p:sp>
        <p:sp>
          <p:nvSpPr>
            <p:cNvPr id="35" name="Freeform 35"/>
            <p:cNvSpPr/>
            <p:nvPr/>
          </p:nvSpPr>
          <p:spPr>
            <a:xfrm>
              <a:off x="4572000" y="2781300"/>
              <a:ext cx="152377" cy="152377"/>
            </a:xfrm>
            <a:custGeom>
              <a:avLst/>
              <a:gdLst/>
              <a:ahLst/>
              <a:cxnLst/>
              <a:rect l="l" t="t" r="r" b="b"/>
              <a:pathLst>
                <a:path w="152377" h="152377">
                  <a:moveTo>
                    <a:pt x="37186" y="129188"/>
                  </a:moveTo>
                  <a:cubicBezTo>
                    <a:pt x="38223" y="133848"/>
                    <a:pt x="42048" y="137373"/>
                    <a:pt x="46777" y="138026"/>
                  </a:cubicBezTo>
                  <a:cubicBezTo>
                    <a:pt x="51507" y="138680"/>
                    <a:pt x="56144" y="136325"/>
                    <a:pt x="58407" y="132121"/>
                  </a:cubicBezTo>
                  <a:lnTo>
                    <a:pt x="78315" y="102660"/>
                  </a:lnTo>
                  <a:lnTo>
                    <a:pt x="125054" y="149400"/>
                  </a:lnTo>
                  <a:cubicBezTo>
                    <a:pt x="126960" y="151306"/>
                    <a:pt x="129545" y="152377"/>
                    <a:pt x="132240" y="152377"/>
                  </a:cubicBezTo>
                  <a:cubicBezTo>
                    <a:pt x="134936" y="152377"/>
                    <a:pt x="137521" y="151306"/>
                    <a:pt x="139427" y="149400"/>
                  </a:cubicBezTo>
                  <a:lnTo>
                    <a:pt x="149400" y="139427"/>
                  </a:lnTo>
                  <a:cubicBezTo>
                    <a:pt x="151306" y="137521"/>
                    <a:pt x="152377" y="134936"/>
                    <a:pt x="152377" y="132240"/>
                  </a:cubicBezTo>
                  <a:cubicBezTo>
                    <a:pt x="152377" y="129545"/>
                    <a:pt x="151306" y="126960"/>
                    <a:pt x="149400" y="125054"/>
                  </a:cubicBezTo>
                  <a:lnTo>
                    <a:pt x="102660" y="78315"/>
                  </a:lnTo>
                  <a:lnTo>
                    <a:pt x="132312" y="58407"/>
                  </a:lnTo>
                  <a:cubicBezTo>
                    <a:pt x="136516" y="56143"/>
                    <a:pt x="138869" y="51504"/>
                    <a:pt x="138213" y="46774"/>
                  </a:cubicBezTo>
                  <a:cubicBezTo>
                    <a:pt x="137557" y="42044"/>
                    <a:pt x="134030" y="38220"/>
                    <a:pt x="129369" y="37186"/>
                  </a:cubicBezTo>
                  <a:lnTo>
                    <a:pt x="0" y="0"/>
                  </a:lnTo>
                  <a:lnTo>
                    <a:pt x="37186" y="129188"/>
                  </a:lnTo>
                </a:path>
              </a:pathLst>
            </a:custGeom>
            <a:noFill/>
            <a:ln w="19050">
              <a:solidFill>
                <a:srgbClr val="FFFFFF"/>
              </a:solidFill>
            </a:ln>
          </p:spPr>
        </p:sp>
        <p:sp>
          <p:nvSpPr>
            <p:cNvPr id="36" name="TextBox 36"/>
            <p:cNvSpPr txBox="1"/>
            <p:nvPr/>
          </p:nvSpPr>
          <p:spPr>
            <a:xfrm>
              <a:off x="4867656" y="2739390"/>
              <a:ext cx="169339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Computer use</a:t>
              </a:r>
            </a:p>
          </p:txBody>
        </p:sp>
        <p:sp>
          <p:nvSpPr>
            <p:cNvPr id="37" name="TextBox 37"/>
            <p:cNvSpPr txBox="1"/>
            <p:nvPr/>
          </p:nvSpPr>
          <p:spPr>
            <a:xfrm>
              <a:off x="4488180" y="3286125"/>
              <a:ext cx="25488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Nhìn màn hình, tự click, gõ</a:t>
              </a:r>
              <a:br/>
              <a:r>
                <a:rPr lang="vi-VN" sz="1500" dirty="0">
                  <a:solidFill>
                    <a:schemeClr val="dk1"/>
                  </a:solidFill>
                  <a:latin typeface="+mn-lt"/>
                  <a:ea typeface="+mn-ea"/>
                  <a:cs typeface="+mn-cs"/>
                </a:rPr>
                <a:t>trong phần mềm trên máy</a:t>
              </a:r>
            </a:p>
          </p:txBody>
        </p:sp>
        <p:sp>
          <p:nvSpPr>
            <p:cNvPr id="38" name="TextBox 38"/>
            <p:cNvSpPr txBox="1"/>
            <p:nvPr/>
          </p:nvSpPr>
          <p:spPr>
            <a:xfrm>
              <a:off x="4488942" y="3892868"/>
              <a:ext cx="2737371"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giao chuột và bàn phím</a:t>
              </a:r>
            </a:p>
          </p:txBody>
        </p:sp>
        <p:sp>
          <p:nvSpPr>
            <p:cNvPr id="39" name="Rectangle 39"/>
            <p:cNvSpPr/>
            <p:nvPr/>
          </p:nvSpPr>
          <p:spPr>
            <a:xfrm>
              <a:off x="4495800" y="4229100"/>
              <a:ext cx="1200150" cy="285750"/>
            </a:xfrm>
            <a:prstGeom prst="roundRect">
              <a:avLst>
                <a:gd name="adj" fmla="val 50000"/>
              </a:avLst>
            </a:prstGeom>
            <a:solidFill>
              <a:srgbClr val="F9E3E0"/>
            </a:solidFill>
            <a:ln>
              <a:noFill/>
            </a:ln>
          </p:spPr>
        </p:sp>
        <p:sp>
          <p:nvSpPr>
            <p:cNvPr id="40" name="TextBox 40"/>
            <p:cNvSpPr txBox="1"/>
            <p:nvPr/>
          </p:nvSpPr>
          <p:spPr>
            <a:xfrm>
              <a:off x="4642104" y="4299585"/>
              <a:ext cx="917545" cy="234696"/>
            </a:xfrm>
            <a:prstGeom prst="rect">
              <a:avLst/>
            </a:prstGeom>
            <a:noFill/>
            <a:ln>
              <a:noFill/>
            </a:ln>
          </p:spPr>
          <p:txBody>
            <a:bodyPr wrap="none" lIns="0" tIns="0" rIns="0" bIns="0" anchor="t" anchorCtr="0">
              <a:spAutoFit/>
            </a:bodyPr>
            <a:lstStyle/>
            <a:p>
              <a:pPr algn="l"/>
              <a:r>
                <a:rPr lang="vi-VN" sz="1200" b="1" dirty="0">
                  <a:solidFill>
                    <a:srgbClr val="C0392B"/>
                  </a:solidFill>
                  <a:latin typeface="+mn-lt"/>
                  <a:ea typeface="+mn-ea"/>
                  <a:cs typeface="+mn-cs"/>
                </a:rPr>
                <a:t>Rủi ro: cao</a:t>
              </a:r>
            </a:p>
          </p:txBody>
        </p:sp>
        <p:sp>
          <p:nvSpPr>
            <p:cNvPr id="41" name="TextBox 41"/>
            <p:cNvSpPr txBox="1"/>
            <p:nvPr/>
          </p:nvSpPr>
          <p:spPr>
            <a:xfrm>
              <a:off x="4488942" y="4692968"/>
              <a:ext cx="251645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đóng phần mềm nhạy cảm,</a:t>
              </a:r>
              <a:br/>
              <a:r>
                <a:rPr lang="vi-VN" sz="1350" dirty="0">
                  <a:solidFill>
                    <a:schemeClr val="dk1"/>
                  </a:solidFill>
                  <a:latin typeface="+mn-lt"/>
                  <a:ea typeface="+mn-ea"/>
                  <a:cs typeface="+mn-cs"/>
                </a:rPr>
                <a:t>không bấm Always allow</a:t>
              </a:r>
            </a:p>
          </p:txBody>
        </p:sp>
      </p:grpSp>
      <p:grpSp>
        <p:nvGrpSpPr>
          <p:cNvPr id="52" name="Group 52"/>
          <p:cNvGrpSpPr/>
          <p:nvPr/>
        </p:nvGrpSpPr>
        <p:grpSpPr>
          <a:xfrm>
            <a:off x="8153400" y="2114550"/>
            <a:ext cx="3657600" cy="3143250"/>
            <a:chOff x="8153400" y="2114550"/>
            <a:chExt cx="3657600" cy="3143250"/>
          </a:xfrm>
        </p:grpSpPr>
        <p:sp>
          <p:nvSpPr>
            <p:cNvPr id="43" name="Rectangle 43"/>
            <p:cNvSpPr/>
            <p:nvPr/>
          </p:nvSpPr>
          <p:spPr>
            <a:xfrm>
              <a:off x="8153400" y="2114550"/>
              <a:ext cx="3657600" cy="3143250"/>
            </a:xfrm>
            <a:prstGeom prst="roundRect">
              <a:avLst>
                <a:gd name="adj" fmla="val 4848"/>
              </a:avLst>
            </a:prstGeom>
            <a:solidFill>
              <a:schemeClr val="lt1"/>
            </a:solidFill>
            <a:ln w="14288">
              <a:solidFill>
                <a:srgbClr val="C0392B"/>
              </a:solidFill>
            </a:ln>
          </p:spPr>
        </p:sp>
        <p:sp>
          <p:nvSpPr>
            <p:cNvPr id="44" name="Rectangle 44"/>
            <p:cNvSpPr/>
            <p:nvPr/>
          </p:nvSpPr>
          <p:spPr>
            <a:xfrm>
              <a:off x="8267700" y="2228850"/>
              <a:ext cx="3429000" cy="495300"/>
            </a:xfrm>
            <a:prstGeom prst="roundRect">
              <a:avLst>
                <a:gd name="adj" fmla="val 23077"/>
              </a:avLst>
            </a:prstGeom>
            <a:solidFill>
              <a:srgbClr val="64748B"/>
            </a:solidFill>
            <a:ln>
              <a:noFill/>
            </a:ln>
          </p:spPr>
        </p:sp>
        <p:sp>
          <p:nvSpPr>
            <p:cNvPr id="45" name="Freeform 45"/>
            <p:cNvSpPr/>
            <p:nvPr/>
          </p:nvSpPr>
          <p:spPr>
            <a:xfrm>
              <a:off x="8439150" y="2406872"/>
              <a:ext cx="190500" cy="126816"/>
            </a:xfrm>
            <a:custGeom>
              <a:avLst/>
              <a:gdLst/>
              <a:ahLst/>
              <a:cxnLst/>
              <a:rect l="l" t="t" r="r" b="b"/>
              <a:pathLst>
                <a:path w="190500" h="126816">
                  <a:moveTo>
                    <a:pt x="44358" y="126778"/>
                  </a:moveTo>
                  <a:cubicBezTo>
                    <a:pt x="19860" y="126778"/>
                    <a:pt x="0" y="107661"/>
                    <a:pt x="0" y="84077"/>
                  </a:cubicBezTo>
                  <a:cubicBezTo>
                    <a:pt x="0" y="60503"/>
                    <a:pt x="19860" y="41386"/>
                    <a:pt x="44358" y="41386"/>
                  </a:cubicBezTo>
                  <a:cubicBezTo>
                    <a:pt x="48101" y="24603"/>
                    <a:pt x="61446" y="10906"/>
                    <a:pt x="79362" y="5448"/>
                  </a:cubicBezTo>
                  <a:cubicBezTo>
                    <a:pt x="97269" y="0"/>
                    <a:pt x="117043" y="3610"/>
                    <a:pt x="131216" y="14973"/>
                  </a:cubicBezTo>
                  <a:cubicBezTo>
                    <a:pt x="145390" y="26308"/>
                    <a:pt x="151809" y="43615"/>
                    <a:pt x="148076" y="60398"/>
                  </a:cubicBezTo>
                  <a:lnTo>
                    <a:pt x="157505" y="60398"/>
                  </a:lnTo>
                  <a:cubicBezTo>
                    <a:pt x="175727" y="60398"/>
                    <a:pt x="190500" y="75257"/>
                    <a:pt x="190500" y="93602"/>
                  </a:cubicBezTo>
                  <a:cubicBezTo>
                    <a:pt x="190500" y="111957"/>
                    <a:pt x="175727" y="126816"/>
                    <a:pt x="157496" y="126816"/>
                  </a:cubicBezTo>
                  <a:lnTo>
                    <a:pt x="44358" y="126816"/>
                  </a:lnTo>
                </a:path>
              </a:pathLst>
            </a:custGeom>
            <a:noFill/>
            <a:ln w="19050">
              <a:solidFill>
                <a:srgbClr val="FFFFFF"/>
              </a:solidFill>
            </a:ln>
          </p:spPr>
        </p:sp>
        <p:sp>
          <p:nvSpPr>
            <p:cNvPr id="46" name="TextBox 46"/>
            <p:cNvSpPr txBox="1"/>
            <p:nvPr/>
          </p:nvSpPr>
          <p:spPr>
            <a:xfrm>
              <a:off x="8753856" y="2358390"/>
              <a:ext cx="58595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Dots</a:t>
              </a:r>
            </a:p>
          </p:txBody>
        </p:sp>
        <p:sp>
          <p:nvSpPr>
            <p:cNvPr id="47" name="TextBox 47"/>
            <p:cNvSpPr txBox="1"/>
            <p:nvPr/>
          </p:nvSpPr>
          <p:spPr>
            <a:xfrm>
              <a:off x="8374380" y="2905125"/>
              <a:ext cx="270129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Agent luôn bật trên máy tính</a:t>
              </a:r>
              <a:br/>
              <a:r>
                <a:rPr lang="vi-VN" sz="1500" dirty="0">
                  <a:solidFill>
                    <a:schemeClr val="dk1"/>
                  </a:solidFill>
                  <a:latin typeface="+mn-lt"/>
                  <a:ea typeface="+mn-ea"/>
                  <a:cs typeface="+mn-cs"/>
                </a:rPr>
                <a:t>đám mây riêng, theo dõi việc</a:t>
              </a:r>
              <a:br/>
              <a:r>
                <a:rPr lang="vi-VN" sz="1500" dirty="0">
                  <a:solidFill>
                    <a:schemeClr val="dk1"/>
                  </a:solidFill>
                  <a:latin typeface="+mn-lt"/>
                  <a:ea typeface="+mn-ea"/>
                  <a:cs typeface="+mn-cs"/>
                </a:rPr>
                <a:t>nhiều ngày</a:t>
              </a:r>
            </a:p>
          </p:txBody>
        </p:sp>
        <p:sp>
          <p:nvSpPr>
            <p:cNvPr id="48" name="TextBox 48"/>
            <p:cNvSpPr txBox="1"/>
            <p:nvPr/>
          </p:nvSpPr>
          <p:spPr>
            <a:xfrm>
              <a:off x="8375142" y="3740468"/>
              <a:ext cx="3364204"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trợ lý làm việc cả khi bạn vắng</a:t>
              </a:r>
            </a:p>
          </p:txBody>
        </p:sp>
        <p:sp>
          <p:nvSpPr>
            <p:cNvPr id="49" name="Rectangle 49"/>
            <p:cNvSpPr/>
            <p:nvPr/>
          </p:nvSpPr>
          <p:spPr>
            <a:xfrm>
              <a:off x="8382000" y="4076700"/>
              <a:ext cx="1581150" cy="285750"/>
            </a:xfrm>
            <a:prstGeom prst="roundRect">
              <a:avLst>
                <a:gd name="adj" fmla="val 50000"/>
              </a:avLst>
            </a:prstGeom>
            <a:solidFill>
              <a:srgbClr val="C0392B"/>
            </a:solidFill>
            <a:ln>
              <a:noFill/>
            </a:ln>
          </p:spPr>
        </p:sp>
        <p:sp>
          <p:nvSpPr>
            <p:cNvPr id="50" name="TextBox 50"/>
            <p:cNvSpPr txBox="1"/>
            <p:nvPr/>
          </p:nvSpPr>
          <p:spPr>
            <a:xfrm>
              <a:off x="8528304" y="4147185"/>
              <a:ext cx="1341478" cy="234696"/>
            </a:xfrm>
            <a:prstGeom prst="rect">
              <a:avLst/>
            </a:prstGeom>
            <a:noFill/>
            <a:ln>
              <a:noFill/>
            </a:ln>
          </p:spPr>
          <p:txBody>
            <a:bodyPr wrap="none" lIns="0" tIns="0" rIns="0" bIns="0" anchor="t" anchorCtr="0">
              <a:spAutoFit/>
            </a:bodyPr>
            <a:lstStyle/>
            <a:p>
              <a:pPr algn="l"/>
              <a:r>
                <a:rPr lang="vi-VN" sz="1200" b="1" dirty="0">
                  <a:solidFill>
                    <a:srgbClr val="FFFFFF"/>
                  </a:solidFill>
                  <a:latin typeface="+mn-lt"/>
                  <a:ea typeface="+mn-ea"/>
                  <a:cs typeface="+mn-cs"/>
                </a:rPr>
                <a:t>Rủi ro: cao nhất</a:t>
              </a:r>
            </a:p>
          </p:txBody>
        </p:sp>
        <p:sp>
          <p:nvSpPr>
            <p:cNvPr id="51" name="TextBox 51"/>
            <p:cNvSpPr txBox="1"/>
            <p:nvPr/>
          </p:nvSpPr>
          <p:spPr>
            <a:xfrm>
              <a:off x="8375142" y="4540568"/>
              <a:ext cx="2602182"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đặt luật “cho tôi xem nháp</a:t>
              </a:r>
              <a:br/>
              <a:r>
                <a:rPr lang="vi-VN" sz="1350" dirty="0">
                  <a:solidFill>
                    <a:schemeClr val="dk1"/>
                  </a:solidFill>
                  <a:latin typeface="+mn-lt"/>
                  <a:ea typeface="+mn-ea"/>
                  <a:cs typeface="+mn-cs"/>
                </a:rPr>
                <a:t>trước khi gửi”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181777" cy="234696"/>
            <a:chOff x="381000" y="346710"/>
            <a:chExt cx="3181777" cy="234696"/>
          </a:xfrm>
        </p:grpSpPr>
        <p:sp>
          <p:nvSpPr>
            <p:cNvPr id="2" name="Rectangle 2"/>
            <p:cNvSpPr/>
            <p:nvPr/>
          </p:nvSpPr>
          <p:spPr>
            <a:xfrm>
              <a:off x="381000" y="361950"/>
              <a:ext cx="114300" cy="114300"/>
            </a:xfrm>
            <a:prstGeom prst="roundRect">
              <a:avLst>
                <a:gd name="adj" fmla="val 25000"/>
              </a:avLst>
            </a:prstGeom>
            <a:solidFill>
              <a:schemeClr val="accent2"/>
            </a:solidFill>
            <a:ln>
              <a:noFill/>
            </a:ln>
          </p:spPr>
        </p:sp>
        <p:sp>
          <p:nvSpPr>
            <p:cNvPr id="3" name="TextBox 3"/>
            <p:cNvSpPr txBox="1"/>
            <p:nvPr/>
          </p:nvSpPr>
          <p:spPr>
            <a:xfrm>
              <a:off x="584454" y="346710"/>
              <a:ext cx="2978323"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NGUYÊN TẮC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Nâng cao</a:t>
              </a:r>
            </a:p>
          </p:txBody>
        </p:sp>
      </p:grpSp>
      <p:sp>
        <p:nvSpPr>
          <p:cNvPr id="16" name="TextBox 16"/>
          <p:cNvSpPr txBox="1"/>
          <p:nvPr/>
        </p:nvSpPr>
        <p:spPr>
          <a:xfrm>
            <a:off x="364998" y="879158"/>
            <a:ext cx="656382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Sáu nguyên tắc đi cùng mọi buổi,</a:t>
            </a:r>
            <a:br/>
            <a:r>
              <a:rPr lang="vi-VN" sz="3150" b="1" dirty="0">
                <a:solidFill>
                  <a:schemeClr val="accent1"/>
                </a:solidFill>
                <a:latin typeface="+mn-lt"/>
                <a:ea typeface="+mn-ea"/>
                <a:cs typeface="+mn-cs"/>
              </a:rPr>
              <a:t>dù dùng công cụ nào</a:t>
            </a:r>
          </a:p>
        </p:txBody>
      </p:sp>
      <p:grpSp>
        <p:nvGrpSpPr>
          <p:cNvPr id="21" name="Group 21"/>
          <p:cNvGrpSpPr/>
          <p:nvPr/>
        </p:nvGrpSpPr>
        <p:grpSpPr>
          <a:xfrm>
            <a:off x="419100" y="2190750"/>
            <a:ext cx="4189095" cy="1026795"/>
            <a:chOff x="419100" y="2190750"/>
            <a:chExt cx="4189095" cy="1026795"/>
          </a:xfrm>
        </p:grpSpPr>
        <p:sp>
          <p:nvSpPr>
            <p:cNvPr id="17" name="Ellipse 17"/>
            <p:cNvSpPr/>
            <p:nvPr/>
          </p:nvSpPr>
          <p:spPr>
            <a:xfrm>
              <a:off x="419100" y="2190750"/>
              <a:ext cx="495300" cy="495300"/>
            </a:xfrm>
            <a:prstGeom prst="ellipse">
              <a:avLst/>
            </a:prstGeom>
            <a:solidFill>
              <a:schemeClr val="accent2"/>
            </a:solidFill>
            <a:ln>
              <a:noFill/>
            </a:ln>
          </p:spPr>
        </p:sp>
        <p:sp>
          <p:nvSpPr>
            <p:cNvPr id="18" name="TextBox 18"/>
            <p:cNvSpPr txBox="1"/>
            <p:nvPr/>
          </p:nvSpPr>
          <p:spPr>
            <a:xfrm>
              <a:off x="5810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1</a:t>
              </a:r>
            </a:p>
          </p:txBody>
        </p:sp>
        <p:sp>
          <p:nvSpPr>
            <p:cNvPr id="19" name="TextBox 19"/>
            <p:cNvSpPr txBox="1"/>
            <p:nvPr/>
          </p:nvSpPr>
          <p:spPr>
            <a:xfrm>
              <a:off x="1094994" y="2323148"/>
              <a:ext cx="132446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Chống bịa</a:t>
              </a:r>
            </a:p>
          </p:txBody>
        </p:sp>
        <p:sp>
          <p:nvSpPr>
            <p:cNvPr id="20" name="TextBox 20"/>
            <p:cNvSpPr txBox="1"/>
            <p:nvPr/>
          </p:nvSpPr>
          <p:spPr>
            <a:xfrm>
              <a:off x="1097280" y="2676525"/>
              <a:ext cx="3510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Chỉ dùng dữ liệu được cấp; gắn nhãn</a:t>
              </a:r>
              <a:br/>
              <a:r>
                <a:rPr lang="vi-VN" sz="1500" dirty="0">
                  <a:solidFill>
                    <a:schemeClr val="dk1"/>
                  </a:solidFill>
                  <a:latin typeface="Consolas"/>
                  <a:ea typeface="Consolas"/>
                  <a:cs typeface="Consolas"/>
                </a:rPr>
                <a:t>[DATA THẬT] / [SUY LUẬN] / [CẦN ĐIỀN]</a:t>
              </a:r>
            </a:p>
          </p:txBody>
        </p:sp>
      </p:grpSp>
      <p:grpSp>
        <p:nvGrpSpPr>
          <p:cNvPr id="26" name="Group 26"/>
          <p:cNvGrpSpPr/>
          <p:nvPr/>
        </p:nvGrpSpPr>
        <p:grpSpPr>
          <a:xfrm>
            <a:off x="6324600" y="2190750"/>
            <a:ext cx="3970020" cy="1026795"/>
            <a:chOff x="6324600" y="2190750"/>
            <a:chExt cx="3970020" cy="1026795"/>
          </a:xfrm>
        </p:grpSpPr>
        <p:sp>
          <p:nvSpPr>
            <p:cNvPr id="22" name="Ellipse 22"/>
            <p:cNvSpPr/>
            <p:nvPr/>
          </p:nvSpPr>
          <p:spPr>
            <a:xfrm>
              <a:off x="6324600" y="2190750"/>
              <a:ext cx="495300" cy="495300"/>
            </a:xfrm>
            <a:prstGeom prst="ellipse">
              <a:avLst/>
            </a:prstGeom>
            <a:solidFill>
              <a:schemeClr val="accent2"/>
            </a:solidFill>
            <a:ln>
              <a:noFill/>
            </a:ln>
          </p:spPr>
        </p:sp>
        <p:sp>
          <p:nvSpPr>
            <p:cNvPr id="23" name="TextBox 23"/>
            <p:cNvSpPr txBox="1"/>
            <p:nvPr/>
          </p:nvSpPr>
          <p:spPr>
            <a:xfrm>
              <a:off x="64865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2</a:t>
              </a:r>
            </a:p>
          </p:txBody>
        </p:sp>
        <p:sp>
          <p:nvSpPr>
            <p:cNvPr id="24" name="TextBox 24"/>
            <p:cNvSpPr txBox="1"/>
            <p:nvPr/>
          </p:nvSpPr>
          <p:spPr>
            <a:xfrm>
              <a:off x="7000494" y="2323148"/>
              <a:ext cx="2178453"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Người duyệt cuối</a:t>
              </a:r>
            </a:p>
          </p:txBody>
        </p:sp>
        <p:sp>
          <p:nvSpPr>
            <p:cNvPr id="25" name="TextBox 25"/>
            <p:cNvSpPr txBox="1"/>
            <p:nvPr/>
          </p:nvSpPr>
          <p:spPr>
            <a:xfrm>
              <a:off x="7002780" y="2676525"/>
              <a:ext cx="32918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AI làm nháp; người ký, người bấm gửi</a:t>
              </a:r>
              <a:br/>
              <a:r>
                <a:rPr lang="vi-VN" sz="1500" dirty="0">
                  <a:solidFill>
                    <a:schemeClr val="dk1"/>
                  </a:solidFill>
                  <a:latin typeface="+mn-lt"/>
                  <a:ea typeface="+mn-ea"/>
                  <a:cs typeface="+mn-cs"/>
                </a:rPr>
                <a:t>chịu trách nhiệm</a:t>
              </a:r>
            </a:p>
          </p:txBody>
        </p:sp>
      </p:grpSp>
      <p:sp>
        <p:nvSpPr>
          <p:cNvPr id="27" name="Line 27"/>
          <p:cNvSpPr/>
          <p:nvPr/>
        </p:nvSpPr>
        <p:spPr>
          <a:xfrm>
            <a:off x="381000" y="3390900"/>
            <a:ext cx="11430000" cy="9525"/>
          </a:xfrm>
          <a:custGeom>
            <a:avLst/>
            <a:gdLst/>
            <a:ahLst/>
            <a:cxnLst/>
            <a:rect l="l" t="t" r="r" b="b"/>
            <a:pathLst>
              <a:path w="11430000" h="9525">
                <a:moveTo>
                  <a:pt x="0" y="0"/>
                </a:moveTo>
                <a:lnTo>
                  <a:pt x="11430000" y="0"/>
                </a:lnTo>
              </a:path>
            </a:pathLst>
          </a:custGeom>
          <a:noFill/>
          <a:ln w="9525">
            <a:solidFill>
              <a:schemeClr val="accent4"/>
            </a:solidFill>
          </a:ln>
        </p:spPr>
      </p:sp>
      <p:grpSp>
        <p:nvGrpSpPr>
          <p:cNvPr id="32" name="Group 32"/>
          <p:cNvGrpSpPr/>
          <p:nvPr/>
        </p:nvGrpSpPr>
        <p:grpSpPr>
          <a:xfrm>
            <a:off x="419100" y="3486150"/>
            <a:ext cx="3769995" cy="1026795"/>
            <a:chOff x="419100" y="3486150"/>
            <a:chExt cx="3769995" cy="1026795"/>
          </a:xfrm>
        </p:grpSpPr>
        <p:sp>
          <p:nvSpPr>
            <p:cNvPr id="28" name="Ellipse 28"/>
            <p:cNvSpPr/>
            <p:nvPr/>
          </p:nvSpPr>
          <p:spPr>
            <a:xfrm>
              <a:off x="419100" y="3486150"/>
              <a:ext cx="495300" cy="495300"/>
            </a:xfrm>
            <a:prstGeom prst="ellipse">
              <a:avLst/>
            </a:prstGeom>
            <a:solidFill>
              <a:schemeClr val="accent2"/>
            </a:solidFill>
            <a:ln>
              <a:noFill/>
            </a:ln>
          </p:spPr>
        </p:sp>
        <p:sp>
          <p:nvSpPr>
            <p:cNvPr id="29" name="TextBox 29"/>
            <p:cNvSpPr txBox="1"/>
            <p:nvPr/>
          </p:nvSpPr>
          <p:spPr>
            <a:xfrm>
              <a:off x="5810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3</a:t>
              </a:r>
            </a:p>
          </p:txBody>
        </p:sp>
        <p:sp>
          <p:nvSpPr>
            <p:cNvPr id="30" name="TextBox 30"/>
            <p:cNvSpPr txBox="1"/>
            <p:nvPr/>
          </p:nvSpPr>
          <p:spPr>
            <a:xfrm>
              <a:off x="1094994" y="3618548"/>
              <a:ext cx="107710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Bảo mật</a:t>
              </a:r>
            </a:p>
          </p:txBody>
        </p:sp>
        <p:sp>
          <p:nvSpPr>
            <p:cNvPr id="31" name="TextBox 31"/>
            <p:cNvSpPr txBox="1"/>
            <p:nvPr/>
          </p:nvSpPr>
          <p:spPr>
            <a:xfrm>
              <a:off x="1097280" y="3971925"/>
              <a:ext cx="3091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Không dán 5 loại dữ liệu nhạy cảm;</a:t>
              </a:r>
              <a:br/>
              <a:r>
                <a:rPr lang="vi-VN" sz="1500" dirty="0">
                  <a:solidFill>
                    <a:schemeClr val="dk1"/>
                  </a:solidFill>
                  <a:latin typeface="+mn-lt"/>
                  <a:ea typeface="+mn-ea"/>
                  <a:cs typeface="+mn-cs"/>
                </a:rPr>
                <a:t>thay tên thật bằng tên chung</a:t>
              </a:r>
            </a:p>
          </p:txBody>
        </p:sp>
      </p:grpSp>
      <p:grpSp>
        <p:nvGrpSpPr>
          <p:cNvPr id="37" name="Group 37"/>
          <p:cNvGrpSpPr/>
          <p:nvPr/>
        </p:nvGrpSpPr>
        <p:grpSpPr>
          <a:xfrm>
            <a:off x="6324600" y="3486150"/>
            <a:ext cx="4417695" cy="1026795"/>
            <a:chOff x="6324600" y="3486150"/>
            <a:chExt cx="4417695" cy="1026795"/>
          </a:xfrm>
        </p:grpSpPr>
        <p:sp>
          <p:nvSpPr>
            <p:cNvPr id="33" name="Ellipse 33"/>
            <p:cNvSpPr/>
            <p:nvPr/>
          </p:nvSpPr>
          <p:spPr>
            <a:xfrm>
              <a:off x="6324600" y="3486150"/>
              <a:ext cx="495300" cy="495300"/>
            </a:xfrm>
            <a:prstGeom prst="ellipse">
              <a:avLst/>
            </a:prstGeom>
            <a:solidFill>
              <a:schemeClr val="accent2"/>
            </a:solidFill>
            <a:ln>
              <a:noFill/>
            </a:ln>
          </p:spPr>
        </p:sp>
        <p:sp>
          <p:nvSpPr>
            <p:cNvPr id="34" name="TextBox 34"/>
            <p:cNvSpPr txBox="1"/>
            <p:nvPr/>
          </p:nvSpPr>
          <p:spPr>
            <a:xfrm>
              <a:off x="64865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4</a:t>
              </a:r>
            </a:p>
          </p:txBody>
        </p:sp>
        <p:sp>
          <p:nvSpPr>
            <p:cNvPr id="35" name="TextBox 35"/>
            <p:cNvSpPr txBox="1"/>
            <p:nvPr/>
          </p:nvSpPr>
          <p:spPr>
            <a:xfrm>
              <a:off x="7000494" y="3618548"/>
              <a:ext cx="146212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Kiểm chứng</a:t>
              </a:r>
            </a:p>
          </p:txBody>
        </p:sp>
        <p:sp>
          <p:nvSpPr>
            <p:cNvPr id="36" name="TextBox 36"/>
            <p:cNvSpPr txBox="1"/>
            <p:nvPr/>
          </p:nvSpPr>
          <p:spPr>
            <a:xfrm>
              <a:off x="7002780" y="3971925"/>
              <a:ext cx="37395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Đối chiếu số liệu, ngày tháng, tên riêng,</a:t>
              </a:r>
              <a:br/>
              <a:r>
                <a:rPr lang="vi-VN" sz="1500" dirty="0">
                  <a:solidFill>
                    <a:schemeClr val="dk1"/>
                  </a:solidFill>
                  <a:latin typeface="+mn-lt"/>
                  <a:ea typeface="+mn-ea"/>
                  <a:cs typeface="+mn-cs"/>
                </a:rPr>
                <a:t>trích dẫn với nguồn</a:t>
              </a:r>
            </a:p>
          </p:txBody>
        </p:sp>
      </p:grpSp>
      <p:sp>
        <p:nvSpPr>
          <p:cNvPr id="38" name="Line 38"/>
          <p:cNvSpPr/>
          <p:nvPr/>
        </p:nvSpPr>
        <p:spPr>
          <a:xfrm>
            <a:off x="381000" y="4686300"/>
            <a:ext cx="11430000" cy="9525"/>
          </a:xfrm>
          <a:custGeom>
            <a:avLst/>
            <a:gdLst/>
            <a:ahLst/>
            <a:cxnLst/>
            <a:rect l="l" t="t" r="r" b="b"/>
            <a:pathLst>
              <a:path w="11430000" h="9525">
                <a:moveTo>
                  <a:pt x="0" y="0"/>
                </a:moveTo>
                <a:lnTo>
                  <a:pt x="11430000" y="0"/>
                </a:lnTo>
              </a:path>
            </a:pathLst>
          </a:custGeom>
          <a:noFill/>
          <a:ln w="9525">
            <a:solidFill>
              <a:schemeClr val="accent4"/>
            </a:solidFill>
          </a:ln>
        </p:spPr>
      </p:sp>
      <p:grpSp>
        <p:nvGrpSpPr>
          <p:cNvPr id="43" name="Group 43"/>
          <p:cNvGrpSpPr/>
          <p:nvPr/>
        </p:nvGrpSpPr>
        <p:grpSpPr>
          <a:xfrm>
            <a:off x="419100" y="4781550"/>
            <a:ext cx="3158110" cy="1026795"/>
            <a:chOff x="419100" y="4781550"/>
            <a:chExt cx="3158110" cy="1026795"/>
          </a:xfrm>
        </p:grpSpPr>
        <p:sp>
          <p:nvSpPr>
            <p:cNvPr id="39" name="Ellipse 39"/>
            <p:cNvSpPr/>
            <p:nvPr/>
          </p:nvSpPr>
          <p:spPr>
            <a:xfrm>
              <a:off x="419100" y="4781550"/>
              <a:ext cx="495300" cy="495300"/>
            </a:xfrm>
            <a:prstGeom prst="ellipse">
              <a:avLst/>
            </a:prstGeom>
            <a:solidFill>
              <a:schemeClr val="accent2"/>
            </a:solidFill>
            <a:ln>
              <a:noFill/>
            </a:ln>
          </p:spPr>
        </p:sp>
        <p:sp>
          <p:nvSpPr>
            <p:cNvPr id="40" name="TextBox 40"/>
            <p:cNvSpPr txBox="1"/>
            <p:nvPr/>
          </p:nvSpPr>
          <p:spPr>
            <a:xfrm>
              <a:off x="5810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5</a:t>
              </a:r>
            </a:p>
          </p:txBody>
        </p:sp>
        <p:sp>
          <p:nvSpPr>
            <p:cNvPr id="41" name="TextBox 41"/>
            <p:cNvSpPr txBox="1"/>
            <p:nvPr/>
          </p:nvSpPr>
          <p:spPr>
            <a:xfrm>
              <a:off x="1094994" y="4913948"/>
              <a:ext cx="248221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Tiêu chuẩn bằng số</a:t>
              </a:r>
            </a:p>
          </p:txBody>
        </p:sp>
        <p:sp>
          <p:nvSpPr>
            <p:cNvPr id="42" name="TextBox 42"/>
            <p:cNvSpPr txBox="1"/>
            <p:nvPr/>
          </p:nvSpPr>
          <p:spPr>
            <a:xfrm>
              <a:off x="1097280" y="5267325"/>
              <a:ext cx="24060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Viết bằng số hoặc hành vi,</a:t>
              </a:r>
              <a:br/>
              <a:r>
                <a:rPr lang="vi-VN" sz="1500" dirty="0">
                  <a:solidFill>
                    <a:schemeClr val="dk1"/>
                  </a:solidFill>
                  <a:latin typeface="+mn-lt"/>
                  <a:ea typeface="+mn-ea"/>
                  <a:cs typeface="+mn-cs"/>
                </a:rPr>
                <a:t>không bằng tính từ</a:t>
              </a:r>
            </a:p>
          </p:txBody>
        </p:sp>
      </p:grpSp>
      <p:grpSp>
        <p:nvGrpSpPr>
          <p:cNvPr id="48" name="Group 48"/>
          <p:cNvGrpSpPr/>
          <p:nvPr/>
        </p:nvGrpSpPr>
        <p:grpSpPr>
          <a:xfrm>
            <a:off x="6324600" y="4781550"/>
            <a:ext cx="3626619" cy="1026795"/>
            <a:chOff x="6324600" y="4781550"/>
            <a:chExt cx="3626619" cy="1026795"/>
          </a:xfrm>
        </p:grpSpPr>
        <p:sp>
          <p:nvSpPr>
            <p:cNvPr id="44" name="Ellipse 44"/>
            <p:cNvSpPr/>
            <p:nvPr/>
          </p:nvSpPr>
          <p:spPr>
            <a:xfrm>
              <a:off x="6324600" y="4781550"/>
              <a:ext cx="495300" cy="495300"/>
            </a:xfrm>
            <a:prstGeom prst="ellipse">
              <a:avLst/>
            </a:prstGeom>
            <a:solidFill>
              <a:schemeClr val="accent2"/>
            </a:solidFill>
            <a:ln>
              <a:noFill/>
            </a:ln>
          </p:spPr>
        </p:sp>
        <p:sp>
          <p:nvSpPr>
            <p:cNvPr id="45" name="TextBox 45"/>
            <p:cNvSpPr txBox="1"/>
            <p:nvPr/>
          </p:nvSpPr>
          <p:spPr>
            <a:xfrm>
              <a:off x="64865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6</a:t>
              </a:r>
            </a:p>
          </p:txBody>
        </p:sp>
        <p:sp>
          <p:nvSpPr>
            <p:cNvPr id="46" name="TextBox 46"/>
            <p:cNvSpPr txBox="1"/>
            <p:nvPr/>
          </p:nvSpPr>
          <p:spPr>
            <a:xfrm>
              <a:off x="7000494" y="4913948"/>
              <a:ext cx="295072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Lưu kết quả thành file</a:t>
              </a:r>
            </a:p>
          </p:txBody>
        </p:sp>
        <p:sp>
          <p:nvSpPr>
            <p:cNvPr id="47" name="TextBox 47"/>
            <p:cNvSpPr txBox="1"/>
            <p:nvPr/>
          </p:nvSpPr>
          <p:spPr>
            <a:xfrm>
              <a:off x="7002780" y="5267325"/>
              <a:ext cx="25679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Đầu ra buổi trước là đầu vào</a:t>
              </a:r>
              <a:br/>
              <a:r>
                <a:rPr lang="vi-VN" sz="1500" dirty="0">
                  <a:solidFill>
                    <a:schemeClr val="dk1"/>
                  </a:solidFill>
                  <a:latin typeface="+mn-lt"/>
                  <a:ea typeface="+mn-ea"/>
                  <a:cs typeface="+mn-cs"/>
                </a:rPr>
                <a:t>buổi sau</a:t>
              </a:r>
            </a:p>
          </p:txBody>
        </p:sp>
      </p:grpSp>
      <p:sp>
        <p:nvSpPr>
          <p:cNvPr id="49" name="TextBox 4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2857500" y="2857500"/>
            <a:ext cx="8001000" cy="8001000"/>
          </a:xfrm>
          <a:prstGeom prst="ellipse">
            <a:avLst/>
          </a:prstGeom>
          <a:solidFill>
            <a:schemeClr val="lt2"/>
          </a:solidFill>
          <a:ln>
            <a:noFill/>
          </a:ln>
        </p:spPr>
      </p:sp>
      <p:grpSp>
        <p:nvGrpSpPr>
          <p:cNvPr id="5" name="Group 5"/>
          <p:cNvGrpSpPr/>
          <p:nvPr/>
        </p:nvGrpSpPr>
        <p:grpSpPr>
          <a:xfrm>
            <a:off x="381000" y="346710"/>
            <a:ext cx="2723764" cy="234696"/>
            <a:chOff x="381000" y="346710"/>
            <a:chExt cx="2723764" cy="234696"/>
          </a:xfrm>
        </p:grpSpPr>
        <p:sp>
          <p:nvSpPr>
            <p:cNvPr id="3" name="Rectangle 3"/>
            <p:cNvSpPr/>
            <p:nvPr/>
          </p:nvSpPr>
          <p:spPr>
            <a:xfrm>
              <a:off x="381000" y="361950"/>
              <a:ext cx="114300" cy="114300"/>
            </a:xfrm>
            <a:prstGeom prst="roundRect">
              <a:avLst>
                <a:gd name="adj" fmla="val 25000"/>
              </a:avLst>
            </a:prstGeom>
            <a:solidFill>
              <a:schemeClr val="accent2"/>
            </a:solidFill>
            <a:ln>
              <a:noFill/>
            </a:ln>
          </p:spPr>
        </p:sp>
        <p:sp>
          <p:nvSpPr>
            <p:cNvPr id="4" name="TextBox 4"/>
            <p:cNvSpPr txBox="1"/>
            <p:nvPr/>
          </p:nvSpPr>
          <p:spPr>
            <a:xfrm>
              <a:off x="584454" y="346710"/>
              <a:ext cx="2520310"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TỔNG KẾT LỘ TRÌNH</a:t>
              </a:r>
            </a:p>
          </p:txBody>
        </p:sp>
      </p:grpSp>
      <p:grpSp>
        <p:nvGrpSpPr>
          <p:cNvPr id="16" name="Group 16"/>
          <p:cNvGrpSpPr/>
          <p:nvPr/>
        </p:nvGrpSpPr>
        <p:grpSpPr>
          <a:xfrm>
            <a:off x="5785104" y="190500"/>
            <a:ext cx="6025896" cy="543306"/>
            <a:chOff x="5785104" y="190500"/>
            <a:chExt cx="6025896" cy="543306"/>
          </a:xfrm>
        </p:grpSpPr>
        <p:sp>
          <p:nvSpPr>
            <p:cNvPr id="6" name="Rectangle 6"/>
            <p:cNvSpPr/>
            <p:nvPr/>
          </p:nvSpPr>
          <p:spPr>
            <a:xfrm>
              <a:off x="5791200" y="342900"/>
              <a:ext cx="1143000" cy="76200"/>
            </a:xfrm>
            <a:prstGeom prst="roundRect">
              <a:avLst>
                <a:gd name="adj" fmla="val 37500"/>
              </a:avLst>
            </a:prstGeom>
            <a:solidFill>
              <a:schemeClr val="accent5"/>
            </a:solidFill>
            <a:ln>
              <a:noFill/>
            </a:ln>
          </p:spPr>
        </p:sp>
        <p:sp>
          <p:nvSpPr>
            <p:cNvPr id="7" name="Rectangle 7"/>
            <p:cNvSpPr/>
            <p:nvPr/>
          </p:nvSpPr>
          <p:spPr>
            <a:xfrm>
              <a:off x="7010400" y="304800"/>
              <a:ext cx="1143000" cy="114300"/>
            </a:xfrm>
            <a:prstGeom prst="roundRect">
              <a:avLst>
                <a:gd name="adj" fmla="val 25000"/>
              </a:avLst>
            </a:prstGeom>
            <a:solidFill>
              <a:schemeClr val="accent3"/>
            </a:solidFill>
            <a:ln>
              <a:noFill/>
            </a:ln>
          </p:spPr>
        </p:sp>
        <p:sp>
          <p:nvSpPr>
            <p:cNvPr id="8" name="Rectangle 8"/>
            <p:cNvSpPr/>
            <p:nvPr/>
          </p:nvSpPr>
          <p:spPr>
            <a:xfrm>
              <a:off x="8229600" y="266700"/>
              <a:ext cx="1143000" cy="152400"/>
            </a:xfrm>
            <a:prstGeom prst="roundRect">
              <a:avLst>
                <a:gd name="adj" fmla="val 18750"/>
              </a:avLst>
            </a:prstGeom>
            <a:solidFill>
              <a:srgbClr val="2E5E91"/>
            </a:solidFill>
            <a:ln>
              <a:noFill/>
            </a:ln>
          </p:spPr>
        </p:sp>
        <p:sp>
          <p:nvSpPr>
            <p:cNvPr id="9" name="Rectangle 9"/>
            <p:cNvSpPr/>
            <p:nvPr/>
          </p:nvSpPr>
          <p:spPr>
            <a:xfrm>
              <a:off x="9448800" y="228600"/>
              <a:ext cx="1143000" cy="190500"/>
            </a:xfrm>
            <a:prstGeom prst="roundRect">
              <a:avLst>
                <a:gd name="adj" fmla="val 15000"/>
              </a:avLst>
            </a:prstGeom>
            <a:solidFill>
              <a:schemeClr val="accent1"/>
            </a:solidFill>
            <a:ln>
              <a:noFill/>
            </a:ln>
          </p:spPr>
        </p:sp>
        <p:sp>
          <p:nvSpPr>
            <p:cNvPr id="10" name="Rectangle 10"/>
            <p:cNvSpPr/>
            <p:nvPr/>
          </p:nvSpPr>
          <p:spPr>
            <a:xfrm>
              <a:off x="10668000" y="190500"/>
              <a:ext cx="1143000" cy="228600"/>
            </a:xfrm>
            <a:prstGeom prst="roundRect">
              <a:avLst>
                <a:gd name="adj" fmla="val 12500"/>
              </a:avLst>
            </a:prstGeom>
            <a:solidFill>
              <a:srgbClr val="64748B"/>
            </a:solidFill>
            <a:ln>
              <a:noFill/>
            </a:ln>
          </p:spPr>
        </p:sp>
        <p:sp>
          <p:nvSpPr>
            <p:cNvPr id="11" name="TextBox 11"/>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2" name="TextBox 12"/>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3" name="TextBox 13"/>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4" name="TextBox 14"/>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5" name="TextBox 15"/>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7" name="TextBox 17"/>
          <p:cNvSpPr txBox="1"/>
          <p:nvPr/>
        </p:nvSpPr>
        <p:spPr>
          <a:xfrm>
            <a:off x="364998" y="879158"/>
            <a:ext cx="870608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Đi đủ 4 bậc, ChatGPT thành trợ lý đáng tin;</a:t>
            </a:r>
            <a:br/>
            <a:r>
              <a:rPr lang="vi-VN" sz="3150" b="1" dirty="0">
                <a:solidFill>
                  <a:schemeClr val="accent1"/>
                </a:solidFill>
                <a:latin typeface="+mn-lt"/>
                <a:ea typeface="+mn-ea"/>
                <a:cs typeface="+mn-cs"/>
              </a:rPr>
              <a:t>công cụ có đổi, ba điều này không đổi</a:t>
            </a:r>
          </a:p>
        </p:txBody>
      </p:sp>
      <p:grpSp>
        <p:nvGrpSpPr>
          <p:cNvPr id="36" name="Group 36"/>
          <p:cNvGrpSpPr/>
          <p:nvPr/>
        </p:nvGrpSpPr>
        <p:grpSpPr>
          <a:xfrm>
            <a:off x="374142" y="2152650"/>
            <a:ext cx="5683758" cy="4214051"/>
            <a:chOff x="374142" y="2152650"/>
            <a:chExt cx="5683758" cy="4214051"/>
          </a:xfrm>
        </p:grpSpPr>
        <p:sp>
          <p:nvSpPr>
            <p:cNvPr id="18" name="Rectangle 18"/>
            <p:cNvSpPr/>
            <p:nvPr/>
          </p:nvSpPr>
          <p:spPr>
            <a:xfrm>
              <a:off x="381000" y="4953000"/>
              <a:ext cx="1333500" cy="1047750"/>
            </a:xfrm>
            <a:prstGeom prst="roundRect">
              <a:avLst>
                <a:gd name="adj" fmla="val 12727"/>
              </a:avLst>
            </a:prstGeom>
            <a:solidFill>
              <a:schemeClr val="accent5"/>
            </a:solidFill>
            <a:ln>
              <a:noFill/>
            </a:ln>
          </p:spPr>
        </p:sp>
        <p:sp>
          <p:nvSpPr>
            <p:cNvPr id="19" name="TextBox 19"/>
            <p:cNvSpPr txBox="1"/>
            <p:nvPr/>
          </p:nvSpPr>
          <p:spPr>
            <a:xfrm>
              <a:off x="540258" y="5055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1</a:t>
              </a:r>
            </a:p>
          </p:txBody>
        </p:sp>
        <p:sp>
          <p:nvSpPr>
            <p:cNvPr id="20" name="TextBox 20"/>
            <p:cNvSpPr txBox="1"/>
            <p:nvPr/>
          </p:nvSpPr>
          <p:spPr>
            <a:xfrm>
              <a:off x="544830" y="5457825"/>
              <a:ext cx="945356"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biết mình</a:t>
              </a:r>
              <a:br/>
              <a:r>
                <a:rPr lang="vi-VN" sz="1500" b="1" dirty="0">
                  <a:solidFill>
                    <a:srgbClr val="FFFFFF"/>
                  </a:solidFill>
                  <a:latin typeface="+mn-lt"/>
                  <a:ea typeface="+mn-ea"/>
                  <a:cs typeface="+mn-cs"/>
                </a:rPr>
                <a:t>là ai</a:t>
              </a:r>
            </a:p>
          </p:txBody>
        </p:sp>
        <p:sp>
          <p:nvSpPr>
            <p:cNvPr id="21" name="TextBox 21"/>
            <p:cNvSpPr txBox="1"/>
            <p:nvPr/>
          </p:nvSpPr>
          <p:spPr>
            <a:xfrm>
              <a:off x="374142" y="61026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sp>
          <p:nvSpPr>
            <p:cNvPr id="22" name="Rectangle 22"/>
            <p:cNvSpPr/>
            <p:nvPr/>
          </p:nvSpPr>
          <p:spPr>
            <a:xfrm>
              <a:off x="1790700" y="4191000"/>
              <a:ext cx="1333500" cy="1809750"/>
            </a:xfrm>
            <a:prstGeom prst="roundRect">
              <a:avLst>
                <a:gd name="adj" fmla="val 10000"/>
              </a:avLst>
            </a:prstGeom>
            <a:solidFill>
              <a:schemeClr val="accent3"/>
            </a:solidFill>
            <a:ln>
              <a:noFill/>
            </a:ln>
          </p:spPr>
        </p:sp>
        <p:sp>
          <p:nvSpPr>
            <p:cNvPr id="23" name="TextBox 23"/>
            <p:cNvSpPr txBox="1"/>
            <p:nvPr/>
          </p:nvSpPr>
          <p:spPr>
            <a:xfrm>
              <a:off x="1949958" y="4293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2</a:t>
              </a:r>
            </a:p>
          </p:txBody>
        </p:sp>
        <p:sp>
          <p:nvSpPr>
            <p:cNvPr id="24" name="TextBox 24"/>
            <p:cNvSpPr txBox="1"/>
            <p:nvPr/>
          </p:nvSpPr>
          <p:spPr>
            <a:xfrm>
              <a:off x="1954530" y="4695825"/>
              <a:ext cx="905351"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giao đúng</a:t>
              </a:r>
              <a:br/>
              <a:r>
                <a:rPr lang="vi-VN" sz="1500" b="1" dirty="0">
                  <a:solidFill>
                    <a:srgbClr val="FFFFFF"/>
                  </a:solidFill>
                  <a:latin typeface="+mn-lt"/>
                  <a:ea typeface="+mn-ea"/>
                  <a:cs typeface="+mn-cs"/>
                </a:rPr>
                <a:t>việc</a:t>
              </a:r>
            </a:p>
          </p:txBody>
        </p:sp>
        <p:sp>
          <p:nvSpPr>
            <p:cNvPr id="25" name="TextBox 25"/>
            <p:cNvSpPr txBox="1"/>
            <p:nvPr/>
          </p:nvSpPr>
          <p:spPr>
            <a:xfrm>
              <a:off x="1783842" y="61026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sp>
          <p:nvSpPr>
            <p:cNvPr id="26" name="Rectangle 26"/>
            <p:cNvSpPr/>
            <p:nvPr/>
          </p:nvSpPr>
          <p:spPr>
            <a:xfrm>
              <a:off x="3200400" y="3429000"/>
              <a:ext cx="1333500" cy="2571750"/>
            </a:xfrm>
            <a:prstGeom prst="roundRect">
              <a:avLst>
                <a:gd name="adj" fmla="val 10000"/>
              </a:avLst>
            </a:prstGeom>
            <a:solidFill>
              <a:srgbClr val="2E5E91"/>
            </a:solidFill>
            <a:ln>
              <a:noFill/>
            </a:ln>
          </p:spPr>
        </p:sp>
        <p:sp>
          <p:nvSpPr>
            <p:cNvPr id="27" name="TextBox 27"/>
            <p:cNvSpPr txBox="1"/>
            <p:nvPr/>
          </p:nvSpPr>
          <p:spPr>
            <a:xfrm>
              <a:off x="3359658" y="3531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3</a:t>
              </a:r>
            </a:p>
          </p:txBody>
        </p:sp>
        <p:sp>
          <p:nvSpPr>
            <p:cNvPr id="28" name="TextBox 28"/>
            <p:cNvSpPr txBox="1"/>
            <p:nvPr/>
          </p:nvSpPr>
          <p:spPr>
            <a:xfrm>
              <a:off x="3364230" y="3933825"/>
              <a:ext cx="955358"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quy trình</a:t>
              </a:r>
              <a:br/>
              <a:r>
                <a:rPr lang="vi-VN" sz="1500" b="1" dirty="0">
                  <a:solidFill>
                    <a:srgbClr val="FFFFFF"/>
                  </a:solidFill>
                  <a:latin typeface="+mn-lt"/>
                  <a:ea typeface="+mn-ea"/>
                  <a:cs typeface="+mn-cs"/>
                </a:rPr>
                <a:t>chuẩn</a:t>
              </a:r>
            </a:p>
          </p:txBody>
        </p:sp>
        <p:sp>
          <p:nvSpPr>
            <p:cNvPr id="29" name="TextBox 29"/>
            <p:cNvSpPr txBox="1"/>
            <p:nvPr/>
          </p:nvSpPr>
          <p:spPr>
            <a:xfrm>
              <a:off x="3193542" y="61026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sp>
          <p:nvSpPr>
            <p:cNvPr id="30" name="Rectangle 30"/>
            <p:cNvSpPr/>
            <p:nvPr/>
          </p:nvSpPr>
          <p:spPr>
            <a:xfrm>
              <a:off x="4610100" y="2667000"/>
              <a:ext cx="1333500" cy="3333750"/>
            </a:xfrm>
            <a:prstGeom prst="roundRect">
              <a:avLst>
                <a:gd name="adj" fmla="val 10000"/>
              </a:avLst>
            </a:prstGeom>
            <a:solidFill>
              <a:schemeClr val="accent1"/>
            </a:solidFill>
            <a:ln>
              <a:noFill/>
            </a:ln>
          </p:spPr>
        </p:sp>
        <p:sp>
          <p:nvSpPr>
            <p:cNvPr id="31" name="TextBox 31"/>
            <p:cNvSpPr txBox="1"/>
            <p:nvPr/>
          </p:nvSpPr>
          <p:spPr>
            <a:xfrm>
              <a:off x="4769358" y="2769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4</a:t>
              </a:r>
            </a:p>
          </p:txBody>
        </p:sp>
        <p:sp>
          <p:nvSpPr>
            <p:cNvPr id="32" name="TextBox 32"/>
            <p:cNvSpPr txBox="1"/>
            <p:nvPr/>
          </p:nvSpPr>
          <p:spPr>
            <a:xfrm>
              <a:off x="4773930" y="3171825"/>
              <a:ext cx="91535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với tới dữ</a:t>
              </a:r>
              <a:br/>
              <a:r>
                <a:rPr lang="vi-VN" sz="1500" b="1" dirty="0">
                  <a:solidFill>
                    <a:srgbClr val="FFFFFF"/>
                  </a:solidFill>
                  <a:latin typeface="+mn-lt"/>
                  <a:ea typeface="+mn-ea"/>
                  <a:cs typeface="+mn-cs"/>
                </a:rPr>
                <a:t>liệu thật</a:t>
              </a:r>
            </a:p>
          </p:txBody>
        </p:sp>
        <p:sp>
          <p:nvSpPr>
            <p:cNvPr id="33" name="TextBox 33"/>
            <p:cNvSpPr txBox="1"/>
            <p:nvPr/>
          </p:nvSpPr>
          <p:spPr>
            <a:xfrm>
              <a:off x="4603242" y="61026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sp>
          <p:nvSpPr>
            <p:cNvPr id="34" name="Line 34"/>
            <p:cNvSpPr/>
            <p:nvPr/>
          </p:nvSpPr>
          <p:spPr>
            <a:xfrm>
              <a:off x="5753100" y="2152650"/>
              <a:ext cx="9525" cy="514350"/>
            </a:xfrm>
            <a:custGeom>
              <a:avLst/>
              <a:gdLst/>
              <a:ahLst/>
              <a:cxnLst/>
              <a:rect l="l" t="t" r="r" b="b"/>
              <a:pathLst>
                <a:path w="9525" h="514350">
                  <a:moveTo>
                    <a:pt x="0" y="514350"/>
                  </a:moveTo>
                  <a:lnTo>
                    <a:pt x="0" y="0"/>
                  </a:lnTo>
                </a:path>
              </a:pathLst>
            </a:custGeom>
            <a:noFill/>
            <a:ln w="28575" cap="rnd">
              <a:solidFill>
                <a:schemeClr val="accent1"/>
              </a:solidFill>
            </a:ln>
          </p:spPr>
        </p:sp>
        <p:sp>
          <p:nvSpPr>
            <p:cNvPr id="35" name="Rectangle 35"/>
            <p:cNvSpPr/>
            <p:nvPr/>
          </p:nvSpPr>
          <p:spPr>
            <a:xfrm>
              <a:off x="5772150" y="2152650"/>
              <a:ext cx="285750" cy="209550"/>
            </a:xfrm>
            <a:prstGeom prst="roundRect">
              <a:avLst>
                <a:gd name="adj" fmla="val 13636"/>
              </a:avLst>
            </a:prstGeom>
            <a:solidFill>
              <a:schemeClr val="accent2"/>
            </a:solidFill>
            <a:ln>
              <a:noFill/>
            </a:ln>
          </p:spPr>
        </p:sp>
      </p:grpSp>
      <p:grpSp>
        <p:nvGrpSpPr>
          <p:cNvPr id="47" name="Group 47"/>
          <p:cNvGrpSpPr/>
          <p:nvPr/>
        </p:nvGrpSpPr>
        <p:grpSpPr>
          <a:xfrm>
            <a:off x="6470904" y="2251710"/>
            <a:ext cx="5232425" cy="2138743"/>
            <a:chOff x="6470904" y="2251710"/>
            <a:chExt cx="5232425" cy="2138743"/>
          </a:xfrm>
        </p:grpSpPr>
        <p:sp>
          <p:nvSpPr>
            <p:cNvPr id="37" name="TextBox 37"/>
            <p:cNvSpPr txBox="1"/>
            <p:nvPr/>
          </p:nvSpPr>
          <p:spPr>
            <a:xfrm>
              <a:off x="6470904" y="2251710"/>
              <a:ext cx="163458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BA ĐIỀU KHÔNG ĐỔI</a:t>
              </a:r>
            </a:p>
          </p:txBody>
        </p:sp>
        <p:sp>
          <p:nvSpPr>
            <p:cNvPr id="38" name="Ellipse 38"/>
            <p:cNvSpPr/>
            <p:nvPr/>
          </p:nvSpPr>
          <p:spPr>
            <a:xfrm>
              <a:off x="6477000" y="2571750"/>
              <a:ext cx="381000" cy="381000"/>
            </a:xfrm>
            <a:prstGeom prst="ellipse">
              <a:avLst/>
            </a:prstGeom>
            <a:solidFill>
              <a:schemeClr val="accent2"/>
            </a:solidFill>
            <a:ln>
              <a:noFill/>
            </a:ln>
          </p:spPr>
        </p:sp>
        <p:sp>
          <p:nvSpPr>
            <p:cNvPr id="39" name="TextBox 39"/>
            <p:cNvSpPr txBox="1"/>
            <p:nvPr/>
          </p:nvSpPr>
          <p:spPr>
            <a:xfrm>
              <a:off x="6594980" y="26603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1</a:t>
              </a:r>
            </a:p>
          </p:txBody>
        </p:sp>
        <p:sp>
          <p:nvSpPr>
            <p:cNvPr id="40" name="TextBox 40"/>
            <p:cNvSpPr txBox="1"/>
            <p:nvPr/>
          </p:nvSpPr>
          <p:spPr>
            <a:xfrm>
              <a:off x="7000494" y="2637472"/>
              <a:ext cx="378773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AI làm nháp, con người duyệt</a:t>
              </a:r>
            </a:p>
          </p:txBody>
        </p:sp>
        <p:sp>
          <p:nvSpPr>
            <p:cNvPr id="41" name="Ellipse 41"/>
            <p:cNvSpPr/>
            <p:nvPr/>
          </p:nvSpPr>
          <p:spPr>
            <a:xfrm>
              <a:off x="6477000" y="3105150"/>
              <a:ext cx="381000" cy="381000"/>
            </a:xfrm>
            <a:prstGeom prst="ellipse">
              <a:avLst/>
            </a:prstGeom>
            <a:solidFill>
              <a:schemeClr val="accent2"/>
            </a:solidFill>
            <a:ln>
              <a:noFill/>
            </a:ln>
          </p:spPr>
        </p:sp>
        <p:sp>
          <p:nvSpPr>
            <p:cNvPr id="42" name="TextBox 42"/>
            <p:cNvSpPr txBox="1"/>
            <p:nvPr/>
          </p:nvSpPr>
          <p:spPr>
            <a:xfrm>
              <a:off x="6594980" y="31937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2</a:t>
              </a:r>
            </a:p>
          </p:txBody>
        </p:sp>
        <p:sp>
          <p:nvSpPr>
            <p:cNvPr id="43" name="TextBox 43"/>
            <p:cNvSpPr txBox="1"/>
            <p:nvPr/>
          </p:nvSpPr>
          <p:spPr>
            <a:xfrm>
              <a:off x="7000494" y="3170872"/>
              <a:ext cx="470283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Quyền cấp từng nấc: đọc → ghi → gửi</a:t>
              </a:r>
            </a:p>
          </p:txBody>
        </p:sp>
        <p:sp>
          <p:nvSpPr>
            <p:cNvPr id="44" name="Ellipse 44"/>
            <p:cNvSpPr/>
            <p:nvPr/>
          </p:nvSpPr>
          <p:spPr>
            <a:xfrm>
              <a:off x="6477000" y="3638550"/>
              <a:ext cx="381000" cy="381000"/>
            </a:xfrm>
            <a:prstGeom prst="ellipse">
              <a:avLst/>
            </a:prstGeom>
            <a:solidFill>
              <a:schemeClr val="accent2"/>
            </a:solidFill>
            <a:ln>
              <a:noFill/>
            </a:ln>
          </p:spPr>
        </p:sp>
        <p:sp>
          <p:nvSpPr>
            <p:cNvPr id="45" name="TextBox 45"/>
            <p:cNvSpPr txBox="1"/>
            <p:nvPr/>
          </p:nvSpPr>
          <p:spPr>
            <a:xfrm>
              <a:off x="6594980" y="37271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3</a:t>
              </a:r>
            </a:p>
          </p:txBody>
        </p:sp>
        <p:sp>
          <p:nvSpPr>
            <p:cNvPr id="46" name="TextBox 46"/>
            <p:cNvSpPr txBox="1"/>
            <p:nvPr/>
          </p:nvSpPr>
          <p:spPr>
            <a:xfrm>
              <a:off x="7000494" y="3704272"/>
              <a:ext cx="3140202" cy="686181"/>
            </a:xfrm>
            <a:prstGeom prst="rect">
              <a:avLst/>
            </a:prstGeom>
            <a:noFill/>
            <a:ln>
              <a:noFill/>
            </a:ln>
          </p:spPr>
          <p:txBody>
            <a:bodyPr wrap="none" lIns="0" tIns="0" rIns="0" bIns="0" anchor="t" anchorCtr="0">
              <a:spAutoFit/>
            </a:bodyPr>
            <a:lstStyle/>
            <a:p>
              <a:pPr algn="l">
                <a:lnSpc>
                  <a:spcPts val="2400"/>
                </a:lnSpc>
              </a:pPr>
              <a:r>
                <a:rPr lang="vi-VN" sz="1950" b="1" dirty="0">
                  <a:solidFill>
                    <a:schemeClr val="accent1"/>
                  </a:solidFill>
                  <a:latin typeface="+mn-lt"/>
                  <a:ea typeface="+mn-ea"/>
                  <a:cs typeface="+mn-cs"/>
                </a:rPr>
                <a:t>“Chưa đủ dữ liệu” tốt hơn</a:t>
              </a:r>
              <a:br/>
              <a:r>
                <a:rPr lang="vi-VN" sz="1950" b="1" dirty="0">
                  <a:solidFill>
                    <a:schemeClr val="accent1"/>
                  </a:solidFill>
                  <a:latin typeface="+mn-lt"/>
                  <a:ea typeface="+mn-ea"/>
                  <a:cs typeface="+mn-cs"/>
                </a:rPr>
                <a:t>một con số bịa</a:t>
              </a:r>
            </a:p>
          </p:txBody>
        </p:sp>
      </p:grpSp>
      <p:grpSp>
        <p:nvGrpSpPr>
          <p:cNvPr id="55" name="Group 55"/>
          <p:cNvGrpSpPr/>
          <p:nvPr/>
        </p:nvGrpSpPr>
        <p:grpSpPr>
          <a:xfrm>
            <a:off x="6477000" y="4572000"/>
            <a:ext cx="5334000" cy="1181100"/>
            <a:chOff x="6477000" y="4572000"/>
            <a:chExt cx="5334000" cy="1181100"/>
          </a:xfrm>
        </p:grpSpPr>
        <p:sp>
          <p:nvSpPr>
            <p:cNvPr id="48" name="Rectangle 48"/>
            <p:cNvSpPr/>
            <p:nvPr/>
          </p:nvSpPr>
          <p:spPr>
            <a:xfrm>
              <a:off x="6477000" y="4572000"/>
              <a:ext cx="5334000" cy="1181100"/>
            </a:xfrm>
            <a:prstGeom prst="roundRect">
              <a:avLst>
                <a:gd name="adj" fmla="val 12903"/>
              </a:avLst>
            </a:prstGeom>
            <a:solidFill>
              <a:srgbClr val="FCEBDD"/>
            </a:solidFill>
            <a:ln>
              <a:noFill/>
            </a:ln>
          </p:spPr>
        </p:sp>
        <p:grpSp>
          <p:nvGrpSpPr>
            <p:cNvPr id="52" name="Group 52"/>
            <p:cNvGrpSpPr/>
            <p:nvPr/>
          </p:nvGrpSpPr>
          <p:grpSpPr>
            <a:xfrm>
              <a:off x="6734175" y="4772025"/>
              <a:ext cx="171450" cy="171450"/>
              <a:chOff x="6734175" y="4772025"/>
              <a:chExt cx="171450" cy="171450"/>
            </a:xfrm>
          </p:grpSpPr>
          <p:sp>
            <p:nvSpPr>
              <p:cNvPr id="49" name="Freeform 49"/>
              <p:cNvSpPr/>
              <p:nvPr/>
            </p:nvSpPr>
            <p:spPr>
              <a:xfrm>
                <a:off x="6734175" y="49053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chemeClr val="accent1"/>
                </a:solidFill>
              </a:ln>
            </p:spPr>
          </p:sp>
          <p:sp>
            <p:nvSpPr>
              <p:cNvPr id="50" name="Freeform 50"/>
              <p:cNvSpPr/>
              <p:nvPr/>
            </p:nvSpPr>
            <p:spPr>
              <a:xfrm>
                <a:off x="6867525" y="4772025"/>
                <a:ext cx="38100" cy="38100"/>
              </a:xfrm>
              <a:custGeom>
                <a:avLst/>
                <a:gdLst/>
                <a:ahLst/>
                <a:cxnLst/>
                <a:rect l="l" t="t" r="r" b="b"/>
                <a:pathLst>
                  <a:path w="38100" h="38100">
                    <a:moveTo>
                      <a:pt x="19050" y="38100"/>
                    </a:moveTo>
                    <a:cubicBezTo>
                      <a:pt x="29571" y="38100"/>
                      <a:pt x="38100" y="29571"/>
                      <a:pt x="38100" y="19050"/>
                    </a:cubicBezTo>
                    <a:cubicBezTo>
                      <a:pt x="38100" y="8529"/>
                      <a:pt x="29571" y="0"/>
                      <a:pt x="19050" y="0"/>
                    </a:cubicBezTo>
                    <a:cubicBezTo>
                      <a:pt x="8529" y="0"/>
                      <a:pt x="0" y="8529"/>
                      <a:pt x="0" y="19050"/>
                    </a:cubicBezTo>
                    <a:cubicBezTo>
                      <a:pt x="0" y="29571"/>
                      <a:pt x="8529" y="38100"/>
                      <a:pt x="19050" y="38100"/>
                    </a:cubicBezTo>
                  </a:path>
                </a:pathLst>
              </a:custGeom>
              <a:noFill/>
              <a:ln w="19050">
                <a:solidFill>
                  <a:schemeClr val="accent1"/>
                </a:solidFill>
              </a:ln>
            </p:spPr>
          </p:sp>
          <p:sp>
            <p:nvSpPr>
              <p:cNvPr id="51" name="Freeform 51"/>
              <p:cNvSpPr/>
              <p:nvPr/>
            </p:nvSpPr>
            <p:spPr>
              <a:xfrm>
                <a:off x="6753225" y="4791075"/>
                <a:ext cx="142875" cy="133350"/>
              </a:xfrm>
              <a:custGeom>
                <a:avLst/>
                <a:gdLst/>
                <a:ahLst/>
                <a:cxnLst/>
                <a:rect l="l" t="t" r="r" b="b"/>
                <a:pathLst>
                  <a:path w="142875" h="133350">
                    <a:moveTo>
                      <a:pt x="57150" y="133350"/>
                    </a:moveTo>
                    <a:lnTo>
                      <a:pt x="109538" y="133350"/>
                    </a:lnTo>
                    <a:cubicBezTo>
                      <a:pt x="127949" y="133350"/>
                      <a:pt x="142875" y="118424"/>
                      <a:pt x="142875" y="100012"/>
                    </a:cubicBezTo>
                    <a:cubicBezTo>
                      <a:pt x="142875" y="81601"/>
                      <a:pt x="127949" y="66675"/>
                      <a:pt x="109538" y="66675"/>
                    </a:cubicBezTo>
                    <a:lnTo>
                      <a:pt x="33338" y="66675"/>
                    </a:lnTo>
                    <a:cubicBezTo>
                      <a:pt x="14926" y="66675"/>
                      <a:pt x="0" y="51749"/>
                      <a:pt x="0" y="33338"/>
                    </a:cubicBezTo>
                    <a:cubicBezTo>
                      <a:pt x="0" y="14926"/>
                      <a:pt x="14926" y="0"/>
                      <a:pt x="33338" y="0"/>
                    </a:cubicBezTo>
                    <a:lnTo>
                      <a:pt x="76200" y="0"/>
                    </a:lnTo>
                  </a:path>
                </a:pathLst>
              </a:custGeom>
              <a:noFill/>
              <a:ln w="19050">
                <a:solidFill>
                  <a:schemeClr val="accent1"/>
                </a:solidFill>
              </a:ln>
            </p:spPr>
          </p:sp>
        </p:grpSp>
        <p:sp>
          <p:nvSpPr>
            <p:cNvPr id="53" name="TextBox 53"/>
            <p:cNvSpPr txBox="1"/>
            <p:nvPr/>
          </p:nvSpPr>
          <p:spPr>
            <a:xfrm>
              <a:off x="7023354" y="4785360"/>
              <a:ext cx="1387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VIỆC TIẾP THEO</a:t>
              </a:r>
            </a:p>
          </p:txBody>
        </p:sp>
        <p:sp>
          <p:nvSpPr>
            <p:cNvPr id="54" name="TextBox 54"/>
            <p:cNvSpPr txBox="1"/>
            <p:nvPr/>
          </p:nvSpPr>
          <p:spPr>
            <a:xfrm>
              <a:off x="6697218" y="5098732"/>
              <a:ext cx="380961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Chọn một việc lặp lại của phòng bạn và</a:t>
              </a:r>
              <a:br/>
              <a:r>
                <a:rPr lang="vi-VN" sz="1650" dirty="0">
                  <a:solidFill>
                    <a:schemeClr val="dk1"/>
                  </a:solidFill>
                  <a:latin typeface="+mn-lt"/>
                  <a:ea typeface="+mn-ea"/>
                  <a:cs typeface="+mn-cs"/>
                </a:rPr>
                <a:t>đi lại đủ 4 bậc với chính việc đó.</a:t>
              </a:r>
            </a:p>
          </p:txBody>
        </p:sp>
      </p:grpSp>
      <p:grpSp>
        <p:nvGrpSpPr>
          <p:cNvPr id="57" name="Group 57"/>
          <p:cNvGrpSpPr/>
          <p:nvPr/>
        </p:nvGrpSpPr>
        <p:grpSpPr>
          <a:xfrm>
            <a:off x="6470142" y="6026468"/>
            <a:ext cx="2583115" cy="264033"/>
            <a:chOff x="6470142" y="6026468"/>
            <a:chExt cx="2583115" cy="264033"/>
          </a:xfrm>
        </p:grpSpPr>
        <p:sp>
          <p:nvSpPr>
            <p:cNvPr id="56" name="TextBox 56"/>
            <p:cNvSpPr txBox="1"/>
            <p:nvPr/>
          </p:nvSpPr>
          <p:spPr>
            <a:xfrm>
              <a:off x="6470142" y="6026468"/>
              <a:ext cx="2583115"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Cảm ơn anh chị đã đồng hành.</a:t>
              </a:r>
            </a:p>
          </p:txBody>
        </p:sp>
      </p:grpSp>
      <p:sp>
        <p:nvSpPr>
          <p:cNvPr id="58" name="TextBox 58"/>
          <p:cNvSpPr txBox="1"/>
          <p:nvPr/>
        </p:nvSpPr>
        <p:spPr>
          <a:xfrm>
            <a:off x="6471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47</TotalTime>
  <Words>11621</Words>
  <Application>Microsoft Macintosh PowerPoint</Application>
  <PresentationFormat>Widescreen</PresentationFormat>
  <Paragraphs>936</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Arial</vt:lpstr>
      <vt:lpstr>Consolas</vt:lpstr>
      <vt:lpstr>lo-trinh-chatgpt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Microsoft Office User</cp:lastModifiedBy>
  <cp:revision>2</cp:revision>
  <dcterms:created xsi:type="dcterms:W3CDTF">2026-10-05T05:08:33Z</dcterms:created>
  <dcterms:modified xsi:type="dcterms:W3CDTF">2026-10-05T07:46:59Z</dcterms:modified>
  <cp:category/>
  <cp:contentStatus/>
  <dc:language>vi-VN</dc:language>
</cp:coreProperties>
</file>