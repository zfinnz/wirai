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0"/>
    <p:sldId id="275" r:id="rId21"/>
    <p:sldId id="276" r:id="rId22"/>
    <p:sldId id="278" r:id="rId24"/>
    <p:sldId id="277" r:id="rId23"/>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20.xml"/><Relationship Id="rId24" Type="http://schemas.openxmlformats.org/officeDocument/2006/relationships/slide" Target="slides/slide19.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trên tài khoản đã khai Custom Instructions, theo đúng thứ tự Data demo Mục 3: ChatGPT không bịa giá, nhưng hỏi lại ba câu về giá, số lượng và nhóm khách, tức là mất thêm một lượt. Gõ "Cứ viết" thì ra một tin chung chung: giá, số lượng tối thiểu, ưu đãi đều để [CẦN ĐIỀN], không dùng bảng giá sỉ, không nhắc câu hỏi bà bầu. Hỏi lớp: tin này gửi khách được chưa? Giảng viên chạy lại trước buổi học, vì mỗi lần ChatGPT trả lời một khác; tài khoản chưa khai Custom Instructions có thể thêm emoji hoặc "collagen Đức" không có trong hồ sơ.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"Tóm tắt văn bản" quá chung, dẫn tới gọi nhầm hoặc không bao giờ được gọi. Description tốt nêu rõ phạm vi: tóm tắt tài liệu dài của Wir như hồ sơ sản phẩm, biên bản họp, báo giá thành bốn mục tóm tắt nhanh, ý chính, số liệu và hạn chót, điểm cần lưu ý; dùng khi có file hoặc văn bản dán vào và yêu cầu tóm tắt; không dùng để viết bài. Đây chính là skill tom-tat-tai-lieu mà hai slide sau sẽ làm tay rồi đóng gói.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Giờ đóng gói. Gõ "Kết quả ổn rồi. Hãy đóng gói cách làm vừa rồi thành một skill tên tom-tat-tai-lieu"; ChatGPT làm khoảng một phút rồi báo đã tạo skill phiên bản 1.0.0 dưới dạng plugin riêng tư trên tài khoản. Anh chị không phải tự gõ file SKILL.md, nhưng phải mở ra soát đủ sáu phần. Đầu file là khối name và description nằm giữa hai dòng ba gạch, sau đó là các mục khi nào dùng, đầu vào, các bước và đầu ra. Một, tên tom-tat-tai-lieu viết thường, không dấu, nối gạch ngang. Hai, mô tả một câu, chính là dòng description ChatGPT đọc để chọn skill ở slide trước. Ba, khi nào dùng: hồ sơ sản phẩm, biên bản họp, báo giá; không dùng để viết bài. Bốn, đầu vào: bắt buộc có tài liệu, có thì tốt là tầng pháp lý của sản phẩm. Năm, các bước: bước một kiểm đã có tài liệu chưa, bước cuối tự rà chống bịa, thiếu thì ghi "Tài liệu không đề cập". Sáu, đầu ra bốn mục: tóm tắt nhanh, ý chính, số liệu và hạn chót, điểm cần lưu ý, đúng bốn mục đã sinh ra từ năm lượt làm tay ở slide trước.</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Đừng ngồi nghĩ ra skill từ tờ giấy trắng. Hãy làm việc đó bằng tay vài lượt; mỗi lần mình phải dặn thêm chính là một phần của skill sắp đóng gói. Demo chạy trong Project Wir – Marketing, trên file Dữ liệu sản phẩm Wir đã nằm trong Sources, theo Data demo Mục 4. Lượt một, "Tóm tắt giúp tôi tài liệu này": kết quả chung chung, đó là lý do cần skill, sau này ghi vào phần Khi nào dùng. Lượt hai, "Liệt kê theo từng phần của tài liệu": thành mục Ý chính chi tiết của Đầu ra. Lượt ba, "Bóc mọi con số, mốc thời gian, cam kết": thành mục Số liệu, hạn chót. Lượt bốn, "Có câu nào vượt ranh giới pháp lý hay mâu thuẫn không": thành mục Điểm cần lưu ý. Lượt năm, "Chỗ nào bạn tự đoán, rút ba đến năm ý gửi sếp": thành quy tắc chống bịa trong Các bước và mục Tóm tắt nhanh. Kết quả thật ngày 09/10/2026: ở lượt bốn ChatGPT bắt được bảy cụm vượt ranh giới thực phẩm bảo vệ sức khỏe, ví dụ "điều trị thoái hóa sụn khớp" ở CH Alpha Plus. Slide sau sẽ đóng gói năm lượt này thành skill.</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tốt lên nhờ vòng chạy, soi, sửa; ví dụ ngay trên skill tom-tat-tai-lieu. Chạy trên ba tài liệu khác loại: hồ sơ sản phẩm, biên bản họp, báo giá. Soi chỗ phải sửa tay, chẳng hạn skill bỏ sót hạn chót nằm trong bảng. Rồi sửa vào skill: bảo ChatGPT thêm vào mục Số liệu yêu cầu bóc cả hạn chót trong bảng, ghi "Sửa lần 1" và chạy lại ba tài liệu. Đừng sửa tay bản tóm tắt, vì lần sau skill lại sai y như cũ và đồng nghiệp dùng skill cũng nhận cái sai đó. Sau mỗi lần sửa, làm lại phép thử phiên mới: mở chat mới ngoài Project, tải một tài liệu chưa từng dùng như Hồ sơ Elasten, chỉ gõ "Tóm tắt tài liệu này" và không gọi tên skill. Skill tự chạy, bản tóm tắt đủ bốn mục và không thêm số nào ngoài file thì đạt. Muốn thử câu hỏi giá thì hỏi trong Project, vì ngoài Project ChatGPT có thể tự tìm web và đưa giá thị trường. Kết quả thật ngày 09/10/2026 đạt, skill tự được gọi ở chat mới, xem Data demo Mục 4 bước ba và bốn.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ba. Bài một, mười lăm phút, tạo skill tom-tat-tai-lieu: làm tay năm lượt trên Dữ liệu sản phẩm Wir rồi đóng gói, thử trên Hồ sơ Elasten ở chat mới; đạt khi skill tự chạy, bản tóm tắt đủ bốn mục và các số +28%, +20%, −24% đúng với file.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trước khi bấm đồng ý;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vào Settings, Plugins, bấm tên plugin, mục Permission, có bốn mức.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nên sau khi nối Gmail anh chị phải tự đổi về Always ask. Allow all tools làm hết không hỏi, ChatGPT gắn nhãn rủi ro cao, không dùng cho Gmail và các kênh gửi ra ngoài; mức này chỉ đặt được cho từng plugin, ô Default permission chung không có.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toàn khi nối plugin nằm ở hai thời điểm. Trước khi nối: đăng xuất tài khoản Google công ty trên trình duyệt, và nếu đã nối nhiều tài khoản thì kiểm tra kỹ tài khoản nào đang được chọn. Khi cấp quyền: đọc hết danh sách quyền Google hiện ra; quyền Gmail gộp cả đọc, soạn và gửi nên không tách riêng được, muốn chặn gửi thì đặt mức Always ask ở slide trước; thấy cảnh báo ứng dụng chưa được xác minh thì dừng lại và gọi giảng viên.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hộp Allow once hiện ra trước khi ghi file.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txBody>
          <a:bodyPr/>
          <a:p/>
        </p:txBody>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txBody>
            <a:bodyPr/>
            <a:p/>
          </p:txBody>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txBody>
            <a:bodyPr/>
            <a:p/>
          </p:txBody>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txBody>
            <a:bodyPr/>
            <a:p/>
          </p:txBody>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txBody>
            <a:bodyPr/>
            <a:p/>
          </p:txBody>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txBody>
            <a:bodyPr/>
            <a:p/>
          </p:txBody>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txBody>
            <a:bodyPr/>
            <a:p/>
          </p:txBody>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txBody>
            <a:bodyPr/>
            <a:p/>
          </p:txBody>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txBody>
            <a:bodyPr/>
            <a:p/>
          </p:txBody>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txBody>
            <a:bodyPr/>
            <a:p/>
          </p:txBody>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txBody>
            <a:bodyPr/>
            <a:p/>
          </p:txBody>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txBody>
            <a:bodyPr/>
            <a:p/>
          </p:txBody>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txBody>
            <a:bodyPr/>
            <a:p/>
          </p:txBody>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txBody>
            <a:bodyPr/>
            <a:p/>
          </p:txBody>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txBody>
            <a:bodyPr/>
            <a:p/>
          </p:txBody>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txBody>
            <a:bodyPr/>
            <a:p/>
          </p:txBody>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txBody>
            <a:bodyPr/>
            <a:p/>
          </p:txBody>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txBody>
            <a:bodyPr/>
            <a:p/>
          </p:txBody>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txBody>
            <a:bodyPr/>
            <a:p/>
          </p:txBody>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txBody>
            <a:bodyPr/>
            <a:p/>
          </p:txBody>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txBody>
            <a:bodyPr/>
            <a:p/>
          </p:txBody>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txBody>
            <a:bodyPr/>
            <a:p/>
          </p:txBody>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txBody>
            <a:bodyPr/>
            <a:p/>
          </p:txBody>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txBody>
            <a:bodyPr/>
            <a:p/>
          </p:txBody>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txBody>
            <a:bodyPr/>
            <a:p/>
          </p:txBody>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txBody>
              <a:bodyPr/>
              <a:p/>
            </p:txBody>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txBody>
              <a:bodyPr/>
              <a:p/>
            </p:txBody>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txBody>
              <a:bodyPr/>
              <a:p/>
            </p:txBody>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txBody>
              <a:bodyPr/>
              <a:p/>
            </p:txBody>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txBody>
              <a:bodyPr/>
              <a:p/>
            </p:txBody>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txBody>
              <a:bodyPr/>
              <a:p/>
            </p:txBody>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txBody>
              <a:bodyPr/>
              <a:p/>
            </p:txBody>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txBody>
            <a:bodyPr/>
            <a:p/>
          </p:txBody>
        </p:sp>
        <p:sp>
          <p:nvSpPr>
            <p:cNvPr id="14" name="Rectangle 14"/>
            <p:cNvSpPr/>
            <p:nvPr/>
          </p:nvSpPr>
          <p:spPr>
            <a:xfrm>
              <a:off x="7010400" y="304800"/>
              <a:ext cx="1143000" cy="114300"/>
            </a:xfrm>
            <a:prstGeom prst="roundRect">
              <a:avLst>
                <a:gd name="adj" fmla="val 25000"/>
              </a:avLst>
            </a:prstGeom>
            <a:solidFill>
              <a:srgbClr val="E3E9F1"/>
            </a:solidFill>
            <a:ln>
              <a:noFill/>
            </a:ln>
          </p:spPr>
          <p:txBody>
            <a:bodyPr/>
            <a:p/>
          </p:txBody>
        </p:sp>
        <p:sp>
          <p:nvSpPr>
            <p:cNvPr id="15" name="Rectangle 15"/>
            <p:cNvSpPr/>
            <p:nvPr/>
          </p:nvSpPr>
          <p:spPr>
            <a:xfrm>
              <a:off x="8229600" y="266700"/>
              <a:ext cx="1143000" cy="152400"/>
            </a:xfrm>
            <a:prstGeom prst="roundRect">
              <a:avLst>
                <a:gd name="adj" fmla="val 18750"/>
              </a:avLst>
            </a:prstGeom>
            <a:solidFill>
              <a:srgbClr val="E3E9F1"/>
            </a:solidFill>
            <a:ln>
              <a:noFill/>
            </a:ln>
          </p:spPr>
          <p:txBody>
            <a:bodyPr/>
            <a:p/>
          </p:txBody>
        </p:sp>
        <p:sp>
          <p:nvSpPr>
            <p:cNvPr id="16" name="Rectangle 16"/>
            <p:cNvSpPr/>
            <p:nvPr/>
          </p:nvSpPr>
          <p:spPr>
            <a:xfrm>
              <a:off x="9448800" y="228600"/>
              <a:ext cx="1143000" cy="190500"/>
            </a:xfrm>
            <a:prstGeom prst="roundRect">
              <a:avLst>
                <a:gd name="adj" fmla="val 15000"/>
              </a:avLst>
            </a:prstGeom>
            <a:solidFill>
              <a:srgbClr val="E3E9F1"/>
            </a:solidFill>
            <a:ln>
              <a:noFill/>
            </a:ln>
          </p:spPr>
          <p:txBody>
            <a:bodyPr/>
            <a:p/>
          </p:txBody>
        </p:sp>
        <p:sp>
          <p:nvSpPr>
            <p:cNvPr id="17" name="Rectangle 17"/>
            <p:cNvSpPr/>
            <p:nvPr/>
          </p:nvSpPr>
          <p:spPr>
            <a:xfrm>
              <a:off x="10668000" y="190500"/>
              <a:ext cx="1143000" cy="228600"/>
            </a:xfrm>
            <a:prstGeom prst="roundRect">
              <a:avLst>
                <a:gd name="adj" fmla="val 12500"/>
              </a:avLst>
            </a:prstGeom>
            <a:solidFill>
              <a:srgbClr val="E3E9F1"/>
            </a:solidFill>
            <a:ln>
              <a:noFill/>
            </a:ln>
          </p:spPr>
          <p:txBody>
            <a:bodyPr/>
            <a:p/>
          </p:txBody>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txBody>
              <a:bodyPr/>
              <a:p/>
            </p:txBody>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txBody>
              <a:bodyPr/>
              <a:p/>
            </p:txBody>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txBody>
              <a:bodyPr/>
              <a:p/>
            </p:txBody>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txBody>
              <a:bodyPr/>
              <a:p/>
            </p:txBody>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txBody>
            <a:bodyPr/>
            <a:p/>
          </p:txBody>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txBody>
            <a:bodyPr/>
            <a:p/>
          </p:txBody>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txBody>
            <a:bodyPr/>
            <a:p/>
          </p:txBody>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txBody>
            <a:bodyPr/>
            <a:p/>
          </p:txBody>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txBody>
            <a:bodyPr/>
            <a:p/>
          </p:txBody>
        </p:sp>
        <p:sp>
          <p:nvSpPr>
            <p:cNvPr id="18" name="Ellipse 18"/>
            <p:cNvSpPr/>
            <p:nvPr/>
          </p:nvSpPr>
          <p:spPr>
            <a:xfrm>
              <a:off x="609600" y="2324100"/>
              <a:ext cx="419100" cy="419100"/>
            </a:xfrm>
            <a:prstGeom prst="ellipse">
              <a:avLst/>
            </a:prstGeom>
            <a:solidFill>
              <a:schemeClr val="lt2"/>
            </a:solidFill>
            <a:ln>
              <a:noFill/>
            </a:ln>
          </p:spPr>
          <p:txBody>
            <a:bodyPr/>
            <a:p/>
          </p:txBody>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txBody>
              <a:bodyPr/>
              <a:p/>
            </p:txBody>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txBody>
              <a:bodyPr/>
              <a:p/>
            </p:txBody>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txBody>
              <a:bodyPr/>
              <a:p/>
            </p:txBody>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txBody>
              <a:bodyPr/>
              <a:p/>
            </p:txBody>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txBody>
              <a:bodyPr/>
              <a:p/>
            </p:txBody>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txBody>
            <a:bodyPr/>
            <a:p/>
          </p:txBody>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txBody>
            <a:bodyPr/>
            <a:p/>
          </p:txBody>
        </p:sp>
        <p:sp>
          <p:nvSpPr>
            <p:cNvPr id="36" name="Ellipse 36"/>
            <p:cNvSpPr/>
            <p:nvPr/>
          </p:nvSpPr>
          <p:spPr>
            <a:xfrm>
              <a:off x="4495800" y="2324100"/>
              <a:ext cx="419100" cy="419100"/>
            </a:xfrm>
            <a:prstGeom prst="ellipse">
              <a:avLst/>
            </a:prstGeom>
            <a:solidFill>
              <a:schemeClr val="lt2"/>
            </a:solidFill>
            <a:ln>
              <a:noFill/>
            </a:ln>
          </p:spPr>
          <p:txBody>
            <a:bodyPr/>
            <a:p/>
          </p:txBody>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txBody>
            <a:bodyPr/>
            <a:p/>
          </p:txBody>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txBody>
            <a:bodyPr/>
            <a:p/>
          </p:txBody>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txBody>
            <a:bodyPr/>
            <a:p/>
          </p:txBody>
        </p:sp>
        <p:sp>
          <p:nvSpPr>
            <p:cNvPr id="49" name="Ellipse 49"/>
            <p:cNvSpPr/>
            <p:nvPr/>
          </p:nvSpPr>
          <p:spPr>
            <a:xfrm>
              <a:off x="8382000" y="2324100"/>
              <a:ext cx="419100" cy="419100"/>
            </a:xfrm>
            <a:prstGeom prst="ellipse">
              <a:avLst/>
            </a:prstGeom>
            <a:solidFill>
              <a:schemeClr val="lt2"/>
            </a:solidFill>
            <a:ln>
              <a:noFill/>
            </a:ln>
          </p:spPr>
          <p:txBody>
            <a:bodyPr/>
            <a:p/>
          </p:txBody>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txBody>
              <a:bodyPr/>
              <a:p/>
            </p:txBody>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txBody>
              <a:bodyPr/>
              <a:p/>
            </p:txBody>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txBody>
              <a:bodyPr/>
              <a:p/>
            </p:txBody>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txBody>
              <a:bodyPr/>
              <a:p/>
            </p:txBody>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txBody>
              <a:bodyPr/>
              <a:p/>
            </p:txBody>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txBody>
              <a:bodyPr/>
              <a:p/>
            </p:txBody>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txBody>
            <a:bodyPr/>
            <a:p/>
          </p:txBody>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txBody>
            <a:bodyPr/>
            <a:p/>
          </p:txBody>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32</a:t>
            </a:r>
          </a:p>
        </p:txBody>
      </p:sp>
      <p:sp>
        <p:nvSpPr>
          <p:cNvPr id="7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txBody>
            <a:bodyPr/>
            <a:p/>
          </p:txBody>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txBody>
            <a:bodyPr/>
            <a:p/>
          </p:txBody>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txBody>
            <a:bodyPr/>
            <a:p/>
          </p:txBody>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txBody>
            <a:bodyPr/>
            <a:p/>
          </p:txBody>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txBody>
            <a:bodyPr/>
            <a:p/>
          </p:txBody>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txBody>
            <a:bodyPr/>
            <a:p/>
          </p:txBody>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txBody>
            <a:bodyPr/>
            <a:p/>
          </p:txBody>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txBody>
            <a:bodyPr/>
            <a:p/>
          </p:txBody>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txBody>
            <a:bodyPr/>
            <a:p/>
          </p:txBody>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txBody>
            <a:bodyPr/>
            <a:p/>
          </p:txBody>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txBody>
            <a:bodyPr/>
            <a:p/>
          </p:txBody>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txBody>
            <a:bodyPr/>
            <a:p/>
          </p:txBody>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txBody>
            <a:bodyPr/>
            <a:p/>
          </p:txBody>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txBody>
            <a:bodyPr/>
            <a:p/>
          </p:txBody>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txBody>
            <a:bodyPr/>
            <a:p/>
          </p:txBody>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txBody>
            <a:bodyPr/>
            <a:p/>
          </p:txBody>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txBody>
            <a:bodyPr/>
            <a:p/>
          </p:txBody>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txBody>
            <a:bodyPr/>
            <a:p/>
          </p:txBody>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txBody>
            <a:bodyPr/>
            <a:p/>
          </p:txBody>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txBody>
            <a:bodyPr/>
            <a:p/>
          </p:txBody>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txBody>
            <a:bodyPr/>
            <a:p/>
          </p:txBody>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txBody>
              <a:bodyPr/>
              <a:p/>
            </p:txBody>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txBody>
              <a:bodyPr/>
              <a:p/>
            </p:txBody>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txBody>
            <a:bodyPr/>
            <a:p/>
          </p:txBody>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txBody>
            <a:bodyPr/>
            <a:p/>
          </p:txBody>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txBody>
            <a:bodyPr/>
            <a:p/>
          </p:txBody>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txBody>
            <a:bodyPr/>
            <a:p/>
          </p:txBody>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txBody>
            <a:bodyPr/>
            <a:p/>
          </p:txBody>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txBody>
            <a:bodyPr/>
            <a:p/>
          </p:txBody>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txBody>
            <a:bodyPr/>
            <a:p/>
          </p:txBody>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txBody>
            <a:bodyPr/>
            <a:p/>
          </p:txBody>
        </p:sp>
        <p:sp>
          <p:nvSpPr>
            <p:cNvPr id="18" name="Ellipse 18"/>
            <p:cNvSpPr/>
            <p:nvPr/>
          </p:nvSpPr>
          <p:spPr>
            <a:xfrm>
              <a:off x="590550" y="2305050"/>
              <a:ext cx="457200" cy="457200"/>
            </a:xfrm>
            <a:prstGeom prst="ellipse">
              <a:avLst/>
            </a:prstGeom>
            <a:solidFill>
              <a:schemeClr val="lt1"/>
            </a:solidFill>
            <a:ln>
              <a:noFill/>
            </a:ln>
          </p:spPr>
          <p:txBody>
            <a:bodyPr/>
            <a:p/>
          </p:txBody>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txBody>
              <a:bodyPr/>
              <a:p/>
            </p:txBody>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txBody>
              <a:bodyPr/>
              <a:p/>
            </p:txBody>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txBody>
            <a:bodyPr/>
            <a:p/>
          </p:txBody>
        </p:sp>
        <p:sp>
          <p:nvSpPr>
            <p:cNvPr id="27" name="Ellipse 27"/>
            <p:cNvSpPr/>
            <p:nvPr/>
          </p:nvSpPr>
          <p:spPr>
            <a:xfrm>
              <a:off x="590550" y="3695700"/>
              <a:ext cx="457200" cy="457200"/>
            </a:xfrm>
            <a:prstGeom prst="ellipse">
              <a:avLst/>
            </a:prstGeom>
            <a:solidFill>
              <a:schemeClr val="lt1"/>
            </a:solidFill>
            <a:ln>
              <a:noFill/>
            </a:ln>
          </p:spPr>
          <p:txBody>
            <a:bodyPr/>
            <a:p/>
          </p:txBody>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txBody>
              <a:bodyPr/>
              <a:p/>
            </p:txBody>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txBody>
              <a:bodyPr/>
              <a:p/>
            </p:txBody>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txBody>
            <a:bodyPr/>
            <a:p/>
          </p:txBody>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txBody>
              <a:bodyPr/>
              <a:p/>
            </p:txBody>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txBody>
              <a:bodyPr/>
              <a:p/>
            </p:txBody>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txBody>
            <a:bodyPr/>
            <a:p/>
          </p:txBody>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txBody>
            <a:bodyPr/>
            <a:p/>
          </p:txBody>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txBody>
            <a:bodyPr/>
            <a:p/>
          </p:txBody>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txBody>
            <a:bodyPr/>
            <a:p/>
          </p:txBody>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txBody>
            <a:bodyPr/>
            <a:p/>
          </p:txBody>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txBody>
            <a:bodyPr/>
            <a:p/>
          </p:txBody>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32</a:t>
            </a:r>
          </a:p>
        </p:txBody>
      </p:sp>
      <p:sp>
        <p:nvSpPr>
          <p:cNvPr id="60"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chemeClr val="accent5"/>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txBody>
            <a:bodyPr/>
            <a:p/>
          </p:txBody>
        </p:sp>
        <p:sp>
          <p:nvSpPr>
            <p:cNvPr id="26" name="Ellipse 26"/>
            <p:cNvSpPr/>
            <p:nvPr/>
          </p:nvSpPr>
          <p:spPr>
            <a:xfrm>
              <a:off x="523875" y="3095625"/>
              <a:ext cx="285750" cy="285750"/>
            </a:xfrm>
            <a:prstGeom prst="ellipse">
              <a:avLst/>
            </a:prstGeom>
            <a:solidFill>
              <a:schemeClr val="accent5"/>
            </a:solidFill>
            <a:ln>
              <a:noFill/>
            </a:ln>
          </p:spPr>
          <p:txBody>
            <a:bodyPr/>
            <a:p/>
          </p:txBody>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txBody>
            <a:bodyPr/>
            <a:p/>
          </p:txBody>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00525"/>
              <a:ext cx="285750" cy="285750"/>
            </a:xfrm>
            <a:prstGeom prst="ellipse">
              <a:avLst/>
            </a:prstGeom>
            <a:solidFill>
              <a:schemeClr val="accent5"/>
            </a:solidFill>
            <a:ln>
              <a:noFill/>
            </a:ln>
          </p:spPr>
          <p:txBody>
            <a:bodyPr/>
            <a:p/>
          </p:txBody>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txBody>
            <a:bodyPr/>
            <a:p/>
          </p:txBody>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txBody>
            <a:bodyPr/>
            <a:p/>
          </p:txBody>
        </p:sp>
        <p:sp>
          <p:nvSpPr>
            <p:cNvPr id="43" name="Ellipse 43"/>
            <p:cNvSpPr/>
            <p:nvPr/>
          </p:nvSpPr>
          <p:spPr>
            <a:xfrm>
              <a:off x="523875" y="5076825"/>
              <a:ext cx="285750" cy="285750"/>
            </a:xfrm>
            <a:prstGeom prst="ellipse">
              <a:avLst/>
            </a:prstGeom>
            <a:solidFill>
              <a:schemeClr val="accent5"/>
            </a:solidFill>
            <a:ln>
              <a:noFill/>
            </a:ln>
          </p:spPr>
          <p:txBody>
            <a:bodyPr/>
            <a:p/>
          </p:txBody>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32</a:t>
            </a:r>
          </a:p>
        </p:txBody>
      </p:sp>
      <p:sp>
        <p:nvSpPr>
          <p:cNvPr id="68"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txBody>
              <a:bodyPr/>
              <a:p/>
            </p:txBody>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txBody>
              <a:bodyPr/>
              <a:p/>
            </p:txBody>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txBody>
              <a:bodyPr/>
              <a:p/>
            </p:txBody>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txBody>
            <a:bodyPr/>
            <a:p/>
          </p:txBody>
        </p:sp>
        <p:sp>
          <p:nvSpPr>
            <p:cNvPr id="12" name="Rectangle 12"/>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13" name="Rectangle 13"/>
            <p:cNvSpPr/>
            <p:nvPr/>
          </p:nvSpPr>
          <p:spPr>
            <a:xfrm>
              <a:off x="8229600" y="266700"/>
              <a:ext cx="1143000" cy="152400"/>
            </a:xfrm>
            <a:prstGeom prst="roundRect">
              <a:avLst>
                <a:gd name="adj" fmla="val 18750"/>
              </a:avLst>
            </a:prstGeom>
            <a:solidFill>
              <a:srgbClr val="E3E9F1"/>
            </a:solidFill>
            <a:ln>
              <a:noFill/>
            </a:ln>
          </p:spPr>
          <p:txBody>
            <a:bodyPr/>
            <a:p/>
          </p:txBody>
        </p:sp>
        <p:sp>
          <p:nvSpPr>
            <p:cNvPr id="14" name="Rectangle 14"/>
            <p:cNvSpPr/>
            <p:nvPr/>
          </p:nvSpPr>
          <p:spPr>
            <a:xfrm>
              <a:off x="9448800" y="228600"/>
              <a:ext cx="1143000" cy="190500"/>
            </a:xfrm>
            <a:prstGeom prst="roundRect">
              <a:avLst>
                <a:gd name="adj" fmla="val 15000"/>
              </a:avLst>
            </a:prstGeom>
            <a:solidFill>
              <a:srgbClr val="E3E9F1"/>
            </a:solidFill>
            <a:ln>
              <a:noFill/>
            </a:ln>
          </p:spPr>
          <p:txBody>
            <a:bodyPr/>
            <a:p/>
          </p:txBody>
        </p:sp>
        <p:sp>
          <p:nvSpPr>
            <p:cNvPr id="15" name="Rectangle 15"/>
            <p:cNvSpPr/>
            <p:nvPr/>
          </p:nvSpPr>
          <p:spPr>
            <a:xfrm>
              <a:off x="10668000" y="190500"/>
              <a:ext cx="1143000" cy="228600"/>
            </a:xfrm>
            <a:prstGeom prst="roundRect">
              <a:avLst>
                <a:gd name="adj" fmla="val 12500"/>
              </a:avLst>
            </a:prstGeom>
            <a:solidFill>
              <a:srgbClr val="E3E9F1"/>
            </a:solidFill>
            <a:ln>
              <a:noFill/>
            </a:ln>
          </p:spPr>
          <p:txBody>
            <a:bodyPr/>
            <a:p/>
          </p:txBody>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txBody>
              <a:bodyPr/>
              <a:p/>
            </p:txBody>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txBody>
              <a:bodyPr/>
              <a:p/>
            </p:txBody>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txBody>
              <a:bodyPr/>
              <a:p/>
            </p:txBody>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txBody>
              <a:bodyPr/>
              <a:p/>
            </p:txBody>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txBody>
            <a:bodyPr/>
            <a:p/>
          </p:txBody>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txBody>
            <a:bodyPr/>
            <a:p/>
          </p:txBody>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txBody>
            <a:bodyPr/>
            <a:p/>
          </p:txBody>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txBody>
            <a:bodyPr/>
            <a:p/>
          </p:txBody>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txBody>
            <a:bodyPr/>
            <a:p/>
          </p:txBody>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txBody>
            <a:bodyPr/>
            <a:p/>
          </p:txBody>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txBody>
            <a:bodyPr/>
            <a:p/>
          </p:txBody>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txBody>
            <a:bodyPr/>
            <a:p/>
          </p:txBody>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txBody>
            <a:bodyPr/>
            <a:p/>
          </p:txBody>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txBody>
            <a:bodyPr/>
            <a:p/>
          </p:txBody>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txBody>
            <a:bodyPr/>
            <a:p/>
          </p:txBody>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txBody>
            <a:bodyPr/>
            <a:p/>
          </p:txBody>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txBody>
            <a:bodyPr/>
            <a:p/>
          </p:txBody>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txBody>
            <a:bodyPr/>
            <a:p/>
          </p:txBody>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txBody>
            <a:bodyPr/>
            <a:p/>
          </p:txBody>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3 câu: giá, số lượng, nhóm khách</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“Cứ viết” → mọi số đều để [CẦN ĐIỀN]</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hỏi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txBody>
            <a:bodyPr/>
            <a:p/>
          </p:txBody>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txBody>
              <a:bodyPr/>
              <a:p/>
            </p:txBody>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txBody>
              <a:bodyPr/>
              <a:p/>
            </p:txBody>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txBody>
              <a:bodyPr/>
              <a:p/>
            </p:txBody>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txBody>
              <a:bodyPr/>
              <a:p/>
            </p:txBody>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txBody>
            <a:bodyPr/>
            <a:p/>
          </p:txBody>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txBody>
            <a:bodyPr/>
            <a:p/>
          </p:txBody>
        </p:sp>
        <p:sp>
          <p:nvSpPr>
            <p:cNvPr id="18" name="Ellipse 18"/>
            <p:cNvSpPr/>
            <p:nvPr/>
          </p:nvSpPr>
          <p:spPr>
            <a:xfrm>
              <a:off x="647700" y="2362200"/>
              <a:ext cx="419100" cy="419100"/>
            </a:xfrm>
            <a:prstGeom prst="ellipse">
              <a:avLst/>
            </a:prstGeom>
            <a:solidFill>
              <a:schemeClr val="accent3"/>
            </a:solidFill>
            <a:ln>
              <a:noFill/>
            </a:ln>
          </p:spPr>
          <p:txBody>
            <a:bodyPr/>
            <a:p/>
          </p:txBody>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txBody>
            <a:bodyPr/>
            <a:p/>
          </p:txBody>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txBody>
            <a:bodyPr/>
            <a:p/>
          </p:txBody>
        </p:sp>
        <p:sp>
          <p:nvSpPr>
            <p:cNvPr id="27" name="Ellipse 27"/>
            <p:cNvSpPr/>
            <p:nvPr/>
          </p:nvSpPr>
          <p:spPr>
            <a:xfrm>
              <a:off x="4533900" y="2476500"/>
              <a:ext cx="419100" cy="419100"/>
            </a:xfrm>
            <a:prstGeom prst="ellipse">
              <a:avLst/>
            </a:prstGeom>
            <a:solidFill>
              <a:schemeClr val="accent3"/>
            </a:solidFill>
            <a:ln>
              <a:noFill/>
            </a:ln>
          </p:spPr>
          <p:txBody>
            <a:bodyPr/>
            <a:p/>
          </p:txBody>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txBody>
            <a:bodyPr/>
            <a:p/>
          </p:txBody>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txBody>
            <a:bodyPr/>
            <a:p/>
          </p:txBody>
        </p:sp>
        <p:sp>
          <p:nvSpPr>
            <p:cNvPr id="36" name="Ellipse 36"/>
            <p:cNvSpPr/>
            <p:nvPr/>
          </p:nvSpPr>
          <p:spPr>
            <a:xfrm>
              <a:off x="8420100" y="2590800"/>
              <a:ext cx="419100" cy="419100"/>
            </a:xfrm>
            <a:prstGeom prst="ellipse">
              <a:avLst/>
            </a:prstGeom>
            <a:solidFill>
              <a:schemeClr val="accent3"/>
            </a:solidFill>
            <a:ln>
              <a:noFill/>
            </a:ln>
          </p:spPr>
          <p:txBody>
            <a:bodyPr/>
            <a:p/>
          </p:txBody>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txBody>
            <a:bodyPr/>
            <a:p/>
          </p:txBody>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txBody>
            <a:bodyPr/>
            <a:p/>
          </p:txBody>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txBody>
            <a:bodyPr/>
            <a:p/>
          </p:txBody>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rgbClr val="E3E9F1"/>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txBody>
            <a:bodyPr/>
            <a:p/>
          </p:txBody>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txBody>
              <a:bodyPr/>
              <a:p/>
            </p:txBody>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txBody>
              <a:bodyPr/>
              <a:p/>
            </p:txBody>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txBody>
              <a:bodyPr/>
              <a:p/>
            </p:txBody>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txBody>
              <a:bodyPr/>
              <a:p/>
            </p:txBody>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txBody>
            <a:bodyPr/>
            <a:p/>
          </p:txBody>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txBody>
            <a:bodyPr/>
            <a:p/>
          </p:txBody>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txBody>
            <a:bodyPr/>
            <a:p/>
          </p:txBody>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txBody>
            <a:bodyPr/>
            <a:p/>
          </p:txBody>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txBody>
            <a:bodyPr/>
            <a:p/>
          </p:txBody>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txBody>
            <a:bodyPr/>
            <a:p/>
          </p:txBody>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txBody>
            <a:bodyPr/>
            <a:p/>
          </p:txBody>
        </p:sp>
        <p:sp>
          <p:nvSpPr>
            <p:cNvPr id="41" name="Rectangle 41"/>
            <p:cNvSpPr/>
            <p:nvPr/>
          </p:nvSpPr>
          <p:spPr>
            <a:xfrm>
              <a:off x="8991600" y="2228850"/>
              <a:ext cx="952500" cy="342900"/>
            </a:xfrm>
            <a:prstGeom prst="roundRect">
              <a:avLst>
                <a:gd name="adj" fmla="val 50000"/>
              </a:avLst>
            </a:prstGeom>
            <a:solidFill>
              <a:srgbClr val="2E5E91"/>
            </a:solidFill>
            <a:ln>
              <a:noFill/>
            </a:ln>
          </p:spPr>
          <p:txBody>
            <a:bodyPr/>
            <a:p/>
          </p:txBody>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txBody>
            <a:bodyPr/>
            <a:p/>
          </p:txBody>
        </p:sp>
        <p:sp>
          <p:nvSpPr>
            <p:cNvPr id="18" name="Line 18"/>
            <p:cNvSpPr/>
            <p:nvPr/>
          </p:nvSpPr>
          <p:spPr>
            <a:xfrm>
              <a:off x="4933950" y="2400300"/>
              <a:ext cx="2266950" cy="1"/>
            </a:xfrm>
            <a:prstGeom prst="line">
              <a:avLst/>
            </a:prstGeom>
            <a:noFill/>
            <a:ln w="19050">
              <a:solidFill>
                <a:srgbClr val="5B6675"/>
              </a:solidFill>
              <a:tailEnd type="triangle" w="lg" len="lg"/>
            </a:ln>
          </p:spPr>
          <p:txBody>
            <a:bodyPr/>
            <a:p/>
          </p:txBody>
        </p:sp>
        <p:sp>
          <p:nvSpPr>
            <p:cNvPr id="19" name="Line 19"/>
            <p:cNvSpPr/>
            <p:nvPr/>
          </p:nvSpPr>
          <p:spPr>
            <a:xfrm>
              <a:off x="7791450" y="2400300"/>
              <a:ext cx="2266950" cy="1"/>
            </a:xfrm>
            <a:prstGeom prst="line">
              <a:avLst/>
            </a:prstGeom>
            <a:noFill/>
            <a:ln w="19050">
              <a:solidFill>
                <a:srgbClr val="5B6675"/>
              </a:solidFill>
              <a:tailEnd type="triangle" w="lg" len="lg"/>
            </a:ln>
          </p:spPr>
          <p:txBody>
            <a:bodyPr/>
            <a:p/>
          </p:txBody>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txBody>
            <a:bodyPr/>
            <a:p/>
          </p:txBody>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txBody>
            <a:bodyPr/>
            <a:p/>
          </p:txBody>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txBody>
            <a:bodyPr/>
            <a:p/>
          </p:txBody>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txBody>
            <a:bodyPr/>
            <a:p/>
          </p:txBody>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txBody>
            <a:bodyPr/>
            <a:p/>
          </p:txBody>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txBody>
            <a:bodyPr/>
            <a:p/>
          </p:txBody>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txBody>
              <a:bodyPr/>
              <a:p/>
            </p:txBody>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txBody>
              <a:bodyPr/>
              <a:p/>
            </p:txBody>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txBody>
            <a:bodyPr/>
            <a:p/>
          </p:txBody>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a:t>
              </a:r>
              <a:br/>
              <a:r>
                <a:rPr lang="vi-VN" sz="1500" dirty="0">
                  <a:solidFill>
                    <a:schemeClr val="accent1"/>
                  </a:solidFill>
                  <a:latin typeface="Consolas"/>
                  <a:ea typeface="Consolas"/>
                  <a:cs typeface="Consolas"/>
                </a:rPr>
                <a:t>văn bản.</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txBody>
            <a:bodyPr/>
            <a:p/>
          </p:txBody>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txBody>
              <a:bodyPr/>
              <a:p/>
            </p:txBody>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txBody>
              <a:bodyPr/>
              <a:p/>
            </p:txBody>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txBody>
            <a:bodyPr/>
            <a:p/>
          </p:txBody>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 tài liệu dài của Wir (hồ sơ sản phẩm,</a:t>
              </a:r>
              <a:br/>
              <a:r>
                <a:rPr lang="vi-VN" sz="1500" dirty="0">
                  <a:solidFill>
                    <a:schemeClr val="accent1"/>
                  </a:solidFill>
                  <a:latin typeface="Consolas"/>
                  <a:ea typeface="Consolas"/>
                  <a:cs typeface="Consolas"/>
                </a:rPr>
                <a:t>biên bản họp, báo giá) thành 4 mục: tóm tắt nhanh, ý chính,</a:t>
              </a:r>
              <a:br/>
              <a:r>
                <a:rPr lang="vi-VN" sz="1500" dirty="0">
                  <a:solidFill>
                    <a:schemeClr val="accent1"/>
                  </a:solidFill>
                  <a:latin typeface="Consolas"/>
                  <a:ea typeface="Consolas"/>
                  <a:cs typeface="Consolas"/>
                </a:rPr>
                <a:t>số liệu và hạn chót, điểm cần lưu ý. Dùng khi có file hoặc</a:t>
              </a:r>
              <a:br/>
              <a:r>
                <a:rPr lang="vi-VN" sz="1500" dirty="0">
                  <a:solidFill>
                    <a:schemeClr val="accent1"/>
                  </a:solidFill>
                  <a:latin typeface="Consolas"/>
                  <a:ea typeface="Consolas"/>
                  <a:cs typeface="Consolas"/>
                </a:rPr>
                <a:t>văn bản dán vào và yêu cầu tóm tắt. Không dùng để viết bài.</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Làm tay 5 lượt trên một tài liệu thật trước,</a:t>
            </a:r>
            <a:br/>
            <a:r>
              <a:rPr lang="vi-VN" sz="3150" dirty="0" b="1">
                <a:solidFill>
                  <a:schemeClr val="accent1"/>
                </a:solidFill>
                <a:latin typeface="+mn-lt"/>
                <a:ea typeface="+mn-ea"/>
                <a:cs typeface="+mn-cs"/>
              </a:rPr>
              <a:t>mỗi lần phải dặn thêm là một phần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txBody>
            <a:bodyPr/>
            <a:p/>
          </p:txBody>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txBody>
            <a:bodyPr/>
            <a:p/>
          </p:txBody>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chung chung → lý do cần skill (KHI NÀO DÙNG)</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txBody>
            <a:bodyPr/>
            <a:p/>
          </p:txBody>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txBody>
            <a:bodyPr/>
            <a:p/>
          </p:txBody>
        </p:sp>
        <p:sp>
          <p:nvSpPr>
            <p:cNvPr id="27" name="Rectangle 27"/>
            <p:cNvSpPr/>
            <p:nvPr/>
          </p:nvSpPr>
          <p:spPr>
            <a:xfrm>
              <a:off x="7353300" y="2724150"/>
              <a:ext cx="4457700" cy="457200"/>
            </a:xfrm>
            <a:prstGeom prst="roundRect">
              <a:avLst>
                <a:gd name="adj" fmla="val 25000"/>
              </a:avLst>
            </a:prstGeom>
            <a:solidFill>
              <a:srgbClr val="2E5E91"/>
            </a:solidFill>
            <a:ln>
              <a:noFill/>
            </a:ln>
          </p:spPr>
          <p:txBody>
            <a:bodyPr/>
            <a:p/>
          </p:txBody>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txBody>
            <a:bodyPr/>
            <a:p/>
          </p:txBody>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txBody>
            <a:bodyPr/>
            <a:p/>
          </p:txBody>
        </p:sp>
        <p:sp>
          <p:nvSpPr>
            <p:cNvPr id="34" name="Rectangle 34"/>
            <p:cNvSpPr/>
            <p:nvPr/>
          </p:nvSpPr>
          <p:spPr>
            <a:xfrm>
              <a:off x="7353300" y="3314700"/>
              <a:ext cx="4457700" cy="457200"/>
            </a:xfrm>
            <a:prstGeom prst="roundRect">
              <a:avLst>
                <a:gd name="adj" fmla="val 25000"/>
              </a:avLst>
            </a:prstGeom>
            <a:solidFill>
              <a:srgbClr val="2E5E91"/>
            </a:solidFill>
            <a:ln>
              <a:noFill/>
            </a:ln>
          </p:spPr>
          <p:txBody>
            <a:bodyPr/>
            <a:p/>
          </p:txBody>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Số liệu,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txBody>
            <a:bodyPr/>
            <a:p/>
          </p:txBody>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txBody>
            <a:bodyPr/>
            <a:p/>
          </p:txBody>
        </p:sp>
        <p:sp>
          <p:nvSpPr>
            <p:cNvPr id="41" name="Rectangle 41"/>
            <p:cNvSpPr/>
            <p:nvPr/>
          </p:nvSpPr>
          <p:spPr>
            <a:xfrm>
              <a:off x="7353300" y="3905250"/>
              <a:ext cx="4457700" cy="457200"/>
            </a:xfrm>
            <a:prstGeom prst="roundRect">
              <a:avLst>
                <a:gd name="adj" fmla="val 25000"/>
              </a:avLst>
            </a:prstGeom>
            <a:solidFill>
              <a:srgbClr val="2E5E91"/>
            </a:solidFill>
            <a:ln>
              <a:noFill/>
            </a:ln>
          </p:spPr>
          <p:txBody>
            <a:bodyPr/>
            <a:p/>
          </p:txBody>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Điểm cần lưu ý</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txBody>
            <a:bodyPr/>
            <a:p/>
          </p:txBody>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txBody>
            <a:bodyPr/>
            <a:p/>
          </p:txBody>
        </p:sp>
        <p:sp>
          <p:nvSpPr>
            <p:cNvPr id="48" name="Rectangle 48"/>
            <p:cNvSpPr/>
            <p:nvPr/>
          </p:nvSpPr>
          <p:spPr>
            <a:xfrm>
              <a:off x="7353300" y="4495800"/>
              <a:ext cx="4457700" cy="457200"/>
            </a:xfrm>
            <a:prstGeom prst="roundRect">
              <a:avLst>
                <a:gd name="adj" fmla="val 25000"/>
              </a:avLst>
            </a:prstGeom>
            <a:solidFill>
              <a:srgbClr val="E8833A"/>
            </a:solidFill>
            <a:ln>
              <a:noFill/>
            </a:ln>
          </p:spPr>
          <p:txBody>
            <a:bodyPr/>
            <a:p/>
          </p:txBody>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dirty="0" b="1">
                  <a:solidFill>
                    <a:srgbClr val="1F2937"/>
                  </a:solidFill>
                  <a:latin typeface="+mn-lt"/>
                  <a:ea typeface="+mn-ea"/>
                  <a:cs typeface="+mn-cs"/>
                </a:rPr>
                <a:t>CÁC BƯỚC</a:t>
              </a:r>
              <a:r>
                <a:rPr lang="vi-VN" sz="1350" dirty="0">
                  <a:solidFill>
                    <a:srgbClr val="1F2937"/>
                  </a:solidFill>
                  <a:latin typeface="+mn-lt"/>
                  <a:ea typeface="+mn-ea"/>
                  <a:cs typeface="+mn-cs"/>
                </a:rPr>
                <a:t> · 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txBody>
            <a:bodyPr/>
            <a:p/>
          </p:txBody>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txBody>
            <a:bodyPr/>
            <a:p/>
          </p:txBody>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KẾT QUẢ THẬT 09/10/2026 · TÀI LIỆU “DỮ LIỆU SẢN PHẨM WIR” TRONG PROJECT MARKETING</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Lượt 4: ChatGPT bắt được 7 cụm vượt ranh giới TPCN, ví dụ </a:t>
              </a:r>
              <a:r>
                <a:rPr lang="vi-VN" sz="1650" dirty="0" b="1">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ở CH Alpha Plus.</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5810250" y="6554152"/>
            <a:ext cx="5334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 file du-lieu-san-pham-wir.md trong Sources của Project</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Đóng gói: 5 lượt vừa làm thành một file SKILL.md</a:t>
            </a:r>
            <a:br/>
            <a:r>
              <a:rPr lang="vi-VN" sz="3150" dirty="0" b="1">
                <a:solidFill>
                  <a:schemeClr val="accent1"/>
                </a:solidFill>
                <a:latin typeface="+mn-lt"/>
                <a:ea typeface="+mn-ea"/>
                <a:cs typeface="+mn-cs"/>
              </a:rPr>
              <a:t>6 phần. ChatGPT tự viết khi bạn bảo “đóng gói”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txBody>
            <a:bodyPr/>
            <a:p/>
          </p:txBody>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txBody>
              <a:bodyPr/>
              <a:p/>
            </p:txBody>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txBody>
              <a:bodyPr/>
              <a:p/>
            </p:txBody>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txBody>
              <a:bodyPr/>
              <a:p/>
            </p:txBody>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spc="75" dirty="0" b="1">
                  <a:solidFill>
                    <a:srgbClr val="E3E9F1"/>
                  </a:solidFill>
                  <a:latin typeface="+mn-lt"/>
                  <a:ea typeface="+mn-ea"/>
                  <a:cs typeface="+mn-cs"/>
                </a:rPr>
                <a:t>SKILL.md · tom-tat-tai-lieu</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txBody>
            <a:bodyPr/>
            <a:p/>
          </p:txBody>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name:</a:t>
              </a:r>
              <a:r>
                <a:rPr lang="vi-VN" sz="1500" dirty="0">
                  <a:solidFill>
                    <a:schemeClr val="accent2"/>
                  </a:solidFill>
                  <a:latin typeface="Consolas"/>
                  <a:ea typeface="Consolas"/>
                  <a:cs typeface="Consolas"/>
                </a:rPr>
                <a:t> tom-tat-tai-lieu</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description:</a:t>
              </a:r>
              <a:r>
                <a:rPr lang="vi-VN" sz="1500" dirty="0">
                  <a:solidFill>
                    <a:schemeClr val="accent2"/>
                  </a:solidFill>
                  <a:latin typeface="Consolas"/>
                  <a:ea typeface="Consolas"/>
                  <a:cs typeface="Consolas"/>
                </a:rPr>
                <a:t> Tóm tắt tài liệu dài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của Wir thành 4 mục…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dirty="0" b="1">
                  <a:solidFill>
                    <a:srgbClr val="E3E9F1"/>
                  </a:solidFill>
                  <a:latin typeface="Consolas"/>
                  <a:ea typeface="Consolas"/>
                  <a:cs typeface="Consolas"/>
                </a:rPr>
                <a:t># Tóm tắt tài liệu</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txBody>
            <a:bodyPr/>
            <a:p/>
          </p:txBody>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tom-tat-tai-lieu: 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txBody>
            <a:bodyPr/>
            <a:p/>
          </p:txBody>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 ChatGPT chỉ đọc câu này để chọn skill (slide 18)</a:t>
              </a:r>
            </a:p>
          </p:txBody>
        </p:sp>
        <p:sp>
          <p:nvSpPr>
            <p:cNvPr id="46" name="Ellipse 46"/>
            <p:cNvSpPr/>
            <p:nvPr/>
          </p:nvSpPr>
          <p:spPr>
            <a:xfrm>
              <a:off x="6096000" y="3409950"/>
              <a:ext cx="304800" cy="304800"/>
            </a:xfrm>
            <a:prstGeom prst="ellipse">
              <a:avLst/>
            </a:prstGeom>
            <a:solidFill>
              <a:srgbClr val="2E5E91"/>
            </a:solidFill>
            <a:ln>
              <a:noFill/>
            </a:ln>
          </p:spPr>
          <p:txBody>
            <a:bodyPr/>
            <a:p/>
          </p:txBody>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hồ sơ sản phẩm, biên bản họp, báo giá; không dùng để viết bài</a:t>
              </a:r>
            </a:p>
          </p:txBody>
        </p:sp>
        <p:sp>
          <p:nvSpPr>
            <p:cNvPr id="50" name="Ellipse 50"/>
            <p:cNvSpPr/>
            <p:nvPr/>
          </p:nvSpPr>
          <p:spPr>
            <a:xfrm>
              <a:off x="6096000" y="4000500"/>
              <a:ext cx="304800" cy="304800"/>
            </a:xfrm>
            <a:prstGeom prst="ellipse">
              <a:avLst/>
            </a:prstGeom>
            <a:solidFill>
              <a:srgbClr val="2E5E91"/>
            </a:solidFill>
            <a:ln>
              <a:noFill/>
            </a:ln>
          </p:spPr>
          <p:txBody>
            <a:bodyPr/>
            <a:p/>
          </p:txBody>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bắt buộc: tài liệu; có thì tốt: tầng pháp lý của sản phẩm</a:t>
              </a:r>
            </a:p>
          </p:txBody>
        </p:sp>
        <p:sp>
          <p:nvSpPr>
            <p:cNvPr id="54" name="Ellipse 54"/>
            <p:cNvSpPr/>
            <p:nvPr/>
          </p:nvSpPr>
          <p:spPr>
            <a:xfrm>
              <a:off x="6096000" y="4591050"/>
              <a:ext cx="304800" cy="304800"/>
            </a:xfrm>
            <a:prstGeom prst="ellipse">
              <a:avLst/>
            </a:prstGeom>
            <a:solidFill>
              <a:schemeClr val="accent2"/>
            </a:solidFill>
            <a:ln>
              <a:noFill/>
            </a:ln>
          </p:spPr>
          <p:txBody>
            <a:bodyPr/>
            <a:p/>
          </p:txBody>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đã có tài liệu chưa; bước cuối tự rà chống bịa</a:t>
              </a:r>
            </a:p>
          </p:txBody>
        </p:sp>
        <p:sp>
          <p:nvSpPr>
            <p:cNvPr id="58" name="Ellipse 58"/>
            <p:cNvSpPr/>
            <p:nvPr/>
          </p:nvSpPr>
          <p:spPr>
            <a:xfrm>
              <a:off x="6096000" y="5181600"/>
              <a:ext cx="304800" cy="304800"/>
            </a:xfrm>
            <a:prstGeom prst="ellipse">
              <a:avLst/>
            </a:prstGeom>
            <a:solidFill>
              <a:srgbClr val="2E5E91"/>
            </a:solidFill>
            <a:ln>
              <a:noFill/>
            </a:ln>
          </p:spPr>
          <p:txBody>
            <a:bodyPr/>
            <a:p/>
          </p:txBody>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4 mục: Tóm tắt nhanh · Ý chính · Số liệu, hạn chót · Lưu ý</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32</a:t>
            </a:r>
          </a:p>
        </p:txBody>
      </p:sp>
      <p:sp>
        <p:nvSpPr>
          <p:cNvPr id="65" name="pack-note"/>
          <p:cNvSpPr txBox="1"/>
          <p:nvPr/>
        </p:nvSpPr>
        <p:spPr>
          <a:xfrm>
            <a:off x="381000" y="6172200"/>
            <a:ext cx="11430000" cy="247650"/>
          </a:xfrm>
          <a:prstGeom prst="rect">
            <a:avLst/>
          </a:prstGeom>
          <a:noFill/>
          <a:ln>
            <a:noFill/>
          </a:ln>
        </p:spPr>
        <p:txBody>
          <a:bodyPr wrap="none" lIns="0" tIns="0" rIns="0" bIns="0" anchor="t" anchorCtr="0">
            <a:spAutoFit/>
          </a:bodyPr>
          <a:lstStyle/>
          <a:p>
            <a:pPr algn="l"/>
            <a:r>
              <a:rPr lang="vi-VN" sz="1350" dirty="0">
                <a:solidFill>
                  <a:srgbClr val="1F2937"/>
                </a:solidFill>
                <a:latin typeface="+mn-lt"/>
                <a:ea typeface="+mn-ea"/>
                <a:cs typeface="+mn-cs"/>
              </a:rPr>
              <a:t>Câu đóng gói: </a:t>
            </a:r>
            <a:r>
              <a:rPr lang="vi-VN" sz="1350" dirty="0" i="1">
                <a:solidFill>
                  <a:srgbClr val="1F2937"/>
                </a:solidFill>
                <a:latin typeface="+mn-lt"/>
                <a:ea typeface="+mn-ea"/>
                <a:cs typeface="+mn-cs"/>
              </a:rPr>
              <a:t>“Kết quả ổn rồi. Hãy đóng gói cách làm vừa rồi thành một skill tên tom-tat-tai-lieu.”</a:t>
            </a:r>
            <a:r>
              <a:rPr lang="vi-VN" sz="1350" dirty="0">
                <a:solidFill>
                  <a:srgbClr val="1F2937"/>
                </a:solidFill>
                <a:latin typeface="+mn-lt"/>
                <a:ea typeface="+mn-ea"/>
                <a:cs typeface="+mn-cs"/>
              </a:rPr>
              <a:t> → ChatGPT tạo skill 1.0.0; mở ra soát đủ 6 phần.</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Skill ra sai thì sửa skill, không sửa tay kết quả;</a:t>
            </a:r>
            <a:br/>
            <a:r>
              <a:rPr lang="vi-VN" sz="3150" dirty="0" b="1">
                <a:solidFill>
                  <a:schemeClr val="accent1"/>
                </a:solidFill>
                <a:latin typeface="+mn-lt"/>
                <a:ea typeface="+mn-ea"/>
                <a:cs typeface="+mn-cs"/>
              </a:rPr>
              <a:t>sửa xong phải qua lại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VÒNG CẢI TIẾN · VÍ DỤ TRÊN SKILL TOM-TAT-TAI-LIEU</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txBody>
            <a:bodyPr/>
            <a:p/>
          </p:txBody>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txBody>
            <a:bodyPr/>
            <a:p/>
          </p:txBody>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txBody>
            <a:bodyPr/>
            <a:p/>
          </p:txBody>
        </p:sp>
        <p:sp>
          <p:nvSpPr>
            <p:cNvPr id="21" name="Ellipse 21"/>
            <p:cNvSpPr/>
            <p:nvPr/>
          </p:nvSpPr>
          <p:spPr>
            <a:xfrm>
              <a:off x="1676400" y="2343150"/>
              <a:ext cx="647700" cy="647700"/>
            </a:xfrm>
            <a:prstGeom prst="ellipse">
              <a:avLst/>
            </a:prstGeom>
            <a:solidFill>
              <a:srgbClr val="2E5E91"/>
            </a:solidFill>
            <a:ln>
              <a:noFill/>
            </a:ln>
          </p:spPr>
          <p:txBody>
            <a:bodyPr/>
            <a:p/>
          </p:txBody>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txBody>
            <a:bodyPr/>
            <a:p/>
          </p:txBody>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txBody>
            <a:bodyPr/>
            <a:p/>
          </p:txBody>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333750" y="258127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Chạy</a:t>
              </a:r>
              <a:r>
                <a:rPr lang="vi-VN" sz="1350" dirty="0">
                  <a:solidFill>
                    <a:schemeClr val="dk1"/>
                  </a:solidFill>
                  <a:latin typeface="+mn-lt"/>
                  <a:ea typeface="+mn-ea"/>
                  <a:cs typeface="+mn-cs"/>
                </a:rPr>
                <a:t> trên 3 tài liệu khác loại:</a:t>
              </a:r>
              <a:br/>
              <a:r>
                <a:rPr lang="vi-VN" sz="1350" dirty="0">
                  <a:solidFill>
                    <a:schemeClr val="dk1"/>
                  </a:solidFill>
                  <a:latin typeface="+mn-lt"/>
                  <a:ea typeface="+mn-ea"/>
                  <a:cs typeface="+mn-cs"/>
                </a:rPr>
                <a:t>hồ sơ sản phẩm, biên bản họp, báo giá</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6470904" y="2137410"/>
              <a:ext cx="1287231"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PHÉP THỬ PHIÊN MỚI · SAU MỖI LẦN SỬA</a:t>
              </a:r>
            </a:p>
          </p:txBody>
        </p:sp>
        <p:sp>
          <p:nvSpPr>
            <p:cNvPr id="44" name="Rectangle 44"/>
            <p:cNvSpPr/>
            <p:nvPr/>
          </p:nvSpPr>
          <p:spPr>
            <a:xfrm>
              <a:off x="6477000" y="2438400"/>
              <a:ext cx="5334000" cy="3238500"/>
            </a:xfrm>
            <a:prstGeom prst="roundRect">
              <a:avLst>
                <a:gd name="adj" fmla="val 5797"/>
              </a:avLst>
            </a:prstGeom>
            <a:solidFill>
              <a:schemeClr val="lt2"/>
            </a:solidFill>
            <a:ln>
              <a:noFill/>
            </a:ln>
          </p:spPr>
          <p:txBody>
            <a:bodyPr/>
            <a:p/>
          </p:txBody>
        </p:sp>
        <p:sp>
          <p:nvSpPr>
            <p:cNvPr id="45" name="Ellipse 45"/>
            <p:cNvSpPr/>
            <p:nvPr/>
          </p:nvSpPr>
          <p:spPr>
            <a:xfrm>
              <a:off x="6686550" y="2667000"/>
              <a:ext cx="266700" cy="266700"/>
            </a:xfrm>
            <a:prstGeom prst="ellipse">
              <a:avLst/>
            </a:prstGeom>
            <a:solidFill>
              <a:srgbClr val="2E5E91"/>
            </a:solidFill>
            <a:ln>
              <a:noFill/>
            </a:ln>
          </p:spPr>
          <p:txBody>
            <a:bodyPr/>
            <a:p/>
          </p:txBody>
        </p:sp>
        <p:sp>
          <p:nvSpPr>
            <p:cNvPr id="46" name="TextBox 46"/>
            <p:cNvSpPr txBox="1"/>
            <p:nvPr/>
          </p:nvSpPr>
          <p:spPr>
            <a:xfrm>
              <a:off x="67671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70599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chat mới, ngoài Project</a:t>
              </a:r>
            </a:p>
          </p:txBody>
        </p:sp>
        <p:sp>
          <p:nvSpPr>
            <p:cNvPr id="48" name="Ellipse 48"/>
            <p:cNvSpPr/>
            <p:nvPr/>
          </p:nvSpPr>
          <p:spPr>
            <a:xfrm>
              <a:off x="6686550" y="3200400"/>
              <a:ext cx="266700" cy="266700"/>
            </a:xfrm>
            <a:prstGeom prst="ellipse">
              <a:avLst/>
            </a:prstGeom>
            <a:solidFill>
              <a:srgbClr val="2E5E91"/>
            </a:solidFill>
            <a:ln>
              <a:noFill/>
            </a:ln>
          </p:spPr>
          <p:txBody>
            <a:bodyPr/>
            <a:p/>
          </p:txBody>
        </p:sp>
        <p:sp>
          <p:nvSpPr>
            <p:cNvPr id="49" name="TextBox 49"/>
            <p:cNvSpPr txBox="1"/>
            <p:nvPr/>
          </p:nvSpPr>
          <p:spPr>
            <a:xfrm>
              <a:off x="6767158" y="3261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7059930" y="32385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Tải tài liệu chưa từng dùng, ví dụ Hồ sơ Elasten</a:t>
              </a:r>
            </a:p>
          </p:txBody>
        </p:sp>
        <p:sp>
          <p:nvSpPr>
            <p:cNvPr id="51" name="Ellipse 51"/>
            <p:cNvSpPr/>
            <p:nvPr/>
          </p:nvSpPr>
          <p:spPr>
            <a:xfrm>
              <a:off x="6686550" y="3733800"/>
              <a:ext cx="266700" cy="266700"/>
            </a:xfrm>
            <a:prstGeom prst="ellipse">
              <a:avLst/>
            </a:prstGeom>
            <a:solidFill>
              <a:srgbClr val="2E5E91"/>
            </a:solidFill>
            <a:ln>
              <a:noFill/>
            </a:ln>
          </p:spPr>
          <p:txBody>
            <a:bodyPr/>
            <a:p/>
          </p:txBody>
        </p:sp>
        <p:sp>
          <p:nvSpPr>
            <p:cNvPr id="52" name="TextBox 52"/>
            <p:cNvSpPr txBox="1"/>
            <p:nvPr/>
          </p:nvSpPr>
          <p:spPr>
            <a:xfrm>
              <a:off x="6767158" y="37947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7059930" y="37719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Chỉ gõ </a:t>
              </a:r>
              <a:r>
                <a:rPr lang="vi-VN" sz="1500" dirty="0" i="1">
                  <a:solidFill>
                    <a:schemeClr val="dk1"/>
                  </a:solidFill>
                  <a:latin typeface="+mn-lt"/>
                  <a:ea typeface="+mn-ea"/>
                  <a:cs typeface="+mn-cs"/>
                </a:rPr>
                <a:t>“Tóm tắt tài liệu này”</a:t>
              </a:r>
              <a:r>
                <a:rPr lang="vi-VN" sz="1500" dirty="0">
                  <a:solidFill>
                    <a:schemeClr val="dk1"/>
                  </a:solidFill>
                  <a:latin typeface="+mn-lt"/>
                  <a:ea typeface="+mn-ea"/>
                  <a:cs typeface="+mn-cs"/>
                </a:rPr>
                <a:t>, không gọi tên skill</a:t>
              </a:r>
            </a:p>
          </p:txBody>
        </p:sp>
        <p:sp>
          <p:nvSpPr>
            <p:cNvPr id="54" name="Line 54"/>
            <p:cNvSpPr/>
            <p:nvPr/>
          </p:nvSpPr>
          <p:spPr>
            <a:xfrm>
              <a:off x="6705600" y="4305300"/>
              <a:ext cx="4876800" cy="9525"/>
            </a:xfrm>
            <a:custGeom>
              <a:avLst/>
              <a:gdLst/>
              <a:ahLst/>
              <a:cxnLst/>
              <a:rect l="l" t="t" r="r" b="b"/>
              <a:pathLst>
                <a:path w="3162300" h="9525">
                  <a:moveTo>
                    <a:pt x="0" y="0"/>
                  </a:moveTo>
                  <a:lnTo>
                    <a:pt x="3162300" y="0"/>
                  </a:lnTo>
                </a:path>
              </a:pathLst>
            </a:custGeom>
            <a:noFill/>
            <a:ln w="9525">
              <a:solidFill>
                <a:schemeClr val="accent4"/>
              </a:solidFill>
            </a:ln>
          </p:spPr>
          <p:txBody>
            <a:bodyPr/>
            <a:p/>
          </p:txBody>
        </p:sp>
        <p:grpSp>
          <p:nvGrpSpPr>
            <p:cNvPr id="57" name="Group 57"/>
            <p:cNvGrpSpPr/>
            <p:nvPr/>
          </p:nvGrpSpPr>
          <p:grpSpPr>
            <a:xfrm>
              <a:off x="6736556" y="456485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58" name="TextBox 58"/>
            <p:cNvSpPr txBox="1"/>
            <p:nvPr/>
          </p:nvSpPr>
          <p:spPr>
            <a:xfrm>
              <a:off x="7059930" y="4562475"/>
              <a:ext cx="2695575" cy="560070"/>
            </a:xfrm>
            <a:prstGeom prst="rect">
              <a:avLst/>
            </a:prstGeom>
            <a:noFill/>
            <a:ln>
              <a:noFill/>
            </a:ln>
          </p:spPr>
          <p:txBody>
            <a:bodyPr wrap="none" lIns="0" tIns="0" rIns="0" bIns="0" anchor="t" anchorCtr="0">
              <a:spAutoFit/>
            </a:bodyPr>
            <a:lstStyle/>
            <a:p>
              <a:pPr algn="l">
                <a:lnSpc>
                  <a:spcPts val="2100"/>
                </a:lnSpc>
              </a:pPr>
              <a:r>
                <a:rPr lang="vi-VN" sz="1500" dirty="0" b="1">
                  <a:solidFill>
                    <a:srgbClr val="2E8B57"/>
                  </a:solidFill>
                  <a:latin typeface="+mn-lt"/>
                  <a:ea typeface="+mn-ea"/>
                  <a:cs typeface="+mn-cs"/>
                </a:rPr>
                <a:t>Skill tự chạy, bản tóm tắt đủ 4 mục,</a:t>
              </a:r>
              <a:br/>
              <a:r>
                <a:rPr lang="vi-VN" sz="1500" dirty="0" b="1">
                  <a:solidFill>
                    <a:srgbClr val="2E8B57"/>
                  </a:solidFill>
                  <a:latin typeface="+mn-lt"/>
                  <a:ea typeface="+mn-ea"/>
                  <a:cs typeface="+mn-cs"/>
                </a:rPr>
                <a:t>không thêm số nào ngoài file →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32</a:t>
            </a:r>
          </a:p>
        </p:txBody>
      </p:sp>
      <p:sp>
        <p:nvSpPr>
          <p:cNvPr id="62" name="loop-soi"/>
          <p:cNvSpPr txBox="1"/>
          <p:nvPr/>
        </p:nvSpPr>
        <p:spPr>
          <a:xfrm>
            <a:off x="3333750" y="332422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Soi</a:t>
            </a:r>
            <a:r>
              <a:rPr lang="vi-VN" sz="1350" dirty="0">
                <a:solidFill>
                  <a:srgbClr val="2E5E91"/>
                </a:solidFill>
                <a:latin typeface="+mn-lt"/>
                <a:ea typeface="+mn-ea"/>
                <a:cs typeface="+mn-cs"/>
              </a:rPr>
              <a:t> chỗ phải sửa tay, ví dụ:</a:t>
            </a:r>
            <a:br/>
            <a:r>
              <a:rPr lang="vi-VN" sz="1350" dirty="0">
                <a:solidFill>
                  <a:srgbClr val="2E5E91"/>
                </a:solidFill>
                <a:latin typeface="+mn-lt"/>
                <a:ea typeface="+mn-ea"/>
                <a:cs typeface="+mn-cs"/>
              </a:rPr>
              <a:t>bỏ sót hạn chót nằm trong bảng</a:t>
            </a:r>
          </a:p>
        </p:txBody>
      </p:sp>
      <p:sp>
        <p:nvSpPr>
          <p:cNvPr id="63" name="loop-sua"/>
          <p:cNvSpPr txBox="1"/>
          <p:nvPr/>
        </p:nvSpPr>
        <p:spPr>
          <a:xfrm>
            <a:off x="3333750" y="4067175"/>
            <a:ext cx="2857500" cy="704850"/>
          </a:xfrm>
          <a:prstGeom prst="rect">
            <a:avLst/>
          </a:prstGeom>
          <a:noFill/>
          <a:ln>
            <a:noFill/>
          </a:ln>
        </p:spPr>
        <p:txBody>
          <a:bodyPr wrap="none" lIns="0" tIns="0" rIns="0" bIns="0" anchor="t" anchorCtr="0">
            <a:spAutoFit/>
          </a:bodyPr>
          <a:lstStyle/>
          <a:p>
            <a:pPr algn="l">
              <a:lnSpc>
                <a:spcPts val="1950"/>
              </a:lnSpc>
            </a:pPr>
            <a:r>
              <a:rPr lang="vi-VN" sz="1350" dirty="0" b="1">
                <a:solidFill>
                  <a:srgbClr val="E8833A"/>
                </a:solidFill>
                <a:latin typeface="+mn-lt"/>
                <a:ea typeface="+mn-ea"/>
                <a:cs typeface="+mn-cs"/>
              </a:rPr>
              <a:t>Sửa</a:t>
            </a:r>
            <a:r>
              <a:rPr lang="vi-VN" sz="1350" dirty="0">
                <a:solidFill>
                  <a:srgbClr val="2E5E91"/>
                </a:solidFill>
                <a:latin typeface="+mn-lt"/>
                <a:ea typeface="+mn-ea"/>
                <a:cs typeface="+mn-cs"/>
              </a:rPr>
              <a:t> vào skill, không sửa tay kết quả:</a:t>
            </a:r>
            <a:br/>
            <a:r>
              <a:rPr lang="vi-VN" sz="1350" dirty="0">
                <a:solidFill>
                  <a:srgbClr val="2E5E91"/>
                </a:solidFill>
                <a:latin typeface="+mn-lt"/>
                <a:ea typeface="+mn-ea"/>
                <a:cs typeface="+mn-cs"/>
              </a:rPr>
              <a:t>“Số liệu: bóc cả hạn chót trong bảng”</a:t>
            </a:r>
            <a:br/>
            <a:r>
              <a:rPr lang="vi-VN" sz="1350" dirty="0">
                <a:solidFill>
                  <a:srgbClr val="5B6675"/>
                </a:solidFill>
                <a:latin typeface="+mn-lt"/>
                <a:ea typeface="+mn-ea"/>
                <a:cs typeface="+mn-cs"/>
              </a:rPr>
              <a:t>ghi “Sửa lần 1”, rồi chạy lại 3 tài liệu</a:t>
            </a:r>
          </a:p>
        </p:txBody>
      </p:sp>
      <p:sp>
        <p:nvSpPr>
          <p:cNvPr id="64" name="loop-warn-rect"/>
          <p:cNvSpPr/>
          <p:nvPr/>
        </p:nvSpPr>
        <p:spPr>
          <a:xfrm>
            <a:off x="381000" y="5105400"/>
            <a:ext cx="5524500" cy="571500"/>
          </a:xfrm>
          <a:prstGeom prst="roundRect">
            <a:avLst>
              <a:gd name="adj" fmla="val 16667"/>
            </a:avLst>
          </a:prstGeom>
          <a:solidFill>
            <a:srgbClr val="FCEBDD"/>
          </a:solidFill>
          <a:ln>
            <a:noFill/>
          </a:ln>
        </p:spPr>
        <p:txBody>
          <a:bodyPr/>
          <a:p/>
        </p:txBody>
      </p:sp>
      <p:sp>
        <p:nvSpPr>
          <p:cNvPr id="65" name="loop-warn-text"/>
          <p:cNvSpPr txBox="1"/>
          <p:nvPr/>
        </p:nvSpPr>
        <p:spPr>
          <a:xfrm>
            <a:off x="609600" y="5200650"/>
            <a:ext cx="5143500" cy="438150"/>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Sửa tay kết quả thì lần sau skill lại sai y như cũ,</a:t>
            </a:r>
            <a:br/>
            <a:r>
              <a:rPr lang="vi-VN" sz="1350" dirty="0">
                <a:solidFill>
                  <a:schemeClr val="dk1"/>
                </a:solidFill>
                <a:latin typeface="+mn-lt"/>
                <a:ea typeface="+mn-ea"/>
                <a:cs typeface="+mn-cs"/>
              </a:rPr>
              <a:t>và đồng nghiệp dùng skill cũng nhận cái sai đó.</a:t>
            </a:r>
          </a:p>
        </p:txBody>
      </p:sp>
      <p:sp>
        <p:nvSpPr>
          <p:cNvPr id="66" name="loop-result"/>
          <p:cNvSpPr txBox="1"/>
          <p:nvPr/>
        </p:nvSpPr>
        <p:spPr>
          <a:xfrm>
            <a:off x="7058025" y="5267325"/>
            <a:ext cx="4572000" cy="228600"/>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Kết quả thật 09/10/2026: đạt, skill tự được gọi ở chat mới</a:t>
            </a:r>
          </a:p>
        </p:txBody>
      </p:sp>
      <p:sp>
        <p:nvSpPr>
          <p:cNvPr id="67" name="source-note"/>
          <p:cNvSpPr txBox="1"/>
          <p:nvPr/>
        </p:nvSpPr>
        <p:spPr>
          <a:xfrm>
            <a:off x="8286750" y="6553200"/>
            <a:ext cx="2857500" cy="209550"/>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bước 3 và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rgbClr val="2E5E91"/>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Làm tay 5 lượt trên Dữ liệu sản phẩm Wir, thử trên Hồ sơ Elasten</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dirty="0" b="1">
                  <a:solidFill>
                    <a:srgbClr val="2E8B57"/>
                  </a:solidFill>
                  <a:latin typeface="+mn-lt"/>
                  <a:ea typeface="+mn-ea"/>
                  <a:cs typeface="+mn-cs"/>
                </a:rPr>
                <a:t>Đạt khi:</a:t>
              </a:r>
              <a:r>
                <a:rPr lang="vi-VN" sz="1350" dirty="0">
                  <a:solidFill>
                    <a:srgbClr val="2E8B57"/>
                  </a:solidFill>
                  <a:latin typeface="+mn-lt"/>
                  <a:ea typeface="+mn-ea"/>
                  <a:cs typeface="+mn-cs"/>
                </a:rPr>
                <a:t> tự chạy ở chat mới, đủ 4 mục, +28% · +20% · −24% đúng file</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txBody>
            <a:bodyPr/>
            <a:p/>
          </p:txBody>
        </p:sp>
        <p:sp>
          <p:nvSpPr>
            <p:cNvPr id="27" name="Ellipse 27"/>
            <p:cNvSpPr/>
            <p:nvPr/>
          </p:nvSpPr>
          <p:spPr>
            <a:xfrm>
              <a:off x="523875" y="3362325"/>
              <a:ext cx="285750" cy="285750"/>
            </a:xfrm>
            <a:prstGeom prst="ellipse">
              <a:avLst/>
            </a:prstGeom>
            <a:solidFill>
              <a:srgbClr val="2E5E91"/>
            </a:solidFill>
            <a:ln>
              <a:noFill/>
            </a:ln>
          </p:spPr>
          <p:txBody>
            <a:bodyPr/>
            <a:p/>
          </p:txBody>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txBody>
            <a:bodyPr/>
            <a:p/>
          </p:txBody>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38625"/>
              <a:ext cx="285750" cy="285750"/>
            </a:xfrm>
            <a:prstGeom prst="ellipse">
              <a:avLst/>
            </a:prstGeom>
            <a:solidFill>
              <a:srgbClr val="2E5E91"/>
            </a:solidFill>
            <a:ln>
              <a:noFill/>
            </a:ln>
          </p:spPr>
          <p:txBody>
            <a:bodyPr/>
            <a:p/>
          </p:txBody>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txBody>
            <a:bodyPr/>
            <a:p/>
          </p:txBody>
        </p:sp>
        <p:sp>
          <p:nvSpPr>
            <p:cNvPr id="41" name="Ellipse 41"/>
            <p:cNvSpPr/>
            <p:nvPr/>
          </p:nvSpPr>
          <p:spPr>
            <a:xfrm>
              <a:off x="523875" y="5114925"/>
              <a:ext cx="285750" cy="285750"/>
            </a:xfrm>
            <a:prstGeom prst="ellipse">
              <a:avLst/>
            </a:prstGeom>
            <a:solidFill>
              <a:srgbClr val="2E5E91"/>
            </a:solidFill>
            <a:ln>
              <a:noFill/>
            </a:ln>
          </p:spPr>
          <p:txBody>
            <a:bodyPr/>
            <a:p/>
          </p:txBody>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txBody>
            <a:bodyPr/>
            <a:p/>
          </p:txBody>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8667750" y="6554152"/>
            <a:ext cx="24765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Elasten: hồ sơ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32</a:t>
            </a:r>
          </a:p>
        </p:txBody>
      </p:sp>
      <p:sp>
        <p:nvSpPr>
          <p:cNvPr id="6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txBody>
              <a:bodyPr/>
              <a:p/>
            </p:txBody>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txBody>
              <a:bodyPr/>
              <a:p/>
            </p:txBody>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rgbClr val="E3E9F1"/>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txBody>
            <a:bodyPr/>
            <a:p/>
          </p:txBody>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txBody>
              <a:bodyPr/>
              <a:p/>
            </p:txBody>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txBody>
              <a:bodyPr/>
              <a:p/>
            </p:txBody>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txBody>
            <a:bodyPr/>
            <a:p/>
          </p:txBody>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trước khi bấm đồng ý</a:t>
              </a:r>
            </a:p>
          </p:txBody>
        </p:sp>
        <p:sp>
          <p:nvSpPr>
            <p:cNvPr id="37" name="Ellipse 37"/>
            <p:cNvSpPr/>
            <p:nvPr/>
          </p:nvSpPr>
          <p:spPr>
            <a:xfrm>
              <a:off x="4962525" y="4800600"/>
              <a:ext cx="285750" cy="285750"/>
            </a:xfrm>
            <a:prstGeom prst="ellipse">
              <a:avLst/>
            </a:prstGeom>
            <a:solidFill>
              <a:schemeClr val="accent1"/>
            </a:solidFill>
            <a:ln>
              <a:noFill/>
            </a:ln>
          </p:spPr>
          <p:txBody>
            <a:bodyPr/>
            <a:p/>
          </p:txBody>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txBody>
            <a:bodyPr/>
            <a:p/>
          </p:txBody>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txBody>
            <a:bodyPr/>
            <a:p/>
          </p:txBody>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txBody>
            <a:bodyPr/>
            <a:p/>
          </p:txBody>
        </p:sp>
        <p:sp>
          <p:nvSpPr>
            <p:cNvPr id="18" name="Ellipse 18"/>
            <p:cNvSpPr/>
            <p:nvPr/>
          </p:nvSpPr>
          <p:spPr>
            <a:xfrm>
              <a:off x="647700" y="2381250"/>
              <a:ext cx="533400" cy="533400"/>
            </a:xfrm>
            <a:prstGeom prst="ellipse">
              <a:avLst/>
            </a:prstGeom>
            <a:solidFill>
              <a:schemeClr val="lt2"/>
            </a:solidFill>
            <a:ln>
              <a:noFill/>
            </a:ln>
          </p:spPr>
          <p:txBody>
            <a:bodyPr/>
            <a:p/>
          </p:txBody>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txBody>
              <a:bodyPr/>
              <a:p/>
            </p:txBody>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txBody>
              <a:bodyPr/>
              <a:p/>
            </p:txBody>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txBody>
            <a:bodyPr/>
            <a:p/>
          </p:txBody>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txBody>
            <a:bodyPr/>
            <a:p/>
          </p:txBody>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txBody>
            <a:bodyPr/>
            <a:p/>
          </p:txBody>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txBody>
            <a:bodyPr/>
            <a:p/>
          </p:txBody>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txBody>
            <a:bodyPr/>
            <a:p/>
          </p:txBody>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txBody>
            <a:bodyPr/>
            <a:p/>
          </p:txBody>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txBody>
            <a:bodyPr/>
            <a:p/>
          </p:txBody>
        </p:sp>
        <p:sp>
          <p:nvSpPr>
            <p:cNvPr id="42" name="Ellipse 42"/>
            <p:cNvSpPr/>
            <p:nvPr/>
          </p:nvSpPr>
          <p:spPr>
            <a:xfrm>
              <a:off x="6553200" y="2381250"/>
              <a:ext cx="533400" cy="533400"/>
            </a:xfrm>
            <a:prstGeom prst="ellipse">
              <a:avLst/>
            </a:prstGeom>
            <a:solidFill>
              <a:schemeClr val="lt2"/>
            </a:solidFill>
            <a:ln>
              <a:noFill/>
            </a:ln>
          </p:spPr>
          <p:txBody>
            <a:bodyPr/>
            <a:p/>
          </p:txBody>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txBody>
              <a:bodyPr/>
              <a:p/>
            </p:txBody>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txBody>
              <a:bodyPr/>
              <a:p/>
            </p:txBody>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txBody>
              <a:bodyPr/>
              <a:p/>
            </p:txBody>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txBody>
              <a:bodyPr/>
              <a:p/>
            </p:txBody>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txBody>
              <a:bodyPr/>
              <a:p/>
            </p:txBody>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txBody>
            <a:bodyPr/>
            <a:p/>
          </p:txBody>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txBody>
            <a:bodyPr/>
            <a:p/>
          </p:txBody>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txBody>
            <a:bodyPr/>
            <a:p/>
          </p:txBody>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txBody>
              <a:bodyPr/>
              <a:p/>
            </p:txBody>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txBody>
              <a:bodyPr/>
              <a:p/>
            </p:txBody>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txBody>
            <a:bodyPr/>
            <a:p/>
          </p:txBody>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txBody>
              <a:bodyPr/>
              <a:p/>
            </p:txBody>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txBody>
              <a:bodyPr/>
              <a:p/>
            </p:txBody>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txBody>
            <a:bodyPr/>
            <a:p/>
          </p:txBody>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txBody>
              <a:bodyPr/>
              <a:p/>
            </p:txBody>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txBody>
              <a:bodyPr/>
              <a:p/>
            </p:txBody>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txBody>
            <a:bodyPr/>
            <a:p/>
          </p:txBody>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txBody>
              <a:bodyPr/>
              <a:p/>
            </p:txBody>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txBody>
              <a:bodyPr/>
              <a:p/>
            </p:txBody>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TÊN PLUGIN →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txBody>
            <a:bodyPr/>
            <a:p/>
          </p:txBody>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txBody>
            <a:bodyPr/>
            <a:p/>
          </p:txBody>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txBody>
            <a:bodyPr/>
            <a:p/>
          </p:txBody>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txBody>
            <a:bodyPr/>
            <a:p/>
          </p:txBody>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strike="sngStrike">
                  <a:solidFill>
                    <a:srgbClr val="C0392B"/>
                  </a:solidFill>
                  <a:latin typeface="+mn-lt"/>
                  <a:ea typeface="+mn-ea"/>
                  <a:cs typeface="+mn-cs"/>
                </a:rPr>
                <a:t>Allow all tools</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ChatGPT</a:t>
              </a:r>
              <a:br/>
              <a:r>
                <a:rPr lang="vi-VN" sz="1350" dirty="0">
                  <a:solidFill>
                    <a:schemeClr val="dk1"/>
                  </a:solidFill>
                  <a:latin typeface="+mn-lt"/>
                  <a:ea typeface="+mn-ea"/>
                  <a:cs typeface="+mn-cs"/>
                </a:rPr>
                <a:t>gắn nhãn rủi ro cao. Không dùng</a:t>
              </a:r>
              <a:br/>
              <a:r>
                <a:rPr lang="vi-VN" sz="1350" dirty="0">
                  <a:solidFill>
                    <a:schemeClr val="dk1"/>
                  </a:solidFill>
                  <a:latin typeface="+mn-lt"/>
                  <a:ea typeface="+mn-ea"/>
                  <a:cs typeface="+mn-cs"/>
                </a:rPr>
                <a:t>cho Gmail, 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txBody>
              <a:bodyPr/>
              <a:p/>
            </p:txBody>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txBody>
              <a:bodyPr/>
              <a:p/>
            </p:txBody>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Nối tài khoản cá nhân và đọc hết danh sách quyền</a:t>
            </a:r>
            <a:br/>
            <a:r>
              <a:rPr lang="vi-VN" sz="3150" dirty="0" b="1">
                <a:solidFill>
                  <a:schemeClr val="accent1"/>
                </a:solidFill>
                <a:latin typeface="+mn-lt"/>
                <a:ea typeface="+mn-ea"/>
                <a:cs typeface="+mn-cs"/>
              </a:rPr>
              <a:t>trước khi bấm đồng ý</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txBody>
            <a:bodyPr/>
            <a:p/>
          </p:txBody>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txBody>
            <a:bodyPr/>
            <a:p/>
          </p:txBody>
        </p:sp>
        <p:sp>
          <p:nvSpPr>
            <p:cNvPr id="20" name="Rectangle 20"/>
            <p:cNvSpPr/>
            <p:nvPr/>
          </p:nvSpPr>
          <p:spPr>
            <a:xfrm>
              <a:off x="723900" y="2114550"/>
              <a:ext cx="1600200" cy="285750"/>
            </a:xfrm>
            <a:prstGeom prst="rect">
              <a:avLst/>
            </a:prstGeom>
            <a:solidFill>
              <a:schemeClr val="lt1"/>
            </a:solidFill>
            <a:ln>
              <a:noFill/>
            </a:ln>
          </p:spPr>
          <p:txBody>
            <a:bodyPr/>
            <a:p/>
          </p:txBody>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5524500" cy="2667000"/>
            </a:xfrm>
            <a:prstGeom prst="roundRect">
              <a:avLst>
                <a:gd name="adj" fmla="val 4571"/>
              </a:avLst>
            </a:prstGeom>
            <a:solidFill>
              <a:schemeClr val="lt2"/>
            </a:solidFill>
            <a:ln>
              <a:noFill/>
            </a:ln>
          </p:spPr>
          <p:txBody>
            <a:bodyPr/>
            <a:p/>
          </p:txBody>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txBody>
            <a:bodyPr/>
            <a:p/>
          </p:txBody>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 trên trình duyệt</a:t>
              </a:r>
            </a:p>
          </p:txBody>
        </p:sp>
        <p:sp>
          <p:nvSpPr>
            <p:cNvPr id="30" name="Rectangle 30"/>
            <p:cNvSpPr/>
            <p:nvPr/>
          </p:nvSpPr>
          <p:spPr>
            <a:xfrm>
              <a:off x="609600" y="3295650"/>
              <a:ext cx="190500" cy="190500"/>
            </a:xfrm>
            <a:prstGeom prst="roundRect">
              <a:avLst>
                <a:gd name="adj" fmla="val 25000"/>
              </a:avLst>
            </a:prstGeom>
            <a:solidFill>
              <a:schemeClr val="lt1"/>
            </a:solidFill>
            <a:ln w="19050">
              <a:solidFill>
                <a:schemeClr val="accent1"/>
              </a:solidFill>
            </a:ln>
          </p:spPr>
          <p:txBody>
            <a:bodyPr/>
            <a:p/>
          </p:txBody>
        </p:sp>
        <p:sp>
          <p:nvSpPr>
            <p:cNvPr id="31" name="TextBox 31"/>
            <p:cNvSpPr txBox="1"/>
            <p:nvPr/>
          </p:nvSpPr>
          <p:spPr>
            <a:xfrm>
              <a:off x="944880" y="32956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 kiểm tra kỹ</a:t>
              </a:r>
              <a:br/>
              <a:r>
                <a:rPr lang="vi-VN" sz="1500" dirty="0">
                  <a:solidFill>
                    <a:schemeClr val="dk1"/>
                  </a:solidFill>
                  <a:latin typeface="+mn-lt"/>
                  <a:ea typeface="+mn-ea"/>
                  <a:cs typeface="+mn-cs"/>
                </a:rPr>
                <a:t>tài khoản nào đang được chọn</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6343650" y="2162175"/>
              <a:ext cx="190500" cy="190500"/>
            </a:xfrm>
            <a:prstGeom prst="ellipse">
              <a:avLst/>
            </a:prstGeom>
            <a:solidFill>
              <a:schemeClr val="accent1"/>
            </a:solidFill>
            <a:ln>
              <a:noFill/>
            </a:ln>
          </p:spPr>
          <p:txBody>
            <a:bodyPr/>
            <a:p/>
          </p:txBody>
        </p:sp>
        <p:sp>
          <p:nvSpPr>
            <p:cNvPr id="34" name="Rectangle 34"/>
            <p:cNvSpPr/>
            <p:nvPr/>
          </p:nvSpPr>
          <p:spPr>
            <a:xfrm>
              <a:off x="6629400" y="2114550"/>
              <a:ext cx="1676400" cy="285750"/>
            </a:xfrm>
            <a:prstGeom prst="rect">
              <a:avLst/>
            </a:prstGeom>
            <a:solidFill>
              <a:schemeClr val="lt1"/>
            </a:solidFill>
            <a:ln>
              <a:noFill/>
            </a:ln>
          </p:spPr>
          <p:txBody>
            <a:bodyPr/>
            <a:p/>
          </p:txBody>
        </p:sp>
        <p:sp>
          <p:nvSpPr>
            <p:cNvPr id="35" name="TextBox 35"/>
            <p:cNvSpPr txBox="1"/>
            <p:nvPr/>
          </p:nvSpPr>
          <p:spPr>
            <a:xfrm>
              <a:off x="66583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6286500" y="2552700"/>
              <a:ext cx="5524500" cy="2667000"/>
            </a:xfrm>
            <a:prstGeom prst="roundRect">
              <a:avLst>
                <a:gd name="adj" fmla="val 4571"/>
              </a:avLst>
            </a:prstGeom>
            <a:solidFill>
              <a:schemeClr val="lt2"/>
            </a:solidFill>
            <a:ln>
              <a:noFill/>
            </a:ln>
          </p:spPr>
          <p:txBody>
            <a:bodyPr/>
            <a:p/>
          </p:txBody>
        </p:sp>
        <p:sp>
          <p:nvSpPr>
            <p:cNvPr id="37" name="Rectangle 37"/>
            <p:cNvSpPr/>
            <p:nvPr/>
          </p:nvSpPr>
          <p:spPr>
            <a:xfrm>
              <a:off x="6515100" y="2800350"/>
              <a:ext cx="190500" cy="190500"/>
            </a:xfrm>
            <a:prstGeom prst="roundRect">
              <a:avLst>
                <a:gd name="adj" fmla="val 25000"/>
              </a:avLst>
            </a:prstGeom>
            <a:solidFill>
              <a:schemeClr val="lt1"/>
            </a:solidFill>
            <a:ln w="19050">
              <a:solidFill>
                <a:schemeClr val="accent1"/>
              </a:solidFill>
            </a:ln>
          </p:spPr>
          <p:txBody>
            <a:bodyPr/>
            <a:p/>
          </p:txBody>
        </p:sp>
        <p:sp>
          <p:nvSpPr>
            <p:cNvPr id="38" name="TextBox 38"/>
            <p:cNvSpPr txBox="1"/>
            <p:nvPr/>
          </p:nvSpPr>
          <p:spPr>
            <a:xfrm>
              <a:off x="68503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 Google hiện ra</a:t>
              </a:r>
            </a:p>
          </p:txBody>
        </p:sp>
        <p:sp>
          <p:nvSpPr>
            <p:cNvPr id="39" name="Rectangle 39"/>
            <p:cNvSpPr/>
            <p:nvPr/>
          </p:nvSpPr>
          <p:spPr>
            <a:xfrm>
              <a:off x="6515100" y="3295650"/>
              <a:ext cx="190500" cy="190500"/>
            </a:xfrm>
            <a:prstGeom prst="roundRect">
              <a:avLst>
                <a:gd name="adj" fmla="val 25000"/>
              </a:avLst>
            </a:prstGeom>
            <a:solidFill>
              <a:schemeClr val="lt1"/>
            </a:solidFill>
            <a:ln w="19050">
              <a:solidFill>
                <a:schemeClr val="accent1"/>
              </a:solidFill>
            </a:ln>
          </p:spPr>
          <p:txBody>
            <a:bodyPr/>
            <a:p/>
          </p:txBody>
        </p:sp>
        <p:sp>
          <p:nvSpPr>
            <p:cNvPr id="40" name="TextBox 40"/>
            <p:cNvSpPr txBox="1"/>
            <p:nvPr/>
          </p:nvSpPr>
          <p:spPr>
            <a:xfrm>
              <a:off x="68503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 gửi</a:t>
              </a:r>
              <a:br/>
              <a:r>
                <a:rPr lang="vi-VN" sz="1500" dirty="0">
                  <a:solidFill>
                    <a:schemeClr val="dk1"/>
                  </a:solidFill>
                  <a:latin typeface="+mn-lt"/>
                  <a:ea typeface="+mn-ea"/>
                  <a:cs typeface="+mn-cs"/>
                </a:rPr>
                <a:t>→ chặn gửi bằng mức </a:t>
              </a:r>
              <a:r>
                <a:rPr lang="vi-VN" sz="1500" dirty="0" b="1">
                  <a:solidFill>
                    <a:srgbClr val="1D3557"/>
                  </a:solidFill>
                  <a:latin typeface="+mn-lt"/>
                  <a:ea typeface="+mn-ea"/>
                  <a:cs typeface="+mn-cs"/>
                </a:rPr>
                <a:t>Always ask</a:t>
              </a:r>
            </a:p>
          </p:txBody>
        </p:sp>
        <p:sp>
          <p:nvSpPr>
            <p:cNvPr id="41" name="Rectangle 41"/>
            <p:cNvSpPr/>
            <p:nvPr/>
          </p:nvSpPr>
          <p:spPr>
            <a:xfrm>
              <a:off x="6515100" y="4038600"/>
              <a:ext cx="190500" cy="190500"/>
            </a:xfrm>
            <a:prstGeom prst="roundRect">
              <a:avLst>
                <a:gd name="adj" fmla="val 25000"/>
              </a:avLst>
            </a:prstGeom>
            <a:solidFill>
              <a:schemeClr val="lt1"/>
            </a:solidFill>
            <a:ln w="19050">
              <a:solidFill>
                <a:schemeClr val="accent1"/>
              </a:solidFill>
            </a:ln>
          </p:spPr>
          <p:txBody>
            <a:bodyPr/>
            <a:p/>
          </p:txBody>
        </p:sp>
        <p:sp>
          <p:nvSpPr>
            <p:cNvPr id="42" name="TextBox 42"/>
            <p:cNvSpPr txBox="1"/>
            <p:nvPr/>
          </p:nvSpPr>
          <p:spPr>
            <a:xfrm>
              <a:off x="6850380" y="403860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 xác minh”</a:t>
              </a:r>
              <a:br/>
              <a:r>
                <a:rPr lang="vi-VN" sz="1500" dirty="0">
                  <a:solidFill>
                    <a:schemeClr val="dk1"/>
                  </a:solidFill>
                  <a:latin typeface="+mn-lt"/>
                  <a:ea typeface="+mn-ea"/>
                  <a:cs typeface="+mn-cs"/>
                </a:rPr>
                <a:t>thì dừng, gọi giảng viên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txBody>
            <a:bodyPr/>
            <a:p/>
          </p:txBody>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txBody>
            <a:bodyPr/>
            <a:p/>
          </p:txBody>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txBody>
            <a:bodyPr/>
            <a:p/>
          </p:txBody>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txBody>
            <a:bodyPr/>
            <a:p/>
          </p:txBody>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txBody>
            <a:bodyPr/>
            <a:p/>
          </p:txBody>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txBody>
            <a:bodyPr/>
            <a:p/>
          </p:txBody>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txBody>
              <a:bodyPr/>
              <a:p/>
            </p:txBody>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txBody>
              <a:bodyPr/>
              <a:p/>
            </p:txBody>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txBody>
            <a:bodyPr/>
            <a:p/>
          </p:txBody>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txBody>
            <a:bodyPr/>
            <a:p/>
          </p:txBody>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txBody>
            <a:bodyPr/>
            <a:p/>
          </p:txBody>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txBody>
              <a:bodyPr/>
              <a:p/>
            </p:txBody>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txBody>
              <a:bodyPr/>
              <a:p/>
            </p:txBody>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txBody>
              <a:bodyPr/>
              <a:p/>
            </p:txBody>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txBody>
            <a:bodyPr/>
            <a:p/>
          </p:txBody>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txBody>
            <a:bodyPr/>
            <a:p/>
          </p:txBody>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txBody>
            <a:bodyPr/>
            <a:p/>
          </p:txBody>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txBody>
            <a:bodyPr/>
            <a:p/>
          </p:txBody>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txBody>
              <a:bodyPr/>
              <a:p/>
            </p:txBody>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txBody>
              <a:bodyPr/>
              <a:p/>
            </p:txBody>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txBody>
            <a:bodyPr/>
            <a:p/>
          </p:txBody>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txBody>
            <a:bodyPr/>
            <a:p/>
          </p:txBody>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txBody>
            <a:bodyPr/>
            <a:p/>
          </p:txBody>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txBody>
            <a:bodyPr/>
            <a:p/>
          </p:txBody>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txBody>
              <a:bodyPr/>
              <a:p/>
            </p:txBody>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txBody>
              <a:bodyPr/>
              <a:p/>
            </p:txBody>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txBody>
              <a:bodyPr/>
              <a:p/>
            </p:txBody>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txBody>
            <a:bodyPr/>
            <a:p/>
          </p:txBody>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32</a:t>
            </a:r>
          </a:p>
        </p:txBody>
      </p:sp>
      <p:sp>
        <p:nvSpPr>
          <p:cNvPr id="5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6</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txBody>
            <a:bodyPr/>
            <a:p/>
          </p:txBody>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txBody>
              <a:bodyPr/>
              <a:p/>
            </p:txBody>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txBody>
              <a:bodyPr/>
              <a:p/>
            </p:txBody>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txBody>
            <a:bodyPr/>
            <a:p/>
          </p:txBody>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txBody>
            <a:bodyPr/>
            <a:p/>
          </p:txBody>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hộp Allow once hiện trước khi ghi</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txBody>
            <a:bodyPr/>
            <a:p/>
          </p:txBody>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txBody>
            <a:bodyPr/>
            <a:p/>
          </p:txBody>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txBody>
            <a:bodyPr/>
            <a:p/>
          </p:txBody>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txBody>
            <a:bodyPr/>
            <a:p/>
          </p:txBody>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chemeClr val="accent2"/>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txBody>
            <a:bodyPr/>
            <a:p/>
          </p:txBody>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txBody>
            <a:bodyPr/>
            <a:p/>
          </p:txBody>
        </p:sp>
        <p:sp>
          <p:nvSpPr>
            <p:cNvPr id="21" name="Rectangle 21"/>
            <p:cNvSpPr/>
            <p:nvPr/>
          </p:nvSpPr>
          <p:spPr>
            <a:xfrm>
              <a:off x="495300" y="2971800"/>
              <a:ext cx="3429000" cy="495300"/>
            </a:xfrm>
            <a:prstGeom prst="roundRect">
              <a:avLst>
                <a:gd name="adj" fmla="val 23077"/>
              </a:avLst>
            </a:prstGeom>
            <a:solidFill>
              <a:srgbClr val="64748B"/>
            </a:solidFill>
            <a:ln>
              <a:noFill/>
            </a:ln>
          </p:spPr>
          <p:txBody>
            <a:bodyPr/>
            <a:p/>
          </p:txBody>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txBody>
              <a:bodyPr/>
              <a:p/>
            </p:txBody>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txBody>
              <a:bodyPr/>
              <a:p/>
            </p:txBody>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txBody>
              <a:bodyPr/>
              <a:p/>
            </p:txBody>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txBody>
            <a:bodyPr/>
            <a:p/>
          </p:txBody>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txBody>
            <a:bodyPr/>
            <a:p/>
          </p:txBody>
        </p:sp>
        <p:sp>
          <p:nvSpPr>
            <p:cNvPr id="34" name="Rectangle 34"/>
            <p:cNvSpPr/>
            <p:nvPr/>
          </p:nvSpPr>
          <p:spPr>
            <a:xfrm>
              <a:off x="4381500" y="2609850"/>
              <a:ext cx="3429000" cy="495300"/>
            </a:xfrm>
            <a:prstGeom prst="roundRect">
              <a:avLst>
                <a:gd name="adj" fmla="val 23077"/>
              </a:avLst>
            </a:prstGeom>
            <a:solidFill>
              <a:srgbClr val="64748B"/>
            </a:solidFill>
            <a:ln>
              <a:noFill/>
            </a:ln>
          </p:spPr>
          <p:txBody>
            <a:bodyPr/>
            <a:p/>
          </p:txBody>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txBody>
            <a:bodyPr/>
            <a:p/>
          </p:txBody>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txBody>
            <a:bodyPr/>
            <a:p/>
          </p:txBody>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txBody>
            <a:bodyPr/>
            <a:p/>
          </p:txBody>
        </p:sp>
        <p:sp>
          <p:nvSpPr>
            <p:cNvPr id="44" name="Rectangle 44"/>
            <p:cNvSpPr/>
            <p:nvPr/>
          </p:nvSpPr>
          <p:spPr>
            <a:xfrm>
              <a:off x="8267700" y="2228850"/>
              <a:ext cx="3429000" cy="495300"/>
            </a:xfrm>
            <a:prstGeom prst="roundRect">
              <a:avLst>
                <a:gd name="adj" fmla="val 23077"/>
              </a:avLst>
            </a:prstGeom>
            <a:solidFill>
              <a:srgbClr val="64748B"/>
            </a:solidFill>
            <a:ln>
              <a:noFill/>
            </a:ln>
          </p:spPr>
          <p:txBody>
            <a:bodyPr/>
            <a:p/>
          </p:txBody>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txBody>
            <a:bodyPr/>
            <a:p/>
          </p:txBody>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txBody>
            <a:bodyPr/>
            <a:p/>
          </p:txBody>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txBody>
            <a:bodyPr/>
            <a:p/>
          </p:txBody>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txBody>
            <a:bodyPr/>
            <a:p/>
          </p:txBody>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txBody>
            <a:bodyPr/>
            <a:p/>
          </p:txBody>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txBody>
            <a:bodyPr/>
            <a:p/>
          </p:txBody>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txBody>
            <a:bodyPr/>
            <a:p/>
          </p:txBody>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txBody>
            <a:bodyPr/>
            <a:p/>
          </p:txBody>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txBody>
            <a:bodyPr/>
            <a:p/>
          </p:txBody>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txBody>
          <a:bodyPr/>
          <a:p/>
        </p:txBody>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txBody>
            <a:bodyPr/>
            <a:p/>
          </p:txBody>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txBody>
            <a:bodyPr/>
            <a:p/>
          </p:txBody>
        </p:sp>
        <p:sp>
          <p:nvSpPr>
            <p:cNvPr id="7" name="Rectangle 7"/>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8" name="Rectangle 8"/>
            <p:cNvSpPr/>
            <p:nvPr/>
          </p:nvSpPr>
          <p:spPr>
            <a:xfrm>
              <a:off x="8229600" y="266700"/>
              <a:ext cx="1143000" cy="152400"/>
            </a:xfrm>
            <a:prstGeom prst="roundRect">
              <a:avLst>
                <a:gd name="adj" fmla="val 18750"/>
              </a:avLst>
            </a:prstGeom>
            <a:solidFill>
              <a:srgbClr val="2E5E91"/>
            </a:solidFill>
            <a:ln>
              <a:noFill/>
            </a:ln>
          </p:spPr>
          <p:txBody>
            <a:bodyPr/>
            <a:p/>
          </p:txBody>
        </p:sp>
        <p:sp>
          <p:nvSpPr>
            <p:cNvPr id="9" name="Rectangle 9"/>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10" name="Rectangle 10"/>
            <p:cNvSpPr/>
            <p:nvPr/>
          </p:nvSpPr>
          <p:spPr>
            <a:xfrm>
              <a:off x="10668000" y="190500"/>
              <a:ext cx="1143000" cy="228600"/>
            </a:xfrm>
            <a:prstGeom prst="roundRect">
              <a:avLst>
                <a:gd name="adj" fmla="val 12500"/>
              </a:avLst>
            </a:prstGeom>
            <a:solidFill>
              <a:srgbClr val="64748B"/>
            </a:solidFill>
            <a:ln>
              <a:noFill/>
            </a:ln>
          </p:spPr>
          <p:txBody>
            <a:bodyPr/>
            <a:p/>
          </p:txBody>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txBody>
            <a:bodyPr/>
            <a:p/>
          </p:txBody>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txBody>
            <a:bodyPr/>
            <a:p/>
          </p:txBody>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txBody>
            <a:bodyPr/>
            <a:p/>
          </p:txBody>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txBody>
            <a:bodyPr/>
            <a:p/>
          </p:txBody>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txBody>
            <a:bodyPr/>
            <a:p/>
          </p:txBody>
        </p:sp>
        <p:sp>
          <p:nvSpPr>
            <p:cNvPr id="35" name="Rectangle 35"/>
            <p:cNvSpPr/>
            <p:nvPr/>
          </p:nvSpPr>
          <p:spPr>
            <a:xfrm>
              <a:off x="5772150" y="2152650"/>
              <a:ext cx="285750" cy="209550"/>
            </a:xfrm>
            <a:prstGeom prst="roundRect">
              <a:avLst>
                <a:gd name="adj" fmla="val 13636"/>
              </a:avLst>
            </a:prstGeom>
            <a:solidFill>
              <a:schemeClr val="accent2"/>
            </a:solidFill>
            <a:ln>
              <a:noFill/>
            </a:ln>
          </p:spPr>
          <p:txBody>
            <a:bodyPr/>
            <a:p/>
          </p:txBody>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txBody>
            <a:bodyPr/>
            <a:p/>
          </p:txBody>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txBody>
            <a:bodyPr/>
            <a:p/>
          </p:txBody>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txBody>
            <a:bodyPr/>
            <a:p/>
          </p:txBody>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txBody>
            <a:bodyPr/>
            <a:p/>
          </p:txBody>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txBody>
              <a:bodyPr/>
              <a:p/>
            </p:txBody>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txBody>
              <a:bodyPr/>
              <a:p/>
            </p:txBody>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txBody>
              <a:bodyPr/>
              <a:p/>
            </p:txBody>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